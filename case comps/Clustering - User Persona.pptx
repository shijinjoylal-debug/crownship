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6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950" r:id="rId6"/>
    <p:sldMasterId id="2147483965" r:id="rId7"/>
    <p:sldMasterId id="2147483981" r:id="rId8"/>
    <p:sldMasterId id="2147484005" r:id="rId9"/>
    <p:sldMasterId id="2147484028" r:id="rId10"/>
  </p:sldMasterIdLst>
  <p:notesMasterIdLst>
    <p:notesMasterId r:id="rId14"/>
  </p:notesMasterIdLst>
  <p:sldIdLst>
    <p:sldId id="277" r:id="rId11"/>
    <p:sldId id="501" r:id="rId12"/>
    <p:sldId id="5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C9CAE8-9C3A-43CF-975D-4B1D8D1DAA8F}">
          <p14:sldIdLst>
            <p14:sldId id="277"/>
            <p14:sldId id="501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00162F"/>
    <a:srgbClr val="FFFFFF"/>
    <a:srgbClr val="44546A"/>
    <a:srgbClr val="435B83"/>
    <a:srgbClr val="410F74"/>
    <a:srgbClr val="F2F2F2"/>
    <a:srgbClr val="FBFBFB"/>
    <a:srgbClr val="182C44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6744-45CA-49DE-8596-BB9E8049ECC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74E1-9A94-4F22-86D4-BE3667C11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2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Persona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6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A059-3EF6-4ABD-9D2F-656AF8F16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AA64-FF2D-428C-BB03-CE9725085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25A1-9B0E-4400-9502-E5B4861A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893-2586-410C-9A16-34F3D83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39D2-BA28-43C4-A0F3-A7A4E0AE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4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705-2E35-4F6B-AC1F-1959C46C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05D0-2CB9-445F-9B8A-51627147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9A57-F618-4C8E-B1CA-EF4BA3C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FFFA-3AE4-4893-88AF-320A2D49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42C5F-6173-41AF-8616-3D6E1F54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6477-4E35-4CD0-8E72-6BE70FBEE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79AE7-CC62-40FA-9045-49502CB2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BD5F-7BA2-4215-8B9A-F21AB9C1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4B28-B38C-4AC9-B4CD-A52339EE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15623-59F5-4A07-9976-934ABA8D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1B7A-C378-4F68-95DD-9352D193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4FD8-4526-4D0A-83C9-32BC92AA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52FB0-4081-4E5C-936C-4C6A4802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74F4-6BEC-4260-842C-A60AB72C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091B-3D62-4D54-B2AF-F39D850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D4B3-BEA3-4A3E-95E3-D4545700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1BDA-992E-4A51-BB51-7156B50A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E345-38BE-4EBE-B715-DFEF7ADD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3E4F-B726-47BF-B597-26A7C846A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10C7-CB43-46AA-8D71-12D8A22D7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B06A5-B06E-442A-A8B7-37481ED87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ABE7A-B06A-4ACD-A328-888B4EA4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7501F-E7D8-4B37-90AE-2AB2F61C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A26A4-86B9-443C-B089-DC1B8036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D09A-DA2A-4E43-8FB0-97043E08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BED7B-AE18-46AE-B950-A001801C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EDE60-8568-4BD7-AA92-915BF972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06784-B095-4209-BF42-F8639D89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B543-C6CE-42AE-83AE-B6000A23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4CF1-B938-4B73-9D02-13CE6FB6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22252-87B6-4BDD-B97B-1EA5DE06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4D745-A78E-4F2D-8504-EF8339C4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FBC-A3BD-4406-B6E0-AC780DD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C4F64-51DB-4BEB-9956-4E53561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EFA2-51A5-4600-A341-F1370D0C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EE373-E4A8-4537-AD7F-3A6ADDFB6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DBA7D-3669-4AED-8FC2-30F1F82C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75BC3-8FC5-4377-B100-5124FDC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A41D3-5C94-43F4-976C-5377AD8E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3617-CB04-4FB1-8682-524E0F72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25C9-B94C-4953-8C9A-F13CEEC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3A944-F448-43C2-9F6E-0FD187CB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758D0-CD5C-4226-BE36-1E153FA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962B-5291-4B30-B548-498D794E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D2EC-1125-4664-A63E-DBAB0701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58FA1-7F8E-4C04-B813-D8F844EE0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9C0D5-4696-40E3-9E47-B338FB31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4D57-BE6F-45E4-9E93-48E2E77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BE689-F98D-4435-BD50-696940EA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179B-F92F-403F-B118-AD42B05B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600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48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4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5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23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482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6"/>
            <a:ext cx="5932223" cy="711081"/>
          </a:xfrm>
        </p:spPr>
        <p:txBody>
          <a:bodyPr>
            <a:normAutofit/>
          </a:bodyPr>
          <a:lstStyle>
            <a:lvl1pPr algn="ctr">
              <a:defRPr sz="3599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Open Sans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7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528A-F936-4EFA-B7FF-F19226B11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30F04-3A2B-4C4F-931D-F6103BD31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52EF-72AC-4D6A-9239-80D6F8C7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114A-ADD7-4E92-A8BB-B006C72473FA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D137-83FF-4096-BB73-36B25CE3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C2FCA-C352-4D07-AC3C-2EA610E4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257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0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4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3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5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288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83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5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018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66726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420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306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254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107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7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178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996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544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50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2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429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43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763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85182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76568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961858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254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333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371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723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189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833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039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14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3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50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092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50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8988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5144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34789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37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488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94270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5889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27644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997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058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52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634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350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21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085469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81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864194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16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017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081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89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16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191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Autofit/>
          </a:bodyPr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9601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547131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97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74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3882993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85761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949426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158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323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636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063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027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613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522381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739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2216603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52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705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31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297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6041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350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92673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3377766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4844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619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884391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692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31730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0060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289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5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645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8245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564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843667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9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Relationship Id="rId2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80070-0366-42D3-8F94-1EC3607D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5E1E-BC0E-4C3C-85EB-272E5E72F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2D82-0212-4421-B426-9A70ABDA9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5838-CE2F-4F61-9B85-C3D1EB07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8B42-7FCB-4A5E-A02A-AC64FA6BD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86" r:id="rId13"/>
    <p:sldLayoutId id="2147483792" r:id="rId14"/>
    <p:sldLayoutId id="2147483797" r:id="rId15"/>
    <p:sldLayoutId id="2147483811" r:id="rId16"/>
    <p:sldLayoutId id="2147483844" r:id="rId17"/>
    <p:sldLayoutId id="214748385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DEB6D-1690-44F8-95C4-55438045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CC1C-C956-47BF-A5DB-60479536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9314-A914-4017-84C0-CD3231900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C114A-ADD7-4E92-A8BB-B006C72473FA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F819-7949-4AF0-9D1D-07D9B5809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22EE0-5404-401C-B646-77D739ECA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02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41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  <p:sldLayoutId id="2147483962" r:id="rId12"/>
    <p:sldLayoutId id="2147483963" r:id="rId13"/>
    <p:sldLayoutId id="2147483964" r:id="rId14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04" r:id="rId23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  <p:sldLayoutId id="2147484027" r:id="rId22"/>
  </p:sldLayoutIdLst>
  <p:txStyles>
    <p:titleStyle>
      <a:lvl1pPr algn="l" defTabSz="1219119" rtl="0" eaLnBrk="1" latinLnBrk="0" hangingPunct="1">
        <a:spcBef>
          <a:spcPct val="0"/>
        </a:spcBef>
        <a:buNone/>
        <a:defRPr sz="4800" b="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6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4048" r:id="rId20"/>
    <p:sldLayoutId id="2147484049" r:id="rId21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E46FCA2-6A05-9000-8BAA-1F3590679DEC}"/>
              </a:ext>
            </a:extLst>
          </p:cNvPr>
          <p:cNvSpPr/>
          <p:nvPr/>
        </p:nvSpPr>
        <p:spPr>
          <a:xfrm>
            <a:off x="3475718" y="1195326"/>
            <a:ext cx="8492166" cy="5364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8AA0D-23EA-D412-D919-AF1D03F8CB2B}"/>
              </a:ext>
            </a:extLst>
          </p:cNvPr>
          <p:cNvSpPr/>
          <p:nvPr/>
        </p:nvSpPr>
        <p:spPr>
          <a:xfrm>
            <a:off x="4298826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High Income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Professional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46B91E-64F3-06DC-B26D-4020F1F477C8}"/>
              </a:ext>
            </a:extLst>
          </p:cNvPr>
          <p:cNvSpPr/>
          <p:nvPr/>
        </p:nvSpPr>
        <p:spPr>
          <a:xfrm>
            <a:off x="4058213" y="1400477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6" name="Picture 8" descr="Engineer ">
            <a:extLst>
              <a:ext uri="{FF2B5EF4-FFF2-40B4-BE49-F238E27FC236}">
                <a16:creationId xmlns:a16="http://schemas.microsoft.com/office/drawing/2014/main" id="{AF69819C-6DD1-9BBD-5CA2-C94FF6CC1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851" y="1517904"/>
            <a:ext cx="320946" cy="32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E0120EA-0A89-4A27-60A1-81AC3BE68E36}"/>
              </a:ext>
            </a:extLst>
          </p:cNvPr>
          <p:cNvSpPr/>
          <p:nvPr/>
        </p:nvSpPr>
        <p:spPr>
          <a:xfrm>
            <a:off x="6909673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Mid Spend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Entrepreneurs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8BA875-678B-D05E-29C7-4F951DDD8AF7}"/>
              </a:ext>
            </a:extLst>
          </p:cNvPr>
          <p:cNvSpPr/>
          <p:nvPr/>
        </p:nvSpPr>
        <p:spPr>
          <a:xfrm>
            <a:off x="9520520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Value Oriented Professionals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85876-F8EF-77DE-8D10-05FF965FCD1E}"/>
              </a:ext>
            </a:extLst>
          </p:cNvPr>
          <p:cNvSpPr txBox="1"/>
          <p:nvPr/>
        </p:nvSpPr>
        <p:spPr>
          <a:xfrm rot="16200000">
            <a:off x="3299379" y="2632211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Characteristics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A6F0FF-6153-490F-B50C-688DD00EDE06}"/>
              </a:ext>
            </a:extLst>
          </p:cNvPr>
          <p:cNvSpPr/>
          <p:nvPr/>
        </p:nvSpPr>
        <p:spPr>
          <a:xfrm>
            <a:off x="4298826" y="2210442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&gt; Rs2 lakh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Travel and Online Shopping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FE8F60-2CBA-5BA3-F244-80515EA5D528}"/>
              </a:ext>
            </a:extLst>
          </p:cNvPr>
          <p:cNvSpPr/>
          <p:nvPr/>
        </p:nvSpPr>
        <p:spPr>
          <a:xfrm>
            <a:off x="6909673" y="2224531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Rs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Rs 1 lakh – 2lakh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Travel, dining and food delivery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D18857-E1D2-44FC-B275-5F0F4B8A72D0}"/>
              </a:ext>
            </a:extLst>
          </p:cNvPr>
          <p:cNvSpPr/>
          <p:nvPr/>
        </p:nvSpPr>
        <p:spPr>
          <a:xfrm>
            <a:off x="9520520" y="2210442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Rs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Rs 50,000 -1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online shopping and EMI purchases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A50DF8-BF91-9F1C-7E09-74ED3F092DE5}"/>
              </a:ext>
            </a:extLst>
          </p:cNvPr>
          <p:cNvSpPr txBox="1"/>
          <p:nvPr/>
        </p:nvSpPr>
        <p:spPr>
          <a:xfrm rot="16200000">
            <a:off x="3317845" y="3657495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Pain Points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A34BC5-F0F6-0E47-A5F2-CB8157064DC2}"/>
              </a:ext>
            </a:extLst>
          </p:cNvPr>
          <p:cNvSpPr/>
          <p:nvPr/>
        </p:nvSpPr>
        <p:spPr>
          <a:xfrm>
            <a:off x="4298826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No control over rewards and transaction being declined without clear reason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08E5CE-CB58-2E7B-3982-CC560EB25F3C}"/>
              </a:ext>
            </a:extLst>
          </p:cNvPr>
          <p:cNvSpPr/>
          <p:nvPr/>
        </p:nvSpPr>
        <p:spPr>
          <a:xfrm>
            <a:off x="6909673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Difficult reward redemption process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069BFC-6B28-5EC2-7073-742065FE576E}"/>
              </a:ext>
            </a:extLst>
          </p:cNvPr>
          <p:cNvSpPr/>
          <p:nvPr/>
        </p:nvSpPr>
        <p:spPr>
          <a:xfrm>
            <a:off x="9520520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Slow Onboarding and high interest charges on late payments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8A540-FE51-88C3-DCAE-D1224571356C}"/>
              </a:ext>
            </a:extLst>
          </p:cNvPr>
          <p:cNvSpPr txBox="1"/>
          <p:nvPr/>
        </p:nvSpPr>
        <p:spPr>
          <a:xfrm rot="16200000">
            <a:off x="3409113" y="4685462"/>
            <a:ext cx="111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</a:t>
            </a:r>
          </a:p>
        </p:txBody>
      </p:sp>
      <p:sp>
        <p:nvSpPr>
          <p:cNvPr id="34" name="Rectangle 41">
            <a:extLst>
              <a:ext uri="{FF2B5EF4-FFF2-40B4-BE49-F238E27FC236}">
                <a16:creationId xmlns:a16="http://schemas.microsoft.com/office/drawing/2014/main" id="{248E0CAB-B75B-D1D4-A60D-A1937F664AA1}"/>
              </a:ext>
            </a:extLst>
          </p:cNvPr>
          <p:cNvSpPr/>
          <p:nvPr/>
        </p:nvSpPr>
        <p:spPr>
          <a:xfrm rot="16200000">
            <a:off x="179915" y="3769904"/>
            <a:ext cx="6221509" cy="215444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739CB7-C338-447D-0D36-E1A2F072E2C0}"/>
              </a:ext>
            </a:extLst>
          </p:cNvPr>
          <p:cNvSpPr/>
          <p:nvPr/>
        </p:nvSpPr>
        <p:spPr>
          <a:xfrm>
            <a:off x="339638" y="1400477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Importance of Features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13A1D6-0C24-91AB-1C14-FEC53EC77DE9}"/>
              </a:ext>
            </a:extLst>
          </p:cNvPr>
          <p:cNvSpPr/>
          <p:nvPr/>
        </p:nvSpPr>
        <p:spPr>
          <a:xfrm>
            <a:off x="4298826" y="452653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Cobranded Benefits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International Usage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Lounge Access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F5B0C3-1919-231A-14C9-50ADC5C38FB6}"/>
              </a:ext>
            </a:extLst>
          </p:cNvPr>
          <p:cNvSpPr/>
          <p:nvPr/>
        </p:nvSpPr>
        <p:spPr>
          <a:xfrm>
            <a:off x="6909673" y="452653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Fuel Waiver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EMI Options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Customer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A72F30-4545-F447-3003-403FD09D6476}"/>
              </a:ext>
            </a:extLst>
          </p:cNvPr>
          <p:cNvSpPr/>
          <p:nvPr/>
        </p:nvSpPr>
        <p:spPr>
          <a:xfrm>
            <a:off x="9520520" y="4524550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Lounge Access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Low Fees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Customer Service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368798-C048-3385-B77A-87808759DA04}"/>
              </a:ext>
            </a:extLst>
          </p:cNvPr>
          <p:cNvSpPr txBox="1"/>
          <p:nvPr/>
        </p:nvSpPr>
        <p:spPr>
          <a:xfrm rot="16200000">
            <a:off x="3470189" y="5740526"/>
            <a:ext cx="111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Potential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8C032F-8977-9B9A-8C7D-307A617FDF23}"/>
              </a:ext>
            </a:extLst>
          </p:cNvPr>
          <p:cNvSpPr/>
          <p:nvPr/>
        </p:nvSpPr>
        <p:spPr>
          <a:xfrm>
            <a:off x="4289590" y="5560818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Card with customizable reward with different brands allowing to switch benefits from travel to shopping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871CA1-D3AF-9F64-0BEE-00DA7F2E45EB}"/>
              </a:ext>
            </a:extLst>
          </p:cNvPr>
          <p:cNvSpPr/>
          <p:nvPr/>
        </p:nvSpPr>
        <p:spPr>
          <a:xfrm>
            <a:off x="6909673" y="5561050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Card with offers on restaurants and food providing instant cashback compared to accumulated rewards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6DF85A-B55D-FDAF-99CD-E23F53CDBAFD}"/>
              </a:ext>
            </a:extLst>
          </p:cNvPr>
          <p:cNvSpPr/>
          <p:nvPr/>
        </p:nvSpPr>
        <p:spPr>
          <a:xfrm>
            <a:off x="9520520" y="5516342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Low fees card with potentially less rewards but better customer service and EMI benefits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6C441-F9B2-A8B6-97CA-1A2C25E0974D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ptos"/>
              </a:rPr>
              <a:t>Based on 280+ credit card users, </a:t>
            </a:r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Aptos"/>
              </a:rPr>
              <a:t>3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ptos"/>
              </a:rPr>
              <a:t>typical consumer profiles are defined and high income professionals have been identified as the key growth segment</a:t>
            </a:r>
          </a:p>
        </p:txBody>
      </p:sp>
      <p:sp>
        <p:nvSpPr>
          <p:cNvPr id="44" name="5-Point Star 63">
            <a:extLst>
              <a:ext uri="{FF2B5EF4-FFF2-40B4-BE49-F238E27FC236}">
                <a16:creationId xmlns:a16="http://schemas.microsoft.com/office/drawing/2014/main" id="{BB02F6B9-A700-7A06-4DBE-2E52224ACDBF}"/>
              </a:ext>
            </a:extLst>
          </p:cNvPr>
          <p:cNvSpPr/>
          <p:nvPr/>
        </p:nvSpPr>
        <p:spPr>
          <a:xfrm>
            <a:off x="1953411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4" name="5-Point Star 63">
            <a:extLst>
              <a:ext uri="{FF2B5EF4-FFF2-40B4-BE49-F238E27FC236}">
                <a16:creationId xmlns:a16="http://schemas.microsoft.com/office/drawing/2014/main" id="{9E5A688F-1F89-76BB-23E5-A15DDD0ACE4C}"/>
              </a:ext>
            </a:extLst>
          </p:cNvPr>
          <p:cNvSpPr/>
          <p:nvPr/>
        </p:nvSpPr>
        <p:spPr>
          <a:xfrm>
            <a:off x="2142088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" name="5-Point Star 63">
            <a:extLst>
              <a:ext uri="{FF2B5EF4-FFF2-40B4-BE49-F238E27FC236}">
                <a16:creationId xmlns:a16="http://schemas.microsoft.com/office/drawing/2014/main" id="{72D7165D-5D58-9300-35BB-92DFCA1EE5B0}"/>
              </a:ext>
            </a:extLst>
          </p:cNvPr>
          <p:cNvSpPr/>
          <p:nvPr/>
        </p:nvSpPr>
        <p:spPr>
          <a:xfrm>
            <a:off x="2330649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A1EDF-40BE-2662-B8DF-B3EF381F6353}"/>
              </a:ext>
            </a:extLst>
          </p:cNvPr>
          <p:cNvSpPr txBox="1"/>
          <p:nvPr/>
        </p:nvSpPr>
        <p:spPr>
          <a:xfrm>
            <a:off x="339638" y="2071942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Rewards</a:t>
            </a:r>
            <a:endParaRPr lang="en-IN" sz="1200">
              <a:latin typeface="Aptos" panose="020B0004020202020204" pitchFamily="34" charset="0"/>
            </a:endParaRPr>
          </a:p>
        </p:txBody>
      </p:sp>
      <p:sp>
        <p:nvSpPr>
          <p:cNvPr id="8" name="5-Point Star 63">
            <a:extLst>
              <a:ext uri="{FF2B5EF4-FFF2-40B4-BE49-F238E27FC236}">
                <a16:creationId xmlns:a16="http://schemas.microsoft.com/office/drawing/2014/main" id="{8B6E2BFB-51BA-F73C-1EEB-C55B2565C3CD}"/>
              </a:ext>
            </a:extLst>
          </p:cNvPr>
          <p:cNvSpPr/>
          <p:nvPr/>
        </p:nvSpPr>
        <p:spPr>
          <a:xfrm>
            <a:off x="2506292" y="207976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663DD-2259-24B9-8E22-83D594A9D5F4}"/>
              </a:ext>
            </a:extLst>
          </p:cNvPr>
          <p:cNvSpPr/>
          <p:nvPr/>
        </p:nvSpPr>
        <p:spPr>
          <a:xfrm>
            <a:off x="2527115" y="2001127"/>
            <a:ext cx="331505" cy="40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B927D-47C4-5E18-BE59-0CA206B1F436}"/>
              </a:ext>
            </a:extLst>
          </p:cNvPr>
          <p:cNvSpPr txBox="1"/>
          <p:nvPr/>
        </p:nvSpPr>
        <p:spPr>
          <a:xfrm>
            <a:off x="339638" y="2484121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Fees</a:t>
            </a:r>
            <a:endParaRPr lang="en-IN" sz="120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7BE36-D2E5-062E-018A-F9A8BD9A06E5}"/>
              </a:ext>
            </a:extLst>
          </p:cNvPr>
          <p:cNvSpPr txBox="1"/>
          <p:nvPr/>
        </p:nvSpPr>
        <p:spPr>
          <a:xfrm>
            <a:off x="339638" y="2873219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Brand Trust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F7496-582B-CA01-1E00-C133C65F991C}"/>
              </a:ext>
            </a:extLst>
          </p:cNvPr>
          <p:cNvSpPr txBox="1"/>
          <p:nvPr/>
        </p:nvSpPr>
        <p:spPr>
          <a:xfrm>
            <a:off x="347207" y="3277634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Lounge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FF1816-FD3D-35CA-D222-3FC8B2F2B6CA}"/>
              </a:ext>
            </a:extLst>
          </p:cNvPr>
          <p:cNvSpPr txBox="1"/>
          <p:nvPr/>
        </p:nvSpPr>
        <p:spPr>
          <a:xfrm>
            <a:off x="339638" y="3700337"/>
            <a:ext cx="1545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International Usage</a:t>
            </a:r>
          </a:p>
        </p:txBody>
      </p:sp>
      <p:sp>
        <p:nvSpPr>
          <p:cNvPr id="14" name="5-Point Star 63">
            <a:extLst>
              <a:ext uri="{FF2B5EF4-FFF2-40B4-BE49-F238E27FC236}">
                <a16:creationId xmlns:a16="http://schemas.microsoft.com/office/drawing/2014/main" id="{02EFCCB0-A699-FC0F-47F7-C7017E7F7400}"/>
              </a:ext>
            </a:extLst>
          </p:cNvPr>
          <p:cNvSpPr/>
          <p:nvPr/>
        </p:nvSpPr>
        <p:spPr>
          <a:xfrm>
            <a:off x="1956550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5" name="5-Point Star 63">
            <a:extLst>
              <a:ext uri="{FF2B5EF4-FFF2-40B4-BE49-F238E27FC236}">
                <a16:creationId xmlns:a16="http://schemas.microsoft.com/office/drawing/2014/main" id="{577E0DBB-F3F1-7616-07D6-F4C35CAB3BE8}"/>
              </a:ext>
            </a:extLst>
          </p:cNvPr>
          <p:cNvSpPr/>
          <p:nvPr/>
        </p:nvSpPr>
        <p:spPr>
          <a:xfrm>
            <a:off x="2145227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6" name="5-Point Star 63">
            <a:extLst>
              <a:ext uri="{FF2B5EF4-FFF2-40B4-BE49-F238E27FC236}">
                <a16:creationId xmlns:a16="http://schemas.microsoft.com/office/drawing/2014/main" id="{2E04F60F-4F4E-0A2D-EFEE-C1B513F24E6F}"/>
              </a:ext>
            </a:extLst>
          </p:cNvPr>
          <p:cNvSpPr/>
          <p:nvPr/>
        </p:nvSpPr>
        <p:spPr>
          <a:xfrm>
            <a:off x="2333788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7" name="5-Point Star 63">
            <a:extLst>
              <a:ext uri="{FF2B5EF4-FFF2-40B4-BE49-F238E27FC236}">
                <a16:creationId xmlns:a16="http://schemas.microsoft.com/office/drawing/2014/main" id="{650FBF26-2DF3-1C07-3E7C-F7F24593B24A}"/>
              </a:ext>
            </a:extLst>
          </p:cNvPr>
          <p:cNvSpPr/>
          <p:nvPr/>
        </p:nvSpPr>
        <p:spPr>
          <a:xfrm>
            <a:off x="1953411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8" name="5-Point Star 63">
            <a:extLst>
              <a:ext uri="{FF2B5EF4-FFF2-40B4-BE49-F238E27FC236}">
                <a16:creationId xmlns:a16="http://schemas.microsoft.com/office/drawing/2014/main" id="{7DF14958-390B-A4CF-DAAC-E9256165C79F}"/>
              </a:ext>
            </a:extLst>
          </p:cNvPr>
          <p:cNvSpPr/>
          <p:nvPr/>
        </p:nvSpPr>
        <p:spPr>
          <a:xfrm>
            <a:off x="2142088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7" name="5-Point Star 63">
            <a:extLst>
              <a:ext uri="{FF2B5EF4-FFF2-40B4-BE49-F238E27FC236}">
                <a16:creationId xmlns:a16="http://schemas.microsoft.com/office/drawing/2014/main" id="{AAA8F3AF-CE1D-97BB-B4D2-AE9476F9BD01}"/>
              </a:ext>
            </a:extLst>
          </p:cNvPr>
          <p:cNvSpPr/>
          <p:nvPr/>
        </p:nvSpPr>
        <p:spPr>
          <a:xfrm>
            <a:off x="2330649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8" name="5-Point Star 63">
            <a:extLst>
              <a:ext uri="{FF2B5EF4-FFF2-40B4-BE49-F238E27FC236}">
                <a16:creationId xmlns:a16="http://schemas.microsoft.com/office/drawing/2014/main" id="{62A75FEF-E209-75D7-F74E-4BAD9358A1AE}"/>
              </a:ext>
            </a:extLst>
          </p:cNvPr>
          <p:cNvSpPr/>
          <p:nvPr/>
        </p:nvSpPr>
        <p:spPr>
          <a:xfrm>
            <a:off x="1961484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9" name="5-Point Star 63">
            <a:extLst>
              <a:ext uri="{FF2B5EF4-FFF2-40B4-BE49-F238E27FC236}">
                <a16:creationId xmlns:a16="http://schemas.microsoft.com/office/drawing/2014/main" id="{431DFD08-E116-8291-FA29-787D1285BBDF}"/>
              </a:ext>
            </a:extLst>
          </p:cNvPr>
          <p:cNvSpPr/>
          <p:nvPr/>
        </p:nvSpPr>
        <p:spPr>
          <a:xfrm>
            <a:off x="2150161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0" name="5-Point Star 63">
            <a:extLst>
              <a:ext uri="{FF2B5EF4-FFF2-40B4-BE49-F238E27FC236}">
                <a16:creationId xmlns:a16="http://schemas.microsoft.com/office/drawing/2014/main" id="{6655D836-B2B2-15D6-E649-88DFA3C2A5EB}"/>
              </a:ext>
            </a:extLst>
          </p:cNvPr>
          <p:cNvSpPr/>
          <p:nvPr/>
        </p:nvSpPr>
        <p:spPr>
          <a:xfrm>
            <a:off x="2338722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1" name="5-Point Star 63">
            <a:extLst>
              <a:ext uri="{FF2B5EF4-FFF2-40B4-BE49-F238E27FC236}">
                <a16:creationId xmlns:a16="http://schemas.microsoft.com/office/drawing/2014/main" id="{12FB14B4-5265-EFA8-2CBE-A1ACA8CB9F85}"/>
              </a:ext>
            </a:extLst>
          </p:cNvPr>
          <p:cNvSpPr/>
          <p:nvPr/>
        </p:nvSpPr>
        <p:spPr>
          <a:xfrm>
            <a:off x="2531778" y="329864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2" name="5-Point Star 63">
            <a:extLst>
              <a:ext uri="{FF2B5EF4-FFF2-40B4-BE49-F238E27FC236}">
                <a16:creationId xmlns:a16="http://schemas.microsoft.com/office/drawing/2014/main" id="{FFAB8732-9D76-67E7-EC15-CBFD1AB3ED3C}"/>
              </a:ext>
            </a:extLst>
          </p:cNvPr>
          <p:cNvSpPr/>
          <p:nvPr/>
        </p:nvSpPr>
        <p:spPr>
          <a:xfrm>
            <a:off x="1958547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3" name="5-Point Star 63">
            <a:extLst>
              <a:ext uri="{FF2B5EF4-FFF2-40B4-BE49-F238E27FC236}">
                <a16:creationId xmlns:a16="http://schemas.microsoft.com/office/drawing/2014/main" id="{5DD16239-300D-FB56-92BA-62E5FDB9BC74}"/>
              </a:ext>
            </a:extLst>
          </p:cNvPr>
          <p:cNvSpPr/>
          <p:nvPr/>
        </p:nvSpPr>
        <p:spPr>
          <a:xfrm>
            <a:off x="2147224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48" name="5-Point Star 63">
            <a:extLst>
              <a:ext uri="{FF2B5EF4-FFF2-40B4-BE49-F238E27FC236}">
                <a16:creationId xmlns:a16="http://schemas.microsoft.com/office/drawing/2014/main" id="{C5DB9CE0-E863-21CE-5C1D-869949A8B462}"/>
              </a:ext>
            </a:extLst>
          </p:cNvPr>
          <p:cNvSpPr/>
          <p:nvPr/>
        </p:nvSpPr>
        <p:spPr>
          <a:xfrm>
            <a:off x="2335785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BA3EA85B-49B6-0CB7-C7CA-D302ED1D3B10}"/>
              </a:ext>
            </a:extLst>
          </p:cNvPr>
          <p:cNvSpPr txBox="1"/>
          <p:nvPr/>
        </p:nvSpPr>
        <p:spPr>
          <a:xfrm>
            <a:off x="339706" y="4150472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EMI Option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9E6D0786-1584-178D-A33D-F6D67DCB102F}"/>
              </a:ext>
            </a:extLst>
          </p:cNvPr>
          <p:cNvSpPr txBox="1"/>
          <p:nvPr/>
        </p:nvSpPr>
        <p:spPr>
          <a:xfrm>
            <a:off x="335469" y="4591336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Fuel Waiver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DC1565BC-566F-B28F-D43C-40D237A49545}"/>
              </a:ext>
            </a:extLst>
          </p:cNvPr>
          <p:cNvSpPr txBox="1"/>
          <p:nvPr/>
        </p:nvSpPr>
        <p:spPr>
          <a:xfrm>
            <a:off x="347207" y="5030942"/>
            <a:ext cx="1262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Co-Branded Benefits</a:t>
            </a: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6BB677F2-89E2-C015-FCB0-9F79F3A551D4}"/>
              </a:ext>
            </a:extLst>
          </p:cNvPr>
          <p:cNvSpPr txBox="1"/>
          <p:nvPr/>
        </p:nvSpPr>
        <p:spPr>
          <a:xfrm>
            <a:off x="339637" y="6052297"/>
            <a:ext cx="138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Customer Service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8710121B-6448-B7D2-DB4F-BABCB91F0FBF}"/>
              </a:ext>
            </a:extLst>
          </p:cNvPr>
          <p:cNvSpPr txBox="1"/>
          <p:nvPr/>
        </p:nvSpPr>
        <p:spPr>
          <a:xfrm>
            <a:off x="347207" y="5672775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Credit Limit</a:t>
            </a:r>
          </a:p>
        </p:txBody>
      </p:sp>
      <p:sp>
        <p:nvSpPr>
          <p:cNvPr id="2061" name="5-Point Star 63">
            <a:extLst>
              <a:ext uri="{FF2B5EF4-FFF2-40B4-BE49-F238E27FC236}">
                <a16:creationId xmlns:a16="http://schemas.microsoft.com/office/drawing/2014/main" id="{4CEFCFEC-A50E-CF67-B46F-612DF5F28B1E}"/>
              </a:ext>
            </a:extLst>
          </p:cNvPr>
          <p:cNvSpPr/>
          <p:nvPr/>
        </p:nvSpPr>
        <p:spPr>
          <a:xfrm>
            <a:off x="1957877" y="418584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2" name="5-Point Star 63">
            <a:extLst>
              <a:ext uri="{FF2B5EF4-FFF2-40B4-BE49-F238E27FC236}">
                <a16:creationId xmlns:a16="http://schemas.microsoft.com/office/drawing/2014/main" id="{BB6A66F9-B95A-AD28-72A0-E5BA276F0426}"/>
              </a:ext>
            </a:extLst>
          </p:cNvPr>
          <p:cNvSpPr/>
          <p:nvPr/>
        </p:nvSpPr>
        <p:spPr>
          <a:xfrm>
            <a:off x="2140312" y="4185959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2F65EBA-58B9-CC3D-E204-36ADD0506302}"/>
              </a:ext>
            </a:extLst>
          </p:cNvPr>
          <p:cNvSpPr/>
          <p:nvPr/>
        </p:nvSpPr>
        <p:spPr>
          <a:xfrm>
            <a:off x="2240937" y="4200198"/>
            <a:ext cx="202277" cy="211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4" name="5-Point Star 63">
            <a:extLst>
              <a:ext uri="{FF2B5EF4-FFF2-40B4-BE49-F238E27FC236}">
                <a16:creationId xmlns:a16="http://schemas.microsoft.com/office/drawing/2014/main" id="{FD12338B-9296-3F61-62D3-69B7E18D2E57}"/>
              </a:ext>
            </a:extLst>
          </p:cNvPr>
          <p:cNvSpPr/>
          <p:nvPr/>
        </p:nvSpPr>
        <p:spPr>
          <a:xfrm>
            <a:off x="1945338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5" name="5-Point Star 63">
            <a:extLst>
              <a:ext uri="{FF2B5EF4-FFF2-40B4-BE49-F238E27FC236}">
                <a16:creationId xmlns:a16="http://schemas.microsoft.com/office/drawing/2014/main" id="{DA5BF0BE-A47C-FF79-411D-FE5DD5CF059C}"/>
              </a:ext>
            </a:extLst>
          </p:cNvPr>
          <p:cNvSpPr/>
          <p:nvPr/>
        </p:nvSpPr>
        <p:spPr>
          <a:xfrm>
            <a:off x="2134015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6" name="5-Point Star 63">
            <a:extLst>
              <a:ext uri="{FF2B5EF4-FFF2-40B4-BE49-F238E27FC236}">
                <a16:creationId xmlns:a16="http://schemas.microsoft.com/office/drawing/2014/main" id="{E8948F09-192E-AF9D-C5D3-10B3CE01A9EA}"/>
              </a:ext>
            </a:extLst>
          </p:cNvPr>
          <p:cNvSpPr/>
          <p:nvPr/>
        </p:nvSpPr>
        <p:spPr>
          <a:xfrm>
            <a:off x="2322576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7" name="5-Point Star 63">
            <a:extLst>
              <a:ext uri="{FF2B5EF4-FFF2-40B4-BE49-F238E27FC236}">
                <a16:creationId xmlns:a16="http://schemas.microsoft.com/office/drawing/2014/main" id="{953BA6CD-E023-78D7-7939-4E93A89B6C21}"/>
              </a:ext>
            </a:extLst>
          </p:cNvPr>
          <p:cNvSpPr/>
          <p:nvPr/>
        </p:nvSpPr>
        <p:spPr>
          <a:xfrm>
            <a:off x="1956550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8" name="5-Point Star 63">
            <a:extLst>
              <a:ext uri="{FF2B5EF4-FFF2-40B4-BE49-F238E27FC236}">
                <a16:creationId xmlns:a16="http://schemas.microsoft.com/office/drawing/2014/main" id="{6DB4B68E-8F03-796A-A74B-63ACE9D64230}"/>
              </a:ext>
            </a:extLst>
          </p:cNvPr>
          <p:cNvSpPr/>
          <p:nvPr/>
        </p:nvSpPr>
        <p:spPr>
          <a:xfrm>
            <a:off x="2145227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9" name="5-Point Star 63">
            <a:extLst>
              <a:ext uri="{FF2B5EF4-FFF2-40B4-BE49-F238E27FC236}">
                <a16:creationId xmlns:a16="http://schemas.microsoft.com/office/drawing/2014/main" id="{901B7224-8B76-80F5-BE9C-F23FFF347B9A}"/>
              </a:ext>
            </a:extLst>
          </p:cNvPr>
          <p:cNvSpPr/>
          <p:nvPr/>
        </p:nvSpPr>
        <p:spPr>
          <a:xfrm>
            <a:off x="2333788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0" name="5-Point Star 63">
            <a:extLst>
              <a:ext uri="{FF2B5EF4-FFF2-40B4-BE49-F238E27FC236}">
                <a16:creationId xmlns:a16="http://schemas.microsoft.com/office/drawing/2014/main" id="{D9C0E67C-4605-46E5-9B7D-9C718A91073E}"/>
              </a:ext>
            </a:extLst>
          </p:cNvPr>
          <p:cNvSpPr/>
          <p:nvPr/>
        </p:nvSpPr>
        <p:spPr>
          <a:xfrm>
            <a:off x="1952340" y="461023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1" name="5-Point Star 63">
            <a:extLst>
              <a:ext uri="{FF2B5EF4-FFF2-40B4-BE49-F238E27FC236}">
                <a16:creationId xmlns:a16="http://schemas.microsoft.com/office/drawing/2014/main" id="{6F1EC580-9CC9-E7DC-45D2-82F6BF6C3285}"/>
              </a:ext>
            </a:extLst>
          </p:cNvPr>
          <p:cNvSpPr/>
          <p:nvPr/>
        </p:nvSpPr>
        <p:spPr>
          <a:xfrm>
            <a:off x="2141017" y="461023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2" name="5-Point Star 63">
            <a:extLst>
              <a:ext uri="{FF2B5EF4-FFF2-40B4-BE49-F238E27FC236}">
                <a16:creationId xmlns:a16="http://schemas.microsoft.com/office/drawing/2014/main" id="{9F62A107-C1A2-1089-73C2-6C12CDD49162}"/>
              </a:ext>
            </a:extLst>
          </p:cNvPr>
          <p:cNvSpPr/>
          <p:nvPr/>
        </p:nvSpPr>
        <p:spPr>
          <a:xfrm>
            <a:off x="1952950" y="563369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3" name="5-Point Star 63">
            <a:extLst>
              <a:ext uri="{FF2B5EF4-FFF2-40B4-BE49-F238E27FC236}">
                <a16:creationId xmlns:a16="http://schemas.microsoft.com/office/drawing/2014/main" id="{D9765824-8282-538B-6949-6F3207681D66}"/>
              </a:ext>
            </a:extLst>
          </p:cNvPr>
          <p:cNvSpPr/>
          <p:nvPr/>
        </p:nvSpPr>
        <p:spPr>
          <a:xfrm>
            <a:off x="2141627" y="563369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7E8176-1934-73AE-CE36-721F5B3ED45C}"/>
              </a:ext>
            </a:extLst>
          </p:cNvPr>
          <p:cNvSpPr/>
          <p:nvPr/>
        </p:nvSpPr>
        <p:spPr>
          <a:xfrm>
            <a:off x="6709226" y="1418421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08DAC16D-93D9-87E6-640A-113BE9D1CCE8}"/>
              </a:ext>
            </a:extLst>
          </p:cNvPr>
          <p:cNvSpPr/>
          <p:nvPr/>
        </p:nvSpPr>
        <p:spPr>
          <a:xfrm>
            <a:off x="9341665" y="1400476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0" name="Left Bracket 2059">
            <a:extLst>
              <a:ext uri="{FF2B5EF4-FFF2-40B4-BE49-F238E27FC236}">
                <a16:creationId xmlns:a16="http://schemas.microsoft.com/office/drawing/2014/main" id="{C4B6BE27-5EE3-FD4E-6322-7CEF72C2084C}"/>
              </a:ext>
            </a:extLst>
          </p:cNvPr>
          <p:cNvSpPr/>
          <p:nvPr/>
        </p:nvSpPr>
        <p:spPr>
          <a:xfrm rot="5400000">
            <a:off x="5206415" y="72000"/>
            <a:ext cx="226700" cy="2783866"/>
          </a:xfrm>
          <a:prstGeom prst="leftBracket">
            <a:avLst/>
          </a:prstGeom>
          <a:ln>
            <a:solidFill>
              <a:srgbClr val="001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D39F9D88-01A2-47F3-7A6D-CF695276668A}"/>
              </a:ext>
            </a:extLst>
          </p:cNvPr>
          <p:cNvSpPr txBox="1"/>
          <p:nvPr/>
        </p:nvSpPr>
        <p:spPr>
          <a:xfrm>
            <a:off x="4937872" y="1165244"/>
            <a:ext cx="1203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ptos" panose="020B0004020202020204" pitchFamily="34" charset="0"/>
              </a:rPr>
              <a:t>Focus Group</a:t>
            </a:r>
          </a:p>
        </p:txBody>
      </p:sp>
      <p:pic>
        <p:nvPicPr>
          <p:cNvPr id="1032" name="Picture 8" descr="Generated image">
            <a:extLst>
              <a:ext uri="{FF2B5EF4-FFF2-40B4-BE49-F238E27FC236}">
                <a16:creationId xmlns:a16="http://schemas.microsoft.com/office/drawing/2014/main" id="{FFCBD953-128E-A398-6987-0BF208FA2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907" y="1507812"/>
            <a:ext cx="390144" cy="39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enerated image">
            <a:extLst>
              <a:ext uri="{FF2B5EF4-FFF2-40B4-BE49-F238E27FC236}">
                <a16:creationId xmlns:a16="http://schemas.microsoft.com/office/drawing/2014/main" id="{775CE4AA-C300-1EF9-C6BA-48FC09F21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808" y="1527048"/>
            <a:ext cx="366336" cy="36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5" name="Rectangle: Top Corners Rounded 2074">
            <a:extLst>
              <a:ext uri="{FF2B5EF4-FFF2-40B4-BE49-F238E27FC236}">
                <a16:creationId xmlns:a16="http://schemas.microsoft.com/office/drawing/2014/main" id="{3A19E166-2D9E-070A-AFC5-DD0238AF6DDB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2076" name="Rectangle: Top Corners Rounded 2075">
            <a:extLst>
              <a:ext uri="{FF2B5EF4-FFF2-40B4-BE49-F238E27FC236}">
                <a16:creationId xmlns:a16="http://schemas.microsoft.com/office/drawing/2014/main" id="{040EE0AF-D611-79F2-560F-D3DC5EE04444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2077" name="Rectangle: Top Corners Rounded 2076">
            <a:extLst>
              <a:ext uri="{FF2B5EF4-FFF2-40B4-BE49-F238E27FC236}">
                <a16:creationId xmlns:a16="http://schemas.microsoft.com/office/drawing/2014/main" id="{552E145E-56E8-244A-5625-894D2E33BCDE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2078" name="Arrow: Chevron 2077">
            <a:extLst>
              <a:ext uri="{FF2B5EF4-FFF2-40B4-BE49-F238E27FC236}">
                <a16:creationId xmlns:a16="http://schemas.microsoft.com/office/drawing/2014/main" id="{0CD3E805-A912-E58E-AC5B-A067AAC180D1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9" name="Rectangle: Top Corners Rounded 2078">
            <a:extLst>
              <a:ext uri="{FF2B5EF4-FFF2-40B4-BE49-F238E27FC236}">
                <a16:creationId xmlns:a16="http://schemas.microsoft.com/office/drawing/2014/main" id="{A6FA0CB7-498A-E034-AA8B-2212F8778708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2080" name="Rectangle: Top Corners Rounded 2079">
            <a:extLst>
              <a:ext uri="{FF2B5EF4-FFF2-40B4-BE49-F238E27FC236}">
                <a16:creationId xmlns:a16="http://schemas.microsoft.com/office/drawing/2014/main" id="{89B77D3E-CED9-3B96-00EE-834770EC483A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2081" name="Rectangle: Top Corners Rounded 2080">
            <a:extLst>
              <a:ext uri="{FF2B5EF4-FFF2-40B4-BE49-F238E27FC236}">
                <a16:creationId xmlns:a16="http://schemas.microsoft.com/office/drawing/2014/main" id="{9C012334-7CD5-9360-062D-07F342E6CC7F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2082" name="Arrow: Chevron 2081">
            <a:extLst>
              <a:ext uri="{FF2B5EF4-FFF2-40B4-BE49-F238E27FC236}">
                <a16:creationId xmlns:a16="http://schemas.microsoft.com/office/drawing/2014/main" id="{6526834E-0274-B4B3-992D-3D8F61126779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3" name="Arrow: Chevron 2082">
            <a:extLst>
              <a:ext uri="{FF2B5EF4-FFF2-40B4-BE49-F238E27FC236}">
                <a16:creationId xmlns:a16="http://schemas.microsoft.com/office/drawing/2014/main" id="{8EEEECA2-E15B-B16B-0443-213F356BFC50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4" name="Arrow: Chevron 2083">
            <a:extLst>
              <a:ext uri="{FF2B5EF4-FFF2-40B4-BE49-F238E27FC236}">
                <a16:creationId xmlns:a16="http://schemas.microsoft.com/office/drawing/2014/main" id="{0C85F7F4-A86B-F897-8085-48D4E76F97F7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5" name="Rectangle: Top Corners Rounded 2084">
            <a:extLst>
              <a:ext uri="{FF2B5EF4-FFF2-40B4-BE49-F238E27FC236}">
                <a16:creationId xmlns:a16="http://schemas.microsoft.com/office/drawing/2014/main" id="{9500B89F-E9A2-567B-83FD-E759A95E4B32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2086" name="Arrow: Chevron 2085">
            <a:extLst>
              <a:ext uri="{FF2B5EF4-FFF2-40B4-BE49-F238E27FC236}">
                <a16:creationId xmlns:a16="http://schemas.microsoft.com/office/drawing/2014/main" id="{A17CD0C9-B5DF-CCD2-C934-A05D2A2CA468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7" name="Arrow: Chevron 2086">
            <a:extLst>
              <a:ext uri="{FF2B5EF4-FFF2-40B4-BE49-F238E27FC236}">
                <a16:creationId xmlns:a16="http://schemas.microsoft.com/office/drawing/2014/main" id="{AFDAF56B-46FE-639E-8D54-38CE06D3025B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8" name="Arrow: Chevron 2087">
            <a:extLst>
              <a:ext uri="{FF2B5EF4-FFF2-40B4-BE49-F238E27FC236}">
                <a16:creationId xmlns:a16="http://schemas.microsoft.com/office/drawing/2014/main" id="{A9D59A8C-C2E0-6260-6AF9-20D2B817D5A5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21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02340-AD2D-9F16-82A8-A74290A06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Output image">
            <a:extLst>
              <a:ext uri="{FF2B5EF4-FFF2-40B4-BE49-F238E27FC236}">
                <a16:creationId xmlns:a16="http://schemas.microsoft.com/office/drawing/2014/main" id="{D58C2793-409E-6252-679D-E359ADA4C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818" y="750942"/>
            <a:ext cx="8982652" cy="535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7BC642-BF0A-1FC7-0CC4-0CE4C6D6FD76}"/>
              </a:ext>
            </a:extLst>
          </p:cNvPr>
          <p:cNvSpPr txBox="1"/>
          <p:nvPr/>
        </p:nvSpPr>
        <p:spPr>
          <a:xfrm>
            <a:off x="493776" y="120257"/>
            <a:ext cx="643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Cluster based on age, occupation, usage, income and spend</a:t>
            </a:r>
          </a:p>
        </p:txBody>
      </p:sp>
    </p:spTree>
    <p:extLst>
      <p:ext uri="{BB962C8B-B14F-4D97-AF65-F5344CB8AC3E}">
        <p14:creationId xmlns:p14="http://schemas.microsoft.com/office/powerpoint/2010/main" val="34396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2E27-29E7-3C9A-EF77-FD298D0E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Output image">
            <a:extLst>
              <a:ext uri="{FF2B5EF4-FFF2-40B4-BE49-F238E27FC236}">
                <a16:creationId xmlns:a16="http://schemas.microsoft.com/office/drawing/2014/main" id="{7938A3CC-BB0F-0945-73B1-B6E76D921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28" y="1008110"/>
            <a:ext cx="9592252" cy="571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DE7E1E-6054-E511-F04C-447960B9D208}"/>
              </a:ext>
            </a:extLst>
          </p:cNvPr>
          <p:cNvSpPr txBox="1"/>
          <p:nvPr/>
        </p:nvSpPr>
        <p:spPr>
          <a:xfrm>
            <a:off x="243656" y="199866"/>
            <a:ext cx="585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Cluster based on age, usage, income and spend</a:t>
            </a:r>
          </a:p>
        </p:txBody>
      </p:sp>
    </p:spTree>
    <p:extLst>
      <p:ext uri="{BB962C8B-B14F-4D97-AF65-F5344CB8AC3E}">
        <p14:creationId xmlns:p14="http://schemas.microsoft.com/office/powerpoint/2010/main" val="380690922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22">
      <a:dk1>
        <a:sysClr val="windowText" lastClr="000000"/>
      </a:dk1>
      <a:lt1>
        <a:sysClr val="window" lastClr="FFFFFF"/>
      </a:lt1>
      <a:dk2>
        <a:srgbClr val="FFC000"/>
      </a:dk2>
      <a:lt2>
        <a:srgbClr val="FFFFFF"/>
      </a:lt2>
      <a:accent1>
        <a:srgbClr val="CD1305"/>
      </a:accent1>
      <a:accent2>
        <a:srgbClr val="ED0303"/>
      </a:accent2>
      <a:accent3>
        <a:srgbClr val="CD1305"/>
      </a:accent3>
      <a:accent4>
        <a:srgbClr val="ED0303"/>
      </a:accent4>
      <a:accent5>
        <a:srgbClr val="CD1305"/>
      </a:accent5>
      <a:accent6>
        <a:srgbClr val="ED030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8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9_Office Theme">
  <a:themeElements>
    <a:clrScheme name="Checklist Templat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EF3F82"/>
      </a:accent1>
      <a:accent2>
        <a:srgbClr val="A22B94"/>
      </a:accent2>
      <a:accent3>
        <a:srgbClr val="6B5EB1"/>
      </a:accent3>
      <a:accent4>
        <a:srgbClr val="539BE7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0_Office Theme">
  <a:themeElements>
    <a:clrScheme name="5 ps of marketing">
      <a:dk1>
        <a:srgbClr val="000000"/>
      </a:dk1>
      <a:lt1>
        <a:srgbClr val="FFFFFF"/>
      </a:lt1>
      <a:dk2>
        <a:srgbClr val="44546A"/>
      </a:dk2>
      <a:lt2>
        <a:srgbClr val="ECEEF5"/>
      </a:lt2>
      <a:accent1>
        <a:srgbClr val="F1699D"/>
      </a:accent1>
      <a:accent2>
        <a:srgbClr val="B155EB"/>
      </a:accent2>
      <a:accent3>
        <a:srgbClr val="6B5EB1"/>
      </a:accent3>
      <a:accent4>
        <a:srgbClr val="47B5EF"/>
      </a:accent4>
      <a:accent5>
        <a:srgbClr val="47C0A0"/>
      </a:accent5>
      <a:accent6>
        <a:srgbClr val="F5A279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1_Office Theme">
  <a:themeElements>
    <a:clrScheme name="Balanced-Scorecard">
      <a:dk1>
        <a:srgbClr val="000000"/>
      </a:dk1>
      <a:lt1>
        <a:srgbClr val="FFFFFF"/>
      </a:lt1>
      <a:dk2>
        <a:srgbClr val="44546A"/>
      </a:dk2>
      <a:lt2>
        <a:srgbClr val="F6F9F8"/>
      </a:lt2>
      <a:accent1>
        <a:srgbClr val="4FC3FB"/>
      </a:accent1>
      <a:accent2>
        <a:srgbClr val="1DA696"/>
      </a:accent2>
      <a:accent3>
        <a:srgbClr val="ED496A"/>
      </a:accent3>
      <a:accent4>
        <a:srgbClr val="F4BA44"/>
      </a:accent4>
      <a:accent5>
        <a:srgbClr val="CB4A32"/>
      </a:accent5>
      <a:accent6>
        <a:srgbClr val="EAF1F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1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20420"/>
    </a:accent1>
    <a:accent2>
      <a:srgbClr val="860030"/>
    </a:accent2>
    <a:accent3>
      <a:srgbClr val="C92B44"/>
    </a:accent3>
    <a:accent4>
      <a:srgbClr val="E06E81"/>
    </a:accent4>
    <a:accent5>
      <a:srgbClr val="EDADB8"/>
    </a:accent5>
    <a:accent6>
      <a:srgbClr val="FAE6E9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019eb-d63b-4f37-bbfe-582f88cd1b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9160F72E5344297E78CEA9DF9E1D4" ma:contentTypeVersion="5" ma:contentTypeDescription="Create a new document." ma:contentTypeScope="" ma:versionID="fd5f5e67eb2db0ffc8a3658b425fe2e8">
  <xsd:schema xmlns:xsd="http://www.w3.org/2001/XMLSchema" xmlns:xs="http://www.w3.org/2001/XMLSchema" xmlns:p="http://schemas.microsoft.com/office/2006/metadata/properties" xmlns:ns3="e18019eb-d63b-4f37-bbfe-582f88cd1b5e" targetNamespace="http://schemas.microsoft.com/office/2006/metadata/properties" ma:root="true" ma:fieldsID="cdc674aab130861b278e6ae70b2fc22c" ns3:_="">
    <xsd:import namespace="e18019eb-d63b-4f37-bbfe-582f88cd1b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019eb-d63b-4f37-bbfe-582f88cd1b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8963AE-701B-4EB8-9C32-6E4ADF42DB9A}">
  <ds:schemaRefs>
    <ds:schemaRef ds:uri="http://schemas.microsoft.com/office/infopath/2007/PartnerControls"/>
    <ds:schemaRef ds:uri="e18019eb-d63b-4f37-bbfe-582f88cd1b5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06E0F2-29DF-49E8-89A0-08A89E1D01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A64D5F-763D-423B-B0F2-8A9DB3CD0DF2}">
  <ds:schemaRefs>
    <ds:schemaRef ds:uri="e18019eb-d63b-4f37-bbfe-582f88cd1b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259</Words>
  <Application>Microsoft Office PowerPoint</Application>
  <PresentationFormat>Widescreen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Aptos</vt:lpstr>
      <vt:lpstr>Aptos Narrow</vt:lpstr>
      <vt:lpstr>Arial</vt:lpstr>
      <vt:lpstr>Book Antiqua</vt:lpstr>
      <vt:lpstr>Calibri</vt:lpstr>
      <vt:lpstr>Calibri Light</vt:lpstr>
      <vt:lpstr>Segoe UI</vt:lpstr>
      <vt:lpstr>2_Office Theme</vt:lpstr>
      <vt:lpstr>Office Theme</vt:lpstr>
      <vt:lpstr>17_Office Theme</vt:lpstr>
      <vt:lpstr>18_Office Theme</vt:lpstr>
      <vt:lpstr>19_Office Theme</vt:lpstr>
      <vt:lpstr>20_Office Theme</vt:lpstr>
      <vt:lpstr>21_Office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Ananta Chhajer</dc:creator>
  <cp:lastModifiedBy>Ananta Chhajer</cp:lastModifiedBy>
  <cp:revision>8</cp:revision>
  <dcterms:created xsi:type="dcterms:W3CDTF">2025-04-08T08:33:02Z</dcterms:created>
  <dcterms:modified xsi:type="dcterms:W3CDTF">2025-05-03T16:49:34Z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0x01010058C9160F72E5344297E78CEA9DF9E1D4</vt:lpwstr>
  </property>
</Properties>
</file>