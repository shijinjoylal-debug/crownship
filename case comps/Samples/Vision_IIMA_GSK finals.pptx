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7" r:id="rId5"/>
    <p:sldId id="278" r:id="rId6"/>
    <p:sldId id="262" r:id="rId7"/>
    <p:sldId id="263" r:id="rId8"/>
    <p:sldId id="280" r:id="rId9"/>
    <p:sldId id="268" r:id="rId10"/>
    <p:sldId id="281" r:id="rId11"/>
    <p:sldId id="270" r:id="rId12"/>
    <p:sldId id="282" r:id="rId13"/>
    <p:sldId id="271" r:id="rId14"/>
    <p:sldId id="279" r:id="rId15"/>
    <p:sldId id="259" r:id="rId16"/>
    <p:sldId id="26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208"/>
    <a:srgbClr val="843C0C"/>
    <a:srgbClr val="F95606"/>
    <a:srgbClr val="FA5107"/>
    <a:srgbClr val="FF6609"/>
    <a:srgbClr val="FE6508"/>
    <a:srgbClr val="FB5C08"/>
    <a:srgbClr val="FD5D08"/>
    <a:srgbClr val="FF6600"/>
    <a:srgbClr val="FF64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B2540D-AA9F-3C40-9BB2-2EC21AF7BC82}" v="4066" dt="2020-12-02T06:28:37.059"/>
    <p1510:client id="{DB31464A-5C25-4719-8FEF-11FB605D0589}" v="5892" dt="2020-12-02T06:29:28.715"/>
    <p1510:client id="{EE0C839A-A216-7AE1-7A79-5AB6BB824536}" v="23" dt="2020-12-01T22:38:29.1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6" autoAdjust="0"/>
    <p:restoredTop sz="93792" autoAdjust="0"/>
  </p:normalViewPr>
  <p:slideViewPr>
    <p:cSldViewPr snapToGrid="0">
      <p:cViewPr varScale="1">
        <p:scale>
          <a:sx n="106" d="100"/>
          <a:sy n="106" d="100"/>
        </p:scale>
        <p:origin x="82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AppData\Roaming\Microsoft\Excel\mondelez%20(version%201).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AppData\Roaming\Microsoft\Excel\mondelez%20(version%201).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AppData\Roaming\Microsoft\Excel\mondelez%20(version%201).xlsb"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IN" sz="1200">
                <a:solidFill>
                  <a:sysClr val="windowText" lastClr="000000"/>
                </a:solidFill>
                <a:latin typeface="Arial" panose="020B0604020202020204" pitchFamily="34" charset="0"/>
                <a:cs typeface="Arial" panose="020B0604020202020204" pitchFamily="34" charset="0"/>
              </a:rPr>
              <a:t>Frequency</a:t>
            </a:r>
            <a:r>
              <a:rPr lang="en-IN" sz="1200" baseline="0">
                <a:solidFill>
                  <a:sysClr val="windowText" lastClr="000000"/>
                </a:solidFill>
                <a:latin typeface="Arial" panose="020B0604020202020204" pitchFamily="34" charset="0"/>
                <a:cs typeface="Arial" panose="020B0604020202020204" pitchFamily="34" charset="0"/>
              </a:rPr>
              <a:t> of Interaction of sales rep with HCPs</a:t>
            </a:r>
            <a:endParaRPr lang="en-IN" sz="1200">
              <a:solidFill>
                <a:sysClr val="windowText" lastClr="000000"/>
              </a:solidFill>
              <a:latin typeface="Arial" panose="020B0604020202020204" pitchFamily="34" charset="0"/>
              <a:cs typeface="Arial" panose="020B0604020202020204" pitchFamily="34" charset="0"/>
            </a:endParaRPr>
          </a:p>
        </c:rich>
      </c:tx>
      <c:layout>
        <c:manualLayout>
          <c:xMode val="edge"/>
          <c:yMode val="edge"/>
          <c:x val="0.16382186290212239"/>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IN"/>
        </a:p>
      </c:txPr>
    </c:title>
    <c:autoTitleDeleted val="0"/>
    <c:plotArea>
      <c:layout>
        <c:manualLayout>
          <c:layoutTarget val="inner"/>
          <c:xMode val="edge"/>
          <c:yMode val="edge"/>
          <c:x val="0.13096976564873009"/>
          <c:y val="0.14292870905587668"/>
          <c:w val="0.80721025413366354"/>
          <c:h val="0.55524615781408826"/>
        </c:manualLayout>
      </c:layout>
      <c:barChart>
        <c:barDir val="col"/>
        <c:grouping val="stacked"/>
        <c:varyColors val="0"/>
        <c:ser>
          <c:idx val="0"/>
          <c:order val="0"/>
          <c:tx>
            <c:strRef>
              <c:f>Sheet2!$H$14</c:f>
              <c:strCache>
                <c:ptCount val="1"/>
                <c:pt idx="0">
                  <c:v>More than Once a month</c:v>
                </c:pt>
              </c:strCache>
            </c:strRef>
          </c:tx>
          <c:spPr>
            <a:solidFill>
              <a:schemeClr val="accent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Sheet2!$G$15:$G$16</c:f>
              <c:strCache>
                <c:ptCount val="2"/>
                <c:pt idx="0">
                  <c:v>Pre Covid</c:v>
                </c:pt>
                <c:pt idx="1">
                  <c:v>June</c:v>
                </c:pt>
              </c:strCache>
            </c:strRef>
          </c:cat>
          <c:val>
            <c:numRef>
              <c:f>Sheet2!$H$15:$H$16</c:f>
              <c:numCache>
                <c:formatCode>0%</c:formatCode>
                <c:ptCount val="2"/>
                <c:pt idx="0">
                  <c:v>0.5</c:v>
                </c:pt>
                <c:pt idx="1">
                  <c:v>0.24</c:v>
                </c:pt>
              </c:numCache>
            </c:numRef>
          </c:val>
          <c:extLst>
            <c:ext xmlns:c16="http://schemas.microsoft.com/office/drawing/2014/chart" uri="{C3380CC4-5D6E-409C-BE32-E72D297353CC}">
              <c16:uniqueId val="{00000000-FC99-4E5B-8F21-9252E522C0E1}"/>
            </c:ext>
          </c:extLst>
        </c:ser>
        <c:ser>
          <c:idx val="1"/>
          <c:order val="1"/>
          <c:tx>
            <c:strRef>
              <c:f>Sheet2!$I$14</c:f>
              <c:strCache>
                <c:ptCount val="1"/>
                <c:pt idx="0">
                  <c:v>once a month</c:v>
                </c:pt>
              </c:strCache>
            </c:strRef>
          </c:tx>
          <c:spPr>
            <a:solidFill>
              <a:schemeClr val="accent2">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Sheet2!$G$15:$G$16</c:f>
              <c:strCache>
                <c:ptCount val="2"/>
                <c:pt idx="0">
                  <c:v>Pre Covid</c:v>
                </c:pt>
                <c:pt idx="1">
                  <c:v>June</c:v>
                </c:pt>
              </c:strCache>
            </c:strRef>
          </c:cat>
          <c:val>
            <c:numRef>
              <c:f>Sheet2!$I$15:$I$16</c:f>
              <c:numCache>
                <c:formatCode>0%</c:formatCode>
                <c:ptCount val="2"/>
                <c:pt idx="0">
                  <c:v>0.24</c:v>
                </c:pt>
                <c:pt idx="1">
                  <c:v>0.33</c:v>
                </c:pt>
              </c:numCache>
            </c:numRef>
          </c:val>
          <c:extLst>
            <c:ext xmlns:c16="http://schemas.microsoft.com/office/drawing/2014/chart" uri="{C3380CC4-5D6E-409C-BE32-E72D297353CC}">
              <c16:uniqueId val="{00000001-FC99-4E5B-8F21-9252E522C0E1}"/>
            </c:ext>
          </c:extLst>
        </c:ser>
        <c:ser>
          <c:idx val="2"/>
          <c:order val="2"/>
          <c:tx>
            <c:strRef>
              <c:f>Sheet2!$J$14</c:f>
              <c:strCache>
                <c:ptCount val="1"/>
                <c:pt idx="0">
                  <c:v>Once every 2-3 months</c:v>
                </c:pt>
              </c:strCache>
            </c:strRef>
          </c:tx>
          <c:spPr>
            <a:solidFill>
              <a:srgbClr val="FF66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Sheet2!$G$15:$G$16</c:f>
              <c:strCache>
                <c:ptCount val="2"/>
                <c:pt idx="0">
                  <c:v>Pre Covid</c:v>
                </c:pt>
                <c:pt idx="1">
                  <c:v>June</c:v>
                </c:pt>
              </c:strCache>
            </c:strRef>
          </c:cat>
          <c:val>
            <c:numRef>
              <c:f>Sheet2!$J$15:$J$16</c:f>
              <c:numCache>
                <c:formatCode>0%</c:formatCode>
                <c:ptCount val="2"/>
                <c:pt idx="0">
                  <c:v>0.12</c:v>
                </c:pt>
                <c:pt idx="1">
                  <c:v>0.15</c:v>
                </c:pt>
              </c:numCache>
            </c:numRef>
          </c:val>
          <c:extLst>
            <c:ext xmlns:c16="http://schemas.microsoft.com/office/drawing/2014/chart" uri="{C3380CC4-5D6E-409C-BE32-E72D297353CC}">
              <c16:uniqueId val="{00000002-FC99-4E5B-8F21-9252E522C0E1}"/>
            </c:ext>
          </c:extLst>
        </c:ser>
        <c:ser>
          <c:idx val="3"/>
          <c:order val="3"/>
          <c:tx>
            <c:strRef>
              <c:f>Sheet2!$K$14</c:f>
              <c:strCache>
                <c:ptCount val="1"/>
                <c:pt idx="0">
                  <c:v>Less than once every 2-3 months</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Sheet2!$G$15:$G$16</c:f>
              <c:strCache>
                <c:ptCount val="2"/>
                <c:pt idx="0">
                  <c:v>Pre Covid</c:v>
                </c:pt>
                <c:pt idx="1">
                  <c:v>June</c:v>
                </c:pt>
              </c:strCache>
            </c:strRef>
          </c:cat>
          <c:val>
            <c:numRef>
              <c:f>Sheet2!$K$15:$K$16</c:f>
              <c:numCache>
                <c:formatCode>0%</c:formatCode>
                <c:ptCount val="2"/>
                <c:pt idx="0">
                  <c:v>0.08</c:v>
                </c:pt>
                <c:pt idx="1">
                  <c:v>0.16</c:v>
                </c:pt>
              </c:numCache>
            </c:numRef>
          </c:val>
          <c:extLst>
            <c:ext xmlns:c16="http://schemas.microsoft.com/office/drawing/2014/chart" uri="{C3380CC4-5D6E-409C-BE32-E72D297353CC}">
              <c16:uniqueId val="{00000003-FC99-4E5B-8F21-9252E522C0E1}"/>
            </c:ext>
          </c:extLst>
        </c:ser>
        <c:ser>
          <c:idx val="4"/>
          <c:order val="4"/>
          <c:tx>
            <c:strRef>
              <c:f>Sheet2!$L$14</c:f>
              <c:strCache>
                <c:ptCount val="1"/>
                <c:pt idx="0">
                  <c:v>Do not interact</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Sheet2!$G$15:$G$16</c:f>
              <c:strCache>
                <c:ptCount val="2"/>
                <c:pt idx="0">
                  <c:v>Pre Covid</c:v>
                </c:pt>
                <c:pt idx="1">
                  <c:v>June</c:v>
                </c:pt>
              </c:strCache>
            </c:strRef>
          </c:cat>
          <c:val>
            <c:numRef>
              <c:f>Sheet2!$L$15:$L$16</c:f>
              <c:numCache>
                <c:formatCode>0%</c:formatCode>
                <c:ptCount val="2"/>
                <c:pt idx="0">
                  <c:v>0.06</c:v>
                </c:pt>
                <c:pt idx="1">
                  <c:v>0.12</c:v>
                </c:pt>
              </c:numCache>
            </c:numRef>
          </c:val>
          <c:extLst>
            <c:ext xmlns:c16="http://schemas.microsoft.com/office/drawing/2014/chart" uri="{C3380CC4-5D6E-409C-BE32-E72D297353CC}">
              <c16:uniqueId val="{00000004-FC99-4E5B-8F21-9252E522C0E1}"/>
            </c:ext>
          </c:extLst>
        </c:ser>
        <c:dLbls>
          <c:dLblPos val="ctr"/>
          <c:showLegendKey val="0"/>
          <c:showVal val="1"/>
          <c:showCatName val="0"/>
          <c:showSerName val="0"/>
          <c:showPercent val="0"/>
          <c:showBubbleSize val="0"/>
        </c:dLbls>
        <c:gapWidth val="150"/>
        <c:overlap val="100"/>
        <c:axId val="839462096"/>
        <c:axId val="866645456"/>
      </c:barChart>
      <c:catAx>
        <c:axId val="839462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66645456"/>
        <c:crosses val="autoZero"/>
        <c:auto val="1"/>
        <c:lblAlgn val="ctr"/>
        <c:lblOffset val="100"/>
        <c:noMultiLvlLbl val="0"/>
      </c:catAx>
      <c:valAx>
        <c:axId val="866645456"/>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39462096"/>
        <c:crosses val="autoZero"/>
        <c:crossBetween val="between"/>
        <c:majorUnit val="0.2"/>
      </c:valAx>
      <c:spPr>
        <a:noFill/>
        <a:ln>
          <a:noFill/>
        </a:ln>
        <a:effectLst/>
      </c:spPr>
    </c:plotArea>
    <c:legend>
      <c:legendPos val="b"/>
      <c:layout>
        <c:manualLayout>
          <c:xMode val="edge"/>
          <c:yMode val="edge"/>
          <c:x val="0"/>
          <c:y val="0.80330795933194987"/>
          <c:w val="0.91562140809635839"/>
          <c:h val="0.16379635237757692"/>
        </c:manualLayout>
      </c:layout>
      <c:overlay val="0"/>
      <c:spPr>
        <a:noFill/>
        <a:ln>
          <a:noFill/>
        </a:ln>
        <a:effectLst/>
      </c:spPr>
      <c:txPr>
        <a:bodyPr rot="0" spcFirstLastPara="1" vertOverflow="ellipsis" vert="horz" wrap="square" anchor="ctr" anchorCtr="1"/>
        <a:lstStyle/>
        <a:p>
          <a:pPr algn="just">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IN">
                <a:solidFill>
                  <a:sysClr val="windowText" lastClr="000000"/>
                </a:solidFill>
              </a:rPr>
              <a:t>Physician</a:t>
            </a:r>
            <a:r>
              <a:rPr lang="en-IN" baseline="0">
                <a:solidFill>
                  <a:sysClr val="windowText" lastClr="000000"/>
                </a:solidFill>
              </a:rPr>
              <a:t> preference of meeting with sales rep</a:t>
            </a:r>
            <a:endParaRPr lang="en-IN">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IN"/>
        </a:p>
      </c:txPr>
    </c:title>
    <c:autoTitleDeleted val="0"/>
    <c:plotArea>
      <c:layout>
        <c:manualLayout>
          <c:layoutTarget val="inner"/>
          <c:xMode val="edge"/>
          <c:yMode val="edge"/>
          <c:x val="0.21579382502389058"/>
          <c:y val="0.28621307564065446"/>
          <c:w val="0.74194579842012143"/>
          <c:h val="0.4684165077717104"/>
        </c:manualLayout>
      </c:layout>
      <c:barChart>
        <c:barDir val="col"/>
        <c:grouping val="stacked"/>
        <c:varyColors val="0"/>
        <c:ser>
          <c:idx val="0"/>
          <c:order val="0"/>
          <c:tx>
            <c:strRef>
              <c:f>Sheet2!$H$27</c:f>
              <c:strCache>
                <c:ptCount val="1"/>
                <c:pt idx="0">
                  <c:v>Stop all contacts</c:v>
                </c:pt>
              </c:strCache>
            </c:strRef>
          </c:tx>
          <c:spPr>
            <a:solidFill>
              <a:schemeClr val="accent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Sheet2!$G$28:$G$30</c:f>
              <c:strCache>
                <c:ptCount val="3"/>
                <c:pt idx="0">
                  <c:v>March</c:v>
                </c:pt>
                <c:pt idx="1">
                  <c:v>April</c:v>
                </c:pt>
                <c:pt idx="2">
                  <c:v>June</c:v>
                </c:pt>
              </c:strCache>
            </c:strRef>
          </c:cat>
          <c:val>
            <c:numRef>
              <c:f>Sheet2!$H$28:$H$30</c:f>
              <c:numCache>
                <c:formatCode>0%</c:formatCode>
                <c:ptCount val="3"/>
                <c:pt idx="0">
                  <c:v>7.0000000000000007E-2</c:v>
                </c:pt>
                <c:pt idx="1">
                  <c:v>0.18</c:v>
                </c:pt>
                <c:pt idx="2">
                  <c:v>0.26</c:v>
                </c:pt>
              </c:numCache>
            </c:numRef>
          </c:val>
          <c:extLst>
            <c:ext xmlns:c16="http://schemas.microsoft.com/office/drawing/2014/chart" uri="{C3380CC4-5D6E-409C-BE32-E72D297353CC}">
              <c16:uniqueId val="{00000000-54F3-47D3-A7FE-938D6872527B}"/>
            </c:ext>
          </c:extLst>
        </c:ser>
        <c:ser>
          <c:idx val="1"/>
          <c:order val="1"/>
          <c:tx>
            <c:strRef>
              <c:f>Sheet2!$I$27</c:f>
              <c:strCache>
                <c:ptCount val="1"/>
                <c:pt idx="0">
                  <c:v>Convert to virtual visits</c:v>
                </c:pt>
              </c:strCache>
            </c:strRef>
          </c:tx>
          <c:spPr>
            <a:solidFill>
              <a:srgbClr val="FF66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Sheet2!$G$28:$G$30</c:f>
              <c:strCache>
                <c:ptCount val="3"/>
                <c:pt idx="0">
                  <c:v>March</c:v>
                </c:pt>
                <c:pt idx="1">
                  <c:v>April</c:v>
                </c:pt>
                <c:pt idx="2">
                  <c:v>June</c:v>
                </c:pt>
              </c:strCache>
            </c:strRef>
          </c:cat>
          <c:val>
            <c:numRef>
              <c:f>Sheet2!$I$28:$I$30</c:f>
              <c:numCache>
                <c:formatCode>0%</c:formatCode>
                <c:ptCount val="3"/>
                <c:pt idx="0">
                  <c:v>0.48</c:v>
                </c:pt>
                <c:pt idx="1">
                  <c:v>0.52</c:v>
                </c:pt>
                <c:pt idx="2">
                  <c:v>0.54</c:v>
                </c:pt>
              </c:numCache>
            </c:numRef>
          </c:val>
          <c:extLst>
            <c:ext xmlns:c16="http://schemas.microsoft.com/office/drawing/2014/chart" uri="{C3380CC4-5D6E-409C-BE32-E72D297353CC}">
              <c16:uniqueId val="{00000001-54F3-47D3-A7FE-938D6872527B}"/>
            </c:ext>
          </c:extLst>
        </c:ser>
        <c:ser>
          <c:idx val="2"/>
          <c:order val="2"/>
          <c:tx>
            <c:strRef>
              <c:f>Sheet2!$J$27</c:f>
              <c:strCache>
                <c:ptCount val="1"/>
                <c:pt idx="0">
                  <c:v>Continue in person</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Sheet2!$G$28:$G$30</c:f>
              <c:strCache>
                <c:ptCount val="3"/>
                <c:pt idx="0">
                  <c:v>March</c:v>
                </c:pt>
                <c:pt idx="1">
                  <c:v>April</c:v>
                </c:pt>
                <c:pt idx="2">
                  <c:v>June</c:v>
                </c:pt>
              </c:strCache>
            </c:strRef>
          </c:cat>
          <c:val>
            <c:numRef>
              <c:f>Sheet2!$J$28:$J$30</c:f>
              <c:numCache>
                <c:formatCode>0%</c:formatCode>
                <c:ptCount val="3"/>
                <c:pt idx="0">
                  <c:v>0.45</c:v>
                </c:pt>
                <c:pt idx="1">
                  <c:v>0.3</c:v>
                </c:pt>
                <c:pt idx="2">
                  <c:v>0.2</c:v>
                </c:pt>
              </c:numCache>
            </c:numRef>
          </c:val>
          <c:extLst>
            <c:ext xmlns:c16="http://schemas.microsoft.com/office/drawing/2014/chart" uri="{C3380CC4-5D6E-409C-BE32-E72D297353CC}">
              <c16:uniqueId val="{00000002-54F3-47D3-A7FE-938D6872527B}"/>
            </c:ext>
          </c:extLst>
        </c:ser>
        <c:dLbls>
          <c:dLblPos val="ctr"/>
          <c:showLegendKey val="0"/>
          <c:showVal val="1"/>
          <c:showCatName val="0"/>
          <c:showSerName val="0"/>
          <c:showPercent val="0"/>
          <c:showBubbleSize val="0"/>
        </c:dLbls>
        <c:gapWidth val="150"/>
        <c:overlap val="100"/>
        <c:axId val="910863232"/>
        <c:axId val="866657936"/>
      </c:barChart>
      <c:catAx>
        <c:axId val="910863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66657936"/>
        <c:crosses val="autoZero"/>
        <c:auto val="1"/>
        <c:lblAlgn val="ctr"/>
        <c:lblOffset val="100"/>
        <c:noMultiLvlLbl val="0"/>
      </c:catAx>
      <c:valAx>
        <c:axId val="866657936"/>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IN">
                    <a:solidFill>
                      <a:sysClr val="windowText" lastClr="000000"/>
                    </a:solidFill>
                  </a:rPr>
                  <a:t>%</a:t>
                </a:r>
                <a:r>
                  <a:rPr lang="en-IN" baseline="0">
                    <a:solidFill>
                      <a:sysClr val="windowText" lastClr="000000"/>
                    </a:solidFill>
                  </a:rPr>
                  <a:t> of MDs</a:t>
                </a:r>
                <a:endParaRPr lang="en-IN">
                  <a:solidFill>
                    <a:sysClr val="windowText" lastClr="000000"/>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IN"/>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0863232"/>
        <c:crosses val="autoZero"/>
        <c:crossBetween val="between"/>
      </c:valAx>
      <c:spPr>
        <a:noFill/>
        <a:ln>
          <a:noFill/>
        </a:ln>
        <a:effectLst/>
      </c:spPr>
    </c:plotArea>
    <c:legend>
      <c:legendPos val="b"/>
      <c:layout>
        <c:manualLayout>
          <c:xMode val="edge"/>
          <c:yMode val="edge"/>
          <c:x val="5.2934373598064202E-2"/>
          <c:y val="0.85573632064850236"/>
          <c:w val="0.94407503168015705"/>
          <c:h val="0.1136238620645285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Change</a:t>
            </a:r>
            <a:r>
              <a:rPr lang="en-IN" baseline="0"/>
              <a:t> in patient visits</a:t>
            </a:r>
            <a:endParaRPr lang="en-IN"/>
          </a:p>
        </c:rich>
      </c:tx>
      <c:layout>
        <c:manualLayout>
          <c:xMode val="edge"/>
          <c:yMode val="edge"/>
          <c:x val="0.19102450011633096"/>
          <c:y val="7.155635062611806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31326725798210331"/>
          <c:y val="0.16376231146419756"/>
          <c:w val="0.60563854003375439"/>
          <c:h val="0.64237131360368871"/>
        </c:manualLayout>
      </c:layout>
      <c:barChart>
        <c:barDir val="col"/>
        <c:grouping val="percentStacked"/>
        <c:varyColors val="0"/>
        <c:ser>
          <c:idx val="0"/>
          <c:order val="0"/>
          <c:tx>
            <c:strRef>
              <c:f>Sheet1!$M$29</c:f>
              <c:strCache>
                <c:ptCount val="1"/>
                <c:pt idx="0">
                  <c:v>Significant Drop</c:v>
                </c:pt>
              </c:strCache>
            </c:strRef>
          </c:tx>
          <c:spPr>
            <a:solidFill>
              <a:schemeClr val="accent2">
                <a:lumMod val="50000"/>
              </a:schemeClr>
            </a:solidFill>
            <a:ln>
              <a:solidFill>
                <a:schemeClr val="accent2">
                  <a:lumMod val="50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Sheet1!$N$29</c:f>
              <c:numCache>
                <c:formatCode>0%</c:formatCode>
                <c:ptCount val="1"/>
                <c:pt idx="0">
                  <c:v>0.62</c:v>
                </c:pt>
              </c:numCache>
            </c:numRef>
          </c:val>
          <c:extLst>
            <c:ext xmlns:c16="http://schemas.microsoft.com/office/drawing/2014/chart" uri="{C3380CC4-5D6E-409C-BE32-E72D297353CC}">
              <c16:uniqueId val="{00000000-E33C-4CA7-B15C-06D3DC7D940E}"/>
            </c:ext>
          </c:extLst>
        </c:ser>
        <c:ser>
          <c:idx val="1"/>
          <c:order val="1"/>
          <c:tx>
            <c:strRef>
              <c:f>Sheet1!$M$30</c:f>
              <c:strCache>
                <c:ptCount val="1"/>
                <c:pt idx="0">
                  <c:v>Mild Drop</c:v>
                </c:pt>
              </c:strCache>
            </c:strRef>
          </c:tx>
          <c:spPr>
            <a:solidFill>
              <a:schemeClr val="accent2">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Sheet1!$N$30</c:f>
              <c:numCache>
                <c:formatCode>0%</c:formatCode>
                <c:ptCount val="1"/>
                <c:pt idx="0">
                  <c:v>0.19</c:v>
                </c:pt>
              </c:numCache>
            </c:numRef>
          </c:val>
          <c:extLst>
            <c:ext xmlns:c16="http://schemas.microsoft.com/office/drawing/2014/chart" uri="{C3380CC4-5D6E-409C-BE32-E72D297353CC}">
              <c16:uniqueId val="{00000001-E33C-4CA7-B15C-06D3DC7D940E}"/>
            </c:ext>
          </c:extLst>
        </c:ser>
        <c:ser>
          <c:idx val="2"/>
          <c:order val="2"/>
          <c:tx>
            <c:strRef>
              <c:f>Sheet1!$M$31</c:f>
              <c:strCache>
                <c:ptCount val="1"/>
                <c:pt idx="0">
                  <c:v>No Change</c:v>
                </c:pt>
              </c:strCache>
            </c:strRef>
          </c:tx>
          <c:spPr>
            <a:solidFill>
              <a:srgbClr val="FF6600"/>
            </a:solidFill>
            <a:ln>
              <a:noFill/>
            </a:ln>
            <a:effectLst/>
          </c:spPr>
          <c:invertIfNegative val="0"/>
          <c:dLbls>
            <c:dLbl>
              <c:idx val="0"/>
              <c:layout>
                <c:manualLayout>
                  <c:x val="-0.20695143159512841"/>
                  <c:y val="1.192605843768634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33C-4CA7-B15C-06D3DC7D940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Sheet1!$N$31</c:f>
              <c:numCache>
                <c:formatCode>0%</c:formatCode>
                <c:ptCount val="1"/>
                <c:pt idx="0">
                  <c:v>0.03</c:v>
                </c:pt>
              </c:numCache>
            </c:numRef>
          </c:val>
          <c:extLst>
            <c:ext xmlns:c16="http://schemas.microsoft.com/office/drawing/2014/chart" uri="{C3380CC4-5D6E-409C-BE32-E72D297353CC}">
              <c16:uniqueId val="{00000002-E33C-4CA7-B15C-06D3DC7D940E}"/>
            </c:ext>
          </c:extLst>
        </c:ser>
        <c:ser>
          <c:idx val="3"/>
          <c:order val="3"/>
          <c:tx>
            <c:strRef>
              <c:f>Sheet1!$M$32</c:f>
              <c:strCache>
                <c:ptCount val="1"/>
                <c:pt idx="0">
                  <c:v>Mild Increase</c:v>
                </c:pt>
              </c:strCache>
            </c:strRef>
          </c:tx>
          <c:spPr>
            <a:solidFill>
              <a:schemeClr val="accent2">
                <a:lumMod val="60000"/>
                <a:lumOff val="40000"/>
              </a:schemeClr>
            </a:solidFill>
            <a:ln>
              <a:solidFill>
                <a:schemeClr val="accent2">
                  <a:lumMod val="60000"/>
                  <a:lumOff val="40000"/>
                </a:schemeClr>
              </a:solidFill>
            </a:ln>
            <a:effectLst/>
          </c:spPr>
          <c:invertIfNegative val="0"/>
          <c:dLbls>
            <c:dLbl>
              <c:idx val="0"/>
              <c:layout>
                <c:manualLayout>
                  <c:x val="-0.23480432407181914"/>
                  <c:y val="-2.979041752160228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3C-4CA7-B15C-06D3DC7D940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Sheet1!$N$32</c:f>
              <c:numCache>
                <c:formatCode>0%</c:formatCode>
                <c:ptCount val="1"/>
                <c:pt idx="0">
                  <c:v>0.03</c:v>
                </c:pt>
              </c:numCache>
            </c:numRef>
          </c:val>
          <c:extLst>
            <c:ext xmlns:c16="http://schemas.microsoft.com/office/drawing/2014/chart" uri="{C3380CC4-5D6E-409C-BE32-E72D297353CC}">
              <c16:uniqueId val="{00000004-E33C-4CA7-B15C-06D3DC7D940E}"/>
            </c:ext>
          </c:extLst>
        </c:ser>
        <c:ser>
          <c:idx val="4"/>
          <c:order val="4"/>
          <c:tx>
            <c:strRef>
              <c:f>Sheet1!$M$33</c:f>
              <c:strCache>
                <c:ptCount val="1"/>
                <c:pt idx="0">
                  <c:v>Significant Increase</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Sheet1!$N$33</c:f>
              <c:numCache>
                <c:formatCode>0%</c:formatCode>
                <c:ptCount val="1"/>
                <c:pt idx="0">
                  <c:v>0.11</c:v>
                </c:pt>
              </c:numCache>
            </c:numRef>
          </c:val>
          <c:extLst>
            <c:ext xmlns:c16="http://schemas.microsoft.com/office/drawing/2014/chart" uri="{C3380CC4-5D6E-409C-BE32-E72D297353CC}">
              <c16:uniqueId val="{00000005-E33C-4CA7-B15C-06D3DC7D940E}"/>
            </c:ext>
          </c:extLst>
        </c:ser>
        <c:dLbls>
          <c:dLblPos val="ctr"/>
          <c:showLegendKey val="0"/>
          <c:showVal val="1"/>
          <c:showCatName val="0"/>
          <c:showSerName val="0"/>
          <c:showPercent val="0"/>
          <c:showBubbleSize val="0"/>
        </c:dLbls>
        <c:gapWidth val="150"/>
        <c:overlap val="100"/>
        <c:axId val="828744608"/>
        <c:axId val="866653776"/>
      </c:barChart>
      <c:catAx>
        <c:axId val="828744608"/>
        <c:scaling>
          <c:orientation val="minMax"/>
        </c:scaling>
        <c:delete val="1"/>
        <c:axPos val="b"/>
        <c:numFmt formatCode="General" sourceLinked="1"/>
        <c:majorTickMark val="none"/>
        <c:minorTickMark val="none"/>
        <c:tickLblPos val="nextTo"/>
        <c:crossAx val="866653776"/>
        <c:crosses val="autoZero"/>
        <c:auto val="1"/>
        <c:lblAlgn val="ctr"/>
        <c:lblOffset val="100"/>
        <c:noMultiLvlLbl val="0"/>
      </c:catAx>
      <c:valAx>
        <c:axId val="866653776"/>
        <c:scaling>
          <c:orientation val="minMax"/>
        </c:scaling>
        <c:delete val="0"/>
        <c:axPos val="l"/>
        <c:numFmt formatCode="0%"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8744608"/>
        <c:crosses val="autoZero"/>
        <c:crossBetween val="between"/>
      </c:valAx>
      <c:spPr>
        <a:noFill/>
        <a:ln>
          <a:solidFill>
            <a:schemeClr val="tx1"/>
          </a:solidFill>
        </a:ln>
        <a:effectLst/>
      </c:spPr>
    </c:plotArea>
    <c:legend>
      <c:legendPos val="b"/>
      <c:layout>
        <c:manualLayout>
          <c:xMode val="edge"/>
          <c:yMode val="edge"/>
          <c:x val="1.7326524275149441E-2"/>
          <c:y val="0.84201227977093207"/>
          <c:w val="0.97504549631524895"/>
          <c:h val="0.1163210848643919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501887544471086E-2"/>
          <c:y val="4.6123163774687427E-2"/>
          <c:w val="0.93071458587172096"/>
          <c:h val="0.63649885479384971"/>
        </c:manualLayout>
      </c:layout>
      <c:barChart>
        <c:barDir val="col"/>
        <c:grouping val="clustered"/>
        <c:varyColors val="0"/>
        <c:ser>
          <c:idx val="0"/>
          <c:order val="0"/>
          <c:spPr>
            <a:solidFill>
              <a:schemeClr val="accent2">
                <a:lumMod val="50000"/>
              </a:schemeClr>
            </a:solidFill>
            <a:ln>
              <a:noFill/>
            </a:ln>
            <a:effectLst/>
          </c:spPr>
          <c:invertIfNegative val="0"/>
          <c:dPt>
            <c:idx val="1"/>
            <c:invertIfNegative val="0"/>
            <c:bubble3D val="0"/>
            <c:spPr>
              <a:solidFill>
                <a:schemeClr val="accent2">
                  <a:lumMod val="75000"/>
                </a:schemeClr>
              </a:solidFill>
              <a:ln>
                <a:noFill/>
              </a:ln>
              <a:effectLst/>
            </c:spPr>
            <c:extLst>
              <c:ext xmlns:c16="http://schemas.microsoft.com/office/drawing/2014/chart" uri="{C3380CC4-5D6E-409C-BE32-E72D297353CC}">
                <c16:uniqueId val="{00000002-A1D8-4DD1-86F1-3AAFB2E2964B}"/>
              </c:ext>
            </c:extLst>
          </c:dPt>
          <c:dPt>
            <c:idx val="2"/>
            <c:invertIfNegative val="0"/>
            <c:bubble3D val="0"/>
            <c:spPr>
              <a:solidFill>
                <a:srgbClr val="FF640A"/>
              </a:solidFill>
              <a:ln>
                <a:noFill/>
              </a:ln>
              <a:effectLst/>
            </c:spPr>
            <c:extLst>
              <c:ext xmlns:c16="http://schemas.microsoft.com/office/drawing/2014/chart" uri="{C3380CC4-5D6E-409C-BE32-E72D297353CC}">
                <c16:uniqueId val="{00000003-A1D8-4DD1-86F1-3AAFB2E2964B}"/>
              </c:ext>
            </c:extLst>
          </c:dPt>
          <c:cat>
            <c:strRef>
              <c:f>Sheet1!$I$3:$I$5</c:f>
              <c:strCache>
                <c:ptCount val="3"/>
                <c:pt idx="0">
                  <c:v>Vaccine </c:v>
                </c:pt>
                <c:pt idx="1">
                  <c:v>Consumer Healthcare</c:v>
                </c:pt>
                <c:pt idx="2">
                  <c:v>Pharma</c:v>
                </c:pt>
              </c:strCache>
            </c:strRef>
          </c:cat>
          <c:val>
            <c:numRef>
              <c:f>Sheet1!$J$3:$J$5</c:f>
              <c:numCache>
                <c:formatCode>0%</c:formatCode>
                <c:ptCount val="3"/>
                <c:pt idx="0">
                  <c:v>-0.09</c:v>
                </c:pt>
                <c:pt idx="1">
                  <c:v>-0.06</c:v>
                </c:pt>
                <c:pt idx="2">
                  <c:v>-0.03</c:v>
                </c:pt>
              </c:numCache>
            </c:numRef>
          </c:val>
          <c:extLst>
            <c:ext xmlns:c16="http://schemas.microsoft.com/office/drawing/2014/chart" uri="{C3380CC4-5D6E-409C-BE32-E72D297353CC}">
              <c16:uniqueId val="{00000000-A1D8-4DD1-86F1-3AAFB2E2964B}"/>
            </c:ext>
          </c:extLst>
        </c:ser>
        <c:dLbls>
          <c:showLegendKey val="0"/>
          <c:showVal val="0"/>
          <c:showCatName val="0"/>
          <c:showSerName val="0"/>
          <c:showPercent val="0"/>
          <c:showBubbleSize val="0"/>
        </c:dLbls>
        <c:gapWidth val="219"/>
        <c:overlap val="-27"/>
        <c:axId val="156741343"/>
        <c:axId val="150366335"/>
      </c:barChart>
      <c:catAx>
        <c:axId val="15674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t" anchorCtr="0"/>
          <a:lstStyle/>
          <a:p>
            <a:pPr>
              <a:defRPr sz="1300" b="0" i="0" u="none" strike="noStrike" kern="1200" baseline="0">
                <a:solidFill>
                  <a:schemeClr val="bg1"/>
                </a:solidFill>
                <a:latin typeface="+mn-lt"/>
                <a:ea typeface="+mn-ea"/>
                <a:cs typeface="+mn-cs"/>
              </a:defRPr>
            </a:pPr>
            <a:endParaRPr lang="en-US"/>
          </a:p>
        </c:txPr>
        <c:crossAx val="150366335"/>
        <c:crosses val="autoZero"/>
        <c:auto val="1"/>
        <c:lblAlgn val="ctr"/>
        <c:lblOffset val="100"/>
        <c:noMultiLvlLbl val="0"/>
      </c:catAx>
      <c:valAx>
        <c:axId val="15036633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74134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EBITDA (in INR </a:t>
            </a:r>
            <a:r>
              <a:rPr lang="en-IN" err="1"/>
              <a:t>mn</a:t>
            </a:r>
            <a:r>
              <a:rPr lang="en-IN"/>
              <a:t>.)</a:t>
            </a:r>
          </a:p>
        </c:rich>
      </c:tx>
      <c:layout>
        <c:manualLayout>
          <c:xMode val="edge"/>
          <c:yMode val="edge"/>
          <c:x val="0.34909107805910455"/>
          <c:y val="0.1119971550804444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Sheet1!$B$10</c:f>
              <c:strCache>
                <c:ptCount val="1"/>
                <c:pt idx="0">
                  <c:v>Original</c:v>
                </c:pt>
              </c:strCache>
            </c:strRef>
          </c:tx>
          <c:spPr>
            <a:solidFill>
              <a:schemeClr val="accent2">
                <a:lumMod val="40000"/>
                <a:lumOff val="60000"/>
              </a:schemeClr>
            </a:solidFill>
            <a:ln>
              <a:noFill/>
            </a:ln>
            <a:effectLst/>
          </c:spPr>
          <c:invertIfNegative val="0"/>
          <c:cat>
            <c:strRef>
              <c:f>Sheet1!$C$6:$G$6</c:f>
              <c:strCache>
                <c:ptCount val="5"/>
                <c:pt idx="0">
                  <c:v>FY18</c:v>
                </c:pt>
                <c:pt idx="1">
                  <c:v>FY19</c:v>
                </c:pt>
                <c:pt idx="2">
                  <c:v>FY20</c:v>
                </c:pt>
                <c:pt idx="3">
                  <c:v>FY21E</c:v>
                </c:pt>
                <c:pt idx="4">
                  <c:v>FY22E</c:v>
                </c:pt>
              </c:strCache>
            </c:strRef>
          </c:cat>
          <c:val>
            <c:numRef>
              <c:f>Sheet1!$C$10:$G$10</c:f>
              <c:numCache>
                <c:formatCode>0</c:formatCode>
                <c:ptCount val="5"/>
                <c:pt idx="0">
                  <c:v>5096.4320000000007</c:v>
                </c:pt>
                <c:pt idx="1">
                  <c:v>6038.0050000000001</c:v>
                </c:pt>
                <c:pt idx="2">
                  <c:v>6610.02</c:v>
                </c:pt>
                <c:pt idx="3">
                  <c:v>7412</c:v>
                </c:pt>
                <c:pt idx="4">
                  <c:v>9272</c:v>
                </c:pt>
              </c:numCache>
            </c:numRef>
          </c:val>
          <c:extLst>
            <c:ext xmlns:c16="http://schemas.microsoft.com/office/drawing/2014/chart" uri="{C3380CC4-5D6E-409C-BE32-E72D297353CC}">
              <c16:uniqueId val="{00000000-A4E6-428E-891D-67EDFD59EE4E}"/>
            </c:ext>
          </c:extLst>
        </c:ser>
        <c:ser>
          <c:idx val="1"/>
          <c:order val="1"/>
          <c:tx>
            <c:strRef>
              <c:f>Sheet1!$B$11</c:f>
              <c:strCache>
                <c:ptCount val="1"/>
                <c:pt idx="0">
                  <c:v>With investments</c:v>
                </c:pt>
              </c:strCache>
            </c:strRef>
          </c:tx>
          <c:spPr>
            <a:solidFill>
              <a:srgbClr val="FF66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Sheet1!$C$6:$G$6</c:f>
              <c:strCache>
                <c:ptCount val="5"/>
                <c:pt idx="0">
                  <c:v>FY18</c:v>
                </c:pt>
                <c:pt idx="1">
                  <c:v>FY19</c:v>
                </c:pt>
                <c:pt idx="2">
                  <c:v>FY20</c:v>
                </c:pt>
                <c:pt idx="3">
                  <c:v>FY21E</c:v>
                </c:pt>
                <c:pt idx="4">
                  <c:v>FY22E</c:v>
                </c:pt>
              </c:strCache>
            </c:strRef>
          </c:cat>
          <c:val>
            <c:numRef>
              <c:f>Sheet1!$C$11:$G$11</c:f>
              <c:numCache>
                <c:formatCode>0</c:formatCode>
                <c:ptCount val="5"/>
                <c:pt idx="0">
                  <c:v>5096.4320000000007</c:v>
                </c:pt>
                <c:pt idx="1">
                  <c:v>6038.0050000000001</c:v>
                </c:pt>
                <c:pt idx="2">
                  <c:v>6610.02</c:v>
                </c:pt>
                <c:pt idx="3">
                  <c:v>7787.0472</c:v>
                </c:pt>
                <c:pt idx="4">
                  <c:v>9932.1663999999982</c:v>
                </c:pt>
              </c:numCache>
            </c:numRef>
          </c:val>
          <c:extLst>
            <c:ext xmlns:c16="http://schemas.microsoft.com/office/drawing/2014/chart" uri="{C3380CC4-5D6E-409C-BE32-E72D297353CC}">
              <c16:uniqueId val="{00000001-A4E6-428E-891D-67EDFD59EE4E}"/>
            </c:ext>
          </c:extLst>
        </c:ser>
        <c:dLbls>
          <c:showLegendKey val="0"/>
          <c:showVal val="0"/>
          <c:showCatName val="0"/>
          <c:showSerName val="0"/>
          <c:showPercent val="0"/>
          <c:showBubbleSize val="0"/>
        </c:dLbls>
        <c:gapWidth val="219"/>
        <c:overlap val="-27"/>
        <c:axId val="1317217888"/>
        <c:axId val="1298716896"/>
      </c:barChart>
      <c:catAx>
        <c:axId val="1317217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8716896"/>
        <c:crosses val="autoZero"/>
        <c:auto val="1"/>
        <c:lblAlgn val="ctr"/>
        <c:lblOffset val="100"/>
        <c:noMultiLvlLbl val="0"/>
      </c:catAx>
      <c:valAx>
        <c:axId val="12987168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217888"/>
        <c:crosses val="autoZero"/>
        <c:crossBetween val="between"/>
      </c:valAx>
      <c:spPr>
        <a:noFill/>
        <a:ln>
          <a:noFill/>
        </a:ln>
        <a:effectLst/>
      </c:spPr>
    </c:plotArea>
    <c:legend>
      <c:legendPos val="b"/>
      <c:layout>
        <c:manualLayout>
          <c:xMode val="edge"/>
          <c:yMode val="edge"/>
          <c:x val="0.28335922610998243"/>
          <c:y val="0.80438179457638015"/>
          <c:w val="0.43328129619030248"/>
          <c:h val="0.1004127288597691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4390F4-B8B0-0F42-A68E-30FD785B6DDA}" type="datetimeFigureOut">
              <a:rPr lang="en-US" smtClean="0"/>
              <a:t>5/26/2025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DE52BF-E255-0C4F-9827-5511E380E5F3}" type="slidenum">
              <a:rPr lang="en-US" smtClean="0"/>
              <a:t>‹#›</a:t>
            </a:fld>
            <a:endParaRPr lang="en-US"/>
          </a:p>
        </p:txBody>
      </p:sp>
    </p:spTree>
    <p:extLst>
      <p:ext uri="{BB962C8B-B14F-4D97-AF65-F5344CB8AC3E}">
        <p14:creationId xmlns:p14="http://schemas.microsoft.com/office/powerpoint/2010/main" val="2001818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5DE52BF-E255-0C4F-9827-5511E380E5F3}" type="slidenum">
              <a:rPr lang="en-US" smtClean="0"/>
              <a:t>4</a:t>
            </a:fld>
            <a:endParaRPr lang="en-US"/>
          </a:p>
        </p:txBody>
      </p:sp>
    </p:spTree>
    <p:extLst>
      <p:ext uri="{BB962C8B-B14F-4D97-AF65-F5344CB8AC3E}">
        <p14:creationId xmlns:p14="http://schemas.microsoft.com/office/powerpoint/2010/main" val="410704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ctr">
              <a:buFont typeface="Arial" panose="020B0604020202020204" pitchFamily="34" charset="0"/>
              <a:buChar char="•"/>
            </a:pPr>
            <a:r>
              <a:rPr lang="en-IN" sz="1200">
                <a:latin typeface="Arial" panose="020B0604020202020204" pitchFamily="34" charset="0"/>
                <a:cs typeface="Arial" panose="020B0604020202020204" pitchFamily="34" charset="0"/>
              </a:rPr>
              <a:t>Organize virtual events/speaker sessions for doctors lead by experts and thought leaders of the field to tell the doctors about the recent clinical trials of GSK drugs along with information about GSK drug </a:t>
            </a:r>
            <a:r>
              <a:rPr lang="en-IN" sz="1200" err="1">
                <a:latin typeface="Arial" panose="020B0604020202020204" pitchFamily="34" charset="0"/>
                <a:cs typeface="Arial" panose="020B0604020202020204" pitchFamily="34" charset="0"/>
              </a:rPr>
              <a:t>portfoliot</a:t>
            </a:r>
            <a:endParaRPr lang="en-IN" sz="1200">
              <a:latin typeface="Arial" panose="020B0604020202020204" pitchFamily="34" charset="0"/>
              <a:cs typeface="Arial" panose="020B0604020202020204" pitchFamily="34" charset="0"/>
            </a:endParaRPr>
          </a:p>
          <a:p>
            <a:pPr marL="171450" indent="-171450" algn="ctr">
              <a:buFont typeface="Arial" panose="020B0604020202020204" pitchFamily="34" charset="0"/>
              <a:buChar char="•"/>
            </a:pPr>
            <a:r>
              <a:rPr lang="en-IN" sz="1200">
                <a:latin typeface="Arial" panose="020B0604020202020204" pitchFamily="34" charset="0"/>
                <a:cs typeface="Arial" panose="020B0604020202020204" pitchFamily="34" charset="0"/>
              </a:rPr>
              <a:t>Use the global network of doctors affiliated with GSK to help doctors interact about recent problems and solutions by holding round table conferences inviting doctors from different countries.</a:t>
            </a:r>
          </a:p>
          <a:p>
            <a:pPr marL="171450" indent="-171450" algn="ctr">
              <a:buFont typeface="Arial" panose="020B0604020202020204" pitchFamily="34" charset="0"/>
              <a:buChar char="•"/>
            </a:pPr>
            <a:r>
              <a:rPr lang="en-IN" sz="1200">
                <a:latin typeface="Arial" panose="020B0604020202020204" pitchFamily="34" charset="0"/>
                <a:cs typeface="Arial" panose="020B0604020202020204" pitchFamily="34" charset="0"/>
              </a:rPr>
              <a:t>Provide detailed molecule level information about drugs to doctors to help them make informed decisions for patients</a:t>
            </a:r>
          </a:p>
          <a:p>
            <a:endParaRPr lang="en-US"/>
          </a:p>
        </p:txBody>
      </p:sp>
      <p:sp>
        <p:nvSpPr>
          <p:cNvPr id="4" name="Slide Number Placeholder 3"/>
          <p:cNvSpPr>
            <a:spLocks noGrp="1"/>
          </p:cNvSpPr>
          <p:nvPr>
            <p:ph type="sldNum" sz="quarter" idx="5"/>
          </p:nvPr>
        </p:nvSpPr>
        <p:spPr/>
        <p:txBody>
          <a:bodyPr/>
          <a:lstStyle/>
          <a:p>
            <a:fld id="{E5DE52BF-E255-0C4F-9827-5511E380E5F3}" type="slidenum">
              <a:rPr lang="en-US" smtClean="0"/>
              <a:t>6</a:t>
            </a:fld>
            <a:endParaRPr lang="en-US"/>
          </a:p>
        </p:txBody>
      </p:sp>
    </p:spTree>
    <p:extLst>
      <p:ext uri="{BB962C8B-B14F-4D97-AF65-F5344CB8AC3E}">
        <p14:creationId xmlns:p14="http://schemas.microsoft.com/office/powerpoint/2010/main" val="558608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5DE52BF-E255-0C4F-9827-5511E380E5F3}" type="slidenum">
              <a:rPr lang="en-US" smtClean="0"/>
              <a:t>7</a:t>
            </a:fld>
            <a:endParaRPr lang="en-US"/>
          </a:p>
        </p:txBody>
      </p:sp>
    </p:spTree>
    <p:extLst>
      <p:ext uri="{BB962C8B-B14F-4D97-AF65-F5344CB8AC3E}">
        <p14:creationId xmlns:p14="http://schemas.microsoft.com/office/powerpoint/2010/main" val="4130330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5DE52BF-E255-0C4F-9827-5511E380E5F3}" type="slidenum">
              <a:rPr lang="en-US" smtClean="0"/>
              <a:t>10</a:t>
            </a:fld>
            <a:endParaRPr lang="en-US"/>
          </a:p>
        </p:txBody>
      </p:sp>
    </p:spTree>
    <p:extLst>
      <p:ext uri="{BB962C8B-B14F-4D97-AF65-F5344CB8AC3E}">
        <p14:creationId xmlns:p14="http://schemas.microsoft.com/office/powerpoint/2010/main" val="3562296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233A2-D4BB-441D-83F4-DF53EEF273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F6B4CB-0836-4AEB-A82E-66AF90F0C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86EC89-2C48-4DAC-857F-6734201229B1}"/>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5" name="Footer Placeholder 4">
            <a:extLst>
              <a:ext uri="{FF2B5EF4-FFF2-40B4-BE49-F238E27FC236}">
                <a16:creationId xmlns:a16="http://schemas.microsoft.com/office/drawing/2014/main" id="{3A3C04BC-941A-459B-8F1D-22F6758A39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930E20-8339-456F-BFF4-2CBCAE6F6E58}"/>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1223284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EB97-A361-4873-9695-3C25451352AD}"/>
              </a:ext>
            </a:extLst>
          </p:cNvPr>
          <p:cNvSpPr>
            <a:spLocks noGrp="1"/>
          </p:cNvSpPr>
          <p:nvPr>
            <p:ph type="title"/>
          </p:nvPr>
        </p:nvSpPr>
        <p:spPr>
          <a:xfrm>
            <a:off x="838200" y="365125"/>
            <a:ext cx="10515600" cy="561975"/>
          </a:xfrm>
        </p:spPr>
        <p:txBody>
          <a:bodyPr/>
          <a:lstStyle>
            <a:lvl1pPr>
              <a:defRPr sz="1600" b="1">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FDDE28-4475-4F95-959C-CACF8B024238}"/>
              </a:ext>
            </a:extLst>
          </p:cNvPr>
          <p:cNvSpPr>
            <a:spLocks noGrp="1"/>
          </p:cNvSpPr>
          <p:nvPr>
            <p:ph idx="1"/>
          </p:nvPr>
        </p:nvSpPr>
        <p:spPr/>
        <p:txBody>
          <a:bodyPr/>
          <a:lstStyle>
            <a:lvl1pPr>
              <a:defRPr sz="12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14338-A8EE-4AD7-8553-A21CD5AD75D8}"/>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5" name="Footer Placeholder 4">
            <a:extLst>
              <a:ext uri="{FF2B5EF4-FFF2-40B4-BE49-F238E27FC236}">
                <a16:creationId xmlns:a16="http://schemas.microsoft.com/office/drawing/2014/main" id="{4E0ECE9F-DFA3-460B-8734-DF40E11798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4E438E-FE83-44F4-A8C5-9116193BCAFA}"/>
              </a:ext>
            </a:extLst>
          </p:cNvPr>
          <p:cNvSpPr>
            <a:spLocks noGrp="1"/>
          </p:cNvSpPr>
          <p:nvPr>
            <p:ph type="sldNum" sz="quarter" idx="12"/>
          </p:nvPr>
        </p:nvSpPr>
        <p:spPr/>
        <p:txBody>
          <a:bodyPr/>
          <a:lstStyle/>
          <a:p>
            <a:fld id="{5DBD6D5F-A3BB-4087-89AD-95543499908D}" type="slidenum">
              <a:rPr lang="en-IN" smtClean="0"/>
              <a:t>‹#›</a:t>
            </a:fld>
            <a:endParaRPr lang="en-IN"/>
          </a:p>
        </p:txBody>
      </p:sp>
      <p:sp>
        <p:nvSpPr>
          <p:cNvPr id="7" name="Rectangle 6">
            <a:extLst>
              <a:ext uri="{FF2B5EF4-FFF2-40B4-BE49-F238E27FC236}">
                <a16:creationId xmlns:a16="http://schemas.microsoft.com/office/drawing/2014/main" id="{8B0308F9-812A-44CC-A34B-79E324D9A448}"/>
              </a:ext>
            </a:extLst>
          </p:cNvPr>
          <p:cNvSpPr/>
          <p:nvPr userDrawn="1"/>
        </p:nvSpPr>
        <p:spPr>
          <a:xfrm>
            <a:off x="-76200" y="1106487"/>
            <a:ext cx="12344400" cy="123825"/>
          </a:xfrm>
          <a:prstGeom prst="rect">
            <a:avLst/>
          </a:prstGeom>
          <a:gradFill>
            <a:gsLst>
              <a:gs pos="0">
                <a:srgbClr val="FF3300"/>
              </a:gs>
              <a:gs pos="22000">
                <a:srgbClr val="FF6600"/>
              </a:gs>
              <a:gs pos="61000">
                <a:srgbClr val="FFC000"/>
              </a:gs>
              <a:gs pos="100000">
                <a:schemeClr val="accent4">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A926BA3A-6A58-4A06-BBD1-D67C53316E5D}"/>
              </a:ext>
            </a:extLst>
          </p:cNvPr>
          <p:cNvPicPr>
            <a:picLocks noChangeAspect="1"/>
          </p:cNvPicPr>
          <p:nvPr userDrawn="1"/>
        </p:nvPicPr>
        <p:blipFill>
          <a:blip r:embed="rId2"/>
          <a:stretch>
            <a:fillRect/>
          </a:stretch>
        </p:blipFill>
        <p:spPr>
          <a:xfrm>
            <a:off x="10896600" y="0"/>
            <a:ext cx="1295400" cy="1095375"/>
          </a:xfrm>
          <a:prstGeom prst="rect">
            <a:avLst/>
          </a:prstGeom>
        </p:spPr>
      </p:pic>
    </p:spTree>
    <p:extLst>
      <p:ext uri="{BB962C8B-B14F-4D97-AF65-F5344CB8AC3E}">
        <p14:creationId xmlns:p14="http://schemas.microsoft.com/office/powerpoint/2010/main" val="278259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584D8-5731-4624-8859-119E13D72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A6B1EA-84AC-4CD6-8A1D-56D883F5D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A9A719-031B-4FD2-BB00-044BC6C4F652}"/>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5" name="Footer Placeholder 4">
            <a:extLst>
              <a:ext uri="{FF2B5EF4-FFF2-40B4-BE49-F238E27FC236}">
                <a16:creationId xmlns:a16="http://schemas.microsoft.com/office/drawing/2014/main" id="{B3AB4BD6-FC9E-4433-B8BF-51A59DCB2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2D4CBA-B14B-4C14-96F3-ECB88A71D778}"/>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2338475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50B7A-388E-4BC3-BDF5-69505B5161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47E113-CEC9-4265-8BE2-AA0B229D10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003BC0-A681-4216-B1A3-00EA9E5EF8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E14522-6852-45BA-AAC8-CAED1ABD1E78}"/>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6" name="Footer Placeholder 5">
            <a:extLst>
              <a:ext uri="{FF2B5EF4-FFF2-40B4-BE49-F238E27FC236}">
                <a16:creationId xmlns:a16="http://schemas.microsoft.com/office/drawing/2014/main" id="{DE8A3D0F-A9AF-4A37-9D8D-9B35906035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E9FBD4-42A0-458F-B8C1-894528F0FE0A}"/>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313142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916B1-5C53-4366-9593-64489FCFD7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B387C7-946A-44EA-A63D-6B6B95389B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0A6368-F960-4088-A971-6E087775E7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1B72A9-C77B-4976-BE24-DE3E7C1081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A180D6-0F8F-4ADA-A3A2-8137F0CD98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5C07ED-CE7F-4B26-81A6-6605FCC2A5BA}"/>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8" name="Footer Placeholder 7">
            <a:extLst>
              <a:ext uri="{FF2B5EF4-FFF2-40B4-BE49-F238E27FC236}">
                <a16:creationId xmlns:a16="http://schemas.microsoft.com/office/drawing/2014/main" id="{F3EF3A1D-4574-4ED7-99EC-05873A4416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D417D0-1478-4E75-89E2-597E39F6DE00}"/>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3769177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BD53C-48D8-4E36-86C6-7281DFD93F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D02309-74F6-4335-B6E7-C594E1E24691}"/>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4" name="Footer Placeholder 3">
            <a:extLst>
              <a:ext uri="{FF2B5EF4-FFF2-40B4-BE49-F238E27FC236}">
                <a16:creationId xmlns:a16="http://schemas.microsoft.com/office/drawing/2014/main" id="{48500756-23AA-4E30-B738-B6D6232786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C4FC11-9E48-4BF5-B0EE-E445CF2D7028}"/>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286123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DEBE18-84BC-4644-860B-0BE9B4866A25}"/>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3" name="Footer Placeholder 2">
            <a:extLst>
              <a:ext uri="{FF2B5EF4-FFF2-40B4-BE49-F238E27FC236}">
                <a16:creationId xmlns:a16="http://schemas.microsoft.com/office/drawing/2014/main" id="{8CA5795F-9AAD-4681-846A-62EBA99E92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8549949-93F4-45A8-B323-75D99038BBF2}"/>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1681285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9318-21AC-4714-8245-DDEFB7D9F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886A60-DAEA-481F-9EA9-F574E48D68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96EC9B-4859-4147-87B2-63A3A9ADF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30C7C8-E162-498A-B444-AB42742AD9F6}"/>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6" name="Footer Placeholder 5">
            <a:extLst>
              <a:ext uri="{FF2B5EF4-FFF2-40B4-BE49-F238E27FC236}">
                <a16:creationId xmlns:a16="http://schemas.microsoft.com/office/drawing/2014/main" id="{3813C538-36D1-41B4-886B-E97103709D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E63467-D536-4947-874F-5832EB46569E}"/>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2817788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C8478-FB24-418A-9107-2E03E123F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130BFC-FAEA-4EB5-86EF-02ACA34C7A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47896B-90D3-473A-8ADF-86C8226F5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847CD-D3B1-4D12-89B0-61C2FCB7356B}"/>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6" name="Footer Placeholder 5">
            <a:extLst>
              <a:ext uri="{FF2B5EF4-FFF2-40B4-BE49-F238E27FC236}">
                <a16:creationId xmlns:a16="http://schemas.microsoft.com/office/drawing/2014/main" id="{99DA159F-1351-458D-A349-BCF6A731FD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5F089C-0BC9-418E-9A92-7A0330610C21}"/>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1092241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0A0A4-0CE7-4FDA-A6AE-27D141CF40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E70DFA-41DD-4F67-994B-18928F72E0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C43119-9A45-4180-B920-F7F92AFEFCA2}"/>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5" name="Footer Placeholder 4">
            <a:extLst>
              <a:ext uri="{FF2B5EF4-FFF2-40B4-BE49-F238E27FC236}">
                <a16:creationId xmlns:a16="http://schemas.microsoft.com/office/drawing/2014/main" id="{00D87E27-D588-4C1F-8AE1-6622E34257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B6F95D-FE16-458B-9B9F-DB8EBECE12D5}"/>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4018693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352D69-C4C8-4481-90B9-7A65BDA171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B2645A-C7B3-4D28-BFEA-32014B9596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633FD7-42AB-4F95-B439-55F54BD59F84}"/>
              </a:ext>
            </a:extLst>
          </p:cNvPr>
          <p:cNvSpPr>
            <a:spLocks noGrp="1"/>
          </p:cNvSpPr>
          <p:nvPr>
            <p:ph type="dt" sz="half" idx="10"/>
          </p:nvPr>
        </p:nvSpPr>
        <p:spPr/>
        <p:txBody>
          <a:bodyPr/>
          <a:lstStyle/>
          <a:p>
            <a:fld id="{BF0F2F67-B4B2-47EB-A51E-F30E59D65990}" type="datetimeFigureOut">
              <a:rPr lang="en-IN" smtClean="0"/>
              <a:t>26-05-2025</a:t>
            </a:fld>
            <a:endParaRPr lang="en-IN"/>
          </a:p>
        </p:txBody>
      </p:sp>
      <p:sp>
        <p:nvSpPr>
          <p:cNvPr id="5" name="Footer Placeholder 4">
            <a:extLst>
              <a:ext uri="{FF2B5EF4-FFF2-40B4-BE49-F238E27FC236}">
                <a16:creationId xmlns:a16="http://schemas.microsoft.com/office/drawing/2014/main" id="{743F58F7-DAB1-4ADB-96B3-2F06EE7FA6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CBE0DE-EDE5-41D2-BEAA-00CEB0FF1C89}"/>
              </a:ext>
            </a:extLst>
          </p:cNvPr>
          <p:cNvSpPr>
            <a:spLocks noGrp="1"/>
          </p:cNvSpPr>
          <p:nvPr>
            <p:ph type="sldNum" sz="quarter" idx="12"/>
          </p:nvPr>
        </p:nvSpPr>
        <p:spPr/>
        <p:txBody>
          <a:bodyPr/>
          <a:lstStyle/>
          <a:p>
            <a:fld id="{5DBD6D5F-A3BB-4087-89AD-95543499908D}" type="slidenum">
              <a:rPr lang="en-IN" smtClean="0"/>
              <a:t>‹#›</a:t>
            </a:fld>
            <a:endParaRPr lang="en-IN"/>
          </a:p>
        </p:txBody>
      </p:sp>
    </p:spTree>
    <p:extLst>
      <p:ext uri="{BB962C8B-B14F-4D97-AF65-F5344CB8AC3E}">
        <p14:creationId xmlns:p14="http://schemas.microsoft.com/office/powerpoint/2010/main" val="3158869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8" name="Picture 7" descr="A picture containing chart&#10;&#10;Description automatically generated">
            <a:extLst>
              <a:ext uri="{FF2B5EF4-FFF2-40B4-BE49-F238E27FC236}">
                <a16:creationId xmlns:a16="http://schemas.microsoft.com/office/drawing/2014/main" id="{F451377D-631B-B047-A379-2D4B2AFE610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476A57-80A2-4E4C-BC9D-2623B00C803F}"/>
              </a:ext>
            </a:extLst>
          </p:cNvPr>
          <p:cNvSpPr>
            <a:spLocks noGrp="1"/>
          </p:cNvSpPr>
          <p:nvPr>
            <p:ph type="ctrTitle" hasCustomPrompt="1"/>
          </p:nvPr>
        </p:nvSpPr>
        <p:spPr>
          <a:xfrm>
            <a:off x="380010" y="2967512"/>
            <a:ext cx="4381995" cy="542450"/>
          </a:xfrm>
        </p:spPr>
        <p:txBody>
          <a:bodyPr anchor="b"/>
          <a:lstStyle>
            <a:lvl1pPr algn="l">
              <a:defRPr sz="2400">
                <a:solidFill>
                  <a:schemeClr val="bg1"/>
                </a:solidFill>
              </a:defRPr>
            </a:lvl1pPr>
          </a:lstStyle>
          <a:p>
            <a:r>
              <a:rPr lang="en-GB"/>
              <a:t>Team Name</a:t>
            </a:r>
            <a:endParaRPr lang="en-US"/>
          </a:p>
        </p:txBody>
      </p:sp>
      <p:sp>
        <p:nvSpPr>
          <p:cNvPr id="3" name="Subtitle 2">
            <a:extLst>
              <a:ext uri="{FF2B5EF4-FFF2-40B4-BE49-F238E27FC236}">
                <a16:creationId xmlns:a16="http://schemas.microsoft.com/office/drawing/2014/main" id="{3FC0D88B-B398-3849-AAEA-85B8F29E0E89}"/>
              </a:ext>
            </a:extLst>
          </p:cNvPr>
          <p:cNvSpPr>
            <a:spLocks noGrp="1"/>
          </p:cNvSpPr>
          <p:nvPr>
            <p:ph type="subTitle" idx="1" hasCustomPrompt="1"/>
          </p:nvPr>
        </p:nvSpPr>
        <p:spPr>
          <a:xfrm>
            <a:off x="380010" y="3602038"/>
            <a:ext cx="4381995" cy="542450"/>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Member Names</a:t>
            </a:r>
            <a:endParaRPr lang="en-US"/>
          </a:p>
        </p:txBody>
      </p:sp>
      <p:sp>
        <p:nvSpPr>
          <p:cNvPr id="10" name="Content Placeholder 9">
            <a:extLst>
              <a:ext uri="{FF2B5EF4-FFF2-40B4-BE49-F238E27FC236}">
                <a16:creationId xmlns:a16="http://schemas.microsoft.com/office/drawing/2014/main" id="{E01D658E-AFFE-8C49-B005-F1AEFFE01BC1}"/>
              </a:ext>
            </a:extLst>
          </p:cNvPr>
          <p:cNvSpPr>
            <a:spLocks noGrp="1"/>
          </p:cNvSpPr>
          <p:nvPr>
            <p:ph sz="quarter" idx="13" hasCustomPrompt="1"/>
          </p:nvPr>
        </p:nvSpPr>
        <p:spPr>
          <a:xfrm>
            <a:off x="379413" y="4298951"/>
            <a:ext cx="4383087" cy="365126"/>
          </a:xfrm>
        </p:spPr>
        <p:txBody>
          <a:bodyPr/>
          <a:lstStyle>
            <a:lvl1pPr>
              <a:buNone/>
              <a:defRPr sz="1800">
                <a:solidFill>
                  <a:schemeClr val="bg1"/>
                </a:solidFill>
              </a:defRPr>
            </a:lvl1pPr>
            <a:lvl2pPr>
              <a:buNone/>
              <a:defRPr/>
            </a:lvl2pPr>
            <a:lvl3pPr>
              <a:buNone/>
              <a:defRPr/>
            </a:lvl3pPr>
            <a:lvl4pPr>
              <a:buNone/>
              <a:defRPr/>
            </a:lvl4pPr>
            <a:lvl5pPr>
              <a:buNone/>
              <a:defRPr/>
            </a:lvl5pPr>
          </a:lstStyle>
          <a:p>
            <a:pPr lvl="0"/>
            <a:r>
              <a:rPr lang="en-GB"/>
              <a:t>College Name</a:t>
            </a:r>
            <a:endParaRPr lang="en-US"/>
          </a:p>
        </p:txBody>
      </p:sp>
    </p:spTree>
    <p:extLst>
      <p:ext uri="{BB962C8B-B14F-4D97-AF65-F5344CB8AC3E}">
        <p14:creationId xmlns:p14="http://schemas.microsoft.com/office/powerpoint/2010/main" val="4267591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160B2E-3EB1-436B-816F-B78C199E46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B0E981-45B6-4B0E-B8D3-777941565B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7C524F-9522-47C2-8FAE-2A0F36BBBD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0F2F67-B4B2-47EB-A51E-F30E59D65990}" type="datetimeFigureOut">
              <a:rPr lang="en-IN" smtClean="0"/>
              <a:t>26-05-2025</a:t>
            </a:fld>
            <a:endParaRPr lang="en-IN"/>
          </a:p>
        </p:txBody>
      </p:sp>
      <p:sp>
        <p:nvSpPr>
          <p:cNvPr id="5" name="Footer Placeholder 4">
            <a:extLst>
              <a:ext uri="{FF2B5EF4-FFF2-40B4-BE49-F238E27FC236}">
                <a16:creationId xmlns:a16="http://schemas.microsoft.com/office/drawing/2014/main" id="{5BDF8281-3DDF-4915-B624-F02C2CA968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1D82A4-DFE6-4687-AB0B-2D0E692975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BD6D5F-A3BB-4087-89AD-95543499908D}" type="slidenum">
              <a:rPr lang="en-IN" smtClean="0"/>
              <a:t>‹#›</a:t>
            </a:fld>
            <a:endParaRPr lang="en-IN"/>
          </a:p>
        </p:txBody>
      </p:sp>
    </p:spTree>
    <p:extLst>
      <p:ext uri="{BB962C8B-B14F-4D97-AF65-F5344CB8AC3E}">
        <p14:creationId xmlns:p14="http://schemas.microsoft.com/office/powerpoint/2010/main" val="295741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2.jpeg"/><Relationship Id="rId17" Type="http://schemas.openxmlformats.org/officeDocument/2006/relationships/image" Target="../media/image17.png"/><Relationship Id="rId2" Type="http://schemas.openxmlformats.org/officeDocument/2006/relationships/image" Target="../media/image3.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svg"/><Relationship Id="rId15" Type="http://schemas.openxmlformats.org/officeDocument/2006/relationships/image" Target="../media/image15.jpe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5.png"/><Relationship Id="rId9" Type="http://schemas.microsoft.com/office/2007/relationships/hdphoto" Target="../media/hdphoto1.wdp"/><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chart" Target="../charts/chart1.xml"/><Relationship Id="rId3" Type="http://schemas.openxmlformats.org/officeDocument/2006/relationships/image" Target="../media/image22.sv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chart" Target="../charts/chart2.xml"/></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8.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chart" Target="../charts/chart3.xml"/><Relationship Id="rId9" Type="http://schemas.openxmlformats.org/officeDocument/2006/relationships/image" Target="../media/image36.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9" Type="http://schemas.openxmlformats.org/officeDocument/2006/relationships/image" Target="../media/image45.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5.png"/><Relationship Id="rId7" Type="http://schemas.openxmlformats.org/officeDocument/2006/relationships/image" Target="../media/image48.gi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7.sv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26.pn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svg"/><Relationship Id="rId18" Type="http://schemas.openxmlformats.org/officeDocument/2006/relationships/image" Target="../media/image69.png"/><Relationship Id="rId3" Type="http://schemas.openxmlformats.org/officeDocument/2006/relationships/image" Target="../media/image54.svg"/><Relationship Id="rId7" Type="http://schemas.openxmlformats.org/officeDocument/2006/relationships/image" Target="../media/image58.svg"/><Relationship Id="rId12" Type="http://schemas.openxmlformats.org/officeDocument/2006/relationships/image" Target="../media/image63.png"/><Relationship Id="rId17" Type="http://schemas.openxmlformats.org/officeDocument/2006/relationships/image" Target="../media/image68.jpeg"/><Relationship Id="rId2" Type="http://schemas.openxmlformats.org/officeDocument/2006/relationships/image" Target="../media/image53.png"/><Relationship Id="rId16" Type="http://schemas.openxmlformats.org/officeDocument/2006/relationships/image" Target="../media/image67.jpe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svg"/><Relationship Id="rId5" Type="http://schemas.openxmlformats.org/officeDocument/2006/relationships/image" Target="../media/image56.svg"/><Relationship Id="rId15" Type="http://schemas.openxmlformats.org/officeDocument/2006/relationships/image" Target="../media/image66.svg"/><Relationship Id="rId10" Type="http://schemas.openxmlformats.org/officeDocument/2006/relationships/image" Target="../media/image61.png"/><Relationship Id="rId19" Type="http://schemas.openxmlformats.org/officeDocument/2006/relationships/image" Target="../media/image70.jpeg"/><Relationship Id="rId4" Type="http://schemas.openxmlformats.org/officeDocument/2006/relationships/image" Target="../media/image55.png"/><Relationship Id="rId9" Type="http://schemas.openxmlformats.org/officeDocument/2006/relationships/image" Target="../media/image60.svg"/><Relationship Id="rId14" Type="http://schemas.openxmlformats.org/officeDocument/2006/relationships/image" Target="../media/image65.png"/></Relationships>
</file>

<file path=ppt/slides/_rels/slide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0.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3" Type="http://schemas.openxmlformats.org/officeDocument/2006/relationships/image" Target="../media/image63.png"/><Relationship Id="rId7" Type="http://schemas.openxmlformats.org/officeDocument/2006/relationships/image" Target="../media/image77.png"/><Relationship Id="rId12" Type="http://schemas.openxmlformats.org/officeDocument/2006/relationships/image" Target="../media/image82.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74.svg"/><Relationship Id="rId9" Type="http://schemas.openxmlformats.org/officeDocument/2006/relationships/image" Target="../media/image79.png"/></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F2E4CD-5BE5-EF46-BA7C-93E936EA9A09}"/>
              </a:ext>
            </a:extLst>
          </p:cNvPr>
          <p:cNvSpPr>
            <a:spLocks noGrp="1"/>
          </p:cNvSpPr>
          <p:nvPr>
            <p:ph type="ctrTitle"/>
          </p:nvPr>
        </p:nvSpPr>
        <p:spPr>
          <a:xfrm>
            <a:off x="1613279" y="1515889"/>
            <a:ext cx="2582361" cy="542450"/>
          </a:xfrm>
        </p:spPr>
        <p:txBody>
          <a:bodyPr>
            <a:normAutofit/>
          </a:bodyPr>
          <a:lstStyle/>
          <a:p>
            <a:r>
              <a:rPr lang="en-US" sz="3200" dirty="0"/>
              <a:t>Team Vision</a:t>
            </a:r>
          </a:p>
        </p:txBody>
      </p:sp>
      <p:sp>
        <p:nvSpPr>
          <p:cNvPr id="6" name="Content Placeholder 5">
            <a:extLst>
              <a:ext uri="{FF2B5EF4-FFF2-40B4-BE49-F238E27FC236}">
                <a16:creationId xmlns:a16="http://schemas.microsoft.com/office/drawing/2014/main" id="{7FA05E9A-5A70-D64C-9427-04D924EDDEFF}"/>
              </a:ext>
            </a:extLst>
          </p:cNvPr>
          <p:cNvSpPr>
            <a:spLocks noGrp="1"/>
          </p:cNvSpPr>
          <p:nvPr>
            <p:ph sz="quarter" idx="13"/>
          </p:nvPr>
        </p:nvSpPr>
        <p:spPr>
          <a:xfrm>
            <a:off x="1731532" y="2363602"/>
            <a:ext cx="4383087" cy="365126"/>
          </a:xfrm>
        </p:spPr>
        <p:txBody>
          <a:bodyPr>
            <a:normAutofit fontScale="92500" lnSpcReduction="20000"/>
          </a:bodyPr>
          <a:lstStyle/>
          <a:p>
            <a:r>
              <a:rPr lang="en-US" sz="2400" dirty="0"/>
              <a:t>IIM Ahmedabad</a:t>
            </a:r>
          </a:p>
        </p:txBody>
      </p:sp>
    </p:spTree>
    <p:extLst>
      <p:ext uri="{BB962C8B-B14F-4D97-AF65-F5344CB8AC3E}">
        <p14:creationId xmlns:p14="http://schemas.microsoft.com/office/powerpoint/2010/main" val="712111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394A0-9026-4A59-B90F-E25A2F1A7188}"/>
              </a:ext>
            </a:extLst>
          </p:cNvPr>
          <p:cNvSpPr>
            <a:spLocks noGrp="1"/>
          </p:cNvSpPr>
          <p:nvPr>
            <p:ph type="title"/>
          </p:nvPr>
        </p:nvSpPr>
        <p:spPr>
          <a:xfrm>
            <a:off x="193856" y="401206"/>
            <a:ext cx="10699789" cy="561975"/>
          </a:xfrm>
        </p:spPr>
        <p:txBody>
          <a:bodyPr/>
          <a:lstStyle/>
          <a:p>
            <a:r>
              <a:rPr lang="en-IN" dirty="0"/>
              <a:t>Executive Summary</a:t>
            </a:r>
          </a:p>
        </p:txBody>
      </p:sp>
      <p:sp>
        <p:nvSpPr>
          <p:cNvPr id="10" name="Rectangle 9">
            <a:extLst>
              <a:ext uri="{FF2B5EF4-FFF2-40B4-BE49-F238E27FC236}">
                <a16:creationId xmlns:a16="http://schemas.microsoft.com/office/drawing/2014/main" id="{6A1EFC14-F3E8-4ECA-AE61-1F8729185B05}"/>
              </a:ext>
            </a:extLst>
          </p:cNvPr>
          <p:cNvSpPr/>
          <p:nvPr/>
        </p:nvSpPr>
        <p:spPr>
          <a:xfrm>
            <a:off x="336884" y="1427747"/>
            <a:ext cx="11518232" cy="182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56D623DC-7A51-48AE-BEB7-B067DF7FA5B6}"/>
              </a:ext>
            </a:extLst>
          </p:cNvPr>
          <p:cNvSpPr/>
          <p:nvPr/>
        </p:nvSpPr>
        <p:spPr>
          <a:xfrm>
            <a:off x="336884" y="3601454"/>
            <a:ext cx="11518232" cy="1828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C48E7697-9689-4811-A924-C043FE165D32}"/>
              </a:ext>
            </a:extLst>
          </p:cNvPr>
          <p:cNvSpPr/>
          <p:nvPr/>
        </p:nvSpPr>
        <p:spPr>
          <a:xfrm>
            <a:off x="336884" y="5775161"/>
            <a:ext cx="11518232" cy="7379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Isosceles Triangle 12">
            <a:extLst>
              <a:ext uri="{FF2B5EF4-FFF2-40B4-BE49-F238E27FC236}">
                <a16:creationId xmlns:a16="http://schemas.microsoft.com/office/drawing/2014/main" id="{83093315-34B9-4182-B79D-77AD97A9AD40}"/>
              </a:ext>
            </a:extLst>
          </p:cNvPr>
          <p:cNvSpPr/>
          <p:nvPr/>
        </p:nvSpPr>
        <p:spPr>
          <a:xfrm rot="10800000">
            <a:off x="1812757" y="3256543"/>
            <a:ext cx="8454189" cy="344909"/>
          </a:xfrm>
          <a:prstGeom prst="triangl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Isosceles Triangle 13">
            <a:extLst>
              <a:ext uri="{FF2B5EF4-FFF2-40B4-BE49-F238E27FC236}">
                <a16:creationId xmlns:a16="http://schemas.microsoft.com/office/drawing/2014/main" id="{157318F4-F2D9-4738-9B07-0CF2BE7819B9}"/>
              </a:ext>
            </a:extLst>
          </p:cNvPr>
          <p:cNvSpPr/>
          <p:nvPr/>
        </p:nvSpPr>
        <p:spPr>
          <a:xfrm rot="10800000">
            <a:off x="1812758" y="5430253"/>
            <a:ext cx="8454189" cy="344908"/>
          </a:xfrm>
          <a:prstGeom prst="triangl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929D9A47-D834-46D0-8A3C-FEE7C5FA9235}"/>
              </a:ext>
            </a:extLst>
          </p:cNvPr>
          <p:cNvSpPr txBox="1"/>
          <p:nvPr/>
        </p:nvSpPr>
        <p:spPr>
          <a:xfrm>
            <a:off x="9938086" y="1440444"/>
            <a:ext cx="2727158" cy="369332"/>
          </a:xfrm>
          <a:prstGeom prst="rect">
            <a:avLst/>
          </a:prstGeom>
          <a:noFill/>
        </p:spPr>
        <p:txBody>
          <a:bodyPr wrap="square" rtlCol="0">
            <a:spAutoFit/>
          </a:bodyPr>
          <a:lstStyle/>
          <a:p>
            <a:r>
              <a:rPr lang="en-IN" b="1"/>
              <a:t>Primary Research</a:t>
            </a:r>
          </a:p>
        </p:txBody>
      </p:sp>
      <p:sp>
        <p:nvSpPr>
          <p:cNvPr id="16" name="Rectangle 15">
            <a:extLst>
              <a:ext uri="{FF2B5EF4-FFF2-40B4-BE49-F238E27FC236}">
                <a16:creationId xmlns:a16="http://schemas.microsoft.com/office/drawing/2014/main" id="{ACAFCCB5-5146-44DF-9E9B-002ABF771975}"/>
              </a:ext>
            </a:extLst>
          </p:cNvPr>
          <p:cNvSpPr/>
          <p:nvPr/>
        </p:nvSpPr>
        <p:spPr>
          <a:xfrm>
            <a:off x="497305" y="1809776"/>
            <a:ext cx="3513221" cy="130239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i="1">
                <a:solidFill>
                  <a:schemeClr val="tx1"/>
                </a:solidFill>
              </a:rPr>
              <a:t>Industry reports</a:t>
            </a:r>
          </a:p>
        </p:txBody>
      </p:sp>
      <p:cxnSp>
        <p:nvCxnSpPr>
          <p:cNvPr id="18" name="Straight Connector 17">
            <a:extLst>
              <a:ext uri="{FF2B5EF4-FFF2-40B4-BE49-F238E27FC236}">
                <a16:creationId xmlns:a16="http://schemas.microsoft.com/office/drawing/2014/main" id="{66F13381-809D-4007-A386-99225D648FC5}"/>
              </a:ext>
            </a:extLst>
          </p:cNvPr>
          <p:cNvCxnSpPr/>
          <p:nvPr/>
        </p:nvCxnSpPr>
        <p:spPr>
          <a:xfrm>
            <a:off x="4170947" y="1822473"/>
            <a:ext cx="0" cy="1289695"/>
          </a:xfrm>
          <a:prstGeom prst="line">
            <a:avLst/>
          </a:prstGeom>
          <a:ln>
            <a:no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3C26D3A2-A298-4695-95A7-7ABE0CE83AC6}"/>
              </a:ext>
            </a:extLst>
          </p:cNvPr>
          <p:cNvSpPr/>
          <p:nvPr/>
        </p:nvSpPr>
        <p:spPr>
          <a:xfrm>
            <a:off x="4339389" y="1809776"/>
            <a:ext cx="3513221" cy="130239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i="1">
                <a:solidFill>
                  <a:schemeClr val="tx1"/>
                </a:solidFill>
              </a:rPr>
              <a:t>Newspaper and analyst reports</a:t>
            </a:r>
          </a:p>
        </p:txBody>
      </p:sp>
      <p:cxnSp>
        <p:nvCxnSpPr>
          <p:cNvPr id="20" name="Straight Connector 19">
            <a:extLst>
              <a:ext uri="{FF2B5EF4-FFF2-40B4-BE49-F238E27FC236}">
                <a16:creationId xmlns:a16="http://schemas.microsoft.com/office/drawing/2014/main" id="{3019CA8C-FDA0-4F56-B31C-1FF0DBF0CF0A}"/>
              </a:ext>
            </a:extLst>
          </p:cNvPr>
          <p:cNvCxnSpPr/>
          <p:nvPr/>
        </p:nvCxnSpPr>
        <p:spPr>
          <a:xfrm>
            <a:off x="7996989" y="1822473"/>
            <a:ext cx="0" cy="1289695"/>
          </a:xfrm>
          <a:prstGeom prst="line">
            <a:avLst/>
          </a:prstGeom>
          <a:ln>
            <a:no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F848A629-D9B4-4DE9-AF99-0A7FA4E195D3}"/>
              </a:ext>
            </a:extLst>
          </p:cNvPr>
          <p:cNvSpPr/>
          <p:nvPr/>
        </p:nvSpPr>
        <p:spPr>
          <a:xfrm>
            <a:off x="8181476" y="1821989"/>
            <a:ext cx="3513221" cy="12867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CEO</a:t>
            </a:r>
            <a:r>
              <a:rPr lang="en-IN" sz="1400">
                <a:solidFill>
                  <a:schemeClr val="tx1"/>
                </a:solidFill>
                <a:latin typeface="Arial" panose="020B0604020202020204" pitchFamily="34" charset="0"/>
                <a:cs typeface="Arial" panose="020B0604020202020204" pitchFamily="34" charset="0"/>
              </a:rPr>
              <a:t> of top health tech </a:t>
            </a:r>
            <a:r>
              <a:rPr lang="en-IN" sz="1400" err="1">
                <a:solidFill>
                  <a:schemeClr val="tx1"/>
                </a:solidFill>
                <a:latin typeface="Arial" panose="020B0604020202020204" pitchFamily="34" charset="0"/>
                <a:cs typeface="Arial" panose="020B0604020202020204" pitchFamily="34" charset="0"/>
              </a:rPr>
              <a:t>startup</a:t>
            </a:r>
            <a:r>
              <a:rPr lang="en-IN" sz="1400">
                <a:solidFill>
                  <a:schemeClr val="tx1"/>
                </a:solidFill>
                <a:latin typeface="Arial" panose="020B0604020202020204" pitchFamily="34" charset="0"/>
                <a:cs typeface="Arial" panose="020B0604020202020204" pitchFamily="34" charset="0"/>
              </a:rPr>
              <a:t> with over 45000 doctors; </a:t>
            </a:r>
            <a:br>
              <a:rPr lang="en-IN" sz="1400">
                <a:solidFill>
                  <a:schemeClr val="tx1"/>
                </a:solidFill>
                <a:latin typeface="Arial" panose="020B0604020202020204" pitchFamily="34" charset="0"/>
                <a:cs typeface="Arial" panose="020B0604020202020204" pitchFamily="34" charset="0"/>
              </a:rPr>
            </a:br>
            <a:r>
              <a:rPr lang="en-IN" sz="1400" b="1">
                <a:solidFill>
                  <a:schemeClr val="tx1"/>
                </a:solidFill>
                <a:latin typeface="Arial" panose="020B0604020202020204" pitchFamily="34" charset="0"/>
                <a:cs typeface="Arial" panose="020B0604020202020204" pitchFamily="34" charset="0"/>
              </a:rPr>
              <a:t>CEO</a:t>
            </a:r>
            <a:r>
              <a:rPr lang="en-IN" sz="1400">
                <a:solidFill>
                  <a:schemeClr val="tx1"/>
                </a:solidFill>
                <a:latin typeface="Arial" panose="020B0604020202020204" pitchFamily="34" charset="0"/>
                <a:cs typeface="Arial" panose="020B0604020202020204" pitchFamily="34" charset="0"/>
              </a:rPr>
              <a:t> API sourcing at top pharmaceutical company;</a:t>
            </a:r>
          </a:p>
          <a:p>
            <a:pPr algn="ctr"/>
            <a:r>
              <a:rPr lang="en-IN" sz="1400">
                <a:solidFill>
                  <a:schemeClr val="tx1"/>
                </a:solidFill>
                <a:latin typeface="Arial" panose="020B0604020202020204" pitchFamily="34" charset="0"/>
                <a:cs typeface="Arial" panose="020B0604020202020204" pitchFamily="34" charset="0"/>
              </a:rPr>
              <a:t>Top faculty at IIMA specializing in pharma</a:t>
            </a:r>
          </a:p>
        </p:txBody>
      </p:sp>
      <p:sp>
        <p:nvSpPr>
          <p:cNvPr id="23" name="TextBox 22">
            <a:extLst>
              <a:ext uri="{FF2B5EF4-FFF2-40B4-BE49-F238E27FC236}">
                <a16:creationId xmlns:a16="http://schemas.microsoft.com/office/drawing/2014/main" id="{4DBD93AE-063D-4A35-B0DF-99386B375280}"/>
              </a:ext>
            </a:extLst>
          </p:cNvPr>
          <p:cNvSpPr txBox="1"/>
          <p:nvPr/>
        </p:nvSpPr>
        <p:spPr>
          <a:xfrm>
            <a:off x="397043" y="1452657"/>
            <a:ext cx="2574758" cy="369332"/>
          </a:xfrm>
          <a:prstGeom prst="rect">
            <a:avLst/>
          </a:prstGeom>
          <a:noFill/>
        </p:spPr>
        <p:txBody>
          <a:bodyPr wrap="square" rtlCol="0">
            <a:spAutoFit/>
          </a:bodyPr>
          <a:lstStyle/>
          <a:p>
            <a:r>
              <a:rPr lang="en-IN" b="1"/>
              <a:t>Industry Research</a:t>
            </a:r>
          </a:p>
        </p:txBody>
      </p:sp>
      <p:sp>
        <p:nvSpPr>
          <p:cNvPr id="24" name="Rectangle 23">
            <a:extLst>
              <a:ext uri="{FF2B5EF4-FFF2-40B4-BE49-F238E27FC236}">
                <a16:creationId xmlns:a16="http://schemas.microsoft.com/office/drawing/2014/main" id="{07342DD4-0A3C-4536-BD4B-18FE65A1A8AB}"/>
              </a:ext>
            </a:extLst>
          </p:cNvPr>
          <p:cNvSpPr/>
          <p:nvPr/>
        </p:nvSpPr>
        <p:spPr>
          <a:xfrm>
            <a:off x="497305" y="3969970"/>
            <a:ext cx="4347411" cy="126777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A57E19D7-B373-4C0E-BB49-EC160946080F}"/>
              </a:ext>
            </a:extLst>
          </p:cNvPr>
          <p:cNvSpPr txBox="1"/>
          <p:nvPr/>
        </p:nvSpPr>
        <p:spPr>
          <a:xfrm>
            <a:off x="497305" y="3594099"/>
            <a:ext cx="2574758" cy="369332"/>
          </a:xfrm>
          <a:prstGeom prst="rect">
            <a:avLst/>
          </a:prstGeom>
          <a:noFill/>
        </p:spPr>
        <p:txBody>
          <a:bodyPr wrap="square" rtlCol="0">
            <a:spAutoFit/>
          </a:bodyPr>
          <a:lstStyle/>
          <a:p>
            <a:r>
              <a:rPr lang="en-IN" b="1"/>
              <a:t>Trends deciphered</a:t>
            </a:r>
          </a:p>
        </p:txBody>
      </p:sp>
      <p:sp>
        <p:nvSpPr>
          <p:cNvPr id="26" name="Rectangle 25">
            <a:extLst>
              <a:ext uri="{FF2B5EF4-FFF2-40B4-BE49-F238E27FC236}">
                <a16:creationId xmlns:a16="http://schemas.microsoft.com/office/drawing/2014/main" id="{E5A27EDE-7266-4D1F-8CB2-3A6270FD291B}"/>
              </a:ext>
            </a:extLst>
          </p:cNvPr>
          <p:cNvSpPr/>
          <p:nvPr/>
        </p:nvSpPr>
        <p:spPr>
          <a:xfrm>
            <a:off x="5197642" y="3969970"/>
            <a:ext cx="6497053" cy="126777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10570F30-9482-4CF1-BF2F-F6D642748057}"/>
              </a:ext>
            </a:extLst>
          </p:cNvPr>
          <p:cNvSpPr txBox="1"/>
          <p:nvPr/>
        </p:nvSpPr>
        <p:spPr>
          <a:xfrm>
            <a:off x="9813758" y="3610716"/>
            <a:ext cx="2727158" cy="369332"/>
          </a:xfrm>
          <a:prstGeom prst="rect">
            <a:avLst/>
          </a:prstGeom>
          <a:noFill/>
        </p:spPr>
        <p:txBody>
          <a:bodyPr wrap="square" rtlCol="0">
            <a:spAutoFit/>
          </a:bodyPr>
          <a:lstStyle/>
          <a:p>
            <a:r>
              <a:rPr lang="en-IN" b="1"/>
              <a:t>Envisioned GSK 2.0 </a:t>
            </a:r>
          </a:p>
        </p:txBody>
      </p:sp>
      <p:sp>
        <p:nvSpPr>
          <p:cNvPr id="28" name="Rectangle 27">
            <a:extLst>
              <a:ext uri="{FF2B5EF4-FFF2-40B4-BE49-F238E27FC236}">
                <a16:creationId xmlns:a16="http://schemas.microsoft.com/office/drawing/2014/main" id="{EF3B7F59-D1D3-4260-9343-9877FC192023}"/>
              </a:ext>
            </a:extLst>
          </p:cNvPr>
          <p:cNvSpPr/>
          <p:nvPr/>
        </p:nvSpPr>
        <p:spPr>
          <a:xfrm>
            <a:off x="497305" y="5900537"/>
            <a:ext cx="3513221" cy="50026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latin typeface="Arial" panose="020B0604020202020204" pitchFamily="34" charset="0"/>
                <a:cs typeface="Arial" panose="020B0604020202020204" pitchFamily="34" charset="0"/>
              </a:rPr>
              <a:t>Impact based implementation planning segregating recommendations</a:t>
            </a:r>
          </a:p>
        </p:txBody>
      </p:sp>
      <p:sp>
        <p:nvSpPr>
          <p:cNvPr id="29" name="Rectangle 28">
            <a:extLst>
              <a:ext uri="{FF2B5EF4-FFF2-40B4-BE49-F238E27FC236}">
                <a16:creationId xmlns:a16="http://schemas.microsoft.com/office/drawing/2014/main" id="{67FE4155-5033-4EA6-A6D8-1054AB2166E6}"/>
              </a:ext>
            </a:extLst>
          </p:cNvPr>
          <p:cNvSpPr/>
          <p:nvPr/>
        </p:nvSpPr>
        <p:spPr>
          <a:xfrm>
            <a:off x="4339390" y="5900537"/>
            <a:ext cx="3513221" cy="50026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latin typeface="Arial" panose="020B0604020202020204" pitchFamily="34" charset="0"/>
                <a:cs typeface="Arial" panose="020B0604020202020204" pitchFamily="34" charset="0"/>
              </a:rPr>
              <a:t>Analysis of key risks and their  mitigation strategies</a:t>
            </a:r>
          </a:p>
        </p:txBody>
      </p:sp>
      <p:sp>
        <p:nvSpPr>
          <p:cNvPr id="30" name="Rectangle 29">
            <a:extLst>
              <a:ext uri="{FF2B5EF4-FFF2-40B4-BE49-F238E27FC236}">
                <a16:creationId xmlns:a16="http://schemas.microsoft.com/office/drawing/2014/main" id="{C4C45B7D-7CEA-4AAB-BE8A-79EAB602153F}"/>
              </a:ext>
            </a:extLst>
          </p:cNvPr>
          <p:cNvSpPr/>
          <p:nvPr/>
        </p:nvSpPr>
        <p:spPr>
          <a:xfrm>
            <a:off x="8181476" y="5900537"/>
            <a:ext cx="3513221" cy="50026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latin typeface="Arial" panose="020B0604020202020204" pitchFamily="34" charset="0"/>
                <a:cs typeface="Arial" panose="020B0604020202020204" pitchFamily="34" charset="0"/>
              </a:rPr>
              <a:t>Analysis of financial gains resulting in an NPV of Rs. 849 Mn</a:t>
            </a:r>
          </a:p>
        </p:txBody>
      </p:sp>
      <p:sp>
        <p:nvSpPr>
          <p:cNvPr id="31" name="Isosceles Triangle 30">
            <a:extLst>
              <a:ext uri="{FF2B5EF4-FFF2-40B4-BE49-F238E27FC236}">
                <a16:creationId xmlns:a16="http://schemas.microsoft.com/office/drawing/2014/main" id="{774815D9-CFB7-4A7E-BCF0-3E5FDF3D937A}"/>
              </a:ext>
            </a:extLst>
          </p:cNvPr>
          <p:cNvSpPr/>
          <p:nvPr/>
        </p:nvSpPr>
        <p:spPr>
          <a:xfrm rot="5400000">
            <a:off x="4094748" y="6038377"/>
            <a:ext cx="168445" cy="256669"/>
          </a:xfrm>
          <a:prstGeom prst="triangl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Isosceles Triangle 31">
            <a:extLst>
              <a:ext uri="{FF2B5EF4-FFF2-40B4-BE49-F238E27FC236}">
                <a16:creationId xmlns:a16="http://schemas.microsoft.com/office/drawing/2014/main" id="{712FF128-422E-4198-94FA-2FBB0FA4C9CD}"/>
              </a:ext>
            </a:extLst>
          </p:cNvPr>
          <p:cNvSpPr/>
          <p:nvPr/>
        </p:nvSpPr>
        <p:spPr>
          <a:xfrm rot="5400000">
            <a:off x="7936834" y="6031625"/>
            <a:ext cx="168445" cy="256669"/>
          </a:xfrm>
          <a:prstGeom prst="triangl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3" name="Google Shape;8077;p61">
            <a:extLst>
              <a:ext uri="{FF2B5EF4-FFF2-40B4-BE49-F238E27FC236}">
                <a16:creationId xmlns:a16="http://schemas.microsoft.com/office/drawing/2014/main" id="{D7E8D7B6-8A8F-49C7-A7AE-FD63C9336DC7}"/>
              </a:ext>
            </a:extLst>
          </p:cNvPr>
          <p:cNvGrpSpPr/>
          <p:nvPr/>
        </p:nvGrpSpPr>
        <p:grpSpPr>
          <a:xfrm>
            <a:off x="7179616" y="4150228"/>
            <a:ext cx="398423" cy="357385"/>
            <a:chOff x="-1182750" y="3962900"/>
            <a:chExt cx="294575" cy="291450"/>
          </a:xfrm>
          <a:solidFill>
            <a:schemeClr val="tx1"/>
          </a:solidFill>
        </p:grpSpPr>
        <p:sp>
          <p:nvSpPr>
            <p:cNvPr id="34" name="Google Shape;8078;p61">
              <a:extLst>
                <a:ext uri="{FF2B5EF4-FFF2-40B4-BE49-F238E27FC236}">
                  <a16:creationId xmlns:a16="http://schemas.microsoft.com/office/drawing/2014/main" id="{3C8E51EE-0F1A-45CC-A71F-B26416642221}"/>
                </a:ext>
              </a:extLst>
            </p:cNvPr>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8079;p61">
              <a:extLst>
                <a:ext uri="{FF2B5EF4-FFF2-40B4-BE49-F238E27FC236}">
                  <a16:creationId xmlns:a16="http://schemas.microsoft.com/office/drawing/2014/main" id="{9C0BE1C1-0B72-4A58-9F65-10CD76946723}"/>
                </a:ext>
              </a:extLst>
            </p:cNvPr>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8080;p61">
              <a:extLst>
                <a:ext uri="{FF2B5EF4-FFF2-40B4-BE49-F238E27FC236}">
                  <a16:creationId xmlns:a16="http://schemas.microsoft.com/office/drawing/2014/main" id="{6F940705-2B2A-4AAB-8ABC-F8882CE989BB}"/>
                </a:ext>
              </a:extLst>
            </p:cNvPr>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081;p61">
              <a:extLst>
                <a:ext uri="{FF2B5EF4-FFF2-40B4-BE49-F238E27FC236}">
                  <a16:creationId xmlns:a16="http://schemas.microsoft.com/office/drawing/2014/main" id="{C0EF08E5-9920-40DA-8C96-F5F2124035EA}"/>
                </a:ext>
              </a:extLst>
            </p:cNvPr>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082;p61">
              <a:extLst>
                <a:ext uri="{FF2B5EF4-FFF2-40B4-BE49-F238E27FC236}">
                  <a16:creationId xmlns:a16="http://schemas.microsoft.com/office/drawing/2014/main" id="{C0C5BC93-F964-4F1B-9263-A21F0341E11A}"/>
                </a:ext>
              </a:extLst>
            </p:cNvPr>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083;p61">
              <a:extLst>
                <a:ext uri="{FF2B5EF4-FFF2-40B4-BE49-F238E27FC236}">
                  <a16:creationId xmlns:a16="http://schemas.microsoft.com/office/drawing/2014/main" id="{ECEF4DBA-840A-4F13-BBEB-A81A4DB15D1B}"/>
                </a:ext>
              </a:extLst>
            </p:cNvPr>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084;p61">
              <a:extLst>
                <a:ext uri="{FF2B5EF4-FFF2-40B4-BE49-F238E27FC236}">
                  <a16:creationId xmlns:a16="http://schemas.microsoft.com/office/drawing/2014/main" id="{693265A4-9068-4478-88BF-C0E24B5B13BC}"/>
                </a:ext>
              </a:extLst>
            </p:cNvPr>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6649;p58">
            <a:extLst>
              <a:ext uri="{FF2B5EF4-FFF2-40B4-BE49-F238E27FC236}">
                <a16:creationId xmlns:a16="http://schemas.microsoft.com/office/drawing/2014/main" id="{E31062C5-D3D0-4F0D-8EAE-0D4F7C553E64}"/>
              </a:ext>
            </a:extLst>
          </p:cNvPr>
          <p:cNvGrpSpPr/>
          <p:nvPr/>
        </p:nvGrpSpPr>
        <p:grpSpPr>
          <a:xfrm>
            <a:off x="8235631" y="4131833"/>
            <a:ext cx="404795" cy="380338"/>
            <a:chOff x="-32569575" y="3586425"/>
            <a:chExt cx="292225" cy="291450"/>
          </a:xfrm>
          <a:solidFill>
            <a:schemeClr val="tx1"/>
          </a:solidFill>
        </p:grpSpPr>
        <p:sp>
          <p:nvSpPr>
            <p:cNvPr id="42" name="Google Shape;6650;p58">
              <a:extLst>
                <a:ext uri="{FF2B5EF4-FFF2-40B4-BE49-F238E27FC236}">
                  <a16:creationId xmlns:a16="http://schemas.microsoft.com/office/drawing/2014/main" id="{B0A7741A-835D-42F9-B99C-433A13FD4FCD}"/>
                </a:ext>
              </a:extLst>
            </p:cNvPr>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651;p58">
              <a:extLst>
                <a:ext uri="{FF2B5EF4-FFF2-40B4-BE49-F238E27FC236}">
                  <a16:creationId xmlns:a16="http://schemas.microsoft.com/office/drawing/2014/main" id="{3A9A34BF-F746-49FC-8C2C-646163739D03}"/>
                </a:ext>
              </a:extLst>
            </p:cNvPr>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8085;p61">
            <a:extLst>
              <a:ext uri="{FF2B5EF4-FFF2-40B4-BE49-F238E27FC236}">
                <a16:creationId xmlns:a16="http://schemas.microsoft.com/office/drawing/2014/main" id="{CD7A60FD-E309-406D-B962-78B5977926E0}"/>
              </a:ext>
            </a:extLst>
          </p:cNvPr>
          <p:cNvGrpSpPr/>
          <p:nvPr/>
        </p:nvGrpSpPr>
        <p:grpSpPr>
          <a:xfrm>
            <a:off x="9387660" y="4106314"/>
            <a:ext cx="470404" cy="445212"/>
            <a:chOff x="-5611575" y="3272950"/>
            <a:chExt cx="294600" cy="291450"/>
          </a:xfrm>
          <a:solidFill>
            <a:schemeClr val="tx1"/>
          </a:solidFill>
        </p:grpSpPr>
        <p:sp>
          <p:nvSpPr>
            <p:cNvPr id="45" name="Google Shape;8086;p61">
              <a:extLst>
                <a:ext uri="{FF2B5EF4-FFF2-40B4-BE49-F238E27FC236}">
                  <a16:creationId xmlns:a16="http://schemas.microsoft.com/office/drawing/2014/main" id="{678D2BF7-A2B7-4150-8664-69B108C0E254}"/>
                </a:ext>
              </a:extLst>
            </p:cNvPr>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087;p61">
              <a:extLst>
                <a:ext uri="{FF2B5EF4-FFF2-40B4-BE49-F238E27FC236}">
                  <a16:creationId xmlns:a16="http://schemas.microsoft.com/office/drawing/2014/main" id="{A3AA7E44-5693-4D96-B9AB-EEDF45C7BB6D}"/>
                </a:ext>
              </a:extLst>
            </p:cNvPr>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088;p61">
              <a:extLst>
                <a:ext uri="{FF2B5EF4-FFF2-40B4-BE49-F238E27FC236}">
                  <a16:creationId xmlns:a16="http://schemas.microsoft.com/office/drawing/2014/main" id="{D4033E67-2ED0-45A1-B35B-C3420CEA62E1}"/>
                </a:ext>
              </a:extLst>
            </p:cNvPr>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8089;p61">
              <a:extLst>
                <a:ext uri="{FF2B5EF4-FFF2-40B4-BE49-F238E27FC236}">
                  <a16:creationId xmlns:a16="http://schemas.microsoft.com/office/drawing/2014/main" id="{21F56AEF-D38A-45DE-B0DA-C3E3B5537883}"/>
                </a:ext>
              </a:extLst>
            </p:cNvPr>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8090;p61">
              <a:extLst>
                <a:ext uri="{FF2B5EF4-FFF2-40B4-BE49-F238E27FC236}">
                  <a16:creationId xmlns:a16="http://schemas.microsoft.com/office/drawing/2014/main" id="{7AF7B466-1256-4E85-9ED3-1647FCB66C3B}"/>
                </a:ext>
              </a:extLst>
            </p:cNvPr>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8142;p61">
            <a:extLst>
              <a:ext uri="{FF2B5EF4-FFF2-40B4-BE49-F238E27FC236}">
                <a16:creationId xmlns:a16="http://schemas.microsoft.com/office/drawing/2014/main" id="{7C2A15B8-EC25-48C2-8491-173DC9833BA3}"/>
              </a:ext>
            </a:extLst>
          </p:cNvPr>
          <p:cNvGrpSpPr/>
          <p:nvPr/>
        </p:nvGrpSpPr>
        <p:grpSpPr>
          <a:xfrm>
            <a:off x="5789727" y="4140150"/>
            <a:ext cx="427578" cy="421351"/>
            <a:chOff x="-5254775" y="3631325"/>
            <a:chExt cx="296950" cy="292625"/>
          </a:xfrm>
          <a:solidFill>
            <a:schemeClr val="tx1"/>
          </a:solidFill>
        </p:grpSpPr>
        <p:sp>
          <p:nvSpPr>
            <p:cNvPr id="51" name="Google Shape;8143;p61">
              <a:extLst>
                <a:ext uri="{FF2B5EF4-FFF2-40B4-BE49-F238E27FC236}">
                  <a16:creationId xmlns:a16="http://schemas.microsoft.com/office/drawing/2014/main" id="{4543D7C4-176B-433A-8B22-1C4EC1D8B609}"/>
                </a:ext>
              </a:extLst>
            </p:cNvPr>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144;p61">
              <a:extLst>
                <a:ext uri="{FF2B5EF4-FFF2-40B4-BE49-F238E27FC236}">
                  <a16:creationId xmlns:a16="http://schemas.microsoft.com/office/drawing/2014/main" id="{3129D78F-F3E1-4D43-AB51-D6F478AEBE87}"/>
                </a:ext>
              </a:extLst>
            </p:cNvPr>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8145;p61">
              <a:extLst>
                <a:ext uri="{FF2B5EF4-FFF2-40B4-BE49-F238E27FC236}">
                  <a16:creationId xmlns:a16="http://schemas.microsoft.com/office/drawing/2014/main" id="{60B71668-DD5B-4325-9400-44A448E46F8E}"/>
                </a:ext>
              </a:extLst>
            </p:cNvPr>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8146;p61">
              <a:extLst>
                <a:ext uri="{FF2B5EF4-FFF2-40B4-BE49-F238E27FC236}">
                  <a16:creationId xmlns:a16="http://schemas.microsoft.com/office/drawing/2014/main" id="{929370DE-6B00-4309-89FD-29F0DCE2AA47}"/>
                </a:ext>
              </a:extLst>
            </p:cNvPr>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8147;p61">
              <a:extLst>
                <a:ext uri="{FF2B5EF4-FFF2-40B4-BE49-F238E27FC236}">
                  <a16:creationId xmlns:a16="http://schemas.microsoft.com/office/drawing/2014/main" id="{A3B8B4AD-6E27-4582-8D3D-6DE83882CA97}"/>
                </a:ext>
              </a:extLst>
            </p:cNvPr>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148;p61">
              <a:extLst>
                <a:ext uri="{FF2B5EF4-FFF2-40B4-BE49-F238E27FC236}">
                  <a16:creationId xmlns:a16="http://schemas.microsoft.com/office/drawing/2014/main" id="{8FD9DD99-7961-433F-9065-4E357AB7D1F6}"/>
                </a:ext>
              </a:extLst>
            </p:cNvPr>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149;p61">
              <a:extLst>
                <a:ext uri="{FF2B5EF4-FFF2-40B4-BE49-F238E27FC236}">
                  <a16:creationId xmlns:a16="http://schemas.microsoft.com/office/drawing/2014/main" id="{A8E53AD4-C9E3-4CCB-B7BF-37C28DEEF7C5}"/>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8112;p61">
            <a:extLst>
              <a:ext uri="{FF2B5EF4-FFF2-40B4-BE49-F238E27FC236}">
                <a16:creationId xmlns:a16="http://schemas.microsoft.com/office/drawing/2014/main" id="{126969F3-AE50-4895-8C6F-94FA9374A4A5}"/>
              </a:ext>
            </a:extLst>
          </p:cNvPr>
          <p:cNvGrpSpPr/>
          <p:nvPr/>
        </p:nvGrpSpPr>
        <p:grpSpPr>
          <a:xfrm>
            <a:off x="10538418" y="4107445"/>
            <a:ext cx="355228" cy="337495"/>
            <a:chOff x="-3771675" y="3971775"/>
            <a:chExt cx="291300" cy="292025"/>
          </a:xfrm>
          <a:solidFill>
            <a:schemeClr val="tx1"/>
          </a:solidFill>
        </p:grpSpPr>
        <p:sp>
          <p:nvSpPr>
            <p:cNvPr id="59" name="Google Shape;8113;p61">
              <a:extLst>
                <a:ext uri="{FF2B5EF4-FFF2-40B4-BE49-F238E27FC236}">
                  <a16:creationId xmlns:a16="http://schemas.microsoft.com/office/drawing/2014/main" id="{04442A7B-833E-45D9-8FD8-8658E6FCD9E9}"/>
                </a:ext>
              </a:extLst>
            </p:cNvPr>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114;p61">
              <a:extLst>
                <a:ext uri="{FF2B5EF4-FFF2-40B4-BE49-F238E27FC236}">
                  <a16:creationId xmlns:a16="http://schemas.microsoft.com/office/drawing/2014/main" id="{A7A17DA7-566A-47E7-9FCB-2BE6D81FC9CE}"/>
                </a:ext>
              </a:extLst>
            </p:cNvPr>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8115;p61">
              <a:extLst>
                <a:ext uri="{FF2B5EF4-FFF2-40B4-BE49-F238E27FC236}">
                  <a16:creationId xmlns:a16="http://schemas.microsoft.com/office/drawing/2014/main" id="{DB5AC689-0F6A-464D-BA84-160EAA6EE0E7}"/>
                </a:ext>
              </a:extLst>
            </p:cNvPr>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116;p61">
              <a:extLst>
                <a:ext uri="{FF2B5EF4-FFF2-40B4-BE49-F238E27FC236}">
                  <a16:creationId xmlns:a16="http://schemas.microsoft.com/office/drawing/2014/main" id="{7D8A9D8D-7C03-450B-BBA4-6BDD2C0E0535}"/>
                </a:ext>
              </a:extLst>
            </p:cNvPr>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8117;p61">
              <a:extLst>
                <a:ext uri="{FF2B5EF4-FFF2-40B4-BE49-F238E27FC236}">
                  <a16:creationId xmlns:a16="http://schemas.microsoft.com/office/drawing/2014/main" id="{9BFC282B-BA58-406C-B351-E289D0DC3C6B}"/>
                </a:ext>
              </a:extLst>
            </p:cNvPr>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5" name="Graphic 64" descr="Statistics">
            <a:extLst>
              <a:ext uri="{FF2B5EF4-FFF2-40B4-BE49-F238E27FC236}">
                <a16:creationId xmlns:a16="http://schemas.microsoft.com/office/drawing/2014/main" id="{F7CE2C13-BD41-44F6-8638-55EC8467BF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63194" y="4144863"/>
            <a:ext cx="477553" cy="477553"/>
          </a:xfrm>
          <a:prstGeom prst="rect">
            <a:avLst/>
          </a:prstGeom>
        </p:spPr>
      </p:pic>
      <p:pic>
        <p:nvPicPr>
          <p:cNvPr id="67" name="Graphic 66" descr="Downward trend">
            <a:extLst>
              <a:ext uri="{FF2B5EF4-FFF2-40B4-BE49-F238E27FC236}">
                <a16:creationId xmlns:a16="http://schemas.microsoft.com/office/drawing/2014/main" id="{2F9335A8-710B-4F99-BF22-F91F949E57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2993" y="4125855"/>
            <a:ext cx="477551" cy="477551"/>
          </a:xfrm>
          <a:prstGeom prst="rect">
            <a:avLst/>
          </a:prstGeom>
        </p:spPr>
      </p:pic>
      <p:pic>
        <p:nvPicPr>
          <p:cNvPr id="69" name="Graphic 68" descr="Presentation with bar chart">
            <a:extLst>
              <a:ext uri="{FF2B5EF4-FFF2-40B4-BE49-F238E27FC236}">
                <a16:creationId xmlns:a16="http://schemas.microsoft.com/office/drawing/2014/main" id="{88770E05-5036-4E81-9AB3-4B0B5FE4F0D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155" y="4672881"/>
            <a:ext cx="477552" cy="477552"/>
          </a:xfrm>
          <a:prstGeom prst="rect">
            <a:avLst/>
          </a:prstGeom>
        </p:spPr>
      </p:pic>
      <p:pic>
        <p:nvPicPr>
          <p:cNvPr id="70" name="Picture 69">
            <a:extLst>
              <a:ext uri="{FF2B5EF4-FFF2-40B4-BE49-F238E27FC236}">
                <a16:creationId xmlns:a16="http://schemas.microsoft.com/office/drawing/2014/main" id="{BA210700-942C-4522-9FE3-80A58638C516}"/>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4193183" y="2087385"/>
            <a:ext cx="1106470" cy="1106470"/>
          </a:xfrm>
          <a:prstGeom prst="rect">
            <a:avLst/>
          </a:prstGeom>
        </p:spPr>
      </p:pic>
      <p:pic>
        <p:nvPicPr>
          <p:cNvPr id="71" name="Picture 2" descr="Amazon.com: The Economic Times: Sensex, Market &amp; Business News: Appstore  for Android">
            <a:extLst>
              <a:ext uri="{FF2B5EF4-FFF2-40B4-BE49-F238E27FC236}">
                <a16:creationId xmlns:a16="http://schemas.microsoft.com/office/drawing/2014/main" id="{DAEC0549-0522-4156-856F-0EA01B4C4EB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4771" y="2173564"/>
            <a:ext cx="517291" cy="51729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4109B125-D4F7-4D89-AA8F-15EAF691BA2C}"/>
              </a:ext>
            </a:extLst>
          </p:cNvPr>
          <p:cNvPicPr>
            <a:picLocks noChangeAspect="1"/>
          </p:cNvPicPr>
          <p:nvPr/>
        </p:nvPicPr>
        <p:blipFill>
          <a:blip r:embed="rId11"/>
          <a:stretch>
            <a:fillRect/>
          </a:stretch>
        </p:blipFill>
        <p:spPr>
          <a:xfrm>
            <a:off x="5519954" y="2170681"/>
            <a:ext cx="1098658" cy="392587"/>
          </a:xfrm>
          <a:prstGeom prst="rect">
            <a:avLst/>
          </a:prstGeom>
        </p:spPr>
      </p:pic>
      <p:pic>
        <p:nvPicPr>
          <p:cNvPr id="75" name="Picture 84" descr="Fitch Solutions is confident about Egypt's investment outlook in ...">
            <a:extLst>
              <a:ext uri="{FF2B5EF4-FFF2-40B4-BE49-F238E27FC236}">
                <a16:creationId xmlns:a16="http://schemas.microsoft.com/office/drawing/2014/main" id="{C498BECA-46E9-48EF-88CF-9DBA7D580023}"/>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57930" y="2620162"/>
            <a:ext cx="1139096" cy="578185"/>
          </a:xfrm>
          <a:prstGeom prst="rect">
            <a:avLst/>
          </a:prstGeom>
          <a:noFill/>
        </p:spPr>
      </p:pic>
      <p:pic>
        <p:nvPicPr>
          <p:cNvPr id="1026" name="Picture 2">
            <a:extLst>
              <a:ext uri="{FF2B5EF4-FFF2-40B4-BE49-F238E27FC236}">
                <a16:creationId xmlns:a16="http://schemas.microsoft.com/office/drawing/2014/main" id="{344F6107-D9E6-4B9D-819F-915A0B11362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09014" y="2034358"/>
            <a:ext cx="815786" cy="1031372"/>
          </a:xfrm>
          <a:prstGeom prst="rect">
            <a:avLst/>
          </a:prstGeom>
          <a:noFill/>
          <a:extLst>
            <a:ext uri="{909E8E84-426E-40DD-AFC4-6F175D3DCCD1}">
              <a14:hiddenFill xmlns:a14="http://schemas.microsoft.com/office/drawing/2010/main">
                <a:solidFill>
                  <a:srgbClr val="FFFFFF"/>
                </a:solidFill>
              </a14:hiddenFill>
            </a:ext>
          </a:extLst>
        </p:spPr>
      </p:pic>
      <p:sp>
        <p:nvSpPr>
          <p:cNvPr id="76" name="AutoShape 4" descr="PricewaterhouseCoopers - Wikipedia">
            <a:extLst>
              <a:ext uri="{FF2B5EF4-FFF2-40B4-BE49-F238E27FC236}">
                <a16:creationId xmlns:a16="http://schemas.microsoft.com/office/drawing/2014/main" id="{C4D85B48-227C-47DF-AAC6-0E6C49A5B823}"/>
              </a:ext>
            </a:extLst>
          </p:cNvPr>
          <p:cNvSpPr>
            <a:spLocks noChangeAspect="1" noChangeArrowheads="1"/>
          </p:cNvSpPr>
          <p:nvPr/>
        </p:nvSpPr>
        <p:spPr bwMode="auto">
          <a:xfrm>
            <a:off x="5943599" y="3276599"/>
            <a:ext cx="1664363" cy="16643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7" name="AutoShape 6" descr="PricewaterhouseCoopers - Wikipedia">
            <a:extLst>
              <a:ext uri="{FF2B5EF4-FFF2-40B4-BE49-F238E27FC236}">
                <a16:creationId xmlns:a16="http://schemas.microsoft.com/office/drawing/2014/main" id="{9479B80A-2A86-4D90-BF7D-DB513B6E4A5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8" name="AutoShape 8" descr="PricewaterhouseCoopers - Wikipedia">
            <a:extLst>
              <a:ext uri="{FF2B5EF4-FFF2-40B4-BE49-F238E27FC236}">
                <a16:creationId xmlns:a16="http://schemas.microsoft.com/office/drawing/2014/main" id="{2CCBEF95-E442-47B5-8E85-8CCE03382FA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4" name="Picture 10">
            <a:extLst>
              <a:ext uri="{FF2B5EF4-FFF2-40B4-BE49-F238E27FC236}">
                <a16:creationId xmlns:a16="http://schemas.microsoft.com/office/drawing/2014/main" id="{4ECE0C4F-5539-4F69-A91E-002695FB1F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61426" y="2330631"/>
            <a:ext cx="803129" cy="609648"/>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8" descr="Game-Based Learning Market 2020: Advanced Technologies,">
            <a:extLst>
              <a:ext uri="{FF2B5EF4-FFF2-40B4-BE49-F238E27FC236}">
                <a16:creationId xmlns:a16="http://schemas.microsoft.com/office/drawing/2014/main" id="{795C55D0-4616-403E-9FFC-AF086D906AEE}"/>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0096" y="2032764"/>
            <a:ext cx="765222" cy="477307"/>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88" descr="Cranfield University Blogs | Introducing… MarketLine Advantage">
            <a:extLst>
              <a:ext uri="{FF2B5EF4-FFF2-40B4-BE49-F238E27FC236}">
                <a16:creationId xmlns:a16="http://schemas.microsoft.com/office/drawing/2014/main" id="{7BF49DFF-4EB4-4853-8C59-4FB6AA88BF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5155" y="2494706"/>
            <a:ext cx="1267522" cy="247167"/>
          </a:xfrm>
          <a:prstGeom prst="rect">
            <a:avLst/>
          </a:prstGeom>
          <a:noFill/>
        </p:spPr>
      </p:pic>
      <p:pic>
        <p:nvPicPr>
          <p:cNvPr id="84" name="Picture 78" descr="EIFL signs new agreement with Euromonitor International | EIFL">
            <a:extLst>
              <a:ext uri="{FF2B5EF4-FFF2-40B4-BE49-F238E27FC236}">
                <a16:creationId xmlns:a16="http://schemas.microsoft.com/office/drawing/2014/main" id="{44D52422-C09E-4743-9476-4F4850BBE26F}"/>
              </a:ext>
            </a:extLst>
          </p:cNvPr>
          <p:cNvPicPr>
            <a:picLocks noChangeAspect="1" noChangeArrowheads="1"/>
          </p:cNvPicPr>
          <p:nvPr/>
        </p:nvPicPr>
        <p:blipFill rotWithShape="1">
          <a:blip r:embed="rId17">
            <a:clrChange>
              <a:clrFrom>
                <a:srgbClr val="FFFFFF"/>
              </a:clrFrom>
              <a:clrTo>
                <a:srgbClr val="FFFFFF">
                  <a:alpha val="0"/>
                </a:srgbClr>
              </a:clrTo>
            </a:clrChange>
            <a:extLst>
              <a:ext uri="{28A0092B-C50C-407E-A947-70E740481C1C}">
                <a14:useLocalDpi xmlns:a14="http://schemas.microsoft.com/office/drawing/2010/main" val="0"/>
              </a:ext>
            </a:extLst>
          </a:blip>
          <a:srcRect t="19447" b="23431"/>
          <a:stretch/>
        </p:blipFill>
        <p:spPr bwMode="auto">
          <a:xfrm>
            <a:off x="1470592" y="2202242"/>
            <a:ext cx="1557766" cy="270124"/>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4">
            <a:extLst>
              <a:ext uri="{FF2B5EF4-FFF2-40B4-BE49-F238E27FC236}">
                <a16:creationId xmlns:a16="http://schemas.microsoft.com/office/drawing/2014/main" id="{593E7B55-1B63-461D-87B5-32727E7E0E6C}"/>
              </a:ext>
            </a:extLst>
          </p:cNvPr>
          <p:cNvPicPr>
            <a:picLocks noChangeAspect="1"/>
          </p:cNvPicPr>
          <p:nvPr/>
        </p:nvPicPr>
        <p:blipFill>
          <a:blip r:embed="rId18"/>
          <a:stretch>
            <a:fillRect/>
          </a:stretch>
        </p:blipFill>
        <p:spPr>
          <a:xfrm>
            <a:off x="664602" y="2775037"/>
            <a:ext cx="1454953" cy="333575"/>
          </a:xfrm>
          <a:prstGeom prst="rect">
            <a:avLst/>
          </a:prstGeom>
        </p:spPr>
      </p:pic>
      <p:pic>
        <p:nvPicPr>
          <p:cNvPr id="86" name="Picture 85">
            <a:extLst>
              <a:ext uri="{FF2B5EF4-FFF2-40B4-BE49-F238E27FC236}">
                <a16:creationId xmlns:a16="http://schemas.microsoft.com/office/drawing/2014/main" id="{712DD586-394D-4BD1-8D3D-81E9E228FF42}"/>
              </a:ext>
            </a:extLst>
          </p:cNvPr>
          <p:cNvPicPr>
            <a:picLocks noChangeAspect="1"/>
          </p:cNvPicPr>
          <p:nvPr/>
        </p:nvPicPr>
        <p:blipFill>
          <a:blip r:embed="rId19"/>
          <a:stretch>
            <a:fillRect/>
          </a:stretch>
        </p:blipFill>
        <p:spPr>
          <a:xfrm>
            <a:off x="2301448" y="2661863"/>
            <a:ext cx="1535059" cy="356353"/>
          </a:xfrm>
          <a:prstGeom prst="rect">
            <a:avLst/>
          </a:prstGeom>
        </p:spPr>
      </p:pic>
      <p:pic>
        <p:nvPicPr>
          <p:cNvPr id="1036" name="Picture 12" descr="Bain and Company - Culture, Interviews, Practice Areas and more">
            <a:extLst>
              <a:ext uri="{FF2B5EF4-FFF2-40B4-BE49-F238E27FC236}">
                <a16:creationId xmlns:a16="http://schemas.microsoft.com/office/drawing/2014/main" id="{0EF28875-124E-458C-9A75-FFACD6AE029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80728" y="2128982"/>
            <a:ext cx="824679" cy="416643"/>
          </a:xfrm>
          <a:prstGeom prst="rect">
            <a:avLst/>
          </a:prstGeom>
          <a:noFill/>
          <a:extLst>
            <a:ext uri="{909E8E84-426E-40DD-AFC4-6F175D3DCCD1}">
              <a14:hiddenFill xmlns:a14="http://schemas.microsoft.com/office/drawing/2010/main">
                <a:solidFill>
                  <a:srgbClr val="FFFFFF"/>
                </a:solidFill>
              </a14:hiddenFill>
            </a:ext>
          </a:extLst>
        </p:spPr>
      </p:pic>
      <p:sp>
        <p:nvSpPr>
          <p:cNvPr id="80" name="TextBox 79">
            <a:extLst>
              <a:ext uri="{FF2B5EF4-FFF2-40B4-BE49-F238E27FC236}">
                <a16:creationId xmlns:a16="http://schemas.microsoft.com/office/drawing/2014/main" id="{72C3F1D9-66E0-48CA-B5D1-F68E7F72BE46}"/>
              </a:ext>
            </a:extLst>
          </p:cNvPr>
          <p:cNvSpPr txBox="1"/>
          <p:nvPr/>
        </p:nvSpPr>
        <p:spPr>
          <a:xfrm>
            <a:off x="5166252" y="4567363"/>
            <a:ext cx="1721830" cy="523220"/>
          </a:xfrm>
          <a:prstGeom prst="rect">
            <a:avLst/>
          </a:prstGeom>
          <a:noFill/>
        </p:spPr>
        <p:txBody>
          <a:bodyPr wrap="square" rtlCol="0">
            <a:spAutoFit/>
          </a:bodyPr>
          <a:lstStyle/>
          <a:p>
            <a:pPr algn="ctr"/>
            <a:r>
              <a:rPr lang="en-IN" sz="1400"/>
              <a:t>HCP-MR engagement model</a:t>
            </a:r>
          </a:p>
        </p:txBody>
      </p:sp>
      <p:sp>
        <p:nvSpPr>
          <p:cNvPr id="90" name="TextBox 89">
            <a:extLst>
              <a:ext uri="{FF2B5EF4-FFF2-40B4-BE49-F238E27FC236}">
                <a16:creationId xmlns:a16="http://schemas.microsoft.com/office/drawing/2014/main" id="{F8742610-F204-43C3-850F-BDAA58C365B1}"/>
              </a:ext>
            </a:extLst>
          </p:cNvPr>
          <p:cNvSpPr txBox="1"/>
          <p:nvPr/>
        </p:nvSpPr>
        <p:spPr>
          <a:xfrm>
            <a:off x="6829042" y="4535514"/>
            <a:ext cx="1261310" cy="523220"/>
          </a:xfrm>
          <a:prstGeom prst="rect">
            <a:avLst/>
          </a:prstGeom>
          <a:noFill/>
        </p:spPr>
        <p:txBody>
          <a:bodyPr wrap="square" rtlCol="0">
            <a:spAutoFit/>
          </a:bodyPr>
          <a:lstStyle/>
          <a:p>
            <a:pPr algn="ctr"/>
            <a:r>
              <a:rPr lang="en-IN" sz="1400"/>
              <a:t>Digitization of</a:t>
            </a:r>
            <a:br>
              <a:rPr lang="en-IN" sz="1400"/>
            </a:br>
            <a:r>
              <a:rPr lang="en-IN" sz="1400"/>
              <a:t> supply chain</a:t>
            </a:r>
          </a:p>
        </p:txBody>
      </p:sp>
      <p:sp>
        <p:nvSpPr>
          <p:cNvPr id="92" name="TextBox 91">
            <a:extLst>
              <a:ext uri="{FF2B5EF4-FFF2-40B4-BE49-F238E27FC236}">
                <a16:creationId xmlns:a16="http://schemas.microsoft.com/office/drawing/2014/main" id="{D9372951-09A2-4DF5-900D-C1B60A62078E}"/>
              </a:ext>
            </a:extLst>
          </p:cNvPr>
          <p:cNvSpPr txBox="1"/>
          <p:nvPr/>
        </p:nvSpPr>
        <p:spPr>
          <a:xfrm>
            <a:off x="9047750" y="4535514"/>
            <a:ext cx="1261310" cy="523220"/>
          </a:xfrm>
          <a:prstGeom prst="rect">
            <a:avLst/>
          </a:prstGeom>
          <a:noFill/>
        </p:spPr>
        <p:txBody>
          <a:bodyPr wrap="square" rtlCol="0">
            <a:spAutoFit/>
          </a:bodyPr>
          <a:lstStyle/>
          <a:p>
            <a:pPr algn="ctr"/>
            <a:r>
              <a:rPr lang="en-IN" sz="1400"/>
              <a:t>Prescriptive analytics</a:t>
            </a:r>
          </a:p>
        </p:txBody>
      </p:sp>
      <p:sp>
        <p:nvSpPr>
          <p:cNvPr id="93" name="TextBox 92">
            <a:extLst>
              <a:ext uri="{FF2B5EF4-FFF2-40B4-BE49-F238E27FC236}">
                <a16:creationId xmlns:a16="http://schemas.microsoft.com/office/drawing/2014/main" id="{0F6A8810-56B4-4CD0-95EF-A7C1F7C3C631}"/>
              </a:ext>
            </a:extLst>
          </p:cNvPr>
          <p:cNvSpPr txBox="1"/>
          <p:nvPr/>
        </p:nvSpPr>
        <p:spPr>
          <a:xfrm>
            <a:off x="10145629" y="4521795"/>
            <a:ext cx="1411215" cy="523220"/>
          </a:xfrm>
          <a:prstGeom prst="rect">
            <a:avLst/>
          </a:prstGeom>
          <a:noFill/>
        </p:spPr>
        <p:txBody>
          <a:bodyPr wrap="square" rtlCol="0">
            <a:spAutoFit/>
          </a:bodyPr>
          <a:lstStyle/>
          <a:p>
            <a:pPr algn="ctr"/>
            <a:r>
              <a:rPr lang="en-IN" sz="1400"/>
              <a:t>Product offering expansion</a:t>
            </a:r>
          </a:p>
        </p:txBody>
      </p:sp>
      <p:sp>
        <p:nvSpPr>
          <p:cNvPr id="94" name="TextBox 93">
            <a:extLst>
              <a:ext uri="{FF2B5EF4-FFF2-40B4-BE49-F238E27FC236}">
                <a16:creationId xmlns:a16="http://schemas.microsoft.com/office/drawing/2014/main" id="{327E5B4B-45FC-4DD4-AB50-11B167F2AC79}"/>
              </a:ext>
            </a:extLst>
          </p:cNvPr>
          <p:cNvSpPr txBox="1"/>
          <p:nvPr/>
        </p:nvSpPr>
        <p:spPr>
          <a:xfrm>
            <a:off x="7880602" y="4535514"/>
            <a:ext cx="1261310" cy="523220"/>
          </a:xfrm>
          <a:prstGeom prst="rect">
            <a:avLst/>
          </a:prstGeom>
          <a:noFill/>
        </p:spPr>
        <p:txBody>
          <a:bodyPr wrap="square" rtlCol="0">
            <a:spAutoFit/>
          </a:bodyPr>
          <a:lstStyle/>
          <a:p>
            <a:pPr algn="ctr"/>
            <a:r>
              <a:rPr lang="en-IN" sz="1400"/>
              <a:t>Tele-</a:t>
            </a:r>
            <a:br>
              <a:rPr lang="en-IN" sz="1400"/>
            </a:br>
            <a:r>
              <a:rPr lang="en-IN" sz="1400"/>
              <a:t>medicine</a:t>
            </a:r>
          </a:p>
        </p:txBody>
      </p:sp>
      <p:sp>
        <p:nvSpPr>
          <p:cNvPr id="95" name="Oval 94">
            <a:extLst>
              <a:ext uri="{FF2B5EF4-FFF2-40B4-BE49-F238E27FC236}">
                <a16:creationId xmlns:a16="http://schemas.microsoft.com/office/drawing/2014/main" id="{C56C7EA9-408C-894B-81D4-8D59F27365DF}"/>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1</a:t>
            </a:r>
          </a:p>
        </p:txBody>
      </p:sp>
      <p:sp>
        <p:nvSpPr>
          <p:cNvPr id="17" name="TextBox 16">
            <a:extLst>
              <a:ext uri="{FF2B5EF4-FFF2-40B4-BE49-F238E27FC236}">
                <a16:creationId xmlns:a16="http://schemas.microsoft.com/office/drawing/2014/main" id="{5417821F-218A-4EDD-8732-4E0CAD463A2E}"/>
              </a:ext>
            </a:extLst>
          </p:cNvPr>
          <p:cNvSpPr txBox="1"/>
          <p:nvPr/>
        </p:nvSpPr>
        <p:spPr>
          <a:xfrm>
            <a:off x="1114246" y="4133500"/>
            <a:ext cx="1511266" cy="461665"/>
          </a:xfrm>
          <a:prstGeom prst="rect">
            <a:avLst/>
          </a:prstGeom>
          <a:noFill/>
        </p:spPr>
        <p:txBody>
          <a:bodyPr wrap="square" rtlCol="0">
            <a:spAutoFit/>
          </a:bodyPr>
          <a:lstStyle/>
          <a:p>
            <a:r>
              <a:rPr lang="en-US" sz="1200">
                <a:latin typeface="Arial" panose="020B0604020202020204" pitchFamily="34" charset="0"/>
                <a:cs typeface="Arial" panose="020B0604020202020204" pitchFamily="34" charset="0"/>
              </a:rPr>
              <a:t>Decline in  drugs and vaccine sales</a:t>
            </a:r>
            <a:endParaRPr lang="en-IN" sz="120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1C3373D8-CF1B-4A32-BCFE-BD6156F6F8AE}"/>
              </a:ext>
            </a:extLst>
          </p:cNvPr>
          <p:cNvSpPr txBox="1"/>
          <p:nvPr/>
        </p:nvSpPr>
        <p:spPr>
          <a:xfrm>
            <a:off x="1081565" y="4734935"/>
            <a:ext cx="3501905" cy="276999"/>
          </a:xfrm>
          <a:prstGeom prst="rect">
            <a:avLst/>
          </a:prstGeom>
          <a:noFill/>
        </p:spPr>
        <p:txBody>
          <a:bodyPr wrap="square" rtlCol="0">
            <a:spAutoFit/>
          </a:bodyPr>
          <a:lstStyle/>
          <a:p>
            <a:r>
              <a:rPr lang="en-US" sz="1200">
                <a:latin typeface="Arial" panose="020B0604020202020204" pitchFamily="34" charset="0"/>
                <a:cs typeface="Arial" panose="020B0604020202020204" pitchFamily="34" charset="0"/>
              </a:rPr>
              <a:t>Changing modes and requirement of interactions</a:t>
            </a:r>
            <a:endParaRPr lang="en-IN" sz="1200">
              <a:latin typeface="Arial" panose="020B0604020202020204" pitchFamily="34" charset="0"/>
              <a:cs typeface="Arial" panose="020B0604020202020204" pitchFamily="34" charset="0"/>
            </a:endParaRPr>
          </a:p>
        </p:txBody>
      </p:sp>
      <p:sp>
        <p:nvSpPr>
          <p:cNvPr id="98" name="TextBox 97">
            <a:extLst>
              <a:ext uri="{FF2B5EF4-FFF2-40B4-BE49-F238E27FC236}">
                <a16:creationId xmlns:a16="http://schemas.microsoft.com/office/drawing/2014/main" id="{1588CDD5-D60B-4CC0-A4F0-C8F9F10E445C}"/>
              </a:ext>
            </a:extLst>
          </p:cNvPr>
          <p:cNvSpPr txBox="1"/>
          <p:nvPr/>
        </p:nvSpPr>
        <p:spPr>
          <a:xfrm>
            <a:off x="2998278" y="4148654"/>
            <a:ext cx="1930520" cy="461665"/>
          </a:xfrm>
          <a:prstGeom prst="rect">
            <a:avLst/>
          </a:prstGeom>
          <a:noFill/>
        </p:spPr>
        <p:txBody>
          <a:bodyPr wrap="square" rtlCol="0">
            <a:spAutoFit/>
          </a:bodyPr>
          <a:lstStyle/>
          <a:p>
            <a:r>
              <a:rPr lang="en-US" sz="1200">
                <a:latin typeface="Arial" panose="020B0604020202020204" pitchFamily="34" charset="0"/>
                <a:cs typeface="Arial" panose="020B0604020202020204" pitchFamily="34" charset="0"/>
              </a:rPr>
              <a:t>New trends emerging in product and supply chain</a:t>
            </a:r>
            <a:endParaRPr lang="en-IN" sz="1200">
              <a:latin typeface="Arial" panose="020B0604020202020204" pitchFamily="34" charset="0"/>
              <a:cs typeface="Arial" panose="020B0604020202020204" pitchFamily="34" charset="0"/>
            </a:endParaRPr>
          </a:p>
        </p:txBody>
      </p:sp>
      <p:sp>
        <p:nvSpPr>
          <p:cNvPr id="87" name="Rectangle: Top Corners Rounded 80">
            <a:extLst>
              <a:ext uri="{FF2B5EF4-FFF2-40B4-BE49-F238E27FC236}">
                <a16:creationId xmlns:a16="http://schemas.microsoft.com/office/drawing/2014/main" id="{EDB5A538-D520-4D7A-9229-F9B8A717C227}"/>
              </a:ext>
            </a:extLst>
          </p:cNvPr>
          <p:cNvSpPr/>
          <p:nvPr/>
        </p:nvSpPr>
        <p:spPr>
          <a:xfrm rot="5400000">
            <a:off x="6970950" y="-1084101"/>
            <a:ext cx="257818" cy="2583568"/>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88" name="Rectangle: Top Corners Rounded 86">
            <a:extLst>
              <a:ext uri="{FF2B5EF4-FFF2-40B4-BE49-F238E27FC236}">
                <a16:creationId xmlns:a16="http://schemas.microsoft.com/office/drawing/2014/main" id="{46144E4E-808F-4DA7-A1FC-FF3BE240FB9A}"/>
              </a:ext>
            </a:extLst>
          </p:cNvPr>
          <p:cNvSpPr/>
          <p:nvPr/>
        </p:nvSpPr>
        <p:spPr>
          <a:xfrm rot="5400000">
            <a:off x="4314749" y="-1130079"/>
            <a:ext cx="259304" cy="2690651"/>
          </a:xfrm>
          <a:prstGeom prst="round2SameRect">
            <a:avLst>
              <a:gd name="adj1" fmla="val 0"/>
              <a:gd name="adj2" fmla="val 0"/>
            </a:avLst>
          </a:prstGeom>
          <a:solidFill>
            <a:srgbClr val="FE620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89" name="Rectangle: Top Corners Rounded 87">
            <a:extLst>
              <a:ext uri="{FF2B5EF4-FFF2-40B4-BE49-F238E27FC236}">
                <a16:creationId xmlns:a16="http://schemas.microsoft.com/office/drawing/2014/main" id="{A9DD29B5-11B9-4B23-8D25-5D35B7393988}"/>
              </a:ext>
            </a:extLst>
          </p:cNvPr>
          <p:cNvSpPr/>
          <p:nvPr/>
        </p:nvSpPr>
        <p:spPr>
          <a:xfrm rot="5400000">
            <a:off x="1433933" y="-1301896"/>
            <a:ext cx="258681" cy="3034908"/>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91" name="Rectangle: Top Corners Rounded 88">
            <a:extLst>
              <a:ext uri="{FF2B5EF4-FFF2-40B4-BE49-F238E27FC236}">
                <a16:creationId xmlns:a16="http://schemas.microsoft.com/office/drawing/2014/main" id="{6D9F3C4C-E7A3-4EC3-BBBC-11AF9BC2BF7B}"/>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3047736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9D43262-FB25-4FDD-A985-FF5B837D5E68}"/>
              </a:ext>
            </a:extLst>
          </p:cNvPr>
          <p:cNvSpPr/>
          <p:nvPr/>
        </p:nvSpPr>
        <p:spPr>
          <a:xfrm>
            <a:off x="7854108" y="1537422"/>
            <a:ext cx="3626964" cy="391321"/>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b="1">
                <a:solidFill>
                  <a:schemeClr val="tx1"/>
                </a:solidFill>
                <a:latin typeface="Arial"/>
                <a:cs typeface="Arial"/>
              </a:rPr>
              <a:t>Key Insights</a:t>
            </a:r>
            <a:endParaRPr lang="en-US">
              <a:solidFill>
                <a:schemeClr val="tx1"/>
              </a:solidFill>
            </a:endParaRPr>
          </a:p>
        </p:txBody>
      </p:sp>
      <p:grpSp>
        <p:nvGrpSpPr>
          <p:cNvPr id="20" name="Group 19">
            <a:extLst>
              <a:ext uri="{FF2B5EF4-FFF2-40B4-BE49-F238E27FC236}">
                <a16:creationId xmlns:a16="http://schemas.microsoft.com/office/drawing/2014/main" id="{BA0CD15B-561E-42E7-8C08-570DAF7BAFC7}"/>
              </a:ext>
            </a:extLst>
          </p:cNvPr>
          <p:cNvGrpSpPr/>
          <p:nvPr/>
        </p:nvGrpSpPr>
        <p:grpSpPr>
          <a:xfrm>
            <a:off x="7407940" y="2331575"/>
            <a:ext cx="4073049" cy="1098453"/>
            <a:chOff x="4434423" y="1724050"/>
            <a:chExt cx="3240662" cy="945900"/>
          </a:xfrm>
        </p:grpSpPr>
        <p:sp>
          <p:nvSpPr>
            <p:cNvPr id="21" name="Trapezoid 20">
              <a:extLst>
                <a:ext uri="{FF2B5EF4-FFF2-40B4-BE49-F238E27FC236}">
                  <a16:creationId xmlns:a16="http://schemas.microsoft.com/office/drawing/2014/main" id="{953908D8-8E8F-4B53-B9FB-3AD525B9C28F}"/>
                </a:ext>
              </a:extLst>
            </p:cNvPr>
            <p:cNvSpPr/>
            <p:nvPr/>
          </p:nvSpPr>
          <p:spPr>
            <a:xfrm rot="16200000">
              <a:off x="4748821" y="2020798"/>
              <a:ext cx="467170" cy="429040"/>
            </a:xfrm>
            <a:prstGeom prst="trapezoid">
              <a:avLst>
                <a:gd name="adj" fmla="val 10772"/>
              </a:avLst>
            </a:pr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sp>
          <p:nvSpPr>
            <p:cNvPr id="22" name="Rectangle 21">
              <a:extLst>
                <a:ext uri="{FF2B5EF4-FFF2-40B4-BE49-F238E27FC236}">
                  <a16:creationId xmlns:a16="http://schemas.microsoft.com/office/drawing/2014/main" id="{89E769BB-B346-4C77-8F5F-421F301FF63B}"/>
                </a:ext>
              </a:extLst>
            </p:cNvPr>
            <p:cNvSpPr/>
            <p:nvPr/>
          </p:nvSpPr>
          <p:spPr>
            <a:xfrm>
              <a:off x="5148669" y="1954130"/>
              <a:ext cx="2518307" cy="71582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a:solidFill>
                    <a:schemeClr val="tx1"/>
                  </a:solidFill>
                  <a:latin typeface="Arial" panose="020B0604020202020204" pitchFamily="34" charset="0"/>
                  <a:cs typeface="Arial" panose="020B0604020202020204" pitchFamily="34" charset="0"/>
                </a:rPr>
                <a:t> With the decrease in in-person detailing, physicians are adopting the virtual mode of communication but still some are reluctant to adopt any newer means waiting for normalcy to return</a:t>
              </a:r>
            </a:p>
          </p:txBody>
        </p:sp>
        <p:sp>
          <p:nvSpPr>
            <p:cNvPr id="23" name="Rectangle 22">
              <a:extLst>
                <a:ext uri="{FF2B5EF4-FFF2-40B4-BE49-F238E27FC236}">
                  <a16:creationId xmlns:a16="http://schemas.microsoft.com/office/drawing/2014/main" id="{025022C2-BB3A-4391-830C-4C545271E159}"/>
                </a:ext>
              </a:extLst>
            </p:cNvPr>
            <p:cNvSpPr/>
            <p:nvPr/>
          </p:nvSpPr>
          <p:spPr>
            <a:xfrm>
              <a:off x="4952118" y="1727637"/>
              <a:ext cx="2722967" cy="225563"/>
            </a:xfrm>
            <a:prstGeom prst="rect">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a:solidFill>
                    <a:schemeClr val="bg1"/>
                  </a:solidFill>
                </a:rPr>
                <a:t>Mode of Interaction</a:t>
              </a:r>
            </a:p>
          </p:txBody>
        </p:sp>
        <p:sp>
          <p:nvSpPr>
            <p:cNvPr id="24" name="Oval 23">
              <a:extLst>
                <a:ext uri="{FF2B5EF4-FFF2-40B4-BE49-F238E27FC236}">
                  <a16:creationId xmlns:a16="http://schemas.microsoft.com/office/drawing/2014/main" id="{EE1AEDF7-6AD8-48F1-958A-9FE5F26DDB7E}"/>
                </a:ext>
              </a:extLst>
            </p:cNvPr>
            <p:cNvSpPr/>
            <p:nvPr/>
          </p:nvSpPr>
          <p:spPr>
            <a:xfrm>
              <a:off x="4434423" y="1724050"/>
              <a:ext cx="758205" cy="758205"/>
            </a:xfrm>
            <a:prstGeom prst="ellipse">
              <a:avLst/>
            </a:prstGeom>
            <a:solidFill>
              <a:schemeClr val="bg1"/>
            </a:solidFill>
            <a:ln w="28575" cap="flat" cmpd="sng" algn="ctr">
              <a:solidFill>
                <a:srgbClr val="FF66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grpSp>
      <p:grpSp>
        <p:nvGrpSpPr>
          <p:cNvPr id="25" name="Group 24">
            <a:extLst>
              <a:ext uri="{FF2B5EF4-FFF2-40B4-BE49-F238E27FC236}">
                <a16:creationId xmlns:a16="http://schemas.microsoft.com/office/drawing/2014/main" id="{924B3372-2808-4ACA-8D24-F7059603DF2D}"/>
              </a:ext>
            </a:extLst>
          </p:cNvPr>
          <p:cNvGrpSpPr/>
          <p:nvPr/>
        </p:nvGrpSpPr>
        <p:grpSpPr>
          <a:xfrm>
            <a:off x="7407939" y="3479696"/>
            <a:ext cx="4071906" cy="1200600"/>
            <a:chOff x="4434423" y="2726085"/>
            <a:chExt cx="3239753" cy="1033862"/>
          </a:xfrm>
        </p:grpSpPr>
        <p:sp>
          <p:nvSpPr>
            <p:cNvPr id="26" name="Trapezoid 48">
              <a:extLst>
                <a:ext uri="{FF2B5EF4-FFF2-40B4-BE49-F238E27FC236}">
                  <a16:creationId xmlns:a16="http://schemas.microsoft.com/office/drawing/2014/main" id="{079CEB64-D74D-426E-9D67-62ACBCD0A8C0}"/>
                </a:ext>
              </a:extLst>
            </p:cNvPr>
            <p:cNvSpPr/>
            <p:nvPr/>
          </p:nvSpPr>
          <p:spPr>
            <a:xfrm rot="16200000">
              <a:off x="4623369" y="3043927"/>
              <a:ext cx="713776" cy="424742"/>
            </a:xfrm>
            <a:custGeom>
              <a:avLst/>
              <a:gdLst>
                <a:gd name="connsiteX0" fmla="*/ 0 w 1129030"/>
                <a:gd name="connsiteY0" fmla="*/ 424742 h 424742"/>
                <a:gd name="connsiteX1" fmla="*/ 512337 w 1129030"/>
                <a:gd name="connsiteY1" fmla="*/ 0 h 424742"/>
                <a:gd name="connsiteX2" fmla="*/ 616693 w 1129030"/>
                <a:gd name="connsiteY2" fmla="*/ 0 h 424742"/>
                <a:gd name="connsiteX3" fmla="*/ 1129030 w 1129030"/>
                <a:gd name="connsiteY3" fmla="*/ 424742 h 424742"/>
                <a:gd name="connsiteX4" fmla="*/ 0 w 1129030"/>
                <a:gd name="connsiteY4" fmla="*/ 424742 h 424742"/>
                <a:gd name="connsiteX0" fmla="*/ 0 w 1129030"/>
                <a:gd name="connsiteY0" fmla="*/ 424742 h 424742"/>
                <a:gd name="connsiteX1" fmla="*/ 512337 w 1129030"/>
                <a:gd name="connsiteY1" fmla="*/ 0 h 424742"/>
                <a:gd name="connsiteX2" fmla="*/ 1079608 w 1129030"/>
                <a:gd name="connsiteY2" fmla="*/ 0 h 424742"/>
                <a:gd name="connsiteX3" fmla="*/ 1129030 w 1129030"/>
                <a:gd name="connsiteY3" fmla="*/ 424742 h 424742"/>
                <a:gd name="connsiteX4" fmla="*/ 0 w 1129030"/>
                <a:gd name="connsiteY4" fmla="*/ 424742 h 424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030" h="424742">
                  <a:moveTo>
                    <a:pt x="0" y="424742"/>
                  </a:moveTo>
                  <a:lnTo>
                    <a:pt x="512337" y="0"/>
                  </a:lnTo>
                  <a:lnTo>
                    <a:pt x="1079608" y="0"/>
                  </a:lnTo>
                  <a:lnTo>
                    <a:pt x="1129030" y="424742"/>
                  </a:lnTo>
                  <a:lnTo>
                    <a:pt x="0" y="424742"/>
                  </a:lnTo>
                  <a:close/>
                </a:path>
              </a:pathLst>
            </a:cu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sp>
          <p:nvSpPr>
            <p:cNvPr id="27" name="Rectangle 26">
              <a:extLst>
                <a:ext uri="{FF2B5EF4-FFF2-40B4-BE49-F238E27FC236}">
                  <a16:creationId xmlns:a16="http://schemas.microsoft.com/office/drawing/2014/main" id="{E308D418-863F-4C1C-A90A-769145E7FD1A}"/>
                </a:ext>
              </a:extLst>
            </p:cNvPr>
            <p:cNvSpPr/>
            <p:nvPr/>
          </p:nvSpPr>
          <p:spPr>
            <a:xfrm>
              <a:off x="4813300" y="2854981"/>
              <a:ext cx="379328" cy="355579"/>
            </a:xfrm>
            <a:prstGeom prst="rect">
              <a:avLst/>
            </a:prstGeom>
            <a:solidFill>
              <a:srgbClr val="C7F1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sp>
          <p:nvSpPr>
            <p:cNvPr id="28" name="Rectangle 27">
              <a:extLst>
                <a:ext uri="{FF2B5EF4-FFF2-40B4-BE49-F238E27FC236}">
                  <a16:creationId xmlns:a16="http://schemas.microsoft.com/office/drawing/2014/main" id="{6B93DC87-FBC4-4387-97DE-39B1C3ECC5F2}"/>
                </a:ext>
              </a:extLst>
            </p:cNvPr>
            <p:cNvSpPr/>
            <p:nvPr/>
          </p:nvSpPr>
          <p:spPr>
            <a:xfrm>
              <a:off x="5192628" y="2868679"/>
              <a:ext cx="2474349" cy="891268"/>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100">
                <a:solidFill>
                  <a:schemeClr val="tx1"/>
                </a:solidFill>
                <a:latin typeface="Arial" panose="020B0604020202020204" pitchFamily="34" charset="0"/>
                <a:cs typeface="Arial" panose="020B0604020202020204" pitchFamily="34" charset="0"/>
              </a:endParaRPr>
            </a:p>
            <a:p>
              <a:r>
                <a:rPr lang="en-US" sz="1100">
                  <a:solidFill>
                    <a:schemeClr val="tx1"/>
                  </a:solidFill>
                  <a:latin typeface="Arial" panose="020B0604020202020204" pitchFamily="34" charset="0"/>
                  <a:cs typeface="Arial" panose="020B0604020202020204" pitchFamily="34" charset="0"/>
                </a:rPr>
                <a:t>With more time required for virtual interaction, physicians are looking for more meaningful interactions with sales rep expecting them to be enablers rather than sellers</a:t>
              </a:r>
            </a:p>
            <a:p>
              <a:endParaRPr lang="en-US" sz="1100">
                <a:solidFill>
                  <a:schemeClr val="tx1"/>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78946F14-4F6D-4496-8C97-80D59D35F594}"/>
                </a:ext>
              </a:extLst>
            </p:cNvPr>
            <p:cNvSpPr/>
            <p:nvPr/>
          </p:nvSpPr>
          <p:spPr>
            <a:xfrm>
              <a:off x="4930139" y="2750404"/>
              <a:ext cx="2744037" cy="215641"/>
            </a:xfrm>
            <a:prstGeom prst="rect">
              <a:avLst/>
            </a:prstGeom>
            <a:solidFill>
              <a:schemeClr val="accent2">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a:solidFill>
                    <a:schemeClr val="bg1"/>
                  </a:solidFill>
                </a:rPr>
                <a:t>Value addition/Increased assistance</a:t>
              </a:r>
            </a:p>
          </p:txBody>
        </p:sp>
        <p:sp>
          <p:nvSpPr>
            <p:cNvPr id="30" name="Oval 29">
              <a:extLst>
                <a:ext uri="{FF2B5EF4-FFF2-40B4-BE49-F238E27FC236}">
                  <a16:creationId xmlns:a16="http://schemas.microsoft.com/office/drawing/2014/main" id="{DB8F282A-0883-4F50-A37D-A21E16E7745B}"/>
                </a:ext>
              </a:extLst>
            </p:cNvPr>
            <p:cNvSpPr/>
            <p:nvPr/>
          </p:nvSpPr>
          <p:spPr>
            <a:xfrm>
              <a:off x="4434423" y="2726085"/>
              <a:ext cx="758205" cy="758205"/>
            </a:xfrm>
            <a:prstGeom prst="ellipse">
              <a:avLst/>
            </a:prstGeom>
            <a:solidFill>
              <a:schemeClr val="bg1"/>
            </a:solidFill>
            <a:ln w="28575" cap="flat" cmpd="sng" algn="ctr">
              <a:solidFill>
                <a:srgbClr val="FF66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grpSp>
      <p:grpSp>
        <p:nvGrpSpPr>
          <p:cNvPr id="31" name="Group 30">
            <a:extLst>
              <a:ext uri="{FF2B5EF4-FFF2-40B4-BE49-F238E27FC236}">
                <a16:creationId xmlns:a16="http://schemas.microsoft.com/office/drawing/2014/main" id="{6E0FBF5C-D8CE-4695-9C32-D6183981B3BE}"/>
              </a:ext>
            </a:extLst>
          </p:cNvPr>
          <p:cNvGrpSpPr/>
          <p:nvPr/>
        </p:nvGrpSpPr>
        <p:grpSpPr>
          <a:xfrm>
            <a:off x="7444515" y="4680298"/>
            <a:ext cx="4014318" cy="1041316"/>
            <a:chOff x="4434423" y="3759388"/>
            <a:chExt cx="3193934" cy="896699"/>
          </a:xfrm>
        </p:grpSpPr>
        <p:sp>
          <p:nvSpPr>
            <p:cNvPr id="32" name="Trapezoid 48">
              <a:extLst>
                <a:ext uri="{FF2B5EF4-FFF2-40B4-BE49-F238E27FC236}">
                  <a16:creationId xmlns:a16="http://schemas.microsoft.com/office/drawing/2014/main" id="{C837AFB3-48E3-481D-A1CE-02DB781BC05E}"/>
                </a:ext>
              </a:extLst>
            </p:cNvPr>
            <p:cNvSpPr/>
            <p:nvPr/>
          </p:nvSpPr>
          <p:spPr>
            <a:xfrm rot="16200000">
              <a:off x="4623369" y="4086828"/>
              <a:ext cx="713776" cy="424742"/>
            </a:xfrm>
            <a:custGeom>
              <a:avLst/>
              <a:gdLst>
                <a:gd name="connsiteX0" fmla="*/ 0 w 1129030"/>
                <a:gd name="connsiteY0" fmla="*/ 424742 h 424742"/>
                <a:gd name="connsiteX1" fmla="*/ 512337 w 1129030"/>
                <a:gd name="connsiteY1" fmla="*/ 0 h 424742"/>
                <a:gd name="connsiteX2" fmla="*/ 616693 w 1129030"/>
                <a:gd name="connsiteY2" fmla="*/ 0 h 424742"/>
                <a:gd name="connsiteX3" fmla="*/ 1129030 w 1129030"/>
                <a:gd name="connsiteY3" fmla="*/ 424742 h 424742"/>
                <a:gd name="connsiteX4" fmla="*/ 0 w 1129030"/>
                <a:gd name="connsiteY4" fmla="*/ 424742 h 424742"/>
                <a:gd name="connsiteX0" fmla="*/ 0 w 1129030"/>
                <a:gd name="connsiteY0" fmla="*/ 424742 h 424742"/>
                <a:gd name="connsiteX1" fmla="*/ 512337 w 1129030"/>
                <a:gd name="connsiteY1" fmla="*/ 0 h 424742"/>
                <a:gd name="connsiteX2" fmla="*/ 1079608 w 1129030"/>
                <a:gd name="connsiteY2" fmla="*/ 0 h 424742"/>
                <a:gd name="connsiteX3" fmla="*/ 1129030 w 1129030"/>
                <a:gd name="connsiteY3" fmla="*/ 424742 h 424742"/>
                <a:gd name="connsiteX4" fmla="*/ 0 w 1129030"/>
                <a:gd name="connsiteY4" fmla="*/ 424742 h 424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030" h="424742">
                  <a:moveTo>
                    <a:pt x="0" y="424742"/>
                  </a:moveTo>
                  <a:lnTo>
                    <a:pt x="512337" y="0"/>
                  </a:lnTo>
                  <a:lnTo>
                    <a:pt x="1079608" y="0"/>
                  </a:lnTo>
                  <a:lnTo>
                    <a:pt x="1129030" y="424742"/>
                  </a:lnTo>
                  <a:lnTo>
                    <a:pt x="0" y="424742"/>
                  </a:lnTo>
                  <a:close/>
                </a:path>
              </a:pathLst>
            </a:cu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sp>
          <p:nvSpPr>
            <p:cNvPr id="33" name="Rectangle 32">
              <a:extLst>
                <a:ext uri="{FF2B5EF4-FFF2-40B4-BE49-F238E27FC236}">
                  <a16:creationId xmlns:a16="http://schemas.microsoft.com/office/drawing/2014/main" id="{01C28240-F17B-41E0-8281-FB5FF7984935}"/>
                </a:ext>
              </a:extLst>
            </p:cNvPr>
            <p:cNvSpPr/>
            <p:nvPr/>
          </p:nvSpPr>
          <p:spPr>
            <a:xfrm>
              <a:off x="4813300" y="3897882"/>
              <a:ext cx="379328" cy="355579"/>
            </a:xfrm>
            <a:prstGeom prst="rect">
              <a:avLst/>
            </a:prstGeom>
            <a:solidFill>
              <a:srgbClr val="C7F1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sp>
          <p:nvSpPr>
            <p:cNvPr id="34" name="Rectangle 33">
              <a:extLst>
                <a:ext uri="{FF2B5EF4-FFF2-40B4-BE49-F238E27FC236}">
                  <a16:creationId xmlns:a16="http://schemas.microsoft.com/office/drawing/2014/main" id="{C1350436-A94D-4157-8EDF-E2BF32A5A4D7}"/>
                </a:ext>
              </a:extLst>
            </p:cNvPr>
            <p:cNvSpPr/>
            <p:nvPr/>
          </p:nvSpPr>
          <p:spPr>
            <a:xfrm>
              <a:off x="5192628" y="3911580"/>
              <a:ext cx="2435729" cy="744507"/>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a:solidFill>
                    <a:schemeClr val="tx1"/>
                  </a:solidFill>
                  <a:latin typeface="Arial" panose="020B0604020202020204" pitchFamily="34" charset="0"/>
                  <a:cs typeface="Arial" panose="020B0604020202020204" pitchFamily="34" charset="0"/>
                </a:rPr>
                <a:t>With the convenience that new mode offers, HCPs are looking to effectively utilize the time bringing multiple stakeholders (Sales rep, MSLs, colleagues)  on the same detailing call</a:t>
              </a:r>
            </a:p>
          </p:txBody>
        </p:sp>
        <p:sp>
          <p:nvSpPr>
            <p:cNvPr id="35" name="Rectangle 34">
              <a:extLst>
                <a:ext uri="{FF2B5EF4-FFF2-40B4-BE49-F238E27FC236}">
                  <a16:creationId xmlns:a16="http://schemas.microsoft.com/office/drawing/2014/main" id="{6E718623-830E-4732-919B-57EFED8DAE22}"/>
                </a:ext>
              </a:extLst>
            </p:cNvPr>
            <p:cNvSpPr/>
            <p:nvPr/>
          </p:nvSpPr>
          <p:spPr>
            <a:xfrm>
              <a:off x="4930139" y="3759388"/>
              <a:ext cx="2698218" cy="206865"/>
            </a:xfrm>
            <a:prstGeom prst="rect">
              <a:avLst/>
            </a:prstGeom>
            <a:solidFill>
              <a:schemeClr val="accent2">
                <a:lumMod val="60000"/>
                <a:lumOff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a:solidFill>
                    <a:schemeClr val="bg1"/>
                  </a:solidFill>
                </a:rPr>
                <a:t>Multi Stakeholder Engagement</a:t>
              </a:r>
            </a:p>
          </p:txBody>
        </p:sp>
        <p:sp>
          <p:nvSpPr>
            <p:cNvPr id="36" name="Oval 35">
              <a:extLst>
                <a:ext uri="{FF2B5EF4-FFF2-40B4-BE49-F238E27FC236}">
                  <a16:creationId xmlns:a16="http://schemas.microsoft.com/office/drawing/2014/main" id="{4C49E848-DBA6-4A45-9B9F-A7B8582D3DD8}"/>
                </a:ext>
              </a:extLst>
            </p:cNvPr>
            <p:cNvSpPr/>
            <p:nvPr/>
          </p:nvSpPr>
          <p:spPr>
            <a:xfrm>
              <a:off x="4434423" y="3768986"/>
              <a:ext cx="758205" cy="758205"/>
            </a:xfrm>
            <a:prstGeom prst="ellipse">
              <a:avLst/>
            </a:prstGeom>
            <a:solidFill>
              <a:schemeClr val="bg1"/>
            </a:solidFill>
            <a:ln w="28575" cap="flat" cmpd="sng" algn="ctr">
              <a:solidFill>
                <a:srgbClr val="FF66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grpSp>
      <p:grpSp>
        <p:nvGrpSpPr>
          <p:cNvPr id="37" name="Group 36">
            <a:extLst>
              <a:ext uri="{FF2B5EF4-FFF2-40B4-BE49-F238E27FC236}">
                <a16:creationId xmlns:a16="http://schemas.microsoft.com/office/drawing/2014/main" id="{A000F2F5-CF9A-488E-89FA-FF7D404B7D79}"/>
              </a:ext>
            </a:extLst>
          </p:cNvPr>
          <p:cNvGrpSpPr/>
          <p:nvPr/>
        </p:nvGrpSpPr>
        <p:grpSpPr>
          <a:xfrm>
            <a:off x="7489033" y="5725452"/>
            <a:ext cx="3969800" cy="1105755"/>
            <a:chOff x="4434424" y="4841332"/>
            <a:chExt cx="3158514" cy="952189"/>
          </a:xfrm>
        </p:grpSpPr>
        <p:sp>
          <p:nvSpPr>
            <p:cNvPr id="38" name="Trapezoid 48">
              <a:extLst>
                <a:ext uri="{FF2B5EF4-FFF2-40B4-BE49-F238E27FC236}">
                  <a16:creationId xmlns:a16="http://schemas.microsoft.com/office/drawing/2014/main" id="{D29439E6-919C-403A-9799-E3D92BF522F7}"/>
                </a:ext>
              </a:extLst>
            </p:cNvPr>
            <p:cNvSpPr/>
            <p:nvPr/>
          </p:nvSpPr>
          <p:spPr>
            <a:xfrm rot="16200000">
              <a:off x="4623369" y="5159174"/>
              <a:ext cx="713776" cy="424742"/>
            </a:xfrm>
            <a:custGeom>
              <a:avLst/>
              <a:gdLst>
                <a:gd name="connsiteX0" fmla="*/ 0 w 1129030"/>
                <a:gd name="connsiteY0" fmla="*/ 424742 h 424742"/>
                <a:gd name="connsiteX1" fmla="*/ 512337 w 1129030"/>
                <a:gd name="connsiteY1" fmla="*/ 0 h 424742"/>
                <a:gd name="connsiteX2" fmla="*/ 616693 w 1129030"/>
                <a:gd name="connsiteY2" fmla="*/ 0 h 424742"/>
                <a:gd name="connsiteX3" fmla="*/ 1129030 w 1129030"/>
                <a:gd name="connsiteY3" fmla="*/ 424742 h 424742"/>
                <a:gd name="connsiteX4" fmla="*/ 0 w 1129030"/>
                <a:gd name="connsiteY4" fmla="*/ 424742 h 424742"/>
                <a:gd name="connsiteX0" fmla="*/ 0 w 1129030"/>
                <a:gd name="connsiteY0" fmla="*/ 424742 h 424742"/>
                <a:gd name="connsiteX1" fmla="*/ 512337 w 1129030"/>
                <a:gd name="connsiteY1" fmla="*/ 0 h 424742"/>
                <a:gd name="connsiteX2" fmla="*/ 1079608 w 1129030"/>
                <a:gd name="connsiteY2" fmla="*/ 0 h 424742"/>
                <a:gd name="connsiteX3" fmla="*/ 1129030 w 1129030"/>
                <a:gd name="connsiteY3" fmla="*/ 424742 h 424742"/>
                <a:gd name="connsiteX4" fmla="*/ 0 w 1129030"/>
                <a:gd name="connsiteY4" fmla="*/ 424742 h 424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030" h="424742">
                  <a:moveTo>
                    <a:pt x="0" y="424742"/>
                  </a:moveTo>
                  <a:lnTo>
                    <a:pt x="512337" y="0"/>
                  </a:lnTo>
                  <a:lnTo>
                    <a:pt x="1079608" y="0"/>
                  </a:lnTo>
                  <a:lnTo>
                    <a:pt x="1129030" y="424742"/>
                  </a:lnTo>
                  <a:lnTo>
                    <a:pt x="0" y="424742"/>
                  </a:lnTo>
                  <a:close/>
                </a:path>
              </a:pathLst>
            </a:custGeom>
            <a:gradFill flip="none" rotWithShape="1">
              <a:gsLst>
                <a:gs pos="100000">
                  <a:schemeClr val="bg1"/>
                </a:gs>
                <a:gs pos="0">
                  <a:schemeClr val="bg1"/>
                </a:gs>
                <a:gs pos="0">
                  <a:schemeClr val="accent5">
                    <a:lumMod val="20000"/>
                    <a:lumOff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sp>
          <p:nvSpPr>
            <p:cNvPr id="39" name="Rectangle 38">
              <a:extLst>
                <a:ext uri="{FF2B5EF4-FFF2-40B4-BE49-F238E27FC236}">
                  <a16:creationId xmlns:a16="http://schemas.microsoft.com/office/drawing/2014/main" id="{358B379D-E340-4D42-B89F-0590DCAF431F}"/>
                </a:ext>
              </a:extLst>
            </p:cNvPr>
            <p:cNvSpPr/>
            <p:nvPr/>
          </p:nvSpPr>
          <p:spPr>
            <a:xfrm>
              <a:off x="4813300" y="4970228"/>
              <a:ext cx="379328" cy="355579"/>
            </a:xfrm>
            <a:prstGeom prst="rect">
              <a:avLst/>
            </a:prstGeom>
            <a:solidFill>
              <a:srgbClr val="C7F1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sp>
          <p:nvSpPr>
            <p:cNvPr id="40" name="Rectangle 39">
              <a:extLst>
                <a:ext uri="{FF2B5EF4-FFF2-40B4-BE49-F238E27FC236}">
                  <a16:creationId xmlns:a16="http://schemas.microsoft.com/office/drawing/2014/main" id="{1A9BDEF2-21D8-472D-A736-A77B89C4A085}"/>
                </a:ext>
              </a:extLst>
            </p:cNvPr>
            <p:cNvSpPr/>
            <p:nvPr/>
          </p:nvSpPr>
          <p:spPr>
            <a:xfrm>
              <a:off x="5163968" y="5006818"/>
              <a:ext cx="2428969" cy="786703"/>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a:solidFill>
                    <a:schemeClr val="tx1"/>
                  </a:solidFill>
                  <a:latin typeface="Arial" panose="020B0604020202020204" pitchFamily="34" charset="0"/>
                  <a:cs typeface="Arial" panose="020B0604020202020204" pitchFamily="34" charset="0"/>
                </a:rPr>
                <a:t>HCPs demand a more coordinated approach from pharma companies. Multiple emails for virtual detailing of different products is a big burden which can be minimized by a more coordinated effort</a:t>
              </a:r>
            </a:p>
          </p:txBody>
        </p:sp>
        <p:sp>
          <p:nvSpPr>
            <p:cNvPr id="41" name="Rectangle 40">
              <a:extLst>
                <a:ext uri="{FF2B5EF4-FFF2-40B4-BE49-F238E27FC236}">
                  <a16:creationId xmlns:a16="http://schemas.microsoft.com/office/drawing/2014/main" id="{DA4C6579-2635-4931-9DFA-29056E16DF7B}"/>
                </a:ext>
              </a:extLst>
            </p:cNvPr>
            <p:cNvSpPr/>
            <p:nvPr/>
          </p:nvSpPr>
          <p:spPr>
            <a:xfrm>
              <a:off x="4930139" y="4865650"/>
              <a:ext cx="2662799" cy="197285"/>
            </a:xfrm>
            <a:prstGeom prst="rect">
              <a:avLst/>
            </a:prstGeom>
            <a:solidFill>
              <a:schemeClr val="accent2">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576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b="1">
                  <a:solidFill>
                    <a:schemeClr val="bg1"/>
                  </a:solidFill>
                </a:rPr>
                <a:t>Coordinated Approach</a:t>
              </a:r>
            </a:p>
          </p:txBody>
        </p:sp>
        <p:sp>
          <p:nvSpPr>
            <p:cNvPr id="42" name="Oval 41">
              <a:extLst>
                <a:ext uri="{FF2B5EF4-FFF2-40B4-BE49-F238E27FC236}">
                  <a16:creationId xmlns:a16="http://schemas.microsoft.com/office/drawing/2014/main" id="{54C92C97-9341-416C-BE18-D0C0B5CC670C}"/>
                </a:ext>
              </a:extLst>
            </p:cNvPr>
            <p:cNvSpPr/>
            <p:nvPr/>
          </p:nvSpPr>
          <p:spPr>
            <a:xfrm>
              <a:off x="4434424" y="4841332"/>
              <a:ext cx="758205" cy="758205"/>
            </a:xfrm>
            <a:prstGeom prst="ellipse">
              <a:avLst/>
            </a:prstGeom>
            <a:solidFill>
              <a:schemeClr val="bg1"/>
            </a:solidFill>
            <a:ln w="28575" cap="flat" cmpd="sng" algn="ctr">
              <a:solidFill>
                <a:srgbClr val="FF66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err="1">
                <a:solidFill>
                  <a:schemeClr val="tx1"/>
                </a:solidFill>
              </a:endParaRPr>
            </a:p>
          </p:txBody>
        </p:sp>
      </p:grpSp>
      <p:cxnSp>
        <p:nvCxnSpPr>
          <p:cNvPr id="43" name="Straight Connector 42">
            <a:extLst>
              <a:ext uri="{FF2B5EF4-FFF2-40B4-BE49-F238E27FC236}">
                <a16:creationId xmlns:a16="http://schemas.microsoft.com/office/drawing/2014/main" id="{C8AFB665-55E9-47EA-A1B6-C30A3D44278D}"/>
              </a:ext>
            </a:extLst>
          </p:cNvPr>
          <p:cNvCxnSpPr>
            <a:cxnSpLocks/>
          </p:cNvCxnSpPr>
          <p:nvPr/>
        </p:nvCxnSpPr>
        <p:spPr>
          <a:xfrm flipH="1" flipV="1">
            <a:off x="10824026" y="3994546"/>
            <a:ext cx="246656" cy="168246"/>
          </a:xfrm>
          <a:prstGeom prst="line">
            <a:avLst/>
          </a:prstGeom>
          <a:ln w="12700">
            <a:solidFill>
              <a:schemeClr val="accent5">
                <a:lumMod val="60000"/>
                <a:lumOff val="40000"/>
              </a:schemeClr>
            </a:solidFill>
            <a:prstDash val="lgDash"/>
          </a:ln>
        </p:spPr>
        <p:style>
          <a:lnRef idx="1">
            <a:schemeClr val="accent6"/>
          </a:lnRef>
          <a:fillRef idx="0">
            <a:schemeClr val="accent6"/>
          </a:fillRef>
          <a:effectRef idx="0">
            <a:schemeClr val="accent6"/>
          </a:effectRef>
          <a:fontRef idx="minor">
            <a:schemeClr val="tx1"/>
          </a:fontRef>
        </p:style>
      </p:cxnSp>
      <p:cxnSp>
        <p:nvCxnSpPr>
          <p:cNvPr id="44" name="Straight Connector 43">
            <a:extLst>
              <a:ext uri="{FF2B5EF4-FFF2-40B4-BE49-F238E27FC236}">
                <a16:creationId xmlns:a16="http://schemas.microsoft.com/office/drawing/2014/main" id="{9FE8A5A0-06C0-4AAD-8F27-7E95083031FA}"/>
              </a:ext>
            </a:extLst>
          </p:cNvPr>
          <p:cNvCxnSpPr>
            <a:cxnSpLocks/>
          </p:cNvCxnSpPr>
          <p:nvPr/>
        </p:nvCxnSpPr>
        <p:spPr>
          <a:xfrm flipH="1" flipV="1">
            <a:off x="10879651" y="5204743"/>
            <a:ext cx="227607" cy="84581"/>
          </a:xfrm>
          <a:prstGeom prst="line">
            <a:avLst/>
          </a:prstGeom>
          <a:ln w="12700">
            <a:solidFill>
              <a:schemeClr val="accent5">
                <a:lumMod val="40000"/>
                <a:lumOff val="60000"/>
              </a:schemeClr>
            </a:solidFill>
            <a:prstDash val="lgDash"/>
          </a:ln>
        </p:spPr>
        <p:style>
          <a:lnRef idx="1">
            <a:schemeClr val="accent6"/>
          </a:lnRef>
          <a:fillRef idx="0">
            <a:schemeClr val="accent6"/>
          </a:fillRef>
          <a:effectRef idx="0">
            <a:schemeClr val="accent6"/>
          </a:effectRef>
          <a:fontRef idx="minor">
            <a:schemeClr val="tx1"/>
          </a:fontRef>
        </p:style>
      </p:cxnSp>
      <p:cxnSp>
        <p:nvCxnSpPr>
          <p:cNvPr id="45" name="Straight Connector 44">
            <a:extLst>
              <a:ext uri="{FF2B5EF4-FFF2-40B4-BE49-F238E27FC236}">
                <a16:creationId xmlns:a16="http://schemas.microsoft.com/office/drawing/2014/main" id="{134C2FD7-5B94-46CE-9115-347EAD8B88D1}"/>
              </a:ext>
            </a:extLst>
          </p:cNvPr>
          <p:cNvCxnSpPr>
            <a:cxnSpLocks/>
          </p:cNvCxnSpPr>
          <p:nvPr/>
        </p:nvCxnSpPr>
        <p:spPr>
          <a:xfrm flipH="1" flipV="1">
            <a:off x="10869099" y="6266886"/>
            <a:ext cx="246654" cy="107531"/>
          </a:xfrm>
          <a:prstGeom prst="line">
            <a:avLst/>
          </a:prstGeom>
          <a:ln w="12700">
            <a:solidFill>
              <a:schemeClr val="accent5">
                <a:lumMod val="20000"/>
                <a:lumOff val="80000"/>
              </a:schemeClr>
            </a:solidFill>
            <a:prstDash val="lgDash"/>
          </a:ln>
        </p:spPr>
        <p:style>
          <a:lnRef idx="1">
            <a:schemeClr val="accent6"/>
          </a:lnRef>
          <a:fillRef idx="0">
            <a:schemeClr val="accent6"/>
          </a:fillRef>
          <a:effectRef idx="0">
            <a:schemeClr val="accent6"/>
          </a:effectRef>
          <a:fontRef idx="minor">
            <a:schemeClr val="tx1"/>
          </a:fontRef>
        </p:style>
      </p:cxnSp>
      <p:pic>
        <p:nvPicPr>
          <p:cNvPr id="46" name="Graphic 38">
            <a:extLst>
              <a:ext uri="{FF2B5EF4-FFF2-40B4-BE49-F238E27FC236}">
                <a16:creationId xmlns:a16="http://schemas.microsoft.com/office/drawing/2014/main" id="{E3325F56-20D0-4DC1-821F-2887AC11DF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32726" y="2578307"/>
            <a:ext cx="410899" cy="513624"/>
          </a:xfrm>
          <a:prstGeom prst="rect">
            <a:avLst/>
          </a:prstGeom>
        </p:spPr>
      </p:pic>
      <p:pic>
        <p:nvPicPr>
          <p:cNvPr id="47" name="Graphic 39">
            <a:extLst>
              <a:ext uri="{FF2B5EF4-FFF2-40B4-BE49-F238E27FC236}">
                <a16:creationId xmlns:a16="http://schemas.microsoft.com/office/drawing/2014/main" id="{EA2FCDE4-09C2-44BB-9CCE-F85C96F75D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27749" y="3667504"/>
            <a:ext cx="494767" cy="618459"/>
          </a:xfrm>
          <a:prstGeom prst="rect">
            <a:avLst/>
          </a:prstGeom>
        </p:spPr>
      </p:pic>
      <p:grpSp>
        <p:nvGrpSpPr>
          <p:cNvPr id="48" name="Graphic 185">
            <a:extLst>
              <a:ext uri="{FF2B5EF4-FFF2-40B4-BE49-F238E27FC236}">
                <a16:creationId xmlns:a16="http://schemas.microsoft.com/office/drawing/2014/main" id="{94D60C9B-85A0-4E25-9AA9-4A19F4C976E5}"/>
              </a:ext>
            </a:extLst>
          </p:cNvPr>
          <p:cNvGrpSpPr/>
          <p:nvPr/>
        </p:nvGrpSpPr>
        <p:grpSpPr>
          <a:xfrm>
            <a:off x="7702071" y="4898900"/>
            <a:ext cx="437851" cy="416177"/>
            <a:chOff x="4620902" y="3768291"/>
            <a:chExt cx="437851" cy="416177"/>
          </a:xfrm>
          <a:solidFill>
            <a:srgbClr val="FF6600"/>
          </a:solidFill>
        </p:grpSpPr>
        <p:sp>
          <p:nvSpPr>
            <p:cNvPr id="49" name="Freeform: Shape 48">
              <a:extLst>
                <a:ext uri="{FF2B5EF4-FFF2-40B4-BE49-F238E27FC236}">
                  <a16:creationId xmlns:a16="http://schemas.microsoft.com/office/drawing/2014/main" id="{745E1FE0-6D8F-4D2C-BC11-A79BA4985152}"/>
                </a:ext>
              </a:extLst>
            </p:cNvPr>
            <p:cNvSpPr/>
            <p:nvPr/>
          </p:nvSpPr>
          <p:spPr>
            <a:xfrm>
              <a:off x="4620902" y="3768291"/>
              <a:ext cx="437851" cy="416177"/>
            </a:xfrm>
            <a:custGeom>
              <a:avLst/>
              <a:gdLst>
                <a:gd name="connsiteX0" fmla="*/ 427869 w 437851"/>
                <a:gd name="connsiteY0" fmla="*/ 159599 h 416177"/>
                <a:gd name="connsiteX1" fmla="*/ 410332 w 437851"/>
                <a:gd name="connsiteY1" fmla="*/ 155559 h 416177"/>
                <a:gd name="connsiteX2" fmla="*/ 410332 w 437851"/>
                <a:gd name="connsiteY2" fmla="*/ 148576 h 416177"/>
                <a:gd name="connsiteX3" fmla="*/ 398054 w 437851"/>
                <a:gd name="connsiteY3" fmla="*/ 134146 h 416177"/>
                <a:gd name="connsiteX4" fmla="*/ 265299 w 437851"/>
                <a:gd name="connsiteY4" fmla="*/ 149955 h 416177"/>
                <a:gd name="connsiteX5" fmla="*/ 276414 w 437851"/>
                <a:gd name="connsiteY5" fmla="*/ 134402 h 416177"/>
                <a:gd name="connsiteX6" fmla="*/ 273591 w 437851"/>
                <a:gd name="connsiteY6" fmla="*/ 21907 h 416177"/>
                <a:gd name="connsiteX7" fmla="*/ 219603 w 437851"/>
                <a:gd name="connsiteY7" fmla="*/ 0 h 416177"/>
                <a:gd name="connsiteX8" fmla="*/ 218801 w 437851"/>
                <a:gd name="connsiteY8" fmla="*/ 0 h 416177"/>
                <a:gd name="connsiteX9" fmla="*/ 139270 w 437851"/>
                <a:gd name="connsiteY9" fmla="*/ 76232 h 416177"/>
                <a:gd name="connsiteX10" fmla="*/ 160451 w 437851"/>
                <a:gd name="connsiteY10" fmla="*/ 133713 h 416177"/>
                <a:gd name="connsiteX11" fmla="*/ 171827 w 437851"/>
                <a:gd name="connsiteY11" fmla="*/ 149674 h 416177"/>
                <a:gd name="connsiteX12" fmla="*/ 39805 w 437851"/>
                <a:gd name="connsiteY12" fmla="*/ 134126 h 416177"/>
                <a:gd name="connsiteX13" fmla="*/ 27523 w 437851"/>
                <a:gd name="connsiteY13" fmla="*/ 148556 h 416177"/>
                <a:gd name="connsiteX14" fmla="*/ 27523 w 437851"/>
                <a:gd name="connsiteY14" fmla="*/ 155567 h 416177"/>
                <a:gd name="connsiteX15" fmla="*/ 9987 w 437851"/>
                <a:gd name="connsiteY15" fmla="*/ 159599 h 416177"/>
                <a:gd name="connsiteX16" fmla="*/ 2 w 437851"/>
                <a:gd name="connsiteY16" fmla="*/ 173320 h 416177"/>
                <a:gd name="connsiteX17" fmla="*/ 2 w 437851"/>
                <a:gd name="connsiteY17" fmla="*/ 378743 h 416177"/>
                <a:gd name="connsiteX18" fmla="*/ 5469 w 437851"/>
                <a:gd name="connsiteY18" fmla="*/ 390091 h 416177"/>
                <a:gd name="connsiteX19" fmla="*/ 17178 w 437851"/>
                <a:gd name="connsiteY19" fmla="*/ 392569 h 416177"/>
                <a:gd name="connsiteX20" fmla="*/ 207514 w 437851"/>
                <a:gd name="connsiteY20" fmla="*/ 413116 h 416177"/>
                <a:gd name="connsiteX21" fmla="*/ 230338 w 437851"/>
                <a:gd name="connsiteY21" fmla="*/ 413116 h 416177"/>
                <a:gd name="connsiteX22" fmla="*/ 420674 w 437851"/>
                <a:gd name="connsiteY22" fmla="*/ 392569 h 416177"/>
                <a:gd name="connsiteX23" fmla="*/ 432382 w 437851"/>
                <a:gd name="connsiteY23" fmla="*/ 390091 h 416177"/>
                <a:gd name="connsiteX24" fmla="*/ 437850 w 437851"/>
                <a:gd name="connsiteY24" fmla="*/ 378743 h 416177"/>
                <a:gd name="connsiteX25" fmla="*/ 437850 w 437851"/>
                <a:gd name="connsiteY25" fmla="*/ 173320 h 416177"/>
                <a:gd name="connsiteX26" fmla="*/ 427869 w 437851"/>
                <a:gd name="connsiteY26" fmla="*/ 159599 h 416177"/>
                <a:gd name="connsiteX27" fmla="*/ 396775 w 437851"/>
                <a:gd name="connsiteY27" fmla="*/ 142038 h 416177"/>
                <a:gd name="connsiteX28" fmla="*/ 402315 w 437851"/>
                <a:gd name="connsiteY28" fmla="*/ 148576 h 416177"/>
                <a:gd name="connsiteX29" fmla="*/ 402315 w 437851"/>
                <a:gd name="connsiteY29" fmla="*/ 341958 h 416177"/>
                <a:gd name="connsiteX30" fmla="*/ 395519 w 437851"/>
                <a:gd name="connsiteY30" fmla="*/ 348540 h 416177"/>
                <a:gd name="connsiteX31" fmla="*/ 395501 w 437851"/>
                <a:gd name="connsiteY31" fmla="*/ 348540 h 416177"/>
                <a:gd name="connsiteX32" fmla="*/ 222946 w 437851"/>
                <a:gd name="connsiteY32" fmla="*/ 395439 h 416177"/>
                <a:gd name="connsiteX33" fmla="*/ 222946 w 437851"/>
                <a:gd name="connsiteY33" fmla="*/ 222275 h 416177"/>
                <a:gd name="connsiteX34" fmla="*/ 245281 w 437851"/>
                <a:gd name="connsiteY34" fmla="*/ 211853 h 416177"/>
                <a:gd name="connsiteX35" fmla="*/ 245726 w 437851"/>
                <a:gd name="connsiteY35" fmla="*/ 229149 h 416177"/>
                <a:gd name="connsiteX36" fmla="*/ 249374 w 437851"/>
                <a:gd name="connsiteY36" fmla="*/ 235426 h 416177"/>
                <a:gd name="connsiteX37" fmla="*/ 255418 w 437851"/>
                <a:gd name="connsiteY37" fmla="*/ 237182 h 416177"/>
                <a:gd name="connsiteX38" fmla="*/ 259571 w 437851"/>
                <a:gd name="connsiteY38" fmla="*/ 236497 h 416177"/>
                <a:gd name="connsiteX39" fmla="*/ 261519 w 437851"/>
                <a:gd name="connsiteY39" fmla="*/ 235863 h 416177"/>
                <a:gd name="connsiteX40" fmla="*/ 279461 w 437851"/>
                <a:gd name="connsiteY40" fmla="*/ 228648 h 416177"/>
                <a:gd name="connsiteX41" fmla="*/ 284940 w 437851"/>
                <a:gd name="connsiteY41" fmla="*/ 219357 h 416177"/>
                <a:gd name="connsiteX42" fmla="*/ 285341 w 437851"/>
                <a:gd name="connsiteY42" fmla="*/ 196910 h 416177"/>
                <a:gd name="connsiteX43" fmla="*/ 281890 w 437851"/>
                <a:gd name="connsiteY43" fmla="*/ 189859 h 416177"/>
                <a:gd name="connsiteX44" fmla="*/ 273007 w 437851"/>
                <a:gd name="connsiteY44" fmla="*/ 188207 h 416177"/>
                <a:gd name="connsiteX45" fmla="*/ 255843 w 437851"/>
                <a:gd name="connsiteY45" fmla="*/ 194160 h 416177"/>
                <a:gd name="connsiteX46" fmla="*/ 257422 w 437851"/>
                <a:gd name="connsiteY46" fmla="*/ 182856 h 416177"/>
                <a:gd name="connsiteX47" fmla="*/ 257423 w 437851"/>
                <a:gd name="connsiteY47" fmla="*/ 182824 h 416177"/>
                <a:gd name="connsiteX48" fmla="*/ 257423 w 437851"/>
                <a:gd name="connsiteY48" fmla="*/ 182780 h 416177"/>
                <a:gd name="connsiteX49" fmla="*/ 257423 w 437851"/>
                <a:gd name="connsiteY49" fmla="*/ 182155 h 416177"/>
                <a:gd name="connsiteX50" fmla="*/ 260834 w 437851"/>
                <a:gd name="connsiteY50" fmla="*/ 160750 h 416177"/>
                <a:gd name="connsiteX51" fmla="*/ 396775 w 437851"/>
                <a:gd name="connsiteY51" fmla="*/ 142038 h 416177"/>
                <a:gd name="connsiteX52" fmla="*/ 147279 w 437851"/>
                <a:gd name="connsiteY52" fmla="*/ 76557 h 416177"/>
                <a:gd name="connsiteX53" fmla="*/ 218801 w 437851"/>
                <a:gd name="connsiteY53" fmla="*/ 8013 h 416177"/>
                <a:gd name="connsiteX54" fmla="*/ 219515 w 437851"/>
                <a:gd name="connsiteY54" fmla="*/ 8013 h 416177"/>
                <a:gd name="connsiteX55" fmla="*/ 290335 w 437851"/>
                <a:gd name="connsiteY55" fmla="*/ 80294 h 416177"/>
                <a:gd name="connsiteX56" fmla="*/ 270626 w 437851"/>
                <a:gd name="connsiteY56" fmla="*/ 128883 h 416177"/>
                <a:gd name="connsiteX57" fmla="*/ 249522 w 437851"/>
                <a:gd name="connsiteY57" fmla="*/ 179742 h 416177"/>
                <a:gd name="connsiteX58" fmla="*/ 222766 w 437851"/>
                <a:gd name="connsiteY58" fmla="*/ 184267 h 416177"/>
                <a:gd name="connsiteX59" fmla="*/ 222766 w 437851"/>
                <a:gd name="connsiteY59" fmla="*/ 145201 h 416177"/>
                <a:gd name="connsiteX60" fmla="*/ 218757 w 437851"/>
                <a:gd name="connsiteY60" fmla="*/ 141193 h 416177"/>
                <a:gd name="connsiteX61" fmla="*/ 214749 w 437851"/>
                <a:gd name="connsiteY61" fmla="*/ 145201 h 416177"/>
                <a:gd name="connsiteX62" fmla="*/ 214749 w 437851"/>
                <a:gd name="connsiteY62" fmla="*/ 184271 h 416177"/>
                <a:gd name="connsiteX63" fmla="*/ 188017 w 437851"/>
                <a:gd name="connsiteY63" fmla="*/ 179742 h 416177"/>
                <a:gd name="connsiteX64" fmla="*/ 166323 w 437851"/>
                <a:gd name="connsiteY64" fmla="*/ 128257 h 416177"/>
                <a:gd name="connsiteX65" fmla="*/ 147279 w 437851"/>
                <a:gd name="connsiteY65" fmla="*/ 76557 h 416177"/>
                <a:gd name="connsiteX66" fmla="*/ 35540 w 437851"/>
                <a:gd name="connsiteY66" fmla="*/ 148576 h 416177"/>
                <a:gd name="connsiteX67" fmla="*/ 41080 w 437851"/>
                <a:gd name="connsiteY67" fmla="*/ 142038 h 416177"/>
                <a:gd name="connsiteX68" fmla="*/ 73705 w 437851"/>
                <a:gd name="connsiteY68" fmla="*/ 139605 h 416177"/>
                <a:gd name="connsiteX69" fmla="*/ 176505 w 437851"/>
                <a:gd name="connsiteY69" fmla="*/ 160609 h 416177"/>
                <a:gd name="connsiteX70" fmla="*/ 180112 w 437851"/>
                <a:gd name="connsiteY70" fmla="*/ 182151 h 416177"/>
                <a:gd name="connsiteX71" fmla="*/ 180112 w 437851"/>
                <a:gd name="connsiteY71" fmla="*/ 182636 h 416177"/>
                <a:gd name="connsiteX72" fmla="*/ 180084 w 437851"/>
                <a:gd name="connsiteY72" fmla="*/ 182764 h 416177"/>
                <a:gd name="connsiteX73" fmla="*/ 214913 w 437851"/>
                <a:gd name="connsiteY73" fmla="*/ 222323 h 416177"/>
                <a:gd name="connsiteX74" fmla="*/ 214913 w 437851"/>
                <a:gd name="connsiteY74" fmla="*/ 395487 h 416177"/>
                <a:gd name="connsiteX75" fmla="*/ 42106 w 437851"/>
                <a:gd name="connsiteY75" fmla="*/ 348552 h 416177"/>
                <a:gd name="connsiteX76" fmla="*/ 35532 w 437851"/>
                <a:gd name="connsiteY76" fmla="*/ 342679 h 416177"/>
                <a:gd name="connsiteX77" fmla="*/ 35532 w 437851"/>
                <a:gd name="connsiteY77" fmla="*/ 341978 h 41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37851" h="416177">
                  <a:moveTo>
                    <a:pt x="427869" y="159599"/>
                  </a:moveTo>
                  <a:cubicBezTo>
                    <a:pt x="422121" y="157968"/>
                    <a:pt x="416244" y="156673"/>
                    <a:pt x="410332" y="155559"/>
                  </a:cubicBezTo>
                  <a:lnTo>
                    <a:pt x="410332" y="148576"/>
                  </a:lnTo>
                  <a:cubicBezTo>
                    <a:pt x="410355" y="141397"/>
                    <a:pt x="405144" y="135272"/>
                    <a:pt x="398054" y="134146"/>
                  </a:cubicBezTo>
                  <a:cubicBezTo>
                    <a:pt x="353178" y="128044"/>
                    <a:pt x="307487" y="133485"/>
                    <a:pt x="265299" y="149955"/>
                  </a:cubicBezTo>
                  <a:cubicBezTo>
                    <a:pt x="268265" y="144280"/>
                    <a:pt x="272006" y="139046"/>
                    <a:pt x="276414" y="134402"/>
                  </a:cubicBezTo>
                  <a:cubicBezTo>
                    <a:pt x="306699" y="102558"/>
                    <a:pt x="305435" y="52192"/>
                    <a:pt x="273591" y="21907"/>
                  </a:cubicBezTo>
                  <a:cubicBezTo>
                    <a:pt x="259012" y="8042"/>
                    <a:pt x="239721" y="214"/>
                    <a:pt x="219603" y="0"/>
                  </a:cubicBezTo>
                  <a:lnTo>
                    <a:pt x="218801" y="0"/>
                  </a:lnTo>
                  <a:cubicBezTo>
                    <a:pt x="176265" y="287"/>
                    <a:pt x="141358" y="33746"/>
                    <a:pt x="139270" y="76232"/>
                  </a:cubicBezTo>
                  <a:cubicBezTo>
                    <a:pt x="138326" y="97459"/>
                    <a:pt x="145959" y="118174"/>
                    <a:pt x="160451" y="133713"/>
                  </a:cubicBezTo>
                  <a:cubicBezTo>
                    <a:pt x="164916" y="138519"/>
                    <a:pt x="168740" y="143885"/>
                    <a:pt x="171827" y="149674"/>
                  </a:cubicBezTo>
                  <a:cubicBezTo>
                    <a:pt x="129840" y="133421"/>
                    <a:pt x="84419" y="128072"/>
                    <a:pt x="39805" y="134126"/>
                  </a:cubicBezTo>
                  <a:cubicBezTo>
                    <a:pt x="32715" y="135252"/>
                    <a:pt x="27502" y="141376"/>
                    <a:pt x="27523" y="148556"/>
                  </a:cubicBezTo>
                  <a:lnTo>
                    <a:pt x="27523" y="155567"/>
                  </a:lnTo>
                  <a:cubicBezTo>
                    <a:pt x="21603" y="156673"/>
                    <a:pt x="15739" y="157972"/>
                    <a:pt x="9987" y="159599"/>
                  </a:cubicBezTo>
                  <a:cubicBezTo>
                    <a:pt x="3976" y="161441"/>
                    <a:pt x="-94" y="167034"/>
                    <a:pt x="2" y="173320"/>
                  </a:cubicBezTo>
                  <a:lnTo>
                    <a:pt x="2" y="378743"/>
                  </a:lnTo>
                  <a:cubicBezTo>
                    <a:pt x="-36" y="383170"/>
                    <a:pt x="1984" y="387362"/>
                    <a:pt x="5469" y="390091"/>
                  </a:cubicBezTo>
                  <a:cubicBezTo>
                    <a:pt x="8777" y="392688"/>
                    <a:pt x="13102" y="393603"/>
                    <a:pt x="17178" y="392569"/>
                  </a:cubicBezTo>
                  <a:cubicBezTo>
                    <a:pt x="80254" y="376679"/>
                    <a:pt x="158523" y="385133"/>
                    <a:pt x="207514" y="413116"/>
                  </a:cubicBezTo>
                  <a:cubicBezTo>
                    <a:pt x="214574" y="417199"/>
                    <a:pt x="223277" y="417199"/>
                    <a:pt x="230338" y="413116"/>
                  </a:cubicBezTo>
                  <a:cubicBezTo>
                    <a:pt x="279329" y="385133"/>
                    <a:pt x="357593" y="376687"/>
                    <a:pt x="420674" y="392569"/>
                  </a:cubicBezTo>
                  <a:cubicBezTo>
                    <a:pt x="424749" y="393602"/>
                    <a:pt x="429074" y="392687"/>
                    <a:pt x="432382" y="390091"/>
                  </a:cubicBezTo>
                  <a:cubicBezTo>
                    <a:pt x="435867" y="387362"/>
                    <a:pt x="437887" y="383170"/>
                    <a:pt x="437850" y="378743"/>
                  </a:cubicBezTo>
                  <a:lnTo>
                    <a:pt x="437850" y="173320"/>
                  </a:lnTo>
                  <a:cubicBezTo>
                    <a:pt x="437946" y="167035"/>
                    <a:pt x="433878" y="161443"/>
                    <a:pt x="427869" y="159599"/>
                  </a:cubicBezTo>
                  <a:close/>
                  <a:moveTo>
                    <a:pt x="396775" y="142038"/>
                  </a:moveTo>
                  <a:cubicBezTo>
                    <a:pt x="399983" y="142551"/>
                    <a:pt x="402336" y="145328"/>
                    <a:pt x="402315" y="148576"/>
                  </a:cubicBezTo>
                  <a:lnTo>
                    <a:pt x="402315" y="341958"/>
                  </a:lnTo>
                  <a:cubicBezTo>
                    <a:pt x="402256" y="345653"/>
                    <a:pt x="399213" y="348599"/>
                    <a:pt x="395519" y="348540"/>
                  </a:cubicBezTo>
                  <a:cubicBezTo>
                    <a:pt x="395513" y="348540"/>
                    <a:pt x="395507" y="348540"/>
                    <a:pt x="395501" y="348540"/>
                  </a:cubicBezTo>
                  <a:cubicBezTo>
                    <a:pt x="311636" y="351887"/>
                    <a:pt x="252400" y="368049"/>
                    <a:pt x="222946" y="395439"/>
                  </a:cubicBezTo>
                  <a:lnTo>
                    <a:pt x="222946" y="222275"/>
                  </a:lnTo>
                  <a:cubicBezTo>
                    <a:pt x="231345" y="221390"/>
                    <a:pt x="239207" y="217722"/>
                    <a:pt x="245281" y="211853"/>
                  </a:cubicBezTo>
                  <a:cubicBezTo>
                    <a:pt x="245177" y="217890"/>
                    <a:pt x="245429" y="224215"/>
                    <a:pt x="245726" y="229149"/>
                  </a:cubicBezTo>
                  <a:cubicBezTo>
                    <a:pt x="245878" y="231702"/>
                    <a:pt x="247231" y="234031"/>
                    <a:pt x="249374" y="235426"/>
                  </a:cubicBezTo>
                  <a:cubicBezTo>
                    <a:pt x="251168" y="236602"/>
                    <a:pt x="253273" y="237213"/>
                    <a:pt x="255418" y="237182"/>
                  </a:cubicBezTo>
                  <a:cubicBezTo>
                    <a:pt x="256830" y="237177"/>
                    <a:pt x="258232" y="236945"/>
                    <a:pt x="259571" y="236497"/>
                  </a:cubicBezTo>
                  <a:lnTo>
                    <a:pt x="261519" y="235863"/>
                  </a:lnTo>
                  <a:cubicBezTo>
                    <a:pt x="267728" y="234072"/>
                    <a:pt x="273740" y="231654"/>
                    <a:pt x="279461" y="228648"/>
                  </a:cubicBezTo>
                  <a:cubicBezTo>
                    <a:pt x="282555" y="226499"/>
                    <a:pt x="284557" y="223105"/>
                    <a:pt x="284940" y="219357"/>
                  </a:cubicBezTo>
                  <a:cubicBezTo>
                    <a:pt x="285369" y="212218"/>
                    <a:pt x="285377" y="204353"/>
                    <a:pt x="285341" y="196910"/>
                  </a:cubicBezTo>
                  <a:cubicBezTo>
                    <a:pt x="285348" y="194151"/>
                    <a:pt x="284073" y="191546"/>
                    <a:pt x="281890" y="189859"/>
                  </a:cubicBezTo>
                  <a:cubicBezTo>
                    <a:pt x="279345" y="187962"/>
                    <a:pt x="276064" y="187352"/>
                    <a:pt x="273007" y="188207"/>
                  </a:cubicBezTo>
                  <a:cubicBezTo>
                    <a:pt x="267147" y="189766"/>
                    <a:pt x="261410" y="191756"/>
                    <a:pt x="255843" y="194160"/>
                  </a:cubicBezTo>
                  <a:cubicBezTo>
                    <a:pt x="256883" y="190482"/>
                    <a:pt x="257414" y="186678"/>
                    <a:pt x="257422" y="182856"/>
                  </a:cubicBezTo>
                  <a:lnTo>
                    <a:pt x="257423" y="182824"/>
                  </a:lnTo>
                  <a:lnTo>
                    <a:pt x="257423" y="182780"/>
                  </a:lnTo>
                  <a:lnTo>
                    <a:pt x="257423" y="182155"/>
                  </a:lnTo>
                  <a:cubicBezTo>
                    <a:pt x="257436" y="174885"/>
                    <a:pt x="258587" y="167663"/>
                    <a:pt x="260834" y="160750"/>
                  </a:cubicBezTo>
                  <a:cubicBezTo>
                    <a:pt x="303622" y="142334"/>
                    <a:pt x="350603" y="135868"/>
                    <a:pt x="396775" y="142038"/>
                  </a:cubicBezTo>
                  <a:close/>
                  <a:moveTo>
                    <a:pt x="147279" y="76557"/>
                  </a:moveTo>
                  <a:cubicBezTo>
                    <a:pt x="149153" y="38349"/>
                    <a:pt x="180549" y="8261"/>
                    <a:pt x="218801" y="8013"/>
                  </a:cubicBezTo>
                  <a:lnTo>
                    <a:pt x="219515" y="8013"/>
                  </a:lnTo>
                  <a:cubicBezTo>
                    <a:pt x="259031" y="8417"/>
                    <a:pt x="290738" y="40778"/>
                    <a:pt x="290335" y="80294"/>
                  </a:cubicBezTo>
                  <a:cubicBezTo>
                    <a:pt x="290150" y="98401"/>
                    <a:pt x="283107" y="115764"/>
                    <a:pt x="270626" y="128883"/>
                  </a:cubicBezTo>
                  <a:cubicBezTo>
                    <a:pt x="257551" y="142647"/>
                    <a:pt x="250034" y="160764"/>
                    <a:pt x="249522" y="179742"/>
                  </a:cubicBezTo>
                  <a:cubicBezTo>
                    <a:pt x="240835" y="182394"/>
                    <a:pt x="231842" y="183915"/>
                    <a:pt x="222766" y="184267"/>
                  </a:cubicBezTo>
                  <a:lnTo>
                    <a:pt x="222766" y="145201"/>
                  </a:lnTo>
                  <a:cubicBezTo>
                    <a:pt x="222766" y="142987"/>
                    <a:pt x="220971" y="141193"/>
                    <a:pt x="218757" y="141193"/>
                  </a:cubicBezTo>
                  <a:cubicBezTo>
                    <a:pt x="216543" y="141193"/>
                    <a:pt x="214749" y="142987"/>
                    <a:pt x="214749" y="145201"/>
                  </a:cubicBezTo>
                  <a:lnTo>
                    <a:pt x="214749" y="184271"/>
                  </a:lnTo>
                  <a:cubicBezTo>
                    <a:pt x="205680" y="183920"/>
                    <a:pt x="196695" y="182398"/>
                    <a:pt x="188017" y="179742"/>
                  </a:cubicBezTo>
                  <a:cubicBezTo>
                    <a:pt x="187254" y="160520"/>
                    <a:pt x="179546" y="142228"/>
                    <a:pt x="166323" y="128257"/>
                  </a:cubicBezTo>
                  <a:cubicBezTo>
                    <a:pt x="153291" y="114280"/>
                    <a:pt x="146428" y="95648"/>
                    <a:pt x="147279" y="76557"/>
                  </a:cubicBezTo>
                  <a:close/>
                  <a:moveTo>
                    <a:pt x="35540" y="148576"/>
                  </a:moveTo>
                  <a:cubicBezTo>
                    <a:pt x="35519" y="145328"/>
                    <a:pt x="37873" y="142551"/>
                    <a:pt x="41080" y="142038"/>
                  </a:cubicBezTo>
                  <a:cubicBezTo>
                    <a:pt x="51873" y="140366"/>
                    <a:pt x="62782" y="139553"/>
                    <a:pt x="73705" y="139605"/>
                  </a:cubicBezTo>
                  <a:cubicBezTo>
                    <a:pt x="109046" y="139515"/>
                    <a:pt x="144031" y="146663"/>
                    <a:pt x="176505" y="160609"/>
                  </a:cubicBezTo>
                  <a:cubicBezTo>
                    <a:pt x="178863" y="167548"/>
                    <a:pt x="180081" y="174822"/>
                    <a:pt x="180112" y="182151"/>
                  </a:cubicBezTo>
                  <a:lnTo>
                    <a:pt x="180112" y="182636"/>
                  </a:lnTo>
                  <a:cubicBezTo>
                    <a:pt x="180100" y="182678"/>
                    <a:pt x="180091" y="182721"/>
                    <a:pt x="180084" y="182764"/>
                  </a:cubicBezTo>
                  <a:cubicBezTo>
                    <a:pt x="179621" y="203008"/>
                    <a:pt x="194774" y="220218"/>
                    <a:pt x="214913" y="222323"/>
                  </a:cubicBezTo>
                  <a:lnTo>
                    <a:pt x="214913" y="395487"/>
                  </a:lnTo>
                  <a:cubicBezTo>
                    <a:pt x="173390" y="356982"/>
                    <a:pt x="81433" y="349815"/>
                    <a:pt x="42106" y="348552"/>
                  </a:cubicBezTo>
                  <a:cubicBezTo>
                    <a:pt x="38669" y="348746"/>
                    <a:pt x="35726" y="346116"/>
                    <a:pt x="35532" y="342679"/>
                  </a:cubicBezTo>
                  <a:cubicBezTo>
                    <a:pt x="35519" y="342446"/>
                    <a:pt x="35519" y="342212"/>
                    <a:pt x="35532" y="341978"/>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0" name="Freeform: Shape 49">
              <a:extLst>
                <a:ext uri="{FF2B5EF4-FFF2-40B4-BE49-F238E27FC236}">
                  <a16:creationId xmlns:a16="http://schemas.microsoft.com/office/drawing/2014/main" id="{AC69DB52-3DE7-4825-BCBB-4A3CA7CFECAA}"/>
                </a:ext>
              </a:extLst>
            </p:cNvPr>
            <p:cNvSpPr/>
            <p:nvPr/>
          </p:nvSpPr>
          <p:spPr>
            <a:xfrm>
              <a:off x="4922401" y="3943439"/>
              <a:ext cx="57800" cy="14615"/>
            </a:xfrm>
            <a:custGeom>
              <a:avLst/>
              <a:gdLst>
                <a:gd name="connsiteX0" fmla="*/ 3997 w 57800"/>
                <a:gd name="connsiteY0" fmla="*/ 14615 h 14615"/>
                <a:gd name="connsiteX1" fmla="*/ 4991 w 57800"/>
                <a:gd name="connsiteY1" fmla="*/ 14487 h 14615"/>
                <a:gd name="connsiteX2" fmla="*/ 53657 w 57800"/>
                <a:gd name="connsiteY2" fmla="*/ 8009 h 14615"/>
                <a:gd name="connsiteX3" fmla="*/ 57788 w 57800"/>
                <a:gd name="connsiteY3" fmla="*/ 4432 h 14615"/>
                <a:gd name="connsiteX4" fmla="*/ 57798 w 57800"/>
                <a:gd name="connsiteY4" fmla="*/ 4137 h 14615"/>
                <a:gd name="connsiteX5" fmla="*/ 53926 w 57800"/>
                <a:gd name="connsiteY5" fmla="*/ 1 h 14615"/>
                <a:gd name="connsiteX6" fmla="*/ 3019 w 57800"/>
                <a:gd name="connsiteY6" fmla="*/ 6723 h 14615"/>
                <a:gd name="connsiteX7" fmla="*/ 125 w 57800"/>
                <a:gd name="connsiteY7" fmla="*/ 11597 h 14615"/>
                <a:gd name="connsiteX8" fmla="*/ 4005 w 57800"/>
                <a:gd name="connsiteY8" fmla="*/ 14615 h 14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800" h="14615">
                  <a:moveTo>
                    <a:pt x="3997" y="14615"/>
                  </a:moveTo>
                  <a:cubicBezTo>
                    <a:pt x="4333" y="14616"/>
                    <a:pt x="4667" y="14573"/>
                    <a:pt x="4991" y="14487"/>
                  </a:cubicBezTo>
                  <a:cubicBezTo>
                    <a:pt x="20860" y="10208"/>
                    <a:pt x="37222" y="8030"/>
                    <a:pt x="53657" y="8009"/>
                  </a:cubicBezTo>
                  <a:cubicBezTo>
                    <a:pt x="55786" y="8162"/>
                    <a:pt x="57635" y="6560"/>
                    <a:pt x="57788" y="4432"/>
                  </a:cubicBezTo>
                  <a:cubicBezTo>
                    <a:pt x="57795" y="4334"/>
                    <a:pt x="57799" y="4235"/>
                    <a:pt x="57798" y="4137"/>
                  </a:cubicBezTo>
                  <a:cubicBezTo>
                    <a:pt x="57870" y="1926"/>
                    <a:pt x="56137" y="75"/>
                    <a:pt x="53926" y="1"/>
                  </a:cubicBezTo>
                  <a:cubicBezTo>
                    <a:pt x="36733" y="-39"/>
                    <a:pt x="19612" y="2222"/>
                    <a:pt x="3019" y="6723"/>
                  </a:cubicBezTo>
                  <a:cubicBezTo>
                    <a:pt x="874" y="7270"/>
                    <a:pt x="-422" y="9452"/>
                    <a:pt x="125" y="11597"/>
                  </a:cubicBezTo>
                  <a:cubicBezTo>
                    <a:pt x="578" y="13371"/>
                    <a:pt x="2174" y="14613"/>
                    <a:pt x="4005" y="14615"/>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1" name="Freeform: Shape 50">
              <a:extLst>
                <a:ext uri="{FF2B5EF4-FFF2-40B4-BE49-F238E27FC236}">
                  <a16:creationId xmlns:a16="http://schemas.microsoft.com/office/drawing/2014/main" id="{4C26A104-325E-46E5-AE9A-6F73D7AC40AF}"/>
                </a:ext>
              </a:extLst>
            </p:cNvPr>
            <p:cNvSpPr/>
            <p:nvPr/>
          </p:nvSpPr>
          <p:spPr>
            <a:xfrm>
              <a:off x="4922401" y="3966836"/>
              <a:ext cx="57800" cy="14615"/>
            </a:xfrm>
            <a:custGeom>
              <a:avLst/>
              <a:gdLst>
                <a:gd name="connsiteX0" fmla="*/ 3997 w 57800"/>
                <a:gd name="connsiteY0" fmla="*/ 14615 h 14615"/>
                <a:gd name="connsiteX1" fmla="*/ 4991 w 57800"/>
                <a:gd name="connsiteY1" fmla="*/ 14487 h 14615"/>
                <a:gd name="connsiteX2" fmla="*/ 53657 w 57800"/>
                <a:gd name="connsiteY2" fmla="*/ 8009 h 14615"/>
                <a:gd name="connsiteX3" fmla="*/ 57788 w 57800"/>
                <a:gd name="connsiteY3" fmla="*/ 4449 h 14615"/>
                <a:gd name="connsiteX4" fmla="*/ 57798 w 57800"/>
                <a:gd name="connsiteY4" fmla="*/ 4137 h 14615"/>
                <a:gd name="connsiteX5" fmla="*/ 53926 w 57800"/>
                <a:gd name="connsiteY5" fmla="*/ 1 h 14615"/>
                <a:gd name="connsiteX6" fmla="*/ 3019 w 57800"/>
                <a:gd name="connsiteY6" fmla="*/ 6723 h 14615"/>
                <a:gd name="connsiteX7" fmla="*/ 125 w 57800"/>
                <a:gd name="connsiteY7" fmla="*/ 11597 h 14615"/>
                <a:gd name="connsiteX8" fmla="*/ 4009 w 57800"/>
                <a:gd name="connsiteY8" fmla="*/ 14615 h 14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800" h="14615">
                  <a:moveTo>
                    <a:pt x="3997" y="14615"/>
                  </a:moveTo>
                  <a:cubicBezTo>
                    <a:pt x="4333" y="14616"/>
                    <a:pt x="4667" y="14573"/>
                    <a:pt x="4991" y="14487"/>
                  </a:cubicBezTo>
                  <a:cubicBezTo>
                    <a:pt x="20859" y="10203"/>
                    <a:pt x="37222" y="8025"/>
                    <a:pt x="53657" y="8009"/>
                  </a:cubicBezTo>
                  <a:cubicBezTo>
                    <a:pt x="55781" y="8167"/>
                    <a:pt x="57631" y="6572"/>
                    <a:pt x="57788" y="4449"/>
                  </a:cubicBezTo>
                  <a:cubicBezTo>
                    <a:pt x="57795" y="4345"/>
                    <a:pt x="57799" y="4241"/>
                    <a:pt x="57798" y="4137"/>
                  </a:cubicBezTo>
                  <a:cubicBezTo>
                    <a:pt x="57870" y="1926"/>
                    <a:pt x="56137" y="75"/>
                    <a:pt x="53926" y="1"/>
                  </a:cubicBezTo>
                  <a:cubicBezTo>
                    <a:pt x="36733" y="-42"/>
                    <a:pt x="19612" y="2219"/>
                    <a:pt x="3019" y="6723"/>
                  </a:cubicBezTo>
                  <a:cubicBezTo>
                    <a:pt x="874" y="7270"/>
                    <a:pt x="-422" y="9452"/>
                    <a:pt x="125" y="11597"/>
                  </a:cubicBezTo>
                  <a:cubicBezTo>
                    <a:pt x="578" y="13373"/>
                    <a:pt x="2177" y="14615"/>
                    <a:pt x="4009" y="14615"/>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2" name="Freeform: Shape 51">
              <a:extLst>
                <a:ext uri="{FF2B5EF4-FFF2-40B4-BE49-F238E27FC236}">
                  <a16:creationId xmlns:a16="http://schemas.microsoft.com/office/drawing/2014/main" id="{40155195-85F2-4C68-B0EC-1E84799B053D}"/>
                </a:ext>
              </a:extLst>
            </p:cNvPr>
            <p:cNvSpPr/>
            <p:nvPr/>
          </p:nvSpPr>
          <p:spPr>
            <a:xfrm>
              <a:off x="4866237" y="4005555"/>
              <a:ext cx="113991" cy="34494"/>
            </a:xfrm>
            <a:custGeom>
              <a:avLst/>
              <a:gdLst>
                <a:gd name="connsiteX0" fmla="*/ 110009 w 113991"/>
                <a:gd name="connsiteY0" fmla="*/ 19 h 34494"/>
                <a:gd name="connsiteX1" fmla="*/ 1838 w 113991"/>
                <a:gd name="connsiteY1" fmla="*/ 27116 h 34494"/>
                <a:gd name="connsiteX2" fmla="*/ 639 w 113991"/>
                <a:gd name="connsiteY2" fmla="*/ 32656 h 34494"/>
                <a:gd name="connsiteX3" fmla="*/ 5982 w 113991"/>
                <a:gd name="connsiteY3" fmla="*/ 33974 h 34494"/>
                <a:gd name="connsiteX4" fmla="*/ 109901 w 113991"/>
                <a:gd name="connsiteY4" fmla="*/ 8036 h 34494"/>
                <a:gd name="connsiteX5" fmla="*/ 109957 w 113991"/>
                <a:gd name="connsiteY5" fmla="*/ 8036 h 34494"/>
                <a:gd name="connsiteX6" fmla="*/ 113991 w 113991"/>
                <a:gd name="connsiteY6" fmla="*/ 4053 h 34494"/>
                <a:gd name="connsiteX7" fmla="*/ 110009 w 113991"/>
                <a:gd name="connsiteY7" fmla="*/ 19 h 3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991" h="34494">
                  <a:moveTo>
                    <a:pt x="110009" y="19"/>
                  </a:moveTo>
                  <a:cubicBezTo>
                    <a:pt x="73669" y="-522"/>
                    <a:pt x="29083" y="10653"/>
                    <a:pt x="1838" y="27116"/>
                  </a:cubicBezTo>
                  <a:cubicBezTo>
                    <a:pt x="-23" y="28315"/>
                    <a:pt x="-560" y="30796"/>
                    <a:pt x="639" y="32656"/>
                  </a:cubicBezTo>
                  <a:cubicBezTo>
                    <a:pt x="1790" y="34442"/>
                    <a:pt x="4134" y="35020"/>
                    <a:pt x="5982" y="33974"/>
                  </a:cubicBezTo>
                  <a:cubicBezTo>
                    <a:pt x="32069" y="18217"/>
                    <a:pt x="74787" y="7519"/>
                    <a:pt x="109901" y="8036"/>
                  </a:cubicBezTo>
                  <a:lnTo>
                    <a:pt x="109957" y="8036"/>
                  </a:lnTo>
                  <a:cubicBezTo>
                    <a:pt x="112171" y="8050"/>
                    <a:pt x="113977" y="6267"/>
                    <a:pt x="113991" y="4053"/>
                  </a:cubicBezTo>
                  <a:cubicBezTo>
                    <a:pt x="114006" y="1840"/>
                    <a:pt x="112223" y="33"/>
                    <a:pt x="110009" y="19"/>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3" name="Freeform: Shape 52">
              <a:extLst>
                <a:ext uri="{FF2B5EF4-FFF2-40B4-BE49-F238E27FC236}">
                  <a16:creationId xmlns:a16="http://schemas.microsoft.com/office/drawing/2014/main" id="{B4A78809-04C7-4A36-84EA-F4434FB134A1}"/>
                </a:ext>
              </a:extLst>
            </p:cNvPr>
            <p:cNvSpPr/>
            <p:nvPr/>
          </p:nvSpPr>
          <p:spPr>
            <a:xfrm>
              <a:off x="4869275" y="4041376"/>
              <a:ext cx="111054" cy="34633"/>
            </a:xfrm>
            <a:custGeom>
              <a:avLst/>
              <a:gdLst>
                <a:gd name="connsiteX0" fmla="*/ 107516 w 111054"/>
                <a:gd name="connsiteY0" fmla="*/ 522 h 34633"/>
                <a:gd name="connsiteX1" fmla="*/ 1954 w 111054"/>
                <a:gd name="connsiteY1" fmla="*/ 27182 h 34633"/>
                <a:gd name="connsiteX2" fmla="*/ 567 w 111054"/>
                <a:gd name="connsiteY2" fmla="*/ 32679 h 34633"/>
                <a:gd name="connsiteX3" fmla="*/ 6011 w 111054"/>
                <a:gd name="connsiteY3" fmla="*/ 34097 h 34633"/>
                <a:gd name="connsiteX4" fmla="*/ 106298 w 111054"/>
                <a:gd name="connsiteY4" fmla="*/ 8443 h 34633"/>
                <a:gd name="connsiteX5" fmla="*/ 110983 w 111054"/>
                <a:gd name="connsiteY5" fmla="*/ 5252 h 34633"/>
                <a:gd name="connsiteX6" fmla="*/ 107792 w 111054"/>
                <a:gd name="connsiteY6" fmla="*/ 567 h 34633"/>
                <a:gd name="connsiteX7" fmla="*/ 107500 w 111054"/>
                <a:gd name="connsiteY7" fmla="*/ 522 h 3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54" h="34633">
                  <a:moveTo>
                    <a:pt x="107516" y="522"/>
                  </a:moveTo>
                  <a:cubicBezTo>
                    <a:pt x="86508" y="-2684"/>
                    <a:pt x="32595" y="9201"/>
                    <a:pt x="1954" y="27182"/>
                  </a:cubicBezTo>
                  <a:cubicBezTo>
                    <a:pt x="54" y="28317"/>
                    <a:pt x="-567" y="30778"/>
                    <a:pt x="567" y="32679"/>
                  </a:cubicBezTo>
                  <a:cubicBezTo>
                    <a:pt x="1690" y="34559"/>
                    <a:pt x="4114" y="35191"/>
                    <a:pt x="6011" y="34097"/>
                  </a:cubicBezTo>
                  <a:cubicBezTo>
                    <a:pt x="36611" y="16135"/>
                    <a:pt x="88585" y="5709"/>
                    <a:pt x="106298" y="8443"/>
                  </a:cubicBezTo>
                  <a:cubicBezTo>
                    <a:pt x="108473" y="8856"/>
                    <a:pt x="110570" y="7427"/>
                    <a:pt x="110983" y="5252"/>
                  </a:cubicBezTo>
                  <a:cubicBezTo>
                    <a:pt x="111396" y="3077"/>
                    <a:pt x="109967" y="979"/>
                    <a:pt x="107792" y="567"/>
                  </a:cubicBezTo>
                  <a:cubicBezTo>
                    <a:pt x="107695" y="548"/>
                    <a:pt x="107598" y="534"/>
                    <a:pt x="107500" y="522"/>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4" name="Freeform: Shape 53">
              <a:extLst>
                <a:ext uri="{FF2B5EF4-FFF2-40B4-BE49-F238E27FC236}">
                  <a16:creationId xmlns:a16="http://schemas.microsoft.com/office/drawing/2014/main" id="{A21BB391-1809-4697-864F-EEAE216E6D35}"/>
                </a:ext>
              </a:extLst>
            </p:cNvPr>
            <p:cNvSpPr/>
            <p:nvPr/>
          </p:nvSpPr>
          <p:spPr>
            <a:xfrm>
              <a:off x="4867728" y="4077291"/>
              <a:ext cx="111054" cy="34633"/>
            </a:xfrm>
            <a:custGeom>
              <a:avLst/>
              <a:gdLst>
                <a:gd name="connsiteX0" fmla="*/ 107512 w 111054"/>
                <a:gd name="connsiteY0" fmla="*/ 522 h 34633"/>
                <a:gd name="connsiteX1" fmla="*/ 1954 w 111054"/>
                <a:gd name="connsiteY1" fmla="*/ 27182 h 34633"/>
                <a:gd name="connsiteX2" fmla="*/ 567 w 111054"/>
                <a:gd name="connsiteY2" fmla="*/ 32679 h 34633"/>
                <a:gd name="connsiteX3" fmla="*/ 6011 w 111054"/>
                <a:gd name="connsiteY3" fmla="*/ 34097 h 34633"/>
                <a:gd name="connsiteX4" fmla="*/ 106298 w 111054"/>
                <a:gd name="connsiteY4" fmla="*/ 8443 h 34633"/>
                <a:gd name="connsiteX5" fmla="*/ 110983 w 111054"/>
                <a:gd name="connsiteY5" fmla="*/ 5252 h 34633"/>
                <a:gd name="connsiteX6" fmla="*/ 107792 w 111054"/>
                <a:gd name="connsiteY6" fmla="*/ 567 h 34633"/>
                <a:gd name="connsiteX7" fmla="*/ 107500 w 111054"/>
                <a:gd name="connsiteY7" fmla="*/ 522 h 3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54" h="34633">
                  <a:moveTo>
                    <a:pt x="107512" y="522"/>
                  </a:moveTo>
                  <a:cubicBezTo>
                    <a:pt x="86488" y="-2684"/>
                    <a:pt x="32591" y="9201"/>
                    <a:pt x="1954" y="27182"/>
                  </a:cubicBezTo>
                  <a:cubicBezTo>
                    <a:pt x="54" y="28317"/>
                    <a:pt x="-567" y="30778"/>
                    <a:pt x="567" y="32679"/>
                  </a:cubicBezTo>
                  <a:cubicBezTo>
                    <a:pt x="1690" y="34559"/>
                    <a:pt x="4114" y="35191"/>
                    <a:pt x="6011" y="34097"/>
                  </a:cubicBezTo>
                  <a:cubicBezTo>
                    <a:pt x="36611" y="16131"/>
                    <a:pt x="88585" y="5721"/>
                    <a:pt x="106298" y="8443"/>
                  </a:cubicBezTo>
                  <a:cubicBezTo>
                    <a:pt x="108473" y="8856"/>
                    <a:pt x="110570" y="7427"/>
                    <a:pt x="110983" y="5252"/>
                  </a:cubicBezTo>
                  <a:cubicBezTo>
                    <a:pt x="111396" y="3077"/>
                    <a:pt x="109967" y="979"/>
                    <a:pt x="107792" y="567"/>
                  </a:cubicBezTo>
                  <a:cubicBezTo>
                    <a:pt x="107695" y="548"/>
                    <a:pt x="107598" y="534"/>
                    <a:pt x="107500" y="522"/>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5" name="Freeform: Shape 54">
              <a:extLst>
                <a:ext uri="{FF2B5EF4-FFF2-40B4-BE49-F238E27FC236}">
                  <a16:creationId xmlns:a16="http://schemas.microsoft.com/office/drawing/2014/main" id="{A556289E-61F0-4527-8B6D-A3D9B54440B9}"/>
                </a:ext>
              </a:extLst>
            </p:cNvPr>
            <p:cNvSpPr/>
            <p:nvPr/>
          </p:nvSpPr>
          <p:spPr>
            <a:xfrm>
              <a:off x="4695446" y="4002527"/>
              <a:ext cx="118131" cy="37617"/>
            </a:xfrm>
            <a:custGeom>
              <a:avLst/>
              <a:gdLst>
                <a:gd name="connsiteX0" fmla="*/ 116231 w 118131"/>
                <a:gd name="connsiteY0" fmla="*/ 30200 h 37617"/>
                <a:gd name="connsiteX1" fmla="*/ 4324 w 118131"/>
                <a:gd name="connsiteY1" fmla="*/ 13 h 37617"/>
                <a:gd name="connsiteX2" fmla="*/ 13 w 118131"/>
                <a:gd name="connsiteY2" fmla="*/ 3694 h 37617"/>
                <a:gd name="connsiteX3" fmla="*/ 3694 w 118131"/>
                <a:gd name="connsiteY3" fmla="*/ 8005 h 37617"/>
                <a:gd name="connsiteX4" fmla="*/ 111902 w 118131"/>
                <a:gd name="connsiteY4" fmla="*/ 36946 h 37617"/>
                <a:gd name="connsiteX5" fmla="*/ 117459 w 118131"/>
                <a:gd name="connsiteY5" fmla="*/ 35830 h 37617"/>
                <a:gd name="connsiteX6" fmla="*/ 116343 w 118131"/>
                <a:gd name="connsiteY6" fmla="*/ 30272 h 37617"/>
                <a:gd name="connsiteX7" fmla="*/ 116231 w 118131"/>
                <a:gd name="connsiteY7" fmla="*/ 30200 h 37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131" h="37617">
                  <a:moveTo>
                    <a:pt x="116231" y="30200"/>
                  </a:moveTo>
                  <a:cubicBezTo>
                    <a:pt x="91314" y="14214"/>
                    <a:pt x="41073" y="2915"/>
                    <a:pt x="4324" y="13"/>
                  </a:cubicBezTo>
                  <a:cubicBezTo>
                    <a:pt x="2116" y="-161"/>
                    <a:pt x="186" y="1487"/>
                    <a:pt x="13" y="3694"/>
                  </a:cubicBezTo>
                  <a:cubicBezTo>
                    <a:pt x="-161" y="5901"/>
                    <a:pt x="1487" y="7832"/>
                    <a:pt x="3694" y="8005"/>
                  </a:cubicBezTo>
                  <a:cubicBezTo>
                    <a:pt x="44712" y="11244"/>
                    <a:pt x="91230" y="23686"/>
                    <a:pt x="111902" y="36946"/>
                  </a:cubicBezTo>
                  <a:cubicBezTo>
                    <a:pt x="113745" y="38173"/>
                    <a:pt x="116233" y="37673"/>
                    <a:pt x="117459" y="35830"/>
                  </a:cubicBezTo>
                  <a:cubicBezTo>
                    <a:pt x="118686" y="33987"/>
                    <a:pt x="118186" y="31499"/>
                    <a:pt x="116343" y="30272"/>
                  </a:cubicBezTo>
                  <a:cubicBezTo>
                    <a:pt x="116306" y="30247"/>
                    <a:pt x="116269" y="30223"/>
                    <a:pt x="116231" y="30200"/>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6" name="Freeform: Shape 55">
              <a:extLst>
                <a:ext uri="{FF2B5EF4-FFF2-40B4-BE49-F238E27FC236}">
                  <a16:creationId xmlns:a16="http://schemas.microsoft.com/office/drawing/2014/main" id="{6104F9FD-FB60-44E5-9DE4-692B2D603867}"/>
                </a:ext>
              </a:extLst>
            </p:cNvPr>
            <p:cNvSpPr/>
            <p:nvPr/>
          </p:nvSpPr>
          <p:spPr>
            <a:xfrm>
              <a:off x="4695490" y="3969690"/>
              <a:ext cx="118031" cy="36632"/>
            </a:xfrm>
            <a:custGeom>
              <a:avLst/>
              <a:gdLst>
                <a:gd name="connsiteX0" fmla="*/ 3971 w 118031"/>
                <a:gd name="connsiteY0" fmla="*/ 8029 h 36632"/>
                <a:gd name="connsiteX1" fmla="*/ 4051 w 118031"/>
                <a:gd name="connsiteY1" fmla="*/ 8029 h 36632"/>
                <a:gd name="connsiteX2" fmla="*/ 112006 w 118031"/>
                <a:gd name="connsiteY2" fmla="*/ 36088 h 36632"/>
                <a:gd name="connsiteX3" fmla="*/ 117487 w 118031"/>
                <a:gd name="connsiteY3" fmla="*/ 34639 h 36632"/>
                <a:gd name="connsiteX4" fmla="*/ 116038 w 118031"/>
                <a:gd name="connsiteY4" fmla="*/ 29157 h 36632"/>
                <a:gd name="connsiteX5" fmla="*/ 4047 w 118031"/>
                <a:gd name="connsiteY5" fmla="*/ 0 h 36632"/>
                <a:gd name="connsiteX6" fmla="*/ 0 w 118031"/>
                <a:gd name="connsiteY6" fmla="*/ 3971 h 36632"/>
                <a:gd name="connsiteX7" fmla="*/ 3971 w 118031"/>
                <a:gd name="connsiteY7" fmla="*/ 8017 h 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31" h="36632">
                  <a:moveTo>
                    <a:pt x="3971" y="8029"/>
                  </a:moveTo>
                  <a:lnTo>
                    <a:pt x="4051" y="8029"/>
                  </a:lnTo>
                  <a:cubicBezTo>
                    <a:pt x="41827" y="8122"/>
                    <a:pt x="78965" y="17775"/>
                    <a:pt x="112006" y="36088"/>
                  </a:cubicBezTo>
                  <a:cubicBezTo>
                    <a:pt x="113919" y="37202"/>
                    <a:pt x="116374" y="36553"/>
                    <a:pt x="117487" y="34639"/>
                  </a:cubicBezTo>
                  <a:cubicBezTo>
                    <a:pt x="118601" y="32725"/>
                    <a:pt x="117952" y="30271"/>
                    <a:pt x="116038" y="29157"/>
                  </a:cubicBezTo>
                  <a:cubicBezTo>
                    <a:pt x="81766" y="10144"/>
                    <a:pt x="43239" y="113"/>
                    <a:pt x="4047" y="0"/>
                  </a:cubicBezTo>
                  <a:cubicBezTo>
                    <a:pt x="1833" y="-21"/>
                    <a:pt x="21" y="1757"/>
                    <a:pt x="0" y="3971"/>
                  </a:cubicBezTo>
                  <a:cubicBezTo>
                    <a:pt x="-21" y="6184"/>
                    <a:pt x="1757" y="7996"/>
                    <a:pt x="3971" y="8017"/>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7" name="Freeform: Shape 56">
              <a:extLst>
                <a:ext uri="{FF2B5EF4-FFF2-40B4-BE49-F238E27FC236}">
                  <a16:creationId xmlns:a16="http://schemas.microsoft.com/office/drawing/2014/main" id="{A2917C13-C128-47B5-B132-AD4E3169C5C4}"/>
                </a:ext>
              </a:extLst>
            </p:cNvPr>
            <p:cNvSpPr/>
            <p:nvPr/>
          </p:nvSpPr>
          <p:spPr>
            <a:xfrm>
              <a:off x="4697351" y="3940937"/>
              <a:ext cx="78571" cy="19611"/>
            </a:xfrm>
            <a:custGeom>
              <a:avLst/>
              <a:gdLst>
                <a:gd name="connsiteX0" fmla="*/ 4298 w 78571"/>
                <a:gd name="connsiteY0" fmla="*/ 8238 h 19611"/>
                <a:gd name="connsiteX1" fmla="*/ 73019 w 78571"/>
                <a:gd name="connsiteY1" fmla="*/ 19301 h 19611"/>
                <a:gd name="connsiteX2" fmla="*/ 78261 w 78571"/>
                <a:gd name="connsiteY2" fmla="*/ 17146 h 19611"/>
                <a:gd name="connsiteX3" fmla="*/ 76106 w 78571"/>
                <a:gd name="connsiteY3" fmla="*/ 11903 h 19611"/>
                <a:gd name="connsiteX4" fmla="*/ 75824 w 78571"/>
                <a:gd name="connsiteY4" fmla="*/ 11798 h 19611"/>
                <a:gd name="connsiteX5" fmla="*/ 3749 w 78571"/>
                <a:gd name="connsiteY5" fmla="*/ 237 h 19611"/>
                <a:gd name="connsiteX6" fmla="*/ 9 w 78571"/>
                <a:gd name="connsiteY6" fmla="*/ 4514 h 19611"/>
                <a:gd name="connsiteX7" fmla="*/ 4286 w 78571"/>
                <a:gd name="connsiteY7" fmla="*/ 8254 h 19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71" h="19611">
                  <a:moveTo>
                    <a:pt x="4298" y="8238"/>
                  </a:moveTo>
                  <a:cubicBezTo>
                    <a:pt x="27262" y="6699"/>
                    <a:pt x="58308" y="13782"/>
                    <a:pt x="73019" y="19301"/>
                  </a:cubicBezTo>
                  <a:cubicBezTo>
                    <a:pt x="75062" y="20154"/>
                    <a:pt x="77409" y="19189"/>
                    <a:pt x="78261" y="17146"/>
                  </a:cubicBezTo>
                  <a:cubicBezTo>
                    <a:pt x="79114" y="15103"/>
                    <a:pt x="78149" y="12755"/>
                    <a:pt x="76106" y="11903"/>
                  </a:cubicBezTo>
                  <a:cubicBezTo>
                    <a:pt x="76013" y="11864"/>
                    <a:pt x="75919" y="11829"/>
                    <a:pt x="75824" y="11798"/>
                  </a:cubicBezTo>
                  <a:cubicBezTo>
                    <a:pt x="61498" y="6418"/>
                    <a:pt x="29263" y="-1470"/>
                    <a:pt x="3749" y="237"/>
                  </a:cubicBezTo>
                  <a:cubicBezTo>
                    <a:pt x="1535" y="386"/>
                    <a:pt x="-139" y="2300"/>
                    <a:pt x="9" y="4514"/>
                  </a:cubicBezTo>
                  <a:cubicBezTo>
                    <a:pt x="157" y="6728"/>
                    <a:pt x="2072" y="8402"/>
                    <a:pt x="4286" y="8254"/>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8" name="Freeform: Shape 57">
              <a:extLst>
                <a:ext uri="{FF2B5EF4-FFF2-40B4-BE49-F238E27FC236}">
                  <a16:creationId xmlns:a16="http://schemas.microsoft.com/office/drawing/2014/main" id="{1ABB5287-26EF-4207-B3B5-4FC8D65FB7D9}"/>
                </a:ext>
              </a:extLst>
            </p:cNvPr>
            <p:cNvSpPr/>
            <p:nvPr/>
          </p:nvSpPr>
          <p:spPr>
            <a:xfrm>
              <a:off x="4735269" y="4044647"/>
              <a:ext cx="75142" cy="31382"/>
            </a:xfrm>
            <a:custGeom>
              <a:avLst/>
              <a:gdLst>
                <a:gd name="connsiteX0" fmla="*/ 69092 w 75142"/>
                <a:gd name="connsiteY0" fmla="*/ 30826 h 31382"/>
                <a:gd name="connsiteX1" fmla="*/ 74586 w 75142"/>
                <a:gd name="connsiteY1" fmla="*/ 29409 h 31382"/>
                <a:gd name="connsiteX2" fmla="*/ 73169 w 75142"/>
                <a:gd name="connsiteY2" fmla="*/ 23915 h 31382"/>
                <a:gd name="connsiteX3" fmla="*/ 4917 w 75142"/>
                <a:gd name="connsiteY3" fmla="*/ 105 h 31382"/>
                <a:gd name="connsiteX4" fmla="*/ 105 w 75142"/>
                <a:gd name="connsiteY4" fmla="*/ 3101 h 31382"/>
                <a:gd name="connsiteX5" fmla="*/ 3101 w 75142"/>
                <a:gd name="connsiteY5" fmla="*/ 7914 h 31382"/>
                <a:gd name="connsiteX6" fmla="*/ 3390 w 75142"/>
                <a:gd name="connsiteY6" fmla="*/ 7970 h 31382"/>
                <a:gd name="connsiteX7" fmla="*/ 69092 w 75142"/>
                <a:gd name="connsiteY7" fmla="*/ 30826 h 31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142" h="31382">
                  <a:moveTo>
                    <a:pt x="69092" y="30826"/>
                  </a:moveTo>
                  <a:cubicBezTo>
                    <a:pt x="71001" y="31951"/>
                    <a:pt x="73460" y="31317"/>
                    <a:pt x="74586" y="29409"/>
                  </a:cubicBezTo>
                  <a:cubicBezTo>
                    <a:pt x="75712" y="27500"/>
                    <a:pt x="75077" y="25041"/>
                    <a:pt x="73169" y="23915"/>
                  </a:cubicBezTo>
                  <a:cubicBezTo>
                    <a:pt x="51816" y="12430"/>
                    <a:pt x="28781" y="4395"/>
                    <a:pt x="4917" y="105"/>
                  </a:cubicBezTo>
                  <a:cubicBezTo>
                    <a:pt x="2761" y="-396"/>
                    <a:pt x="607" y="945"/>
                    <a:pt x="105" y="3101"/>
                  </a:cubicBezTo>
                  <a:cubicBezTo>
                    <a:pt x="-396" y="5257"/>
                    <a:pt x="945" y="7412"/>
                    <a:pt x="3101" y="7914"/>
                  </a:cubicBezTo>
                  <a:cubicBezTo>
                    <a:pt x="3197" y="7936"/>
                    <a:pt x="3293" y="7954"/>
                    <a:pt x="3390" y="7970"/>
                  </a:cubicBezTo>
                  <a:cubicBezTo>
                    <a:pt x="26342" y="12140"/>
                    <a:pt x="48507" y="19850"/>
                    <a:pt x="69092" y="30826"/>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9" name="Freeform: Shape 58">
              <a:extLst>
                <a:ext uri="{FF2B5EF4-FFF2-40B4-BE49-F238E27FC236}">
                  <a16:creationId xmlns:a16="http://schemas.microsoft.com/office/drawing/2014/main" id="{974B18B7-EBB0-435E-8948-3788BAC85530}"/>
                </a:ext>
              </a:extLst>
            </p:cNvPr>
            <p:cNvSpPr/>
            <p:nvPr/>
          </p:nvSpPr>
          <p:spPr>
            <a:xfrm>
              <a:off x="4735416" y="4080290"/>
              <a:ext cx="76548" cy="31650"/>
            </a:xfrm>
            <a:custGeom>
              <a:avLst/>
              <a:gdLst>
                <a:gd name="connsiteX0" fmla="*/ 74565 w 76548"/>
                <a:gd name="connsiteY0" fmla="*/ 24183 h 31650"/>
                <a:gd name="connsiteX1" fmla="*/ 4747 w 76548"/>
                <a:gd name="connsiteY1" fmla="*/ 69 h 31650"/>
                <a:gd name="connsiteX2" fmla="*/ 69 w 76548"/>
                <a:gd name="connsiteY2" fmla="*/ 3275 h 31650"/>
                <a:gd name="connsiteX3" fmla="*/ 3275 w 76548"/>
                <a:gd name="connsiteY3" fmla="*/ 7953 h 31650"/>
                <a:gd name="connsiteX4" fmla="*/ 70509 w 76548"/>
                <a:gd name="connsiteY4" fmla="*/ 31098 h 31650"/>
                <a:gd name="connsiteX5" fmla="*/ 75996 w 76548"/>
                <a:gd name="connsiteY5" fmla="*/ 29671 h 31650"/>
                <a:gd name="connsiteX6" fmla="*/ 74569 w 76548"/>
                <a:gd name="connsiteY6" fmla="*/ 24183 h 3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548" h="31650">
                  <a:moveTo>
                    <a:pt x="74565" y="24183"/>
                  </a:moveTo>
                  <a:cubicBezTo>
                    <a:pt x="54215" y="12234"/>
                    <a:pt x="25153" y="3889"/>
                    <a:pt x="4747" y="69"/>
                  </a:cubicBezTo>
                  <a:cubicBezTo>
                    <a:pt x="2569" y="-337"/>
                    <a:pt x="475" y="1098"/>
                    <a:pt x="69" y="3275"/>
                  </a:cubicBezTo>
                  <a:cubicBezTo>
                    <a:pt x="-337" y="5453"/>
                    <a:pt x="1098" y="7547"/>
                    <a:pt x="3275" y="7953"/>
                  </a:cubicBezTo>
                  <a:cubicBezTo>
                    <a:pt x="23017" y="11649"/>
                    <a:pt x="51048" y="19670"/>
                    <a:pt x="70509" y="31098"/>
                  </a:cubicBezTo>
                  <a:cubicBezTo>
                    <a:pt x="72418" y="32219"/>
                    <a:pt x="74875" y="31580"/>
                    <a:pt x="75996" y="29671"/>
                  </a:cubicBezTo>
                  <a:cubicBezTo>
                    <a:pt x="77118" y="27761"/>
                    <a:pt x="76479" y="25305"/>
                    <a:pt x="74569" y="24183"/>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0" name="Freeform: Shape 59">
              <a:extLst>
                <a:ext uri="{FF2B5EF4-FFF2-40B4-BE49-F238E27FC236}">
                  <a16:creationId xmlns:a16="http://schemas.microsoft.com/office/drawing/2014/main" id="{CE318C8D-CD2B-4EF4-88D7-97BC69A3F302}"/>
                </a:ext>
              </a:extLst>
            </p:cNvPr>
            <p:cNvSpPr/>
            <p:nvPr/>
          </p:nvSpPr>
          <p:spPr>
            <a:xfrm>
              <a:off x="4695197" y="4031794"/>
              <a:ext cx="37006" cy="56979"/>
            </a:xfrm>
            <a:custGeom>
              <a:avLst/>
              <a:gdLst>
                <a:gd name="connsiteX0" fmla="*/ 8305 w 37006"/>
                <a:gd name="connsiteY0" fmla="*/ 54538 h 56979"/>
                <a:gd name="connsiteX1" fmla="*/ 26130 w 37006"/>
                <a:gd name="connsiteY1" fmla="*/ 56943 h 56979"/>
                <a:gd name="connsiteX2" fmla="*/ 26130 w 37006"/>
                <a:gd name="connsiteY2" fmla="*/ 56943 h 56979"/>
                <a:gd name="connsiteX3" fmla="*/ 27012 w 37006"/>
                <a:gd name="connsiteY3" fmla="*/ 56979 h 56979"/>
                <a:gd name="connsiteX4" fmla="*/ 33542 w 37006"/>
                <a:gd name="connsiteY4" fmla="*/ 54630 h 56979"/>
                <a:gd name="connsiteX5" fmla="*/ 36624 w 37006"/>
                <a:gd name="connsiteY5" fmla="*/ 48148 h 56979"/>
                <a:gd name="connsiteX6" fmla="*/ 36985 w 37006"/>
                <a:gd name="connsiteY6" fmla="*/ 22290 h 56979"/>
                <a:gd name="connsiteX7" fmla="*/ 37005 w 37006"/>
                <a:gd name="connsiteY7" fmla="*/ 12225 h 56979"/>
                <a:gd name="connsiteX8" fmla="*/ 30303 w 37006"/>
                <a:gd name="connsiteY8" fmla="*/ 3098 h 56979"/>
                <a:gd name="connsiteX9" fmla="*/ 10180 w 37006"/>
                <a:gd name="connsiteY9" fmla="*/ 19 h 56979"/>
                <a:gd name="connsiteX10" fmla="*/ 3863 w 37006"/>
                <a:gd name="connsiteY10" fmla="*/ 2200 h 56979"/>
                <a:gd name="connsiteX11" fmla="*/ 624 w 37006"/>
                <a:gd name="connsiteY11" fmla="*/ 9014 h 56979"/>
                <a:gd name="connsiteX12" fmla="*/ 252 w 37006"/>
                <a:gd name="connsiteY12" fmla="*/ 45491 h 56979"/>
                <a:gd name="connsiteX13" fmla="*/ 8305 w 37006"/>
                <a:gd name="connsiteY13" fmla="*/ 54538 h 5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006" h="56979">
                  <a:moveTo>
                    <a:pt x="8305" y="54538"/>
                  </a:moveTo>
                  <a:cubicBezTo>
                    <a:pt x="14194" y="55688"/>
                    <a:pt x="20146" y="56491"/>
                    <a:pt x="26130" y="56943"/>
                  </a:cubicBezTo>
                  <a:lnTo>
                    <a:pt x="26130" y="56943"/>
                  </a:lnTo>
                  <a:cubicBezTo>
                    <a:pt x="26423" y="56967"/>
                    <a:pt x="26719" y="56979"/>
                    <a:pt x="27012" y="56979"/>
                  </a:cubicBezTo>
                  <a:cubicBezTo>
                    <a:pt x="29402" y="57017"/>
                    <a:pt x="31724" y="56182"/>
                    <a:pt x="33542" y="54630"/>
                  </a:cubicBezTo>
                  <a:cubicBezTo>
                    <a:pt x="35402" y="52974"/>
                    <a:pt x="36514" y="50636"/>
                    <a:pt x="36624" y="48148"/>
                  </a:cubicBezTo>
                  <a:cubicBezTo>
                    <a:pt x="37001" y="41803"/>
                    <a:pt x="36989" y="31433"/>
                    <a:pt x="36985" y="22290"/>
                  </a:cubicBezTo>
                  <a:cubicBezTo>
                    <a:pt x="36985" y="18446"/>
                    <a:pt x="36985" y="14926"/>
                    <a:pt x="37005" y="12225"/>
                  </a:cubicBezTo>
                  <a:cubicBezTo>
                    <a:pt x="37079" y="8021"/>
                    <a:pt x="34336" y="4286"/>
                    <a:pt x="30303" y="3098"/>
                  </a:cubicBezTo>
                  <a:cubicBezTo>
                    <a:pt x="23722" y="1368"/>
                    <a:pt x="16977" y="336"/>
                    <a:pt x="10180" y="19"/>
                  </a:cubicBezTo>
                  <a:cubicBezTo>
                    <a:pt x="7867" y="-135"/>
                    <a:pt x="5589" y="651"/>
                    <a:pt x="3863" y="2200"/>
                  </a:cubicBezTo>
                  <a:cubicBezTo>
                    <a:pt x="1927" y="3955"/>
                    <a:pt x="763" y="6404"/>
                    <a:pt x="624" y="9014"/>
                  </a:cubicBezTo>
                  <a:cubicBezTo>
                    <a:pt x="47" y="18634"/>
                    <a:pt x="-241" y="36652"/>
                    <a:pt x="252" y="45491"/>
                  </a:cubicBezTo>
                  <a:cubicBezTo>
                    <a:pt x="462" y="50030"/>
                    <a:pt x="3820" y="53802"/>
                    <a:pt x="8305" y="54538"/>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1" name="Freeform: Shape 60">
              <a:extLst>
                <a:ext uri="{FF2B5EF4-FFF2-40B4-BE49-F238E27FC236}">
                  <a16:creationId xmlns:a16="http://schemas.microsoft.com/office/drawing/2014/main" id="{3590A20B-6260-4588-B985-F9283898EE9F}"/>
                </a:ext>
              </a:extLst>
            </p:cNvPr>
            <p:cNvSpPr/>
            <p:nvPr/>
          </p:nvSpPr>
          <p:spPr>
            <a:xfrm>
              <a:off x="4835378" y="3888159"/>
              <a:ext cx="8537" cy="8537"/>
            </a:xfrm>
            <a:custGeom>
              <a:avLst/>
              <a:gdLst>
                <a:gd name="connsiteX0" fmla="*/ 4273 w 8537"/>
                <a:gd name="connsiteY0" fmla="*/ 0 h 8537"/>
                <a:gd name="connsiteX1" fmla="*/ 0 w 8537"/>
                <a:gd name="connsiteY1" fmla="*/ 4265 h 8537"/>
                <a:gd name="connsiteX2" fmla="*/ 4265 w 8537"/>
                <a:gd name="connsiteY2" fmla="*/ 8538 h 8537"/>
                <a:gd name="connsiteX3" fmla="*/ 8538 w 8537"/>
                <a:gd name="connsiteY3" fmla="*/ 4273 h 8537"/>
                <a:gd name="connsiteX4" fmla="*/ 8538 w 8537"/>
                <a:gd name="connsiteY4" fmla="*/ 4265 h 8537"/>
                <a:gd name="connsiteX5" fmla="*/ 4273 w 8537"/>
                <a:gd name="connsiteY5" fmla="*/ 0 h 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7" h="8537">
                  <a:moveTo>
                    <a:pt x="4273" y="0"/>
                  </a:moveTo>
                  <a:cubicBezTo>
                    <a:pt x="1915" y="-2"/>
                    <a:pt x="2" y="1907"/>
                    <a:pt x="0" y="4265"/>
                  </a:cubicBezTo>
                  <a:cubicBezTo>
                    <a:pt x="-2" y="6623"/>
                    <a:pt x="1907" y="8536"/>
                    <a:pt x="4265" y="8538"/>
                  </a:cubicBezTo>
                  <a:cubicBezTo>
                    <a:pt x="6623" y="8540"/>
                    <a:pt x="8536" y="6631"/>
                    <a:pt x="8538" y="4273"/>
                  </a:cubicBezTo>
                  <a:cubicBezTo>
                    <a:pt x="8538" y="4270"/>
                    <a:pt x="8538" y="4268"/>
                    <a:pt x="8538" y="4265"/>
                  </a:cubicBezTo>
                  <a:cubicBezTo>
                    <a:pt x="8538" y="1909"/>
                    <a:pt x="6628" y="0"/>
                    <a:pt x="4273" y="0"/>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2" name="Freeform: Shape 61">
              <a:extLst>
                <a:ext uri="{FF2B5EF4-FFF2-40B4-BE49-F238E27FC236}">
                  <a16:creationId xmlns:a16="http://schemas.microsoft.com/office/drawing/2014/main" id="{5140B266-13E4-422B-BB89-87534ED846CC}"/>
                </a:ext>
              </a:extLst>
            </p:cNvPr>
            <p:cNvSpPr/>
            <p:nvPr/>
          </p:nvSpPr>
          <p:spPr>
            <a:xfrm>
              <a:off x="4793080" y="3833115"/>
              <a:ext cx="93159" cy="46973"/>
            </a:xfrm>
            <a:custGeom>
              <a:avLst/>
              <a:gdLst>
                <a:gd name="connsiteX0" fmla="*/ 23936 w 93159"/>
                <a:gd name="connsiteY0" fmla="*/ 46967 h 46973"/>
                <a:gd name="connsiteX1" fmla="*/ 46752 w 93159"/>
                <a:gd name="connsiteY1" fmla="*/ 32292 h 46973"/>
                <a:gd name="connsiteX2" fmla="*/ 69199 w 93159"/>
                <a:gd name="connsiteY2" fmla="*/ 46971 h 46973"/>
                <a:gd name="connsiteX3" fmla="*/ 69227 w 93159"/>
                <a:gd name="connsiteY3" fmla="*/ 46971 h 46973"/>
                <a:gd name="connsiteX4" fmla="*/ 86431 w 93159"/>
                <a:gd name="connsiteY4" fmla="*/ 39916 h 46973"/>
                <a:gd name="connsiteX5" fmla="*/ 93121 w 93159"/>
                <a:gd name="connsiteY5" fmla="*/ 22881 h 46973"/>
                <a:gd name="connsiteX6" fmla="*/ 72836 w 93159"/>
                <a:gd name="connsiteY6" fmla="*/ 38 h 46973"/>
                <a:gd name="connsiteX7" fmla="*/ 70381 w 93159"/>
                <a:gd name="connsiteY7" fmla="*/ 33 h 46973"/>
                <a:gd name="connsiteX8" fmla="*/ 70353 w 93159"/>
                <a:gd name="connsiteY8" fmla="*/ 33 h 46973"/>
                <a:gd name="connsiteX9" fmla="*/ 46804 w 93159"/>
                <a:gd name="connsiteY9" fmla="*/ 13477 h 46973"/>
                <a:gd name="connsiteX10" fmla="*/ 22809 w 93159"/>
                <a:gd name="connsiteY10" fmla="*/ 33 h 46973"/>
                <a:gd name="connsiteX11" fmla="*/ 22781 w 93159"/>
                <a:gd name="connsiteY11" fmla="*/ 33 h 46973"/>
                <a:gd name="connsiteX12" fmla="*/ 32 w 93159"/>
                <a:gd name="connsiteY12" fmla="*/ 20430 h 46973"/>
                <a:gd name="connsiteX13" fmla="*/ 38 w 93159"/>
                <a:gd name="connsiteY13" fmla="*/ 22881 h 46973"/>
                <a:gd name="connsiteX14" fmla="*/ 38 w 93159"/>
                <a:gd name="connsiteY14" fmla="*/ 22965 h 46973"/>
                <a:gd name="connsiteX15" fmla="*/ 38 w 93159"/>
                <a:gd name="connsiteY15" fmla="*/ 22965 h 46973"/>
                <a:gd name="connsiteX16" fmla="*/ 6720 w 93159"/>
                <a:gd name="connsiteY16" fmla="*/ 39908 h 46973"/>
                <a:gd name="connsiteX17" fmla="*/ 23920 w 93159"/>
                <a:gd name="connsiteY17" fmla="*/ 46959 h 46973"/>
                <a:gd name="connsiteX18" fmla="*/ 51810 w 93159"/>
                <a:gd name="connsiteY18" fmla="*/ 20912 h 46973"/>
                <a:gd name="connsiteX19" fmla="*/ 70345 w 93159"/>
                <a:gd name="connsiteY19" fmla="*/ 8045 h 46973"/>
                <a:gd name="connsiteX20" fmla="*/ 70369 w 93159"/>
                <a:gd name="connsiteY20" fmla="*/ 8045 h 46973"/>
                <a:gd name="connsiteX21" fmla="*/ 85120 w 93159"/>
                <a:gd name="connsiteY21" fmla="*/ 20451 h 46973"/>
                <a:gd name="connsiteX22" fmla="*/ 85104 w 93159"/>
                <a:gd name="connsiteY22" fmla="*/ 22969 h 46973"/>
                <a:gd name="connsiteX23" fmla="*/ 80695 w 93159"/>
                <a:gd name="connsiteY23" fmla="*/ 34337 h 46973"/>
                <a:gd name="connsiteX24" fmla="*/ 69247 w 93159"/>
                <a:gd name="connsiteY24" fmla="*/ 38954 h 46973"/>
                <a:gd name="connsiteX25" fmla="*/ 69247 w 93159"/>
                <a:gd name="connsiteY25" fmla="*/ 38954 h 46973"/>
                <a:gd name="connsiteX26" fmla="*/ 51802 w 93159"/>
                <a:gd name="connsiteY26" fmla="*/ 24243 h 46973"/>
                <a:gd name="connsiteX27" fmla="*/ 51810 w 93159"/>
                <a:gd name="connsiteY27" fmla="*/ 20900 h 46973"/>
                <a:gd name="connsiteX28" fmla="*/ 8042 w 93159"/>
                <a:gd name="connsiteY28" fmla="*/ 22977 h 46973"/>
                <a:gd name="connsiteX29" fmla="*/ 8042 w 93159"/>
                <a:gd name="connsiteY29" fmla="*/ 22901 h 46973"/>
                <a:gd name="connsiteX30" fmla="*/ 20274 w 93159"/>
                <a:gd name="connsiteY30" fmla="*/ 8057 h 46973"/>
                <a:gd name="connsiteX31" fmla="*/ 22765 w 93159"/>
                <a:gd name="connsiteY31" fmla="*/ 8045 h 46973"/>
                <a:gd name="connsiteX32" fmla="*/ 22789 w 93159"/>
                <a:gd name="connsiteY32" fmla="*/ 8045 h 46973"/>
                <a:gd name="connsiteX33" fmla="*/ 41697 w 93159"/>
                <a:gd name="connsiteY33" fmla="*/ 20932 h 46973"/>
                <a:gd name="connsiteX34" fmla="*/ 41733 w 93159"/>
                <a:gd name="connsiteY34" fmla="*/ 24187 h 46973"/>
                <a:gd name="connsiteX35" fmla="*/ 23928 w 93159"/>
                <a:gd name="connsiteY35" fmla="*/ 38962 h 46973"/>
                <a:gd name="connsiteX36" fmla="*/ 23908 w 93159"/>
                <a:gd name="connsiteY36" fmla="*/ 38962 h 46973"/>
                <a:gd name="connsiteX37" fmla="*/ 12464 w 93159"/>
                <a:gd name="connsiteY37" fmla="*/ 34349 h 46973"/>
                <a:gd name="connsiteX38" fmla="*/ 8042 w 93159"/>
                <a:gd name="connsiteY38" fmla="*/ 22965 h 4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93159" h="46973">
                  <a:moveTo>
                    <a:pt x="23936" y="46967"/>
                  </a:moveTo>
                  <a:cubicBezTo>
                    <a:pt x="35476" y="46967"/>
                    <a:pt x="41950" y="41327"/>
                    <a:pt x="46752" y="32292"/>
                  </a:cubicBezTo>
                  <a:cubicBezTo>
                    <a:pt x="51626" y="41347"/>
                    <a:pt x="58072" y="46959"/>
                    <a:pt x="69199" y="46971"/>
                  </a:cubicBezTo>
                  <a:lnTo>
                    <a:pt x="69227" y="46971"/>
                  </a:lnTo>
                  <a:cubicBezTo>
                    <a:pt x="75684" y="47064"/>
                    <a:pt x="81898" y="44516"/>
                    <a:pt x="86431" y="39916"/>
                  </a:cubicBezTo>
                  <a:cubicBezTo>
                    <a:pt x="90801" y="35330"/>
                    <a:pt x="93203" y="29215"/>
                    <a:pt x="93121" y="22881"/>
                  </a:cubicBezTo>
                  <a:cubicBezTo>
                    <a:pt x="93827" y="10971"/>
                    <a:pt x="84746" y="745"/>
                    <a:pt x="72836" y="38"/>
                  </a:cubicBezTo>
                  <a:cubicBezTo>
                    <a:pt x="72019" y="-10"/>
                    <a:pt x="71199" y="-12"/>
                    <a:pt x="70381" y="33"/>
                  </a:cubicBezTo>
                  <a:lnTo>
                    <a:pt x="70353" y="33"/>
                  </a:lnTo>
                  <a:cubicBezTo>
                    <a:pt x="60631" y="-149"/>
                    <a:pt x="51591" y="5012"/>
                    <a:pt x="46804" y="13477"/>
                  </a:cubicBezTo>
                  <a:cubicBezTo>
                    <a:pt x="41973" y="4837"/>
                    <a:pt x="32700" y="-359"/>
                    <a:pt x="22809" y="33"/>
                  </a:cubicBezTo>
                  <a:lnTo>
                    <a:pt x="22781" y="33"/>
                  </a:lnTo>
                  <a:cubicBezTo>
                    <a:pt x="10867" y="-617"/>
                    <a:pt x="682" y="8515"/>
                    <a:pt x="32" y="20430"/>
                  </a:cubicBezTo>
                  <a:cubicBezTo>
                    <a:pt x="-12" y="21246"/>
                    <a:pt x="-11" y="22064"/>
                    <a:pt x="38" y="22881"/>
                  </a:cubicBezTo>
                  <a:lnTo>
                    <a:pt x="38" y="22965"/>
                  </a:lnTo>
                  <a:lnTo>
                    <a:pt x="38" y="22965"/>
                  </a:lnTo>
                  <a:cubicBezTo>
                    <a:pt x="-29" y="29268"/>
                    <a:pt x="2369" y="35348"/>
                    <a:pt x="6720" y="39908"/>
                  </a:cubicBezTo>
                  <a:cubicBezTo>
                    <a:pt x="11252" y="44505"/>
                    <a:pt x="17465" y="47052"/>
                    <a:pt x="23920" y="46959"/>
                  </a:cubicBezTo>
                  <a:close/>
                  <a:moveTo>
                    <a:pt x="51810" y="20912"/>
                  </a:moveTo>
                  <a:cubicBezTo>
                    <a:pt x="56071" y="12162"/>
                    <a:pt x="62032" y="8053"/>
                    <a:pt x="70345" y="8045"/>
                  </a:cubicBezTo>
                  <a:lnTo>
                    <a:pt x="70369" y="8045"/>
                  </a:lnTo>
                  <a:cubicBezTo>
                    <a:pt x="77868" y="7398"/>
                    <a:pt x="84473" y="12952"/>
                    <a:pt x="85120" y="20451"/>
                  </a:cubicBezTo>
                  <a:cubicBezTo>
                    <a:pt x="85193" y="21289"/>
                    <a:pt x="85187" y="22132"/>
                    <a:pt x="85104" y="22969"/>
                  </a:cubicBezTo>
                  <a:cubicBezTo>
                    <a:pt x="85173" y="27188"/>
                    <a:pt x="83590" y="31267"/>
                    <a:pt x="80695" y="34337"/>
                  </a:cubicBezTo>
                  <a:cubicBezTo>
                    <a:pt x="77682" y="37392"/>
                    <a:pt x="73537" y="39064"/>
                    <a:pt x="69247" y="38954"/>
                  </a:cubicBezTo>
                  <a:lnTo>
                    <a:pt x="69247" y="38954"/>
                  </a:lnTo>
                  <a:cubicBezTo>
                    <a:pt x="61230" y="38954"/>
                    <a:pt x="56556" y="35146"/>
                    <a:pt x="51802" y="24243"/>
                  </a:cubicBezTo>
                  <a:cubicBezTo>
                    <a:pt x="51326" y="23179"/>
                    <a:pt x="51329" y="21962"/>
                    <a:pt x="51810" y="20900"/>
                  </a:cubicBezTo>
                  <a:close/>
                  <a:moveTo>
                    <a:pt x="8042" y="22977"/>
                  </a:moveTo>
                  <a:lnTo>
                    <a:pt x="8042" y="22901"/>
                  </a:lnTo>
                  <a:cubicBezTo>
                    <a:pt x="7321" y="15424"/>
                    <a:pt x="12797" y="8778"/>
                    <a:pt x="20274" y="8057"/>
                  </a:cubicBezTo>
                  <a:cubicBezTo>
                    <a:pt x="21102" y="7977"/>
                    <a:pt x="21936" y="7973"/>
                    <a:pt x="22765" y="8045"/>
                  </a:cubicBezTo>
                  <a:lnTo>
                    <a:pt x="22789" y="8045"/>
                  </a:lnTo>
                  <a:cubicBezTo>
                    <a:pt x="31230" y="7750"/>
                    <a:pt x="38886" y="12968"/>
                    <a:pt x="41697" y="20932"/>
                  </a:cubicBezTo>
                  <a:cubicBezTo>
                    <a:pt x="42164" y="21965"/>
                    <a:pt x="42177" y="23145"/>
                    <a:pt x="41733" y="24187"/>
                  </a:cubicBezTo>
                  <a:cubicBezTo>
                    <a:pt x="37019" y="35291"/>
                    <a:pt x="32450" y="38954"/>
                    <a:pt x="23928" y="38962"/>
                  </a:cubicBezTo>
                  <a:lnTo>
                    <a:pt x="23908" y="38962"/>
                  </a:lnTo>
                  <a:cubicBezTo>
                    <a:pt x="19619" y="39073"/>
                    <a:pt x="15477" y="37402"/>
                    <a:pt x="12464" y="34349"/>
                  </a:cubicBezTo>
                  <a:cubicBezTo>
                    <a:pt x="9561" y="31276"/>
                    <a:pt x="7975" y="27191"/>
                    <a:pt x="8042" y="22965"/>
                  </a:cubicBezTo>
                  <a:close/>
                </a:path>
              </a:pathLst>
            </a:custGeom>
            <a:grpFill/>
            <a:ln w="394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grpSp>
        <p:nvGrpSpPr>
          <p:cNvPr id="63" name="Graphic 187">
            <a:extLst>
              <a:ext uri="{FF2B5EF4-FFF2-40B4-BE49-F238E27FC236}">
                <a16:creationId xmlns:a16="http://schemas.microsoft.com/office/drawing/2014/main" id="{D6D00628-69C8-4531-94AA-70E078824AF0}"/>
              </a:ext>
            </a:extLst>
          </p:cNvPr>
          <p:cNvGrpSpPr/>
          <p:nvPr/>
        </p:nvGrpSpPr>
        <p:grpSpPr>
          <a:xfrm>
            <a:off x="7708083" y="5949556"/>
            <a:ext cx="420109" cy="387432"/>
            <a:chOff x="5631001" y="4140861"/>
            <a:chExt cx="1178242" cy="1086593"/>
          </a:xfrm>
          <a:solidFill>
            <a:srgbClr val="FF6600"/>
          </a:solidFill>
        </p:grpSpPr>
        <p:sp>
          <p:nvSpPr>
            <p:cNvPr id="64" name="Freeform: Shape 63">
              <a:extLst>
                <a:ext uri="{FF2B5EF4-FFF2-40B4-BE49-F238E27FC236}">
                  <a16:creationId xmlns:a16="http://schemas.microsoft.com/office/drawing/2014/main" id="{2325FA70-DE7A-4E3D-BF5C-3AAF4933747C}"/>
                </a:ext>
              </a:extLst>
            </p:cNvPr>
            <p:cNvSpPr/>
            <p:nvPr/>
          </p:nvSpPr>
          <p:spPr>
            <a:xfrm>
              <a:off x="5786275" y="4667385"/>
              <a:ext cx="238106" cy="289559"/>
            </a:xfrm>
            <a:custGeom>
              <a:avLst/>
              <a:gdLst>
                <a:gd name="connsiteX0" fmla="*/ 17128 w 238106"/>
                <a:gd name="connsiteY0" fmla="*/ 205740 h 289559"/>
                <a:gd name="connsiteX1" fmla="*/ 119046 w 238106"/>
                <a:gd name="connsiteY1" fmla="*/ 289560 h 289559"/>
                <a:gd name="connsiteX2" fmla="*/ 220963 w 238106"/>
                <a:gd name="connsiteY2" fmla="*/ 205740 h 289559"/>
                <a:gd name="connsiteX3" fmla="*/ 237156 w 238106"/>
                <a:gd name="connsiteY3" fmla="*/ 123825 h 289559"/>
                <a:gd name="connsiteX4" fmla="*/ 128571 w 238106"/>
                <a:gd name="connsiteY4" fmla="*/ 0 h 289559"/>
                <a:gd name="connsiteX5" fmla="*/ 119046 w 238106"/>
                <a:gd name="connsiteY5" fmla="*/ 0 h 289559"/>
                <a:gd name="connsiteX6" fmla="*/ 109521 w 238106"/>
                <a:gd name="connsiteY6" fmla="*/ 0 h 289559"/>
                <a:gd name="connsiteX7" fmla="*/ 936 w 238106"/>
                <a:gd name="connsiteY7" fmla="*/ 123825 h 289559"/>
                <a:gd name="connsiteX8" fmla="*/ 17128 w 238106"/>
                <a:gd name="connsiteY8" fmla="*/ 205740 h 289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06" h="289559">
                  <a:moveTo>
                    <a:pt x="17128" y="205740"/>
                  </a:moveTo>
                  <a:cubicBezTo>
                    <a:pt x="26653" y="254318"/>
                    <a:pt x="69516" y="289560"/>
                    <a:pt x="119046" y="289560"/>
                  </a:cubicBezTo>
                  <a:cubicBezTo>
                    <a:pt x="168576" y="289560"/>
                    <a:pt x="211438" y="254318"/>
                    <a:pt x="220963" y="205740"/>
                  </a:cubicBezTo>
                  <a:lnTo>
                    <a:pt x="237156" y="123825"/>
                  </a:lnTo>
                  <a:cubicBezTo>
                    <a:pt x="245728" y="58103"/>
                    <a:pt x="195246" y="0"/>
                    <a:pt x="128571" y="0"/>
                  </a:cubicBezTo>
                  <a:lnTo>
                    <a:pt x="119046" y="0"/>
                  </a:lnTo>
                  <a:lnTo>
                    <a:pt x="109521" y="0"/>
                  </a:lnTo>
                  <a:cubicBezTo>
                    <a:pt x="43798" y="0"/>
                    <a:pt x="-7637" y="58103"/>
                    <a:pt x="936" y="123825"/>
                  </a:cubicBezTo>
                  <a:lnTo>
                    <a:pt x="17128" y="205740"/>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5" name="Freeform: Shape 64">
              <a:extLst>
                <a:ext uri="{FF2B5EF4-FFF2-40B4-BE49-F238E27FC236}">
                  <a16:creationId xmlns:a16="http://schemas.microsoft.com/office/drawing/2014/main" id="{7CDDE022-1203-41AE-909A-5C39E88B69F4}"/>
                </a:ext>
              </a:extLst>
            </p:cNvPr>
            <p:cNvSpPr/>
            <p:nvPr/>
          </p:nvSpPr>
          <p:spPr>
            <a:xfrm>
              <a:off x="5631001" y="4988377"/>
              <a:ext cx="547687" cy="239077"/>
            </a:xfrm>
            <a:custGeom>
              <a:avLst/>
              <a:gdLst>
                <a:gd name="connsiteX0" fmla="*/ 490538 w 547687"/>
                <a:gd name="connsiteY0" fmla="*/ 40005 h 239077"/>
                <a:gd name="connsiteX1" fmla="*/ 380048 w 547687"/>
                <a:gd name="connsiteY1" fmla="*/ 0 h 239077"/>
                <a:gd name="connsiteX2" fmla="*/ 274320 w 547687"/>
                <a:gd name="connsiteY2" fmla="*/ 105727 h 239077"/>
                <a:gd name="connsiteX3" fmla="*/ 168593 w 547687"/>
                <a:gd name="connsiteY3" fmla="*/ 0 h 239077"/>
                <a:gd name="connsiteX4" fmla="*/ 58103 w 547687"/>
                <a:gd name="connsiteY4" fmla="*/ 39052 h 239077"/>
                <a:gd name="connsiteX5" fmla="*/ 38100 w 547687"/>
                <a:gd name="connsiteY5" fmla="*/ 61913 h 239077"/>
                <a:gd name="connsiteX6" fmla="*/ 0 w 547687"/>
                <a:gd name="connsiteY6" fmla="*/ 239077 h 239077"/>
                <a:gd name="connsiteX7" fmla="*/ 547688 w 547687"/>
                <a:gd name="connsiteY7" fmla="*/ 239077 h 239077"/>
                <a:gd name="connsiteX8" fmla="*/ 509588 w 547687"/>
                <a:gd name="connsiteY8" fmla="*/ 61913 h 239077"/>
                <a:gd name="connsiteX9" fmla="*/ 490538 w 547687"/>
                <a:gd name="connsiteY9" fmla="*/ 40005 h 2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687" h="239077">
                  <a:moveTo>
                    <a:pt x="490538" y="40005"/>
                  </a:moveTo>
                  <a:lnTo>
                    <a:pt x="380048" y="0"/>
                  </a:lnTo>
                  <a:lnTo>
                    <a:pt x="274320" y="105727"/>
                  </a:lnTo>
                  <a:lnTo>
                    <a:pt x="168593" y="0"/>
                  </a:lnTo>
                  <a:lnTo>
                    <a:pt x="58103" y="39052"/>
                  </a:lnTo>
                  <a:cubicBezTo>
                    <a:pt x="47625" y="42863"/>
                    <a:pt x="40958" y="51435"/>
                    <a:pt x="38100" y="61913"/>
                  </a:cubicBezTo>
                  <a:lnTo>
                    <a:pt x="0" y="239077"/>
                  </a:lnTo>
                  <a:lnTo>
                    <a:pt x="547688" y="239077"/>
                  </a:lnTo>
                  <a:lnTo>
                    <a:pt x="509588" y="61913"/>
                  </a:lnTo>
                  <a:cubicBezTo>
                    <a:pt x="508635" y="51435"/>
                    <a:pt x="501015" y="42863"/>
                    <a:pt x="490538" y="4000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6" name="Freeform: Shape 65">
              <a:extLst>
                <a:ext uri="{FF2B5EF4-FFF2-40B4-BE49-F238E27FC236}">
                  <a16:creationId xmlns:a16="http://schemas.microsoft.com/office/drawing/2014/main" id="{6BF1ACCD-1FFB-4DE1-B857-05C5D05141D9}"/>
                </a:ext>
              </a:extLst>
            </p:cNvPr>
            <p:cNvSpPr/>
            <p:nvPr/>
          </p:nvSpPr>
          <p:spPr>
            <a:xfrm>
              <a:off x="6416830" y="4667385"/>
              <a:ext cx="238106" cy="289559"/>
            </a:xfrm>
            <a:custGeom>
              <a:avLst/>
              <a:gdLst>
                <a:gd name="connsiteX0" fmla="*/ 119046 w 238106"/>
                <a:gd name="connsiteY0" fmla="*/ 0 h 289559"/>
                <a:gd name="connsiteX1" fmla="*/ 109521 w 238106"/>
                <a:gd name="connsiteY1" fmla="*/ 0 h 289559"/>
                <a:gd name="connsiteX2" fmla="*/ 936 w 238106"/>
                <a:gd name="connsiteY2" fmla="*/ 123825 h 289559"/>
                <a:gd name="connsiteX3" fmla="*/ 17128 w 238106"/>
                <a:gd name="connsiteY3" fmla="*/ 205740 h 289559"/>
                <a:gd name="connsiteX4" fmla="*/ 119046 w 238106"/>
                <a:gd name="connsiteY4" fmla="*/ 289560 h 289559"/>
                <a:gd name="connsiteX5" fmla="*/ 220963 w 238106"/>
                <a:gd name="connsiteY5" fmla="*/ 205740 h 289559"/>
                <a:gd name="connsiteX6" fmla="*/ 237156 w 238106"/>
                <a:gd name="connsiteY6" fmla="*/ 123825 h 289559"/>
                <a:gd name="connsiteX7" fmla="*/ 128571 w 238106"/>
                <a:gd name="connsiteY7" fmla="*/ 0 h 289559"/>
                <a:gd name="connsiteX8" fmla="*/ 119046 w 238106"/>
                <a:gd name="connsiteY8" fmla="*/ 0 h 289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06" h="289559">
                  <a:moveTo>
                    <a:pt x="119046" y="0"/>
                  </a:moveTo>
                  <a:lnTo>
                    <a:pt x="109521" y="0"/>
                  </a:lnTo>
                  <a:cubicBezTo>
                    <a:pt x="43798" y="0"/>
                    <a:pt x="-7637" y="58103"/>
                    <a:pt x="936" y="123825"/>
                  </a:cubicBezTo>
                  <a:lnTo>
                    <a:pt x="17128" y="205740"/>
                  </a:lnTo>
                  <a:cubicBezTo>
                    <a:pt x="26653" y="254318"/>
                    <a:pt x="69516" y="289560"/>
                    <a:pt x="119046" y="289560"/>
                  </a:cubicBezTo>
                  <a:cubicBezTo>
                    <a:pt x="168576" y="289560"/>
                    <a:pt x="211438" y="254318"/>
                    <a:pt x="220963" y="205740"/>
                  </a:cubicBezTo>
                  <a:lnTo>
                    <a:pt x="237156" y="123825"/>
                  </a:lnTo>
                  <a:cubicBezTo>
                    <a:pt x="245728" y="58103"/>
                    <a:pt x="195246" y="0"/>
                    <a:pt x="128571" y="0"/>
                  </a:cubicBezTo>
                  <a:lnTo>
                    <a:pt x="119046" y="0"/>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7" name="Freeform: Shape 66">
              <a:extLst>
                <a:ext uri="{FF2B5EF4-FFF2-40B4-BE49-F238E27FC236}">
                  <a16:creationId xmlns:a16="http://schemas.microsoft.com/office/drawing/2014/main" id="{1B81E8A6-7DA3-4A9B-9FE1-5D34C1FC43B6}"/>
                </a:ext>
              </a:extLst>
            </p:cNvPr>
            <p:cNvSpPr/>
            <p:nvPr/>
          </p:nvSpPr>
          <p:spPr>
            <a:xfrm>
              <a:off x="6261556" y="4988377"/>
              <a:ext cx="547687" cy="239077"/>
            </a:xfrm>
            <a:custGeom>
              <a:avLst/>
              <a:gdLst>
                <a:gd name="connsiteX0" fmla="*/ 510540 w 547687"/>
                <a:gd name="connsiteY0" fmla="*/ 61913 h 239077"/>
                <a:gd name="connsiteX1" fmla="*/ 490538 w 547687"/>
                <a:gd name="connsiteY1" fmla="*/ 39052 h 239077"/>
                <a:gd name="connsiteX2" fmla="*/ 380047 w 547687"/>
                <a:gd name="connsiteY2" fmla="*/ 0 h 239077"/>
                <a:gd name="connsiteX3" fmla="*/ 168592 w 547687"/>
                <a:gd name="connsiteY3" fmla="*/ 0 h 239077"/>
                <a:gd name="connsiteX4" fmla="*/ 58102 w 547687"/>
                <a:gd name="connsiteY4" fmla="*/ 39052 h 239077"/>
                <a:gd name="connsiteX5" fmla="*/ 38100 w 547687"/>
                <a:gd name="connsiteY5" fmla="*/ 61913 h 239077"/>
                <a:gd name="connsiteX6" fmla="*/ 0 w 547687"/>
                <a:gd name="connsiteY6" fmla="*/ 239077 h 239077"/>
                <a:gd name="connsiteX7" fmla="*/ 547688 w 547687"/>
                <a:gd name="connsiteY7" fmla="*/ 239077 h 239077"/>
                <a:gd name="connsiteX8" fmla="*/ 510540 w 547687"/>
                <a:gd name="connsiteY8" fmla="*/ 61913 h 2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687" h="239077">
                  <a:moveTo>
                    <a:pt x="510540" y="61913"/>
                  </a:moveTo>
                  <a:cubicBezTo>
                    <a:pt x="508635" y="51435"/>
                    <a:pt x="501015" y="42863"/>
                    <a:pt x="490538" y="39052"/>
                  </a:cubicBezTo>
                  <a:lnTo>
                    <a:pt x="380047" y="0"/>
                  </a:lnTo>
                  <a:lnTo>
                    <a:pt x="168592" y="0"/>
                  </a:lnTo>
                  <a:lnTo>
                    <a:pt x="58102" y="39052"/>
                  </a:lnTo>
                  <a:cubicBezTo>
                    <a:pt x="47625" y="42863"/>
                    <a:pt x="40957" y="51435"/>
                    <a:pt x="38100" y="61913"/>
                  </a:cubicBezTo>
                  <a:lnTo>
                    <a:pt x="0" y="239077"/>
                  </a:lnTo>
                  <a:lnTo>
                    <a:pt x="547688" y="239077"/>
                  </a:lnTo>
                  <a:lnTo>
                    <a:pt x="510540" y="61913"/>
                  </a:ln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8" name="Freeform: Shape 67">
              <a:extLst>
                <a:ext uri="{FF2B5EF4-FFF2-40B4-BE49-F238E27FC236}">
                  <a16:creationId xmlns:a16="http://schemas.microsoft.com/office/drawing/2014/main" id="{CAB3206E-61B6-40D8-8420-A08036D04D71}"/>
                </a:ext>
              </a:extLst>
            </p:cNvPr>
            <p:cNvSpPr/>
            <p:nvPr/>
          </p:nvSpPr>
          <p:spPr>
            <a:xfrm>
              <a:off x="6291083" y="4274954"/>
              <a:ext cx="160972" cy="120014"/>
            </a:xfrm>
            <a:custGeom>
              <a:avLst/>
              <a:gdLst>
                <a:gd name="connsiteX0" fmla="*/ 60960 w 160972"/>
                <a:gd name="connsiteY0" fmla="*/ 120015 h 120014"/>
                <a:gd name="connsiteX1" fmla="*/ 75248 w 160972"/>
                <a:gd name="connsiteY1" fmla="*/ 114300 h 120014"/>
                <a:gd name="connsiteX2" fmla="*/ 155258 w 160972"/>
                <a:gd name="connsiteY2" fmla="*/ 34290 h 120014"/>
                <a:gd name="connsiteX3" fmla="*/ 155258 w 160972"/>
                <a:gd name="connsiteY3" fmla="*/ 5715 h 120014"/>
                <a:gd name="connsiteX4" fmla="*/ 126682 w 160972"/>
                <a:gd name="connsiteY4" fmla="*/ 5715 h 120014"/>
                <a:gd name="connsiteX5" fmla="*/ 60960 w 160972"/>
                <a:gd name="connsiteY5" fmla="*/ 71438 h 120014"/>
                <a:gd name="connsiteX6" fmla="*/ 34290 w 160972"/>
                <a:gd name="connsiteY6" fmla="*/ 44768 h 120014"/>
                <a:gd name="connsiteX7" fmla="*/ 5715 w 160972"/>
                <a:gd name="connsiteY7" fmla="*/ 44768 h 120014"/>
                <a:gd name="connsiteX8" fmla="*/ 5715 w 160972"/>
                <a:gd name="connsiteY8" fmla="*/ 73343 h 120014"/>
                <a:gd name="connsiteX9" fmla="*/ 45720 w 160972"/>
                <a:gd name="connsiteY9" fmla="*/ 113348 h 120014"/>
                <a:gd name="connsiteX10" fmla="*/ 60960 w 160972"/>
                <a:gd name="connsiteY10" fmla="*/ 120015 h 12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972" h="120014">
                  <a:moveTo>
                    <a:pt x="60960" y="120015"/>
                  </a:moveTo>
                  <a:cubicBezTo>
                    <a:pt x="65723" y="120015"/>
                    <a:pt x="71438" y="118110"/>
                    <a:pt x="75248" y="114300"/>
                  </a:cubicBezTo>
                  <a:lnTo>
                    <a:pt x="155258" y="34290"/>
                  </a:lnTo>
                  <a:cubicBezTo>
                    <a:pt x="162878" y="26670"/>
                    <a:pt x="162878" y="14288"/>
                    <a:pt x="155258" y="5715"/>
                  </a:cubicBezTo>
                  <a:cubicBezTo>
                    <a:pt x="147638" y="-1905"/>
                    <a:pt x="135255" y="-1905"/>
                    <a:pt x="126682" y="5715"/>
                  </a:cubicBezTo>
                  <a:lnTo>
                    <a:pt x="60960" y="71438"/>
                  </a:lnTo>
                  <a:lnTo>
                    <a:pt x="34290" y="44768"/>
                  </a:lnTo>
                  <a:cubicBezTo>
                    <a:pt x="26670" y="37148"/>
                    <a:pt x="14288" y="37148"/>
                    <a:pt x="5715" y="44768"/>
                  </a:cubicBezTo>
                  <a:cubicBezTo>
                    <a:pt x="-1905" y="52388"/>
                    <a:pt x="-1905" y="64770"/>
                    <a:pt x="5715" y="73343"/>
                  </a:cubicBezTo>
                  <a:lnTo>
                    <a:pt x="45720" y="113348"/>
                  </a:lnTo>
                  <a:cubicBezTo>
                    <a:pt x="51435" y="118110"/>
                    <a:pt x="56198" y="120015"/>
                    <a:pt x="60960" y="12001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9" name="Freeform: Shape 68">
              <a:extLst>
                <a:ext uri="{FF2B5EF4-FFF2-40B4-BE49-F238E27FC236}">
                  <a16:creationId xmlns:a16="http://schemas.microsoft.com/office/drawing/2014/main" id="{5E9BA9A1-01AB-46DA-8579-2A3D2CE36612}"/>
                </a:ext>
              </a:extLst>
            </p:cNvPr>
            <p:cNvSpPr/>
            <p:nvPr/>
          </p:nvSpPr>
          <p:spPr>
            <a:xfrm>
              <a:off x="5862458" y="4140861"/>
              <a:ext cx="390308" cy="456040"/>
            </a:xfrm>
            <a:custGeom>
              <a:avLst/>
              <a:gdLst>
                <a:gd name="connsiteX0" fmla="*/ 385763 w 390308"/>
                <a:gd name="connsiteY0" fmla="*/ 153144 h 456040"/>
                <a:gd name="connsiteX1" fmla="*/ 171450 w 390308"/>
                <a:gd name="connsiteY1" fmla="*/ 1696 h 456040"/>
                <a:gd name="connsiteX2" fmla="*/ 2858 w 390308"/>
                <a:gd name="connsiteY2" fmla="*/ 196959 h 456040"/>
                <a:gd name="connsiteX3" fmla="*/ 0 w 390308"/>
                <a:gd name="connsiteY3" fmla="*/ 446514 h 456040"/>
                <a:gd name="connsiteX4" fmla="*/ 15240 w 390308"/>
                <a:gd name="connsiteY4" fmla="*/ 454134 h 456040"/>
                <a:gd name="connsiteX5" fmla="*/ 128588 w 390308"/>
                <a:gd name="connsiteY5" fmla="*/ 375076 h 456040"/>
                <a:gd name="connsiteX6" fmla="*/ 230505 w 390308"/>
                <a:gd name="connsiteY6" fmla="*/ 384601 h 456040"/>
                <a:gd name="connsiteX7" fmla="*/ 385763 w 390308"/>
                <a:gd name="connsiteY7" fmla="*/ 153144 h 456040"/>
                <a:gd name="connsiteX8" fmla="*/ 208598 w 390308"/>
                <a:gd name="connsiteY8" fmla="*/ 281731 h 456040"/>
                <a:gd name="connsiteX9" fmla="*/ 196215 w 390308"/>
                <a:gd name="connsiteY9" fmla="*/ 286494 h 456040"/>
                <a:gd name="connsiteX10" fmla="*/ 179070 w 390308"/>
                <a:gd name="connsiteY10" fmla="*/ 269349 h 456040"/>
                <a:gd name="connsiteX11" fmla="*/ 195263 w 390308"/>
                <a:gd name="connsiteY11" fmla="*/ 252204 h 456040"/>
                <a:gd name="connsiteX12" fmla="*/ 212408 w 390308"/>
                <a:gd name="connsiteY12" fmla="*/ 268396 h 456040"/>
                <a:gd name="connsiteX13" fmla="*/ 208598 w 390308"/>
                <a:gd name="connsiteY13" fmla="*/ 281731 h 456040"/>
                <a:gd name="connsiteX14" fmla="*/ 226695 w 390308"/>
                <a:gd name="connsiteY14" fmla="*/ 187434 h 456040"/>
                <a:gd name="connsiteX15" fmla="*/ 221933 w 390308"/>
                <a:gd name="connsiteY15" fmla="*/ 192196 h 456040"/>
                <a:gd name="connsiteX16" fmla="*/ 211455 w 390308"/>
                <a:gd name="connsiteY16" fmla="*/ 209341 h 456040"/>
                <a:gd name="connsiteX17" fmla="*/ 210503 w 390308"/>
                <a:gd name="connsiteY17" fmla="*/ 227439 h 456040"/>
                <a:gd name="connsiteX18" fmla="*/ 209550 w 390308"/>
                <a:gd name="connsiteY18" fmla="*/ 230296 h 456040"/>
                <a:gd name="connsiteX19" fmla="*/ 206692 w 390308"/>
                <a:gd name="connsiteY19" fmla="*/ 231249 h 456040"/>
                <a:gd name="connsiteX20" fmla="*/ 202883 w 390308"/>
                <a:gd name="connsiteY20" fmla="*/ 231249 h 456040"/>
                <a:gd name="connsiteX21" fmla="*/ 196215 w 390308"/>
                <a:gd name="connsiteY21" fmla="*/ 231249 h 456040"/>
                <a:gd name="connsiteX22" fmla="*/ 183833 w 390308"/>
                <a:gd name="connsiteY22" fmla="*/ 231249 h 456040"/>
                <a:gd name="connsiteX23" fmla="*/ 181928 w 390308"/>
                <a:gd name="connsiteY23" fmla="*/ 229344 h 456040"/>
                <a:gd name="connsiteX24" fmla="*/ 186690 w 390308"/>
                <a:gd name="connsiteY24" fmla="*/ 192196 h 456040"/>
                <a:gd name="connsiteX25" fmla="*/ 202883 w 390308"/>
                <a:gd name="connsiteY25" fmla="*/ 175051 h 456040"/>
                <a:gd name="connsiteX26" fmla="*/ 217170 w 390308"/>
                <a:gd name="connsiteY26" fmla="*/ 162669 h 456040"/>
                <a:gd name="connsiteX27" fmla="*/ 220980 w 390308"/>
                <a:gd name="connsiteY27" fmla="*/ 140761 h 456040"/>
                <a:gd name="connsiteX28" fmla="*/ 198120 w 390308"/>
                <a:gd name="connsiteY28" fmla="*/ 128379 h 456040"/>
                <a:gd name="connsiteX29" fmla="*/ 172403 w 390308"/>
                <a:gd name="connsiteY29" fmla="*/ 148381 h 456040"/>
                <a:gd name="connsiteX30" fmla="*/ 169545 w 390308"/>
                <a:gd name="connsiteY30" fmla="*/ 153144 h 456040"/>
                <a:gd name="connsiteX31" fmla="*/ 165735 w 390308"/>
                <a:gd name="connsiteY31" fmla="*/ 153144 h 456040"/>
                <a:gd name="connsiteX32" fmla="*/ 144780 w 390308"/>
                <a:gd name="connsiteY32" fmla="*/ 150286 h 456040"/>
                <a:gd name="connsiteX33" fmla="*/ 141923 w 390308"/>
                <a:gd name="connsiteY33" fmla="*/ 147429 h 456040"/>
                <a:gd name="connsiteX34" fmla="*/ 200025 w 390308"/>
                <a:gd name="connsiteY34" fmla="*/ 102661 h 456040"/>
                <a:gd name="connsiteX35" fmla="*/ 240030 w 390308"/>
                <a:gd name="connsiteY35" fmla="*/ 116949 h 456040"/>
                <a:gd name="connsiteX36" fmla="*/ 255270 w 390308"/>
                <a:gd name="connsiteY36" fmla="*/ 148381 h 456040"/>
                <a:gd name="connsiteX37" fmla="*/ 226695 w 390308"/>
                <a:gd name="connsiteY37" fmla="*/ 187434 h 45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0308" h="456040">
                  <a:moveTo>
                    <a:pt x="385763" y="153144"/>
                  </a:moveTo>
                  <a:cubicBezTo>
                    <a:pt x="364807" y="55036"/>
                    <a:pt x="270510" y="-11639"/>
                    <a:pt x="171450" y="1696"/>
                  </a:cubicBezTo>
                  <a:cubicBezTo>
                    <a:pt x="71438" y="15031"/>
                    <a:pt x="953" y="100756"/>
                    <a:pt x="2858" y="196959"/>
                  </a:cubicBezTo>
                  <a:cubicBezTo>
                    <a:pt x="2858" y="205531"/>
                    <a:pt x="953" y="387459"/>
                    <a:pt x="0" y="446514"/>
                  </a:cubicBezTo>
                  <a:cubicBezTo>
                    <a:pt x="0" y="454134"/>
                    <a:pt x="8572" y="458896"/>
                    <a:pt x="15240" y="454134"/>
                  </a:cubicBezTo>
                  <a:lnTo>
                    <a:pt x="128588" y="375076"/>
                  </a:lnTo>
                  <a:cubicBezTo>
                    <a:pt x="160973" y="387459"/>
                    <a:pt x="196215" y="390316"/>
                    <a:pt x="230505" y="384601"/>
                  </a:cubicBezTo>
                  <a:cubicBezTo>
                    <a:pt x="337185" y="366504"/>
                    <a:pt x="409575" y="260776"/>
                    <a:pt x="385763" y="153144"/>
                  </a:cubicBezTo>
                  <a:close/>
                  <a:moveTo>
                    <a:pt x="208598" y="281731"/>
                  </a:moveTo>
                  <a:cubicBezTo>
                    <a:pt x="205740" y="284589"/>
                    <a:pt x="200978" y="286494"/>
                    <a:pt x="196215" y="286494"/>
                  </a:cubicBezTo>
                  <a:cubicBezTo>
                    <a:pt x="186690" y="286494"/>
                    <a:pt x="179070" y="278874"/>
                    <a:pt x="179070" y="269349"/>
                  </a:cubicBezTo>
                  <a:cubicBezTo>
                    <a:pt x="179070" y="259824"/>
                    <a:pt x="186690" y="252204"/>
                    <a:pt x="195263" y="252204"/>
                  </a:cubicBezTo>
                  <a:cubicBezTo>
                    <a:pt x="204788" y="252204"/>
                    <a:pt x="212408" y="258871"/>
                    <a:pt x="212408" y="268396"/>
                  </a:cubicBezTo>
                  <a:cubicBezTo>
                    <a:pt x="213360" y="275064"/>
                    <a:pt x="211455" y="278874"/>
                    <a:pt x="208598" y="281731"/>
                  </a:cubicBezTo>
                  <a:close/>
                  <a:moveTo>
                    <a:pt x="226695" y="187434"/>
                  </a:moveTo>
                  <a:lnTo>
                    <a:pt x="221933" y="192196"/>
                  </a:lnTo>
                  <a:cubicBezTo>
                    <a:pt x="217170" y="196959"/>
                    <a:pt x="211455" y="200769"/>
                    <a:pt x="211455" y="209341"/>
                  </a:cubicBezTo>
                  <a:cubicBezTo>
                    <a:pt x="211455" y="215056"/>
                    <a:pt x="210503" y="220771"/>
                    <a:pt x="210503" y="227439"/>
                  </a:cubicBezTo>
                  <a:cubicBezTo>
                    <a:pt x="210503" y="228391"/>
                    <a:pt x="210503" y="229344"/>
                    <a:pt x="209550" y="230296"/>
                  </a:cubicBezTo>
                  <a:cubicBezTo>
                    <a:pt x="209550" y="230296"/>
                    <a:pt x="208598" y="231249"/>
                    <a:pt x="206692" y="231249"/>
                  </a:cubicBezTo>
                  <a:cubicBezTo>
                    <a:pt x="205740" y="231249"/>
                    <a:pt x="203835" y="231249"/>
                    <a:pt x="202883" y="231249"/>
                  </a:cubicBezTo>
                  <a:lnTo>
                    <a:pt x="196215" y="231249"/>
                  </a:lnTo>
                  <a:cubicBezTo>
                    <a:pt x="192405" y="231249"/>
                    <a:pt x="187642" y="231249"/>
                    <a:pt x="183833" y="231249"/>
                  </a:cubicBezTo>
                  <a:cubicBezTo>
                    <a:pt x="181928" y="231249"/>
                    <a:pt x="181928" y="230296"/>
                    <a:pt x="181928" y="229344"/>
                  </a:cubicBezTo>
                  <a:cubicBezTo>
                    <a:pt x="181928" y="216961"/>
                    <a:pt x="181928" y="202674"/>
                    <a:pt x="186690" y="192196"/>
                  </a:cubicBezTo>
                  <a:cubicBezTo>
                    <a:pt x="190500" y="184576"/>
                    <a:pt x="196215" y="179814"/>
                    <a:pt x="202883" y="175051"/>
                  </a:cubicBezTo>
                  <a:cubicBezTo>
                    <a:pt x="207645" y="171241"/>
                    <a:pt x="212408" y="167431"/>
                    <a:pt x="217170" y="162669"/>
                  </a:cubicBezTo>
                  <a:cubicBezTo>
                    <a:pt x="223838" y="153144"/>
                    <a:pt x="222885" y="145524"/>
                    <a:pt x="220980" y="140761"/>
                  </a:cubicBezTo>
                  <a:cubicBezTo>
                    <a:pt x="217170" y="133141"/>
                    <a:pt x="208598" y="128379"/>
                    <a:pt x="198120" y="128379"/>
                  </a:cubicBezTo>
                  <a:cubicBezTo>
                    <a:pt x="185738" y="128379"/>
                    <a:pt x="176213" y="135999"/>
                    <a:pt x="172403" y="148381"/>
                  </a:cubicBezTo>
                  <a:cubicBezTo>
                    <a:pt x="171450" y="152191"/>
                    <a:pt x="170498" y="153144"/>
                    <a:pt x="169545" y="153144"/>
                  </a:cubicBezTo>
                  <a:cubicBezTo>
                    <a:pt x="168592" y="153144"/>
                    <a:pt x="167640" y="153144"/>
                    <a:pt x="165735" y="153144"/>
                  </a:cubicBezTo>
                  <a:cubicBezTo>
                    <a:pt x="159067" y="152191"/>
                    <a:pt x="151448" y="151239"/>
                    <a:pt x="144780" y="150286"/>
                  </a:cubicBezTo>
                  <a:cubicBezTo>
                    <a:pt x="141923" y="150286"/>
                    <a:pt x="141923" y="149334"/>
                    <a:pt x="141923" y="147429"/>
                  </a:cubicBezTo>
                  <a:cubicBezTo>
                    <a:pt x="144780" y="117901"/>
                    <a:pt x="173355" y="102661"/>
                    <a:pt x="200025" y="102661"/>
                  </a:cubicBezTo>
                  <a:cubicBezTo>
                    <a:pt x="215265" y="102661"/>
                    <a:pt x="230505" y="107424"/>
                    <a:pt x="240030" y="116949"/>
                  </a:cubicBezTo>
                  <a:cubicBezTo>
                    <a:pt x="249555" y="125521"/>
                    <a:pt x="255270" y="136951"/>
                    <a:pt x="255270" y="148381"/>
                  </a:cubicBezTo>
                  <a:cubicBezTo>
                    <a:pt x="253365" y="163621"/>
                    <a:pt x="239078" y="176004"/>
                    <a:pt x="226695" y="187434"/>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0" name="Freeform: Shape 69">
              <a:extLst>
                <a:ext uri="{FF2B5EF4-FFF2-40B4-BE49-F238E27FC236}">
                  <a16:creationId xmlns:a16="http://schemas.microsoft.com/office/drawing/2014/main" id="{2D3C73CD-E327-4864-B2EA-280461AF3B22}"/>
                </a:ext>
              </a:extLst>
            </p:cNvPr>
            <p:cNvSpPr/>
            <p:nvPr/>
          </p:nvSpPr>
          <p:spPr>
            <a:xfrm>
              <a:off x="6240601" y="4140952"/>
              <a:ext cx="327660" cy="455949"/>
            </a:xfrm>
            <a:custGeom>
              <a:avLst/>
              <a:gdLst>
                <a:gd name="connsiteX0" fmla="*/ 199073 w 327660"/>
                <a:gd name="connsiteY0" fmla="*/ 374985 h 455949"/>
                <a:gd name="connsiteX1" fmla="*/ 312420 w 327660"/>
                <a:gd name="connsiteY1" fmla="*/ 454043 h 455949"/>
                <a:gd name="connsiteX2" fmla="*/ 327660 w 327660"/>
                <a:gd name="connsiteY2" fmla="*/ 446423 h 455949"/>
                <a:gd name="connsiteX3" fmla="*/ 324803 w 327660"/>
                <a:gd name="connsiteY3" fmla="*/ 196868 h 455949"/>
                <a:gd name="connsiteX4" fmla="*/ 155258 w 327660"/>
                <a:gd name="connsiteY4" fmla="*/ 1605 h 455949"/>
                <a:gd name="connsiteX5" fmla="*/ 0 w 327660"/>
                <a:gd name="connsiteY5" fmla="*/ 51135 h 455949"/>
                <a:gd name="connsiteX6" fmla="*/ 20955 w 327660"/>
                <a:gd name="connsiteY6" fmla="*/ 82568 h 455949"/>
                <a:gd name="connsiteX7" fmla="*/ 150495 w 327660"/>
                <a:gd name="connsiteY7" fmla="*/ 38753 h 455949"/>
                <a:gd name="connsiteX8" fmla="*/ 286703 w 327660"/>
                <a:gd name="connsiteY8" fmla="*/ 196868 h 455949"/>
                <a:gd name="connsiteX9" fmla="*/ 288608 w 327660"/>
                <a:gd name="connsiteY9" fmla="*/ 394035 h 455949"/>
                <a:gd name="connsiteX10" fmla="*/ 203835 w 327660"/>
                <a:gd name="connsiteY10" fmla="*/ 334028 h 455949"/>
                <a:gd name="connsiteX11" fmla="*/ 185738 w 327660"/>
                <a:gd name="connsiteY11" fmla="*/ 340695 h 455949"/>
                <a:gd name="connsiteX12" fmla="*/ 103823 w 327660"/>
                <a:gd name="connsiteY12" fmla="*/ 348315 h 455949"/>
                <a:gd name="connsiteX13" fmla="*/ 20955 w 327660"/>
                <a:gd name="connsiteY13" fmla="*/ 305453 h 455949"/>
                <a:gd name="connsiteX14" fmla="*/ 10477 w 327660"/>
                <a:gd name="connsiteY14" fmla="*/ 322598 h 455949"/>
                <a:gd name="connsiteX15" fmla="*/ 0 w 327660"/>
                <a:gd name="connsiteY15" fmla="*/ 336885 h 455949"/>
                <a:gd name="connsiteX16" fmla="*/ 97155 w 327660"/>
                <a:gd name="connsiteY16" fmla="*/ 384510 h 455949"/>
                <a:gd name="connsiteX17" fmla="*/ 199073 w 327660"/>
                <a:gd name="connsiteY17" fmla="*/ 374985 h 45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7660" h="455949">
                  <a:moveTo>
                    <a:pt x="199073" y="374985"/>
                  </a:moveTo>
                  <a:lnTo>
                    <a:pt x="312420" y="454043"/>
                  </a:lnTo>
                  <a:cubicBezTo>
                    <a:pt x="319088" y="458805"/>
                    <a:pt x="327660" y="454043"/>
                    <a:pt x="327660" y="446423"/>
                  </a:cubicBezTo>
                  <a:cubicBezTo>
                    <a:pt x="326708" y="386415"/>
                    <a:pt x="324803" y="205440"/>
                    <a:pt x="324803" y="196868"/>
                  </a:cubicBezTo>
                  <a:cubicBezTo>
                    <a:pt x="326708" y="100665"/>
                    <a:pt x="255270" y="14940"/>
                    <a:pt x="155258" y="1605"/>
                  </a:cubicBezTo>
                  <a:cubicBezTo>
                    <a:pt x="97155" y="-6015"/>
                    <a:pt x="40005" y="13988"/>
                    <a:pt x="0" y="51135"/>
                  </a:cubicBezTo>
                  <a:cubicBezTo>
                    <a:pt x="7620" y="60660"/>
                    <a:pt x="15240" y="71138"/>
                    <a:pt x="20955" y="82568"/>
                  </a:cubicBezTo>
                  <a:cubicBezTo>
                    <a:pt x="54293" y="50183"/>
                    <a:pt x="101918" y="32085"/>
                    <a:pt x="150495" y="38753"/>
                  </a:cubicBezTo>
                  <a:cubicBezTo>
                    <a:pt x="229552" y="49230"/>
                    <a:pt x="288608" y="116858"/>
                    <a:pt x="286703" y="196868"/>
                  </a:cubicBezTo>
                  <a:cubicBezTo>
                    <a:pt x="286703" y="203535"/>
                    <a:pt x="287655" y="313073"/>
                    <a:pt x="288608" y="394035"/>
                  </a:cubicBezTo>
                  <a:lnTo>
                    <a:pt x="203835" y="334028"/>
                  </a:lnTo>
                  <a:lnTo>
                    <a:pt x="185738" y="340695"/>
                  </a:lnTo>
                  <a:cubicBezTo>
                    <a:pt x="160020" y="350220"/>
                    <a:pt x="131445" y="353078"/>
                    <a:pt x="103823" y="348315"/>
                  </a:cubicBezTo>
                  <a:cubicBezTo>
                    <a:pt x="72390" y="342600"/>
                    <a:pt x="43815" y="328313"/>
                    <a:pt x="20955" y="305453"/>
                  </a:cubicBezTo>
                  <a:cubicBezTo>
                    <a:pt x="17145" y="311168"/>
                    <a:pt x="14288" y="316883"/>
                    <a:pt x="10477" y="322598"/>
                  </a:cubicBezTo>
                  <a:cubicBezTo>
                    <a:pt x="7620" y="327360"/>
                    <a:pt x="3810" y="332123"/>
                    <a:pt x="0" y="336885"/>
                  </a:cubicBezTo>
                  <a:cubicBezTo>
                    <a:pt x="26670" y="360698"/>
                    <a:pt x="60008" y="377843"/>
                    <a:pt x="97155" y="384510"/>
                  </a:cubicBezTo>
                  <a:cubicBezTo>
                    <a:pt x="131445" y="391178"/>
                    <a:pt x="166688" y="387368"/>
                    <a:pt x="199073" y="374985"/>
                  </a:cubicBezTo>
                  <a:close/>
                </a:path>
              </a:pathLst>
            </a:custGeom>
            <a:grp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sp>
        <p:nvSpPr>
          <p:cNvPr id="71" name="Arrow: Pentagon 70">
            <a:extLst>
              <a:ext uri="{FF2B5EF4-FFF2-40B4-BE49-F238E27FC236}">
                <a16:creationId xmlns:a16="http://schemas.microsoft.com/office/drawing/2014/main" id="{35A6B475-E9F4-425A-B261-A1ECBC76A807}"/>
              </a:ext>
            </a:extLst>
          </p:cNvPr>
          <p:cNvSpPr/>
          <p:nvPr/>
        </p:nvSpPr>
        <p:spPr>
          <a:xfrm rot="5400000">
            <a:off x="11573057" y="3687876"/>
            <a:ext cx="587056" cy="501879"/>
          </a:xfrm>
          <a:prstGeom prst="homePlate">
            <a:avLst/>
          </a:prstGeom>
          <a:solidFill>
            <a:srgbClr val="C55A11"/>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chemeClr val="bg1"/>
              </a:solidFill>
            </a:endParaRPr>
          </a:p>
        </p:txBody>
      </p:sp>
      <p:sp>
        <p:nvSpPr>
          <p:cNvPr id="72" name="Arrow: Pentagon 71">
            <a:extLst>
              <a:ext uri="{FF2B5EF4-FFF2-40B4-BE49-F238E27FC236}">
                <a16:creationId xmlns:a16="http://schemas.microsoft.com/office/drawing/2014/main" id="{8CFA24D1-B1D3-46F8-BA5D-9474E107A45D}"/>
              </a:ext>
            </a:extLst>
          </p:cNvPr>
          <p:cNvSpPr/>
          <p:nvPr/>
        </p:nvSpPr>
        <p:spPr>
          <a:xfrm rot="5400000">
            <a:off x="11595380" y="4796651"/>
            <a:ext cx="587056" cy="501879"/>
          </a:xfrm>
          <a:prstGeom prst="homePlate">
            <a:avLst/>
          </a:prstGeom>
          <a:solidFill>
            <a:srgbClr val="F4B183"/>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chemeClr val="bg1"/>
              </a:solidFill>
            </a:endParaRPr>
          </a:p>
        </p:txBody>
      </p:sp>
      <p:sp>
        <p:nvSpPr>
          <p:cNvPr id="73" name="Arrow: Pentagon 72">
            <a:extLst>
              <a:ext uri="{FF2B5EF4-FFF2-40B4-BE49-F238E27FC236}">
                <a16:creationId xmlns:a16="http://schemas.microsoft.com/office/drawing/2014/main" id="{A99216DA-2FA6-46A6-8448-6C4AB3048CE3}"/>
              </a:ext>
            </a:extLst>
          </p:cNvPr>
          <p:cNvSpPr/>
          <p:nvPr/>
        </p:nvSpPr>
        <p:spPr>
          <a:xfrm rot="5400000">
            <a:off x="11612392" y="5917725"/>
            <a:ext cx="587056" cy="501879"/>
          </a:xfrm>
          <a:prstGeom prst="homePlate">
            <a:avLst/>
          </a:prstGeom>
          <a:solidFill>
            <a:srgbClr val="F8CBAD"/>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chemeClr val="bg1"/>
              </a:solidFill>
            </a:endParaRPr>
          </a:p>
        </p:txBody>
      </p:sp>
      <p:sp>
        <p:nvSpPr>
          <p:cNvPr id="74" name="Arrow: Pentagon 73">
            <a:extLst>
              <a:ext uri="{FF2B5EF4-FFF2-40B4-BE49-F238E27FC236}">
                <a16:creationId xmlns:a16="http://schemas.microsoft.com/office/drawing/2014/main" id="{69E428D4-FB6F-4F5F-9FA8-66CA593BBDAD}"/>
              </a:ext>
            </a:extLst>
          </p:cNvPr>
          <p:cNvSpPr/>
          <p:nvPr/>
        </p:nvSpPr>
        <p:spPr>
          <a:xfrm rot="5400000">
            <a:off x="11551584" y="2547464"/>
            <a:ext cx="587056" cy="501879"/>
          </a:xfrm>
          <a:prstGeom prst="homePlate">
            <a:avLst/>
          </a:prstGeom>
          <a:solidFill>
            <a:srgbClr val="843C0C"/>
          </a:solid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vert270"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chemeClr val="bg1"/>
              </a:solidFill>
            </a:endParaRPr>
          </a:p>
        </p:txBody>
      </p:sp>
      <p:cxnSp>
        <p:nvCxnSpPr>
          <p:cNvPr id="75" name="Straight Connector 74">
            <a:extLst>
              <a:ext uri="{FF2B5EF4-FFF2-40B4-BE49-F238E27FC236}">
                <a16:creationId xmlns:a16="http://schemas.microsoft.com/office/drawing/2014/main" id="{20D1DC39-2E0D-4F3A-90E6-E694955BC924}"/>
              </a:ext>
            </a:extLst>
          </p:cNvPr>
          <p:cNvCxnSpPr>
            <a:cxnSpLocks/>
            <a:stCxn id="74" idx="3"/>
            <a:endCxn id="71" idx="1"/>
          </p:cNvCxnSpPr>
          <p:nvPr/>
        </p:nvCxnSpPr>
        <p:spPr>
          <a:xfrm>
            <a:off x="11845112" y="3091932"/>
            <a:ext cx="21473" cy="553356"/>
          </a:xfrm>
          <a:prstGeom prst="line">
            <a:avLst/>
          </a:prstGeom>
          <a:ln w="12700">
            <a:solidFill>
              <a:srgbClr val="A6A6A6"/>
            </a:solidFill>
            <a:prstDash val="lgDash"/>
          </a:ln>
        </p:spPr>
        <p:style>
          <a:lnRef idx="1">
            <a:schemeClr val="accent6"/>
          </a:lnRef>
          <a:fillRef idx="0">
            <a:schemeClr val="accent6"/>
          </a:fillRef>
          <a:effectRef idx="0">
            <a:schemeClr val="accent6"/>
          </a:effectRef>
          <a:fontRef idx="minor">
            <a:schemeClr val="tx1"/>
          </a:fontRef>
        </p:style>
      </p:cxnSp>
      <p:cxnSp>
        <p:nvCxnSpPr>
          <p:cNvPr id="76" name="Straight Connector 75">
            <a:extLst>
              <a:ext uri="{FF2B5EF4-FFF2-40B4-BE49-F238E27FC236}">
                <a16:creationId xmlns:a16="http://schemas.microsoft.com/office/drawing/2014/main" id="{F8D81FD5-783C-4AFC-8EEA-525573744EA2}"/>
              </a:ext>
            </a:extLst>
          </p:cNvPr>
          <p:cNvCxnSpPr>
            <a:cxnSpLocks/>
            <a:stCxn id="71" idx="3"/>
            <a:endCxn id="72" idx="1"/>
          </p:cNvCxnSpPr>
          <p:nvPr/>
        </p:nvCxnSpPr>
        <p:spPr>
          <a:xfrm>
            <a:off x="11866585" y="4232344"/>
            <a:ext cx="22323" cy="521719"/>
          </a:xfrm>
          <a:prstGeom prst="line">
            <a:avLst/>
          </a:prstGeom>
          <a:ln w="12700">
            <a:solidFill>
              <a:srgbClr val="A6A6A6"/>
            </a:solidFill>
            <a:prstDash val="lgDash"/>
          </a:ln>
        </p:spPr>
        <p:style>
          <a:lnRef idx="1">
            <a:schemeClr val="accent6"/>
          </a:lnRef>
          <a:fillRef idx="0">
            <a:schemeClr val="accent6"/>
          </a:fillRef>
          <a:effectRef idx="0">
            <a:schemeClr val="accent6"/>
          </a:effectRef>
          <a:fontRef idx="minor">
            <a:schemeClr val="tx1"/>
          </a:fontRef>
        </p:style>
      </p:cxnSp>
      <p:cxnSp>
        <p:nvCxnSpPr>
          <p:cNvPr id="77" name="Straight Connector 76">
            <a:extLst>
              <a:ext uri="{FF2B5EF4-FFF2-40B4-BE49-F238E27FC236}">
                <a16:creationId xmlns:a16="http://schemas.microsoft.com/office/drawing/2014/main" id="{6C1633C7-019F-4001-B072-A729CD3E424B}"/>
              </a:ext>
            </a:extLst>
          </p:cNvPr>
          <p:cNvCxnSpPr>
            <a:cxnSpLocks/>
            <a:stCxn id="72" idx="3"/>
            <a:endCxn id="73" idx="1"/>
          </p:cNvCxnSpPr>
          <p:nvPr/>
        </p:nvCxnSpPr>
        <p:spPr>
          <a:xfrm>
            <a:off x="11888908" y="5341119"/>
            <a:ext cx="17012" cy="534018"/>
          </a:xfrm>
          <a:prstGeom prst="line">
            <a:avLst/>
          </a:prstGeom>
          <a:ln w="12700">
            <a:solidFill>
              <a:srgbClr val="A6A6A6"/>
            </a:solidFill>
            <a:prstDash val="lgDash"/>
          </a:ln>
        </p:spPr>
        <p:style>
          <a:lnRef idx="1">
            <a:schemeClr val="accent6"/>
          </a:lnRef>
          <a:fillRef idx="0">
            <a:schemeClr val="accent6"/>
          </a:fillRef>
          <a:effectRef idx="0">
            <a:schemeClr val="accent6"/>
          </a:effectRef>
          <a:fontRef idx="minor">
            <a:schemeClr val="tx1"/>
          </a:fontRef>
        </p:style>
      </p:cxnSp>
      <p:sp>
        <p:nvSpPr>
          <p:cNvPr id="78" name="Left Brace 77">
            <a:extLst>
              <a:ext uri="{FF2B5EF4-FFF2-40B4-BE49-F238E27FC236}">
                <a16:creationId xmlns:a16="http://schemas.microsoft.com/office/drawing/2014/main" id="{348E4E84-5114-477A-A77F-43AB74438B6B}"/>
              </a:ext>
            </a:extLst>
          </p:cNvPr>
          <p:cNvSpPr/>
          <p:nvPr/>
        </p:nvSpPr>
        <p:spPr>
          <a:xfrm rot="10800000" flipV="1">
            <a:off x="7060714" y="1692248"/>
            <a:ext cx="384307" cy="5074522"/>
          </a:xfrm>
          <a:prstGeom prst="leftBrace">
            <a:avLst>
              <a:gd name="adj1" fmla="val 118750"/>
              <a:gd name="adj2" fmla="val 7038"/>
            </a:avLst>
          </a:prstGeom>
          <a:gradFill flip="none" rotWithShape="1">
            <a:gsLst>
              <a:gs pos="79000">
                <a:schemeClr val="bg1"/>
              </a:gs>
              <a:gs pos="0">
                <a:srgbClr val="CC0000"/>
              </a:gs>
            </a:gsLst>
            <a:lin ang="0" scaled="0"/>
            <a:tileRect/>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88" name="Picture 87">
            <a:extLst>
              <a:ext uri="{FF2B5EF4-FFF2-40B4-BE49-F238E27FC236}">
                <a16:creationId xmlns:a16="http://schemas.microsoft.com/office/drawing/2014/main" id="{FF0AF80C-4CB2-45B7-8496-ECE8725BA28E}"/>
              </a:ext>
            </a:extLst>
          </p:cNvPr>
          <p:cNvPicPr>
            <a:picLocks noChangeAspect="1"/>
          </p:cNvPicPr>
          <p:nvPr/>
        </p:nvPicPr>
        <p:blipFill>
          <a:blip r:embed="rId6"/>
          <a:stretch>
            <a:fillRect/>
          </a:stretch>
        </p:blipFill>
        <p:spPr>
          <a:xfrm>
            <a:off x="3321374" y="5260458"/>
            <a:ext cx="501396" cy="495409"/>
          </a:xfrm>
          <a:prstGeom prst="rect">
            <a:avLst/>
          </a:prstGeom>
        </p:spPr>
      </p:pic>
      <p:pic>
        <p:nvPicPr>
          <p:cNvPr id="90" name="Picture 89">
            <a:extLst>
              <a:ext uri="{FF2B5EF4-FFF2-40B4-BE49-F238E27FC236}">
                <a16:creationId xmlns:a16="http://schemas.microsoft.com/office/drawing/2014/main" id="{77E618E1-6CFD-403C-9A3C-CCFB55D0EB20}"/>
              </a:ext>
            </a:extLst>
          </p:cNvPr>
          <p:cNvPicPr>
            <a:picLocks noChangeAspect="1"/>
          </p:cNvPicPr>
          <p:nvPr/>
        </p:nvPicPr>
        <p:blipFill>
          <a:blip r:embed="rId7"/>
          <a:stretch>
            <a:fillRect/>
          </a:stretch>
        </p:blipFill>
        <p:spPr>
          <a:xfrm>
            <a:off x="1953222" y="5260458"/>
            <a:ext cx="536915" cy="521719"/>
          </a:xfrm>
          <a:prstGeom prst="rect">
            <a:avLst/>
          </a:prstGeom>
        </p:spPr>
      </p:pic>
      <p:cxnSp>
        <p:nvCxnSpPr>
          <p:cNvPr id="94" name="Straight Arrow Connector 93">
            <a:extLst>
              <a:ext uri="{FF2B5EF4-FFF2-40B4-BE49-F238E27FC236}">
                <a16:creationId xmlns:a16="http://schemas.microsoft.com/office/drawing/2014/main" id="{EDABE458-2495-4265-A4A2-65C84AD577F6}"/>
              </a:ext>
            </a:extLst>
          </p:cNvPr>
          <p:cNvCxnSpPr/>
          <p:nvPr/>
        </p:nvCxnSpPr>
        <p:spPr>
          <a:xfrm>
            <a:off x="2584938" y="5501757"/>
            <a:ext cx="597877" cy="0"/>
          </a:xfrm>
          <a:prstGeom prst="straightConnector1">
            <a:avLst/>
          </a:prstGeom>
          <a:ln>
            <a:solidFill>
              <a:srgbClr val="FD6106"/>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6" name="Picture 95">
            <a:extLst>
              <a:ext uri="{FF2B5EF4-FFF2-40B4-BE49-F238E27FC236}">
                <a16:creationId xmlns:a16="http://schemas.microsoft.com/office/drawing/2014/main" id="{E2F46426-7448-45B8-8462-A53F62C25E6D}"/>
              </a:ext>
            </a:extLst>
          </p:cNvPr>
          <p:cNvPicPr>
            <a:picLocks noChangeAspect="1"/>
          </p:cNvPicPr>
          <p:nvPr/>
        </p:nvPicPr>
        <p:blipFill>
          <a:blip r:embed="rId8"/>
          <a:stretch>
            <a:fillRect/>
          </a:stretch>
        </p:blipFill>
        <p:spPr>
          <a:xfrm>
            <a:off x="2613441" y="4670137"/>
            <a:ext cx="533840" cy="400818"/>
          </a:xfrm>
          <a:prstGeom prst="rect">
            <a:avLst/>
          </a:prstGeom>
        </p:spPr>
      </p:pic>
      <p:cxnSp>
        <p:nvCxnSpPr>
          <p:cNvPr id="98" name="Straight Connector 97">
            <a:extLst>
              <a:ext uri="{FF2B5EF4-FFF2-40B4-BE49-F238E27FC236}">
                <a16:creationId xmlns:a16="http://schemas.microsoft.com/office/drawing/2014/main" id="{E066A5D2-E628-468E-A305-37AC98282BA5}"/>
              </a:ext>
            </a:extLst>
          </p:cNvPr>
          <p:cNvCxnSpPr>
            <a:cxnSpLocks/>
            <a:stCxn id="96" idx="2"/>
          </p:cNvCxnSpPr>
          <p:nvPr/>
        </p:nvCxnSpPr>
        <p:spPr>
          <a:xfrm>
            <a:off x="2880361" y="5070955"/>
            <a:ext cx="0" cy="437207"/>
          </a:xfrm>
          <a:prstGeom prst="line">
            <a:avLst/>
          </a:prstGeom>
          <a:ln w="28575">
            <a:solidFill>
              <a:srgbClr val="FD6106"/>
            </a:solidFill>
            <a:prstDash val="sysDot"/>
          </a:ln>
        </p:spPr>
        <p:style>
          <a:lnRef idx="1">
            <a:schemeClr val="accent1"/>
          </a:lnRef>
          <a:fillRef idx="0">
            <a:schemeClr val="accent1"/>
          </a:fillRef>
          <a:effectRef idx="0">
            <a:schemeClr val="accent1"/>
          </a:effectRef>
          <a:fontRef idx="minor">
            <a:schemeClr val="tx1"/>
          </a:fontRef>
        </p:style>
      </p:cxnSp>
      <p:pic>
        <p:nvPicPr>
          <p:cNvPr id="100" name="Picture 99">
            <a:extLst>
              <a:ext uri="{FF2B5EF4-FFF2-40B4-BE49-F238E27FC236}">
                <a16:creationId xmlns:a16="http://schemas.microsoft.com/office/drawing/2014/main" id="{843433C4-1BB0-4187-8C04-A15E396825BA}"/>
              </a:ext>
            </a:extLst>
          </p:cNvPr>
          <p:cNvPicPr>
            <a:picLocks noChangeAspect="1"/>
          </p:cNvPicPr>
          <p:nvPr/>
        </p:nvPicPr>
        <p:blipFill>
          <a:blip r:embed="rId9"/>
          <a:stretch>
            <a:fillRect/>
          </a:stretch>
        </p:blipFill>
        <p:spPr>
          <a:xfrm>
            <a:off x="4346711" y="4713744"/>
            <a:ext cx="533840" cy="467110"/>
          </a:xfrm>
          <a:prstGeom prst="rect">
            <a:avLst/>
          </a:prstGeom>
        </p:spPr>
      </p:pic>
      <p:pic>
        <p:nvPicPr>
          <p:cNvPr id="102" name="Picture 101">
            <a:extLst>
              <a:ext uri="{FF2B5EF4-FFF2-40B4-BE49-F238E27FC236}">
                <a16:creationId xmlns:a16="http://schemas.microsoft.com/office/drawing/2014/main" id="{6137FF5E-1A23-4A9E-A0E8-9B9FE8D8CF5E}"/>
              </a:ext>
            </a:extLst>
          </p:cNvPr>
          <p:cNvPicPr>
            <a:picLocks noChangeAspect="1"/>
          </p:cNvPicPr>
          <p:nvPr/>
        </p:nvPicPr>
        <p:blipFill>
          <a:blip r:embed="rId10"/>
          <a:stretch>
            <a:fillRect/>
          </a:stretch>
        </p:blipFill>
        <p:spPr>
          <a:xfrm>
            <a:off x="4395176" y="5673788"/>
            <a:ext cx="473562" cy="487675"/>
          </a:xfrm>
          <a:prstGeom prst="rect">
            <a:avLst/>
          </a:prstGeom>
        </p:spPr>
      </p:pic>
      <p:pic>
        <p:nvPicPr>
          <p:cNvPr id="104" name="Picture 103">
            <a:extLst>
              <a:ext uri="{FF2B5EF4-FFF2-40B4-BE49-F238E27FC236}">
                <a16:creationId xmlns:a16="http://schemas.microsoft.com/office/drawing/2014/main" id="{A0B9DB3E-7E10-4169-9281-D5FEAB1064F1}"/>
              </a:ext>
            </a:extLst>
          </p:cNvPr>
          <p:cNvPicPr>
            <a:picLocks noChangeAspect="1"/>
          </p:cNvPicPr>
          <p:nvPr/>
        </p:nvPicPr>
        <p:blipFill>
          <a:blip r:embed="rId11"/>
          <a:stretch>
            <a:fillRect/>
          </a:stretch>
        </p:blipFill>
        <p:spPr>
          <a:xfrm>
            <a:off x="670155" y="4782900"/>
            <a:ext cx="466875" cy="488809"/>
          </a:xfrm>
          <a:prstGeom prst="rect">
            <a:avLst/>
          </a:prstGeom>
        </p:spPr>
      </p:pic>
      <p:pic>
        <p:nvPicPr>
          <p:cNvPr id="106" name="Picture 105">
            <a:extLst>
              <a:ext uri="{FF2B5EF4-FFF2-40B4-BE49-F238E27FC236}">
                <a16:creationId xmlns:a16="http://schemas.microsoft.com/office/drawing/2014/main" id="{DA354128-A1CE-41FD-B7D3-1EBD679624BC}"/>
              </a:ext>
            </a:extLst>
          </p:cNvPr>
          <p:cNvPicPr>
            <a:picLocks noChangeAspect="1"/>
          </p:cNvPicPr>
          <p:nvPr/>
        </p:nvPicPr>
        <p:blipFill>
          <a:blip r:embed="rId12"/>
          <a:stretch>
            <a:fillRect/>
          </a:stretch>
        </p:blipFill>
        <p:spPr>
          <a:xfrm>
            <a:off x="693092" y="5676867"/>
            <a:ext cx="466876" cy="471592"/>
          </a:xfrm>
          <a:prstGeom prst="rect">
            <a:avLst/>
          </a:prstGeom>
        </p:spPr>
      </p:pic>
      <p:sp>
        <p:nvSpPr>
          <p:cNvPr id="107" name="Rectangle: Rounded Corners 42">
            <a:extLst>
              <a:ext uri="{FF2B5EF4-FFF2-40B4-BE49-F238E27FC236}">
                <a16:creationId xmlns:a16="http://schemas.microsoft.com/office/drawing/2014/main" id="{113F73AE-EC84-486D-B5C7-915174DDB4BB}"/>
              </a:ext>
            </a:extLst>
          </p:cNvPr>
          <p:cNvSpPr/>
          <p:nvPr/>
        </p:nvSpPr>
        <p:spPr>
          <a:xfrm>
            <a:off x="1670611" y="5170658"/>
            <a:ext cx="2409180" cy="966635"/>
          </a:xfrm>
          <a:prstGeom prst="roundRect">
            <a:avLst/>
          </a:prstGeom>
          <a:noFill/>
          <a:ln w="19050">
            <a:solidFill>
              <a:schemeClr val="accent2">
                <a:lumMod val="50000"/>
              </a:schemeClr>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a:solidFill>
                <a:srgbClr val="FF6600"/>
              </a:solidFill>
            </a:endParaRPr>
          </a:p>
        </p:txBody>
      </p:sp>
      <p:sp>
        <p:nvSpPr>
          <p:cNvPr id="108" name="TextBox 107">
            <a:extLst>
              <a:ext uri="{FF2B5EF4-FFF2-40B4-BE49-F238E27FC236}">
                <a16:creationId xmlns:a16="http://schemas.microsoft.com/office/drawing/2014/main" id="{3CD0672F-2531-4602-99D2-F8993B737EB9}"/>
              </a:ext>
            </a:extLst>
          </p:cNvPr>
          <p:cNvSpPr txBox="1"/>
          <p:nvPr/>
        </p:nvSpPr>
        <p:spPr>
          <a:xfrm>
            <a:off x="1854306" y="5686794"/>
            <a:ext cx="800099" cy="461665"/>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Sales </a:t>
            </a:r>
          </a:p>
          <a:p>
            <a:pPr algn="ctr"/>
            <a:r>
              <a:rPr lang="en-US" sz="1200">
                <a:latin typeface="Arial" panose="020B0604020202020204" pitchFamily="34" charset="0"/>
                <a:cs typeface="Arial" panose="020B0604020202020204" pitchFamily="34" charset="0"/>
              </a:rPr>
              <a:t>Rep</a:t>
            </a:r>
            <a:endParaRPr lang="en-IN" sz="1200">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533250B2-380C-4662-8495-12C50DD88A21}"/>
              </a:ext>
            </a:extLst>
          </p:cNvPr>
          <p:cNvSpPr txBox="1"/>
          <p:nvPr/>
        </p:nvSpPr>
        <p:spPr>
          <a:xfrm>
            <a:off x="3208815" y="5758665"/>
            <a:ext cx="800099"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HCP</a:t>
            </a:r>
            <a:endParaRPr lang="en-IN" sz="1200">
              <a:latin typeface="Arial" panose="020B0604020202020204" pitchFamily="34" charset="0"/>
              <a:cs typeface="Arial" panose="020B0604020202020204" pitchFamily="34" charset="0"/>
            </a:endParaRPr>
          </a:p>
        </p:txBody>
      </p:sp>
      <p:sp>
        <p:nvSpPr>
          <p:cNvPr id="111" name="TextBox 110">
            <a:extLst>
              <a:ext uri="{FF2B5EF4-FFF2-40B4-BE49-F238E27FC236}">
                <a16:creationId xmlns:a16="http://schemas.microsoft.com/office/drawing/2014/main" id="{C18D8323-54BB-4E58-B134-5D59B1D8078C}"/>
              </a:ext>
            </a:extLst>
          </p:cNvPr>
          <p:cNvSpPr txBox="1"/>
          <p:nvPr/>
        </p:nvSpPr>
        <p:spPr>
          <a:xfrm>
            <a:off x="675629" y="5231163"/>
            <a:ext cx="619230" cy="276999"/>
          </a:xfrm>
          <a:prstGeom prst="rect">
            <a:avLst/>
          </a:prstGeom>
          <a:noFill/>
        </p:spPr>
        <p:txBody>
          <a:bodyPr wrap="square" rtlCol="0">
            <a:spAutoFit/>
          </a:bodyPr>
          <a:lstStyle/>
          <a:p>
            <a:r>
              <a:rPr lang="en-US" sz="1200">
                <a:latin typeface="Arial" panose="020B0604020202020204" pitchFamily="34" charset="0"/>
                <a:cs typeface="Arial" panose="020B0604020202020204" pitchFamily="34" charset="0"/>
              </a:rPr>
              <a:t>MSL</a:t>
            </a:r>
            <a:endParaRPr lang="en-IN" sz="1200">
              <a:latin typeface="Arial" panose="020B0604020202020204" pitchFamily="34" charset="0"/>
              <a:cs typeface="Arial" panose="020B0604020202020204" pitchFamily="34" charset="0"/>
            </a:endParaRPr>
          </a:p>
        </p:txBody>
      </p:sp>
      <p:sp>
        <p:nvSpPr>
          <p:cNvPr id="113" name="TextBox 112">
            <a:extLst>
              <a:ext uri="{FF2B5EF4-FFF2-40B4-BE49-F238E27FC236}">
                <a16:creationId xmlns:a16="http://schemas.microsoft.com/office/drawing/2014/main" id="{813DE6DE-2AA8-4E1E-860B-E3B3EF97312C}"/>
              </a:ext>
            </a:extLst>
          </p:cNvPr>
          <p:cNvSpPr txBox="1"/>
          <p:nvPr/>
        </p:nvSpPr>
        <p:spPr>
          <a:xfrm>
            <a:off x="391323" y="6093168"/>
            <a:ext cx="1238220" cy="461665"/>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Other Personnel</a:t>
            </a:r>
            <a:endParaRPr lang="en-IN" sz="1200">
              <a:latin typeface="Arial" panose="020B0604020202020204" pitchFamily="34" charset="0"/>
              <a:cs typeface="Arial" panose="020B0604020202020204" pitchFamily="34" charset="0"/>
            </a:endParaRPr>
          </a:p>
        </p:txBody>
      </p:sp>
      <p:sp>
        <p:nvSpPr>
          <p:cNvPr id="115" name="TextBox 114">
            <a:extLst>
              <a:ext uri="{FF2B5EF4-FFF2-40B4-BE49-F238E27FC236}">
                <a16:creationId xmlns:a16="http://schemas.microsoft.com/office/drawing/2014/main" id="{5294A2B4-694F-44F9-8144-11A08D801874}"/>
              </a:ext>
            </a:extLst>
          </p:cNvPr>
          <p:cNvSpPr txBox="1"/>
          <p:nvPr/>
        </p:nvSpPr>
        <p:spPr>
          <a:xfrm>
            <a:off x="4063827" y="6180749"/>
            <a:ext cx="1238220"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Colleagues</a:t>
            </a:r>
            <a:endParaRPr lang="en-IN" sz="1200">
              <a:latin typeface="Arial" panose="020B0604020202020204" pitchFamily="34" charset="0"/>
              <a:cs typeface="Arial" panose="020B0604020202020204" pitchFamily="34" charset="0"/>
            </a:endParaRPr>
          </a:p>
        </p:txBody>
      </p:sp>
      <p:sp>
        <p:nvSpPr>
          <p:cNvPr id="117" name="TextBox 116">
            <a:extLst>
              <a:ext uri="{FF2B5EF4-FFF2-40B4-BE49-F238E27FC236}">
                <a16:creationId xmlns:a16="http://schemas.microsoft.com/office/drawing/2014/main" id="{0CD81057-3CD9-488C-8622-4C75BA4D493A}"/>
              </a:ext>
            </a:extLst>
          </p:cNvPr>
          <p:cNvSpPr txBox="1"/>
          <p:nvPr/>
        </p:nvSpPr>
        <p:spPr>
          <a:xfrm>
            <a:off x="4063827" y="5168667"/>
            <a:ext cx="1238220" cy="461665"/>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Nurse/Staff Members</a:t>
            </a:r>
            <a:endParaRPr lang="en-IN" sz="1200">
              <a:latin typeface="Arial" panose="020B0604020202020204" pitchFamily="34" charset="0"/>
              <a:cs typeface="Arial" panose="020B0604020202020204" pitchFamily="34" charset="0"/>
            </a:endParaRPr>
          </a:p>
        </p:txBody>
      </p:sp>
      <p:sp>
        <p:nvSpPr>
          <p:cNvPr id="118" name="Rectangle: Rounded Corners 42">
            <a:extLst>
              <a:ext uri="{FF2B5EF4-FFF2-40B4-BE49-F238E27FC236}">
                <a16:creationId xmlns:a16="http://schemas.microsoft.com/office/drawing/2014/main" id="{0D4B6259-4190-460B-B61A-626B8DA2DCFF}"/>
              </a:ext>
            </a:extLst>
          </p:cNvPr>
          <p:cNvSpPr/>
          <p:nvPr/>
        </p:nvSpPr>
        <p:spPr>
          <a:xfrm>
            <a:off x="468960" y="4509867"/>
            <a:ext cx="4800851" cy="2048502"/>
          </a:xfrm>
          <a:prstGeom prst="roundRect">
            <a:avLst/>
          </a:prstGeom>
          <a:noFill/>
          <a:ln w="19050">
            <a:solidFill>
              <a:srgbClr val="FF66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a:p>
        </p:txBody>
      </p:sp>
      <p:sp>
        <p:nvSpPr>
          <p:cNvPr id="120" name="TextBox 119">
            <a:extLst>
              <a:ext uri="{FF2B5EF4-FFF2-40B4-BE49-F238E27FC236}">
                <a16:creationId xmlns:a16="http://schemas.microsoft.com/office/drawing/2014/main" id="{76F15621-04C2-4DF3-A3E0-A6714DB64543}"/>
              </a:ext>
            </a:extLst>
          </p:cNvPr>
          <p:cNvSpPr txBox="1"/>
          <p:nvPr/>
        </p:nvSpPr>
        <p:spPr>
          <a:xfrm>
            <a:off x="2268548" y="5822299"/>
            <a:ext cx="1238220" cy="276999"/>
          </a:xfrm>
          <a:prstGeom prst="rect">
            <a:avLst/>
          </a:prstGeom>
          <a:noFill/>
        </p:spPr>
        <p:txBody>
          <a:bodyPr wrap="square" rtlCol="0">
            <a:spAutoFit/>
          </a:bodyPr>
          <a:lstStyle/>
          <a:p>
            <a:pPr algn="ctr"/>
            <a:r>
              <a:rPr lang="en-US" sz="1200">
                <a:solidFill>
                  <a:schemeClr val="accent2">
                    <a:lumMod val="50000"/>
                  </a:schemeClr>
                </a:solidFill>
                <a:latin typeface="Arial" panose="020B0604020202020204" pitchFamily="34" charset="0"/>
                <a:cs typeface="Arial" panose="020B0604020202020204" pitchFamily="34" charset="0"/>
              </a:rPr>
              <a:t>Pre-</a:t>
            </a:r>
            <a:r>
              <a:rPr lang="en-US" sz="1200" err="1">
                <a:solidFill>
                  <a:schemeClr val="accent2">
                    <a:lumMod val="50000"/>
                  </a:schemeClr>
                </a:solidFill>
                <a:latin typeface="Arial" panose="020B0604020202020204" pitchFamily="34" charset="0"/>
                <a:cs typeface="Arial" panose="020B0604020202020204" pitchFamily="34" charset="0"/>
              </a:rPr>
              <a:t>Covid</a:t>
            </a:r>
            <a:endParaRPr lang="en-IN" sz="1200">
              <a:solidFill>
                <a:schemeClr val="accent2">
                  <a:lumMod val="50000"/>
                </a:schemeClr>
              </a:solidFill>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8AF5D800-8E53-4947-A772-F7B3C737F51E}"/>
              </a:ext>
            </a:extLst>
          </p:cNvPr>
          <p:cNvSpPr txBox="1"/>
          <p:nvPr/>
        </p:nvSpPr>
        <p:spPr>
          <a:xfrm>
            <a:off x="2330101" y="6554833"/>
            <a:ext cx="1238220" cy="276999"/>
          </a:xfrm>
          <a:prstGeom prst="rect">
            <a:avLst/>
          </a:prstGeom>
          <a:noFill/>
        </p:spPr>
        <p:txBody>
          <a:bodyPr wrap="square" rtlCol="0">
            <a:spAutoFit/>
          </a:bodyPr>
          <a:lstStyle/>
          <a:p>
            <a:pPr algn="ctr"/>
            <a:r>
              <a:rPr lang="en-US" sz="1200">
                <a:solidFill>
                  <a:schemeClr val="accent2">
                    <a:lumMod val="50000"/>
                  </a:schemeClr>
                </a:solidFill>
                <a:latin typeface="Arial" panose="020B0604020202020204" pitchFamily="34" charset="0"/>
                <a:cs typeface="Arial" panose="020B0604020202020204" pitchFamily="34" charset="0"/>
              </a:rPr>
              <a:t>Post-</a:t>
            </a:r>
            <a:r>
              <a:rPr lang="en-US" sz="1200" err="1">
                <a:solidFill>
                  <a:schemeClr val="accent2">
                    <a:lumMod val="50000"/>
                  </a:schemeClr>
                </a:solidFill>
                <a:latin typeface="Arial" panose="020B0604020202020204" pitchFamily="34" charset="0"/>
                <a:cs typeface="Arial" panose="020B0604020202020204" pitchFamily="34" charset="0"/>
              </a:rPr>
              <a:t>Covid</a:t>
            </a:r>
            <a:endParaRPr lang="en-IN" sz="1200">
              <a:solidFill>
                <a:schemeClr val="accent2">
                  <a:lumMod val="50000"/>
                </a:schemeClr>
              </a:solidFill>
              <a:latin typeface="Arial" panose="020B0604020202020204" pitchFamily="34" charset="0"/>
              <a:cs typeface="Arial" panose="020B0604020202020204" pitchFamily="34" charset="0"/>
            </a:endParaRPr>
          </a:p>
        </p:txBody>
      </p:sp>
      <p:graphicFrame>
        <p:nvGraphicFramePr>
          <p:cNvPr id="124" name="Chart 123">
            <a:extLst>
              <a:ext uri="{FF2B5EF4-FFF2-40B4-BE49-F238E27FC236}">
                <a16:creationId xmlns:a16="http://schemas.microsoft.com/office/drawing/2014/main" id="{A0C8195A-BF88-42FA-A3F7-791B9A20E338}"/>
              </a:ext>
            </a:extLst>
          </p:cNvPr>
          <p:cNvGraphicFramePr>
            <a:graphicFrameLocks/>
          </p:cNvGraphicFramePr>
          <p:nvPr>
            <p:extLst>
              <p:ext uri="{D42A27DB-BD31-4B8C-83A1-F6EECF244321}">
                <p14:modId xmlns:p14="http://schemas.microsoft.com/office/powerpoint/2010/main" val="1675338194"/>
              </p:ext>
            </p:extLst>
          </p:nvPr>
        </p:nvGraphicFramePr>
        <p:xfrm>
          <a:off x="18975" y="1656975"/>
          <a:ext cx="3989940" cy="2575791"/>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125" name="Chart 124">
            <a:extLst>
              <a:ext uri="{FF2B5EF4-FFF2-40B4-BE49-F238E27FC236}">
                <a16:creationId xmlns:a16="http://schemas.microsoft.com/office/drawing/2014/main" id="{C1C2336E-7F83-4C97-B812-0DB16BF53E03}"/>
              </a:ext>
            </a:extLst>
          </p:cNvPr>
          <p:cNvGraphicFramePr>
            <a:graphicFrameLocks/>
          </p:cNvGraphicFramePr>
          <p:nvPr>
            <p:extLst>
              <p:ext uri="{D42A27DB-BD31-4B8C-83A1-F6EECF244321}">
                <p14:modId xmlns:p14="http://schemas.microsoft.com/office/powerpoint/2010/main" val="3586503300"/>
              </p:ext>
            </p:extLst>
          </p:nvPr>
        </p:nvGraphicFramePr>
        <p:xfrm>
          <a:off x="3823400" y="1555346"/>
          <a:ext cx="3305697" cy="2486960"/>
        </p:xfrm>
        <a:graphic>
          <a:graphicData uri="http://schemas.openxmlformats.org/drawingml/2006/chart">
            <c:chart xmlns:c="http://schemas.openxmlformats.org/drawingml/2006/chart" xmlns:r="http://schemas.openxmlformats.org/officeDocument/2006/relationships" r:id="rId14"/>
          </a:graphicData>
        </a:graphic>
      </p:graphicFrame>
      <p:cxnSp>
        <p:nvCxnSpPr>
          <p:cNvPr id="127" name="Straight Connector 126">
            <a:extLst>
              <a:ext uri="{FF2B5EF4-FFF2-40B4-BE49-F238E27FC236}">
                <a16:creationId xmlns:a16="http://schemas.microsoft.com/office/drawing/2014/main" id="{1C812D0E-EBA4-4983-90FF-6320A1FA800B}"/>
              </a:ext>
            </a:extLst>
          </p:cNvPr>
          <p:cNvCxnSpPr>
            <a:cxnSpLocks/>
          </p:cNvCxnSpPr>
          <p:nvPr/>
        </p:nvCxnSpPr>
        <p:spPr>
          <a:xfrm>
            <a:off x="3876492" y="1537422"/>
            <a:ext cx="0" cy="2625370"/>
          </a:xfrm>
          <a:prstGeom prst="line">
            <a:avLst/>
          </a:prstGeom>
          <a:ln w="12700">
            <a:solidFill>
              <a:srgbClr val="FF6600"/>
            </a:solidFill>
            <a:prstDash val="sysDash"/>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95C6AD24-A748-4B59-8BF6-B31B78D7EEE1}"/>
              </a:ext>
            </a:extLst>
          </p:cNvPr>
          <p:cNvGrpSpPr/>
          <p:nvPr/>
        </p:nvGrpSpPr>
        <p:grpSpPr>
          <a:xfrm>
            <a:off x="895027" y="2703337"/>
            <a:ext cx="2720996" cy="836205"/>
            <a:chOff x="895027" y="2703337"/>
            <a:chExt cx="2720996" cy="836205"/>
          </a:xfrm>
        </p:grpSpPr>
        <p:cxnSp>
          <p:nvCxnSpPr>
            <p:cNvPr id="132" name="Straight Connector 131">
              <a:extLst>
                <a:ext uri="{FF2B5EF4-FFF2-40B4-BE49-F238E27FC236}">
                  <a16:creationId xmlns:a16="http://schemas.microsoft.com/office/drawing/2014/main" id="{B74915C9-1FBC-4AD5-9B91-4673DD223028}"/>
                </a:ext>
              </a:extLst>
            </p:cNvPr>
            <p:cNvCxnSpPr>
              <a:cxnSpLocks/>
            </p:cNvCxnSpPr>
            <p:nvPr/>
          </p:nvCxnSpPr>
          <p:spPr>
            <a:xfrm flipV="1">
              <a:off x="914400" y="2725618"/>
              <a:ext cx="0" cy="781715"/>
            </a:xfrm>
            <a:prstGeom prst="line">
              <a:avLst/>
            </a:prstGeom>
            <a:ln w="12700">
              <a:solidFill>
                <a:srgbClr val="FF3300"/>
              </a:solidFill>
              <a:prstDash val="sysDash"/>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F86982B9-E31C-40F3-8D34-11CBA31B3BDB}"/>
                </a:ext>
              </a:extLst>
            </p:cNvPr>
            <p:cNvCxnSpPr>
              <a:cxnSpLocks/>
            </p:cNvCxnSpPr>
            <p:nvPr/>
          </p:nvCxnSpPr>
          <p:spPr>
            <a:xfrm>
              <a:off x="904076" y="2703337"/>
              <a:ext cx="2711947" cy="483455"/>
            </a:xfrm>
            <a:prstGeom prst="line">
              <a:avLst/>
            </a:prstGeom>
            <a:ln w="12700">
              <a:solidFill>
                <a:srgbClr val="FF3300"/>
              </a:solidFill>
              <a:prstDash val="sysDash"/>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FD1CB9A-E02E-4B22-96C5-1C39BD9E3DCA}"/>
                </a:ext>
              </a:extLst>
            </p:cNvPr>
            <p:cNvCxnSpPr>
              <a:cxnSpLocks/>
            </p:cNvCxnSpPr>
            <p:nvPr/>
          </p:nvCxnSpPr>
          <p:spPr>
            <a:xfrm>
              <a:off x="895027" y="3507333"/>
              <a:ext cx="2698906" cy="32209"/>
            </a:xfrm>
            <a:prstGeom prst="line">
              <a:avLst/>
            </a:prstGeom>
            <a:ln w="12700">
              <a:solidFill>
                <a:srgbClr val="FF3300"/>
              </a:solidFill>
              <a:prstDash val="sysDash"/>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7ED411C0-AC90-4F75-9E26-868F4FB436CD}"/>
                </a:ext>
              </a:extLst>
            </p:cNvPr>
            <p:cNvCxnSpPr>
              <a:cxnSpLocks/>
            </p:cNvCxnSpPr>
            <p:nvPr/>
          </p:nvCxnSpPr>
          <p:spPr>
            <a:xfrm flipV="1">
              <a:off x="3608864" y="3186792"/>
              <a:ext cx="0" cy="352750"/>
            </a:xfrm>
            <a:prstGeom prst="line">
              <a:avLst/>
            </a:prstGeom>
            <a:ln w="12700">
              <a:solidFill>
                <a:srgbClr val="FF3300"/>
              </a:solidFill>
              <a:prstDash val="sysDash"/>
            </a:ln>
          </p:spPr>
          <p:style>
            <a:lnRef idx="1">
              <a:schemeClr val="accent1"/>
            </a:lnRef>
            <a:fillRef idx="0">
              <a:schemeClr val="accent1"/>
            </a:fillRef>
            <a:effectRef idx="0">
              <a:schemeClr val="accent1"/>
            </a:effectRef>
            <a:fontRef idx="minor">
              <a:schemeClr val="tx1"/>
            </a:fontRef>
          </p:style>
        </p:cxnSp>
      </p:grpSp>
      <p:sp>
        <p:nvSpPr>
          <p:cNvPr id="154" name="TextBox 153">
            <a:extLst>
              <a:ext uri="{FF2B5EF4-FFF2-40B4-BE49-F238E27FC236}">
                <a16:creationId xmlns:a16="http://schemas.microsoft.com/office/drawing/2014/main" id="{B8D58316-E955-41BA-A297-89B207FE2E92}"/>
              </a:ext>
            </a:extLst>
          </p:cNvPr>
          <p:cNvSpPr txBox="1"/>
          <p:nvPr/>
        </p:nvSpPr>
        <p:spPr>
          <a:xfrm>
            <a:off x="5374514" y="4787099"/>
            <a:ext cx="1716515" cy="1569660"/>
          </a:xfrm>
          <a:prstGeom prst="rect">
            <a:avLst/>
          </a:prstGeom>
          <a:noFill/>
        </p:spPr>
        <p:txBody>
          <a:bodyPr wrap="square" rtlCol="0">
            <a:spAutoFit/>
          </a:bodyPr>
          <a:lstStyle/>
          <a:p>
            <a:pPr algn="ctr"/>
            <a:r>
              <a:rPr lang="en-US" sz="1600">
                <a:solidFill>
                  <a:schemeClr val="accent2">
                    <a:lumMod val="50000"/>
                  </a:schemeClr>
                </a:solidFill>
              </a:rPr>
              <a:t>Physicians prefer </a:t>
            </a:r>
            <a:r>
              <a:rPr lang="en-US" sz="1600" b="1">
                <a:solidFill>
                  <a:schemeClr val="accent2">
                    <a:lumMod val="50000"/>
                  </a:schemeClr>
                </a:solidFill>
              </a:rPr>
              <a:t>multi stake holder </a:t>
            </a:r>
            <a:r>
              <a:rPr lang="en-US" sz="1600">
                <a:solidFill>
                  <a:schemeClr val="accent2">
                    <a:lumMod val="50000"/>
                  </a:schemeClr>
                </a:solidFill>
              </a:rPr>
              <a:t>engagement in </a:t>
            </a:r>
            <a:r>
              <a:rPr lang="en-US" sz="1600" b="1">
                <a:solidFill>
                  <a:schemeClr val="accent2">
                    <a:lumMod val="50000"/>
                  </a:schemeClr>
                </a:solidFill>
              </a:rPr>
              <a:t>virtual interaction </a:t>
            </a:r>
            <a:r>
              <a:rPr lang="en-US" sz="1600">
                <a:solidFill>
                  <a:schemeClr val="accent2">
                    <a:lumMod val="50000"/>
                  </a:schemeClr>
                </a:solidFill>
              </a:rPr>
              <a:t>in the post-</a:t>
            </a:r>
            <a:r>
              <a:rPr lang="en-US" sz="1600" err="1">
                <a:solidFill>
                  <a:schemeClr val="accent2">
                    <a:lumMod val="50000"/>
                  </a:schemeClr>
                </a:solidFill>
              </a:rPr>
              <a:t>covid</a:t>
            </a:r>
            <a:r>
              <a:rPr lang="en-US" sz="1600">
                <a:solidFill>
                  <a:schemeClr val="accent2">
                    <a:lumMod val="50000"/>
                  </a:schemeClr>
                </a:solidFill>
              </a:rPr>
              <a:t> scenario</a:t>
            </a:r>
            <a:endParaRPr lang="en-IN" sz="1600">
              <a:solidFill>
                <a:schemeClr val="accent2">
                  <a:lumMod val="50000"/>
                </a:schemeClr>
              </a:solidFill>
            </a:endParaRPr>
          </a:p>
        </p:txBody>
      </p:sp>
      <p:sp>
        <p:nvSpPr>
          <p:cNvPr id="91" name="Oval 90">
            <a:extLst>
              <a:ext uri="{FF2B5EF4-FFF2-40B4-BE49-F238E27FC236}">
                <a16:creationId xmlns:a16="http://schemas.microsoft.com/office/drawing/2014/main" id="{FC1071DE-99D9-554F-8000-E0B9895481F4}"/>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2</a:t>
            </a:r>
          </a:p>
        </p:txBody>
      </p:sp>
      <p:sp>
        <p:nvSpPr>
          <p:cNvPr id="92" name="Title 1">
            <a:extLst>
              <a:ext uri="{FF2B5EF4-FFF2-40B4-BE49-F238E27FC236}">
                <a16:creationId xmlns:a16="http://schemas.microsoft.com/office/drawing/2014/main" id="{225B9B55-053A-7B45-A357-FBA496292683}"/>
              </a:ext>
            </a:extLst>
          </p:cNvPr>
          <p:cNvSpPr txBox="1">
            <a:spLocks/>
          </p:cNvSpPr>
          <p:nvPr/>
        </p:nvSpPr>
        <p:spPr>
          <a:xfrm>
            <a:off x="193856" y="401206"/>
            <a:ext cx="10699789"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600" b="1" kern="1200">
                <a:solidFill>
                  <a:schemeClr val="tx1"/>
                </a:solidFill>
                <a:latin typeface="Arial" panose="020B0604020202020204" pitchFamily="34" charset="0"/>
                <a:ea typeface="+mj-ea"/>
                <a:cs typeface="Arial" panose="020B0604020202020204" pitchFamily="34" charset="0"/>
              </a:defRPr>
            </a:lvl1pPr>
          </a:lstStyle>
          <a:p>
            <a:r>
              <a:rPr lang="en-US"/>
              <a:t>While there is decline in frequency of sales rep-HCP interaction post </a:t>
            </a:r>
            <a:r>
              <a:rPr lang="en-US" err="1"/>
              <a:t>covid</a:t>
            </a:r>
            <a:r>
              <a:rPr lang="en-US"/>
              <a:t>, there is gradual uptake of virtual mode of communication to bridge the gap</a:t>
            </a:r>
            <a:endParaRPr lang="en-IN"/>
          </a:p>
        </p:txBody>
      </p:sp>
      <p:sp>
        <p:nvSpPr>
          <p:cNvPr id="105" name="Rectangle: Top Corners Rounded 80">
            <a:extLst>
              <a:ext uri="{FF2B5EF4-FFF2-40B4-BE49-F238E27FC236}">
                <a16:creationId xmlns:a16="http://schemas.microsoft.com/office/drawing/2014/main" id="{1947B239-4BEA-4A89-999E-6EE0B77190B5}"/>
              </a:ext>
            </a:extLst>
          </p:cNvPr>
          <p:cNvSpPr/>
          <p:nvPr/>
        </p:nvSpPr>
        <p:spPr>
          <a:xfrm rot="5400000">
            <a:off x="6970950" y="-1084101"/>
            <a:ext cx="257818" cy="2583568"/>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109" name="Rectangle: Top Corners Rounded 86">
            <a:extLst>
              <a:ext uri="{FF2B5EF4-FFF2-40B4-BE49-F238E27FC236}">
                <a16:creationId xmlns:a16="http://schemas.microsoft.com/office/drawing/2014/main" id="{9765F152-6371-452C-899F-2835E10B83E2}"/>
              </a:ext>
            </a:extLst>
          </p:cNvPr>
          <p:cNvSpPr/>
          <p:nvPr/>
        </p:nvSpPr>
        <p:spPr>
          <a:xfrm rot="5400000">
            <a:off x="4314749" y="-1130079"/>
            <a:ext cx="259304" cy="2690651"/>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112" name="Rectangle: Top Corners Rounded 87">
            <a:extLst>
              <a:ext uri="{FF2B5EF4-FFF2-40B4-BE49-F238E27FC236}">
                <a16:creationId xmlns:a16="http://schemas.microsoft.com/office/drawing/2014/main" id="{D344202E-A455-4D8D-BFA2-73F00A672D2D}"/>
              </a:ext>
            </a:extLst>
          </p:cNvPr>
          <p:cNvSpPr/>
          <p:nvPr/>
        </p:nvSpPr>
        <p:spPr>
          <a:xfrm rot="5400000">
            <a:off x="1433933" y="-1301896"/>
            <a:ext cx="258681" cy="3034908"/>
          </a:xfrm>
          <a:prstGeom prst="round2SameRect">
            <a:avLst>
              <a:gd name="adj1" fmla="val 0"/>
              <a:gd name="adj2" fmla="val 0"/>
            </a:avLst>
          </a:prstGeom>
          <a:solidFill>
            <a:srgbClr val="FD5D0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114" name="Rectangle: Top Corners Rounded 88">
            <a:extLst>
              <a:ext uri="{FF2B5EF4-FFF2-40B4-BE49-F238E27FC236}">
                <a16:creationId xmlns:a16="http://schemas.microsoft.com/office/drawing/2014/main" id="{0404B77B-48D9-4597-8580-C1749B6C3582}"/>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32502500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bject 8">
            <a:extLst>
              <a:ext uri="{FF2B5EF4-FFF2-40B4-BE49-F238E27FC236}">
                <a16:creationId xmlns:a16="http://schemas.microsoft.com/office/drawing/2014/main" id="{F4331EDC-B23A-4533-B47C-6A4233168883}"/>
              </a:ext>
            </a:extLst>
          </p:cNvPr>
          <p:cNvSpPr/>
          <p:nvPr/>
        </p:nvSpPr>
        <p:spPr>
          <a:xfrm rot="16200000">
            <a:off x="9633968" y="1746456"/>
            <a:ext cx="1247561" cy="3684708"/>
          </a:xfrm>
          <a:custGeom>
            <a:avLst/>
            <a:gdLst/>
            <a:ahLst/>
            <a:cxnLst/>
            <a:rect l="l" t="t" r="r" b="b"/>
            <a:pathLst>
              <a:path w="5585460" h="4636135">
                <a:moveTo>
                  <a:pt x="4595622" y="0"/>
                </a:moveTo>
                <a:lnTo>
                  <a:pt x="0" y="0"/>
                </a:lnTo>
                <a:lnTo>
                  <a:pt x="0" y="4636008"/>
                </a:lnTo>
                <a:lnTo>
                  <a:pt x="4595622" y="4636008"/>
                </a:lnTo>
                <a:lnTo>
                  <a:pt x="5585460" y="2318004"/>
                </a:lnTo>
                <a:lnTo>
                  <a:pt x="4595622" y="0"/>
                </a:lnTo>
                <a:close/>
              </a:path>
            </a:pathLst>
          </a:custGeom>
          <a:solidFill>
            <a:schemeClr val="accent2">
              <a:lumMod val="60000"/>
              <a:lumOff val="40000"/>
            </a:schemeClr>
          </a:solidFill>
        </p:spPr>
        <p:txBody>
          <a:bodyPr wrap="square" lIns="0" tIns="0" rIns="0" bIns="0" rtlCol="0"/>
          <a:lstStyle/>
          <a:p>
            <a:endParaRPr/>
          </a:p>
        </p:txBody>
      </p:sp>
      <p:sp>
        <p:nvSpPr>
          <p:cNvPr id="43" name="object 8">
            <a:extLst>
              <a:ext uri="{FF2B5EF4-FFF2-40B4-BE49-F238E27FC236}">
                <a16:creationId xmlns:a16="http://schemas.microsoft.com/office/drawing/2014/main" id="{1520C618-45A9-4A79-B098-49CB064E1D20}"/>
              </a:ext>
            </a:extLst>
          </p:cNvPr>
          <p:cNvSpPr/>
          <p:nvPr/>
        </p:nvSpPr>
        <p:spPr>
          <a:xfrm rot="5400000">
            <a:off x="9606135" y="453273"/>
            <a:ext cx="1302497" cy="3683976"/>
          </a:xfrm>
          <a:custGeom>
            <a:avLst/>
            <a:gdLst/>
            <a:ahLst/>
            <a:cxnLst/>
            <a:rect l="l" t="t" r="r" b="b"/>
            <a:pathLst>
              <a:path w="5585460" h="4636135">
                <a:moveTo>
                  <a:pt x="4595622" y="0"/>
                </a:moveTo>
                <a:lnTo>
                  <a:pt x="0" y="0"/>
                </a:lnTo>
                <a:lnTo>
                  <a:pt x="0" y="4636008"/>
                </a:lnTo>
                <a:lnTo>
                  <a:pt x="4595622" y="4636008"/>
                </a:lnTo>
                <a:lnTo>
                  <a:pt x="5585460" y="2318004"/>
                </a:lnTo>
                <a:lnTo>
                  <a:pt x="4595622" y="0"/>
                </a:lnTo>
                <a:close/>
              </a:path>
            </a:pathLst>
          </a:custGeom>
          <a:solidFill>
            <a:schemeClr val="accent2">
              <a:lumMod val="20000"/>
              <a:lumOff val="80000"/>
            </a:schemeClr>
          </a:solidFill>
        </p:spPr>
        <p:txBody>
          <a:bodyPr wrap="square" lIns="0" tIns="0" rIns="0" bIns="0" rtlCol="0"/>
          <a:lstStyle/>
          <a:p>
            <a:endParaRPr/>
          </a:p>
        </p:txBody>
      </p:sp>
      <p:sp>
        <p:nvSpPr>
          <p:cNvPr id="30" name="Rectangle: Rounded Corners 48">
            <a:extLst>
              <a:ext uri="{FF2B5EF4-FFF2-40B4-BE49-F238E27FC236}">
                <a16:creationId xmlns:a16="http://schemas.microsoft.com/office/drawing/2014/main" id="{ECBB924E-D58D-48EA-BCBE-9C4F62A1C59B}"/>
              </a:ext>
            </a:extLst>
          </p:cNvPr>
          <p:cNvSpPr/>
          <p:nvPr/>
        </p:nvSpPr>
        <p:spPr>
          <a:xfrm>
            <a:off x="207713" y="1633613"/>
            <a:ext cx="7895733" cy="3204420"/>
          </a:xfrm>
          <a:prstGeom prst="roundRect">
            <a:avLst/>
          </a:prstGeom>
          <a:noFill/>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b="1"/>
          </a:p>
          <a:p>
            <a:pPr algn="ctr"/>
            <a:endParaRPr lang="en-IN" sz="1200"/>
          </a:p>
        </p:txBody>
      </p:sp>
      <p:sp>
        <p:nvSpPr>
          <p:cNvPr id="29" name="Rectangle 28">
            <a:extLst>
              <a:ext uri="{FF2B5EF4-FFF2-40B4-BE49-F238E27FC236}">
                <a16:creationId xmlns:a16="http://schemas.microsoft.com/office/drawing/2014/main" id="{CC4CB280-96CB-48D5-91F0-832523E12F32}"/>
              </a:ext>
            </a:extLst>
          </p:cNvPr>
          <p:cNvSpPr/>
          <p:nvPr/>
        </p:nvSpPr>
        <p:spPr>
          <a:xfrm>
            <a:off x="3036423" y="1420787"/>
            <a:ext cx="2079145" cy="556215"/>
          </a:xfrm>
          <a:prstGeom prst="rect">
            <a:avLst/>
          </a:prstGeom>
          <a:solidFill>
            <a:schemeClr val="bg1"/>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tx1"/>
              </a:solidFill>
            </a:endParaRPr>
          </a:p>
        </p:txBody>
      </p:sp>
      <p:pic>
        <p:nvPicPr>
          <p:cNvPr id="10" name="Picture 9">
            <a:extLst>
              <a:ext uri="{FF2B5EF4-FFF2-40B4-BE49-F238E27FC236}">
                <a16:creationId xmlns:a16="http://schemas.microsoft.com/office/drawing/2014/main" id="{78E6ADE8-28CD-4DC1-B9D3-6D129E5B5934}"/>
              </a:ext>
            </a:extLst>
          </p:cNvPr>
          <p:cNvPicPr>
            <a:picLocks noChangeAspect="1"/>
          </p:cNvPicPr>
          <p:nvPr/>
        </p:nvPicPr>
        <p:blipFill>
          <a:blip r:embed="rId3"/>
          <a:stretch>
            <a:fillRect/>
          </a:stretch>
        </p:blipFill>
        <p:spPr>
          <a:xfrm>
            <a:off x="4769565" y="2034231"/>
            <a:ext cx="3299828" cy="2501696"/>
          </a:xfrm>
          <a:prstGeom prst="rect">
            <a:avLst/>
          </a:prstGeom>
        </p:spPr>
      </p:pic>
      <p:graphicFrame>
        <p:nvGraphicFramePr>
          <p:cNvPr id="15" name="Chart 14">
            <a:extLst>
              <a:ext uri="{FF2B5EF4-FFF2-40B4-BE49-F238E27FC236}">
                <a16:creationId xmlns:a16="http://schemas.microsoft.com/office/drawing/2014/main" id="{1FD792F3-522F-4C13-8102-A4DF8418C973}"/>
              </a:ext>
            </a:extLst>
          </p:cNvPr>
          <p:cNvGraphicFramePr>
            <a:graphicFrameLocks/>
          </p:cNvGraphicFramePr>
          <p:nvPr>
            <p:extLst>
              <p:ext uri="{D42A27DB-BD31-4B8C-83A1-F6EECF244321}">
                <p14:modId xmlns:p14="http://schemas.microsoft.com/office/powerpoint/2010/main" val="700069188"/>
              </p:ext>
            </p:extLst>
          </p:nvPr>
        </p:nvGraphicFramePr>
        <p:xfrm>
          <a:off x="334840" y="1687737"/>
          <a:ext cx="2209214" cy="3194685"/>
        </p:xfrm>
        <a:graphic>
          <a:graphicData uri="http://schemas.openxmlformats.org/drawingml/2006/chart">
            <c:chart xmlns:c="http://schemas.openxmlformats.org/drawingml/2006/chart" xmlns:r="http://schemas.openxmlformats.org/officeDocument/2006/relationships" r:id="rId4"/>
          </a:graphicData>
        </a:graphic>
      </p:graphicFrame>
      <p:sp>
        <p:nvSpPr>
          <p:cNvPr id="16" name="Right Bracket 15">
            <a:extLst>
              <a:ext uri="{FF2B5EF4-FFF2-40B4-BE49-F238E27FC236}">
                <a16:creationId xmlns:a16="http://schemas.microsoft.com/office/drawing/2014/main" id="{18ECCECB-88C1-43FD-B00C-6BEAD9E7B05C}"/>
              </a:ext>
            </a:extLst>
          </p:cNvPr>
          <p:cNvSpPr/>
          <p:nvPr/>
        </p:nvSpPr>
        <p:spPr>
          <a:xfrm>
            <a:off x="2049340" y="2586014"/>
            <a:ext cx="167054" cy="1626577"/>
          </a:xfrm>
          <a:prstGeom prst="rightBracket">
            <a:avLst/>
          </a:prstGeom>
          <a:ln w="28575">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8" name="Straight Connector 17">
            <a:extLst>
              <a:ext uri="{FF2B5EF4-FFF2-40B4-BE49-F238E27FC236}">
                <a16:creationId xmlns:a16="http://schemas.microsoft.com/office/drawing/2014/main" id="{C0DFECE7-673C-466D-A694-A2D1BA5C242E}"/>
              </a:ext>
            </a:extLst>
          </p:cNvPr>
          <p:cNvCxnSpPr>
            <a:endCxn id="15" idx="3"/>
          </p:cNvCxnSpPr>
          <p:nvPr/>
        </p:nvCxnSpPr>
        <p:spPr>
          <a:xfrm>
            <a:off x="2216394" y="3285079"/>
            <a:ext cx="327660" cy="0"/>
          </a:xfrm>
          <a:prstGeom prst="line">
            <a:avLst/>
          </a:prstGeom>
          <a:ln>
            <a:solidFill>
              <a:srgbClr val="FF3300"/>
            </a:solidFill>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8E423DA3-9F09-4688-ACE7-BD30354B84AB}"/>
              </a:ext>
            </a:extLst>
          </p:cNvPr>
          <p:cNvSpPr/>
          <p:nvPr/>
        </p:nvSpPr>
        <p:spPr>
          <a:xfrm>
            <a:off x="2638425" y="2946507"/>
            <a:ext cx="1776046" cy="835252"/>
          </a:xfrm>
          <a:prstGeom prst="roundRect">
            <a:avLst/>
          </a:prstGeom>
          <a:solidFill>
            <a:srgbClr val="FF66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latin typeface="Arial" panose="020B0604020202020204" pitchFamily="34" charset="0"/>
                <a:cs typeface="Arial" panose="020B0604020202020204" pitchFamily="34" charset="0"/>
              </a:rPr>
              <a:t>~80% physicians have experienced a decline in patient visits</a:t>
            </a:r>
            <a:endParaRPr lang="en-IN" sz="1400">
              <a:latin typeface="Arial" panose="020B0604020202020204" pitchFamily="34" charset="0"/>
              <a:cs typeface="Arial" panose="020B0604020202020204" pitchFamily="34" charset="0"/>
            </a:endParaRPr>
          </a:p>
        </p:txBody>
      </p:sp>
      <p:sp>
        <p:nvSpPr>
          <p:cNvPr id="23" name="Isosceles Triangle 12">
            <a:extLst>
              <a:ext uri="{FF2B5EF4-FFF2-40B4-BE49-F238E27FC236}">
                <a16:creationId xmlns:a16="http://schemas.microsoft.com/office/drawing/2014/main" id="{878050F6-A930-4730-B5CC-12F12F91BA19}"/>
              </a:ext>
            </a:extLst>
          </p:cNvPr>
          <p:cNvSpPr/>
          <p:nvPr/>
        </p:nvSpPr>
        <p:spPr>
          <a:xfrm rot="5400000">
            <a:off x="4141542" y="3290949"/>
            <a:ext cx="1109679" cy="146367"/>
          </a:xfrm>
          <a:prstGeom prst="triangl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5A2B423A-DB0A-42DE-B96D-752D53AFE177}"/>
              </a:ext>
            </a:extLst>
          </p:cNvPr>
          <p:cNvPicPr>
            <a:picLocks noChangeAspect="1"/>
          </p:cNvPicPr>
          <p:nvPr/>
        </p:nvPicPr>
        <p:blipFill>
          <a:blip r:embed="rId5"/>
          <a:stretch>
            <a:fillRect/>
          </a:stretch>
        </p:blipFill>
        <p:spPr>
          <a:xfrm>
            <a:off x="3210337" y="1438021"/>
            <a:ext cx="506045" cy="495408"/>
          </a:xfrm>
          <a:prstGeom prst="rect">
            <a:avLst/>
          </a:prstGeom>
        </p:spPr>
      </p:pic>
      <p:pic>
        <p:nvPicPr>
          <p:cNvPr id="27" name="Picture 26">
            <a:extLst>
              <a:ext uri="{FF2B5EF4-FFF2-40B4-BE49-F238E27FC236}">
                <a16:creationId xmlns:a16="http://schemas.microsoft.com/office/drawing/2014/main" id="{D0723EA0-223B-4C0B-B90D-DFC6AB2DD740}"/>
              </a:ext>
            </a:extLst>
          </p:cNvPr>
          <p:cNvPicPr>
            <a:picLocks noChangeAspect="1"/>
          </p:cNvPicPr>
          <p:nvPr/>
        </p:nvPicPr>
        <p:blipFill>
          <a:blip r:embed="rId6"/>
          <a:stretch>
            <a:fillRect/>
          </a:stretch>
        </p:blipFill>
        <p:spPr>
          <a:xfrm>
            <a:off x="4470340" y="1438021"/>
            <a:ext cx="501396" cy="495409"/>
          </a:xfrm>
          <a:prstGeom prst="rect">
            <a:avLst/>
          </a:prstGeom>
        </p:spPr>
      </p:pic>
      <p:grpSp>
        <p:nvGrpSpPr>
          <p:cNvPr id="32" name="Group 31">
            <a:extLst>
              <a:ext uri="{FF2B5EF4-FFF2-40B4-BE49-F238E27FC236}">
                <a16:creationId xmlns:a16="http://schemas.microsoft.com/office/drawing/2014/main" id="{88D71623-D364-47D2-BB3D-920A1090B3DE}"/>
              </a:ext>
            </a:extLst>
          </p:cNvPr>
          <p:cNvGrpSpPr/>
          <p:nvPr/>
        </p:nvGrpSpPr>
        <p:grpSpPr>
          <a:xfrm>
            <a:off x="10024440" y="2687261"/>
            <a:ext cx="668392" cy="598211"/>
            <a:chOff x="5341370" y="3510242"/>
            <a:chExt cx="1345974" cy="1281147"/>
          </a:xfrm>
        </p:grpSpPr>
        <p:grpSp>
          <p:nvGrpSpPr>
            <p:cNvPr id="33" name="Group 32">
              <a:extLst>
                <a:ext uri="{FF2B5EF4-FFF2-40B4-BE49-F238E27FC236}">
                  <a16:creationId xmlns:a16="http://schemas.microsoft.com/office/drawing/2014/main" id="{A9A22FF4-1303-4F6D-9716-383A45F8B6A5}"/>
                </a:ext>
              </a:extLst>
            </p:cNvPr>
            <p:cNvGrpSpPr/>
            <p:nvPr/>
          </p:nvGrpSpPr>
          <p:grpSpPr>
            <a:xfrm rot="19116545">
              <a:off x="5341370" y="3510242"/>
              <a:ext cx="1345974" cy="1281147"/>
              <a:chOff x="5341370" y="3510242"/>
              <a:chExt cx="1345974" cy="1281147"/>
            </a:xfrm>
          </p:grpSpPr>
          <p:sp>
            <p:nvSpPr>
              <p:cNvPr id="36" name="object 46">
                <a:extLst>
                  <a:ext uri="{FF2B5EF4-FFF2-40B4-BE49-F238E27FC236}">
                    <a16:creationId xmlns:a16="http://schemas.microsoft.com/office/drawing/2014/main" id="{9F714CD1-DDE3-4036-AB7A-49FF542EA246}"/>
                  </a:ext>
                </a:extLst>
              </p:cNvPr>
              <p:cNvSpPr/>
              <p:nvPr/>
            </p:nvSpPr>
            <p:spPr>
              <a:xfrm>
                <a:off x="5623506" y="3510242"/>
                <a:ext cx="1063838" cy="1281147"/>
              </a:xfrm>
              <a:custGeom>
                <a:avLst/>
                <a:gdLst/>
                <a:ahLst/>
                <a:cxnLst/>
                <a:rect l="l" t="t" r="r" b="b"/>
                <a:pathLst>
                  <a:path w="2499359" h="3009900">
                    <a:moveTo>
                      <a:pt x="915162" y="0"/>
                    </a:moveTo>
                    <a:lnTo>
                      <a:pt x="870873" y="605"/>
                    </a:lnTo>
                    <a:lnTo>
                      <a:pt x="820094" y="2885"/>
                    </a:lnTo>
                    <a:lnTo>
                      <a:pt x="769747" y="6984"/>
                    </a:lnTo>
                    <a:lnTo>
                      <a:pt x="705436" y="15865"/>
                    </a:lnTo>
                    <a:lnTo>
                      <a:pt x="642772" y="28651"/>
                    </a:lnTo>
                    <a:lnTo>
                      <a:pt x="581935" y="45189"/>
                    </a:lnTo>
                    <a:lnTo>
                      <a:pt x="523101" y="65327"/>
                    </a:lnTo>
                    <a:lnTo>
                      <a:pt x="466451" y="88913"/>
                    </a:lnTo>
                    <a:lnTo>
                      <a:pt x="412161" y="115795"/>
                    </a:lnTo>
                    <a:lnTo>
                      <a:pt x="360412" y="145819"/>
                    </a:lnTo>
                    <a:lnTo>
                      <a:pt x="311380" y="178833"/>
                    </a:lnTo>
                    <a:lnTo>
                      <a:pt x="265245" y="214685"/>
                    </a:lnTo>
                    <a:lnTo>
                      <a:pt x="222186" y="253222"/>
                    </a:lnTo>
                    <a:lnTo>
                      <a:pt x="182380" y="294291"/>
                    </a:lnTo>
                    <a:lnTo>
                      <a:pt x="146007" y="337741"/>
                    </a:lnTo>
                    <a:lnTo>
                      <a:pt x="113244" y="383419"/>
                    </a:lnTo>
                    <a:lnTo>
                      <a:pt x="84271" y="431172"/>
                    </a:lnTo>
                    <a:lnTo>
                      <a:pt x="59265" y="480847"/>
                    </a:lnTo>
                    <a:lnTo>
                      <a:pt x="38405" y="532293"/>
                    </a:lnTo>
                    <a:lnTo>
                      <a:pt x="21871" y="585357"/>
                    </a:lnTo>
                    <a:lnTo>
                      <a:pt x="9839" y="639885"/>
                    </a:lnTo>
                    <a:lnTo>
                      <a:pt x="2489" y="695727"/>
                    </a:lnTo>
                    <a:lnTo>
                      <a:pt x="0" y="752728"/>
                    </a:lnTo>
                    <a:lnTo>
                      <a:pt x="2920" y="814455"/>
                    </a:lnTo>
                    <a:lnTo>
                      <a:pt x="11530" y="874806"/>
                    </a:lnTo>
                    <a:lnTo>
                      <a:pt x="25603" y="933586"/>
                    </a:lnTo>
                    <a:lnTo>
                      <a:pt x="44912" y="990604"/>
                    </a:lnTo>
                    <a:lnTo>
                      <a:pt x="69228" y="1045664"/>
                    </a:lnTo>
                    <a:lnTo>
                      <a:pt x="98326" y="1098574"/>
                    </a:lnTo>
                    <a:lnTo>
                      <a:pt x="131978" y="1149140"/>
                    </a:lnTo>
                    <a:lnTo>
                      <a:pt x="169956" y="1197170"/>
                    </a:lnTo>
                    <a:lnTo>
                      <a:pt x="212034" y="1242468"/>
                    </a:lnTo>
                    <a:lnTo>
                      <a:pt x="257984" y="1284843"/>
                    </a:lnTo>
                    <a:lnTo>
                      <a:pt x="307580" y="1324100"/>
                    </a:lnTo>
                    <a:lnTo>
                      <a:pt x="360593" y="1360046"/>
                    </a:lnTo>
                    <a:lnTo>
                      <a:pt x="416798" y="1392487"/>
                    </a:lnTo>
                    <a:lnTo>
                      <a:pt x="475966" y="1421231"/>
                    </a:lnTo>
                    <a:lnTo>
                      <a:pt x="537870" y="1446083"/>
                    </a:lnTo>
                    <a:lnTo>
                      <a:pt x="602284" y="1466851"/>
                    </a:lnTo>
                    <a:lnTo>
                      <a:pt x="668980" y="1483340"/>
                    </a:lnTo>
                    <a:lnTo>
                      <a:pt x="737732" y="1495357"/>
                    </a:lnTo>
                    <a:lnTo>
                      <a:pt x="808311" y="1502710"/>
                    </a:lnTo>
                    <a:lnTo>
                      <a:pt x="952652" y="1507696"/>
                    </a:lnTo>
                    <a:lnTo>
                      <a:pt x="1023215" y="1515046"/>
                    </a:lnTo>
                    <a:lnTo>
                      <a:pt x="1091952" y="1527060"/>
                    </a:lnTo>
                    <a:lnTo>
                      <a:pt x="1158635" y="1543543"/>
                    </a:lnTo>
                    <a:lnTo>
                      <a:pt x="1223037" y="1564304"/>
                    </a:lnTo>
                    <a:lnTo>
                      <a:pt x="1284932" y="1589149"/>
                    </a:lnTo>
                    <a:lnTo>
                      <a:pt x="1344091" y="1617884"/>
                    </a:lnTo>
                    <a:lnTo>
                      <a:pt x="1400288" y="1650317"/>
                    </a:lnTo>
                    <a:lnTo>
                      <a:pt x="1453296" y="1686253"/>
                    </a:lnTo>
                    <a:lnTo>
                      <a:pt x="1502886" y="1725501"/>
                    </a:lnTo>
                    <a:lnTo>
                      <a:pt x="1548832" y="1767866"/>
                    </a:lnTo>
                    <a:lnTo>
                      <a:pt x="1590906" y="1813155"/>
                    </a:lnTo>
                    <a:lnTo>
                      <a:pt x="1628882" y="1861175"/>
                    </a:lnTo>
                    <a:lnTo>
                      <a:pt x="1662531" y="1911733"/>
                    </a:lnTo>
                    <a:lnTo>
                      <a:pt x="1691628" y="1964636"/>
                    </a:lnTo>
                    <a:lnTo>
                      <a:pt x="1715943" y="2019690"/>
                    </a:lnTo>
                    <a:lnTo>
                      <a:pt x="1735251" y="2076701"/>
                    </a:lnTo>
                    <a:lnTo>
                      <a:pt x="1749324" y="2135478"/>
                    </a:lnTo>
                    <a:lnTo>
                      <a:pt x="1757934" y="2195826"/>
                    </a:lnTo>
                    <a:lnTo>
                      <a:pt x="1760855" y="2257551"/>
                    </a:lnTo>
                    <a:lnTo>
                      <a:pt x="1758007" y="2318495"/>
                    </a:lnTo>
                    <a:lnTo>
                      <a:pt x="1749609" y="2378099"/>
                    </a:lnTo>
                    <a:lnTo>
                      <a:pt x="1735881" y="2436177"/>
                    </a:lnTo>
                    <a:lnTo>
                      <a:pt x="1717041" y="2492542"/>
                    </a:lnTo>
                    <a:lnTo>
                      <a:pt x="1693306" y="2547008"/>
                    </a:lnTo>
                    <a:lnTo>
                      <a:pt x="1664897" y="2599389"/>
                    </a:lnTo>
                    <a:lnTo>
                      <a:pt x="1632032" y="2649496"/>
                    </a:lnTo>
                    <a:lnTo>
                      <a:pt x="1594930" y="2697144"/>
                    </a:lnTo>
                    <a:lnTo>
                      <a:pt x="1553808" y="2742146"/>
                    </a:lnTo>
                    <a:lnTo>
                      <a:pt x="1508887" y="2784316"/>
                    </a:lnTo>
                    <a:lnTo>
                      <a:pt x="1460384" y="2823466"/>
                    </a:lnTo>
                    <a:lnTo>
                      <a:pt x="1408518" y="2859410"/>
                    </a:lnTo>
                    <a:lnTo>
                      <a:pt x="1353508" y="2891961"/>
                    </a:lnTo>
                    <a:lnTo>
                      <a:pt x="1295573" y="2920932"/>
                    </a:lnTo>
                    <a:lnTo>
                      <a:pt x="1234932" y="2946138"/>
                    </a:lnTo>
                    <a:lnTo>
                      <a:pt x="1171802" y="2967390"/>
                    </a:lnTo>
                    <a:lnTo>
                      <a:pt x="1106403" y="2984503"/>
                    </a:lnTo>
                    <a:lnTo>
                      <a:pt x="1038954" y="2997290"/>
                    </a:lnTo>
                    <a:lnTo>
                      <a:pt x="969673" y="3005563"/>
                    </a:lnTo>
                    <a:lnTo>
                      <a:pt x="898779" y="3009137"/>
                    </a:lnTo>
                    <a:lnTo>
                      <a:pt x="915162" y="3009899"/>
                    </a:lnTo>
                    <a:lnTo>
                      <a:pt x="1045087" y="3004911"/>
                    </a:lnTo>
                    <a:lnTo>
                      <a:pt x="1172120" y="2990204"/>
                    </a:lnTo>
                    <a:lnTo>
                      <a:pt x="1295854" y="2966165"/>
                    </a:lnTo>
                    <a:lnTo>
                      <a:pt x="1415881" y="2933181"/>
                    </a:lnTo>
                    <a:lnTo>
                      <a:pt x="1531792" y="2891641"/>
                    </a:lnTo>
                    <a:lnTo>
                      <a:pt x="1643180" y="2841930"/>
                    </a:lnTo>
                    <a:lnTo>
                      <a:pt x="1749638" y="2784436"/>
                    </a:lnTo>
                    <a:lnTo>
                      <a:pt x="1850757" y="2719547"/>
                    </a:lnTo>
                    <a:lnTo>
                      <a:pt x="1946130" y="2647649"/>
                    </a:lnTo>
                    <a:lnTo>
                      <a:pt x="2035349" y="2569130"/>
                    </a:lnTo>
                    <a:lnTo>
                      <a:pt x="2118006" y="2484377"/>
                    </a:lnTo>
                    <a:lnTo>
                      <a:pt x="2193694" y="2393777"/>
                    </a:lnTo>
                    <a:lnTo>
                      <a:pt x="2262004" y="2297717"/>
                    </a:lnTo>
                    <a:lnTo>
                      <a:pt x="2322529" y="2196585"/>
                    </a:lnTo>
                    <a:lnTo>
                      <a:pt x="2374862" y="2090767"/>
                    </a:lnTo>
                    <a:lnTo>
                      <a:pt x="2418594" y="1980651"/>
                    </a:lnTo>
                    <a:lnTo>
                      <a:pt x="2453317" y="1866624"/>
                    </a:lnTo>
                    <a:lnTo>
                      <a:pt x="2478624" y="1749073"/>
                    </a:lnTo>
                    <a:lnTo>
                      <a:pt x="2494108" y="1628386"/>
                    </a:lnTo>
                    <a:lnTo>
                      <a:pt x="2499243" y="1507696"/>
                    </a:lnTo>
                    <a:lnTo>
                      <a:pt x="2499264" y="1502710"/>
                    </a:lnTo>
                    <a:lnTo>
                      <a:pt x="2494108" y="1381513"/>
                    </a:lnTo>
                    <a:lnTo>
                      <a:pt x="2478624" y="1260826"/>
                    </a:lnTo>
                    <a:lnTo>
                      <a:pt x="2453317" y="1143275"/>
                    </a:lnTo>
                    <a:lnTo>
                      <a:pt x="2418594" y="1029248"/>
                    </a:lnTo>
                    <a:lnTo>
                      <a:pt x="2374862" y="919132"/>
                    </a:lnTo>
                    <a:lnTo>
                      <a:pt x="2322529" y="813314"/>
                    </a:lnTo>
                    <a:lnTo>
                      <a:pt x="2262004" y="712182"/>
                    </a:lnTo>
                    <a:lnTo>
                      <a:pt x="2193694" y="616122"/>
                    </a:lnTo>
                    <a:lnTo>
                      <a:pt x="2118006" y="525522"/>
                    </a:lnTo>
                    <a:lnTo>
                      <a:pt x="2035349" y="440769"/>
                    </a:lnTo>
                    <a:lnTo>
                      <a:pt x="1946130" y="362250"/>
                    </a:lnTo>
                    <a:lnTo>
                      <a:pt x="1850757" y="290352"/>
                    </a:lnTo>
                    <a:lnTo>
                      <a:pt x="1749638" y="225463"/>
                    </a:lnTo>
                    <a:lnTo>
                      <a:pt x="1643180" y="167969"/>
                    </a:lnTo>
                    <a:lnTo>
                      <a:pt x="1531792" y="118258"/>
                    </a:lnTo>
                    <a:lnTo>
                      <a:pt x="1415881" y="76718"/>
                    </a:lnTo>
                    <a:lnTo>
                      <a:pt x="1295854" y="43734"/>
                    </a:lnTo>
                    <a:lnTo>
                      <a:pt x="1172120" y="19695"/>
                    </a:lnTo>
                    <a:lnTo>
                      <a:pt x="1045087" y="4988"/>
                    </a:lnTo>
                    <a:lnTo>
                      <a:pt x="915162" y="0"/>
                    </a:lnTo>
                    <a:close/>
                  </a:path>
                </a:pathLst>
              </a:custGeom>
              <a:solidFill>
                <a:schemeClr val="accent2">
                  <a:lumMod val="60000"/>
                  <a:lumOff val="40000"/>
                </a:schemeClr>
              </a:solidFill>
            </p:spPr>
            <p:txBody>
              <a:bodyPr wrap="square" lIns="0" tIns="0" rIns="0" bIns="0" rtlCol="0"/>
              <a:lstStyle/>
              <a:p>
                <a:endParaRPr/>
              </a:p>
            </p:txBody>
          </p:sp>
          <p:sp>
            <p:nvSpPr>
              <p:cNvPr id="37" name="object 47">
                <a:extLst>
                  <a:ext uri="{FF2B5EF4-FFF2-40B4-BE49-F238E27FC236}">
                    <a16:creationId xmlns:a16="http://schemas.microsoft.com/office/drawing/2014/main" id="{E8764A02-B499-4BE2-9AB7-170765AE8702}"/>
                  </a:ext>
                </a:extLst>
              </p:cNvPr>
              <p:cNvSpPr/>
              <p:nvPr/>
            </p:nvSpPr>
            <p:spPr>
              <a:xfrm>
                <a:off x="5341370" y="3512837"/>
                <a:ext cx="1034107" cy="1277903"/>
              </a:xfrm>
              <a:custGeom>
                <a:avLst/>
                <a:gdLst/>
                <a:ahLst/>
                <a:cxnLst/>
                <a:rect l="l" t="t" r="r" b="b"/>
                <a:pathLst>
                  <a:path w="2429509" h="3002279">
                    <a:moveTo>
                      <a:pt x="1438306" y="0"/>
                    </a:moveTo>
                    <a:lnTo>
                      <a:pt x="1318688" y="14623"/>
                    </a:lnTo>
                    <a:lnTo>
                      <a:pt x="1202033" y="37550"/>
                    </a:lnTo>
                    <a:lnTo>
                      <a:pt x="1088685" y="68454"/>
                    </a:lnTo>
                    <a:lnTo>
                      <a:pt x="978987" y="107009"/>
                    </a:lnTo>
                    <a:lnTo>
                      <a:pt x="873281" y="152888"/>
                    </a:lnTo>
                    <a:lnTo>
                      <a:pt x="771911" y="205765"/>
                    </a:lnTo>
                    <a:lnTo>
                      <a:pt x="675219" y="265313"/>
                    </a:lnTo>
                    <a:lnTo>
                      <a:pt x="583548" y="331207"/>
                    </a:lnTo>
                    <a:lnTo>
                      <a:pt x="497240" y="403120"/>
                    </a:lnTo>
                    <a:lnTo>
                      <a:pt x="416639" y="480726"/>
                    </a:lnTo>
                    <a:lnTo>
                      <a:pt x="342087" y="563698"/>
                    </a:lnTo>
                    <a:lnTo>
                      <a:pt x="273928" y="651711"/>
                    </a:lnTo>
                    <a:lnTo>
                      <a:pt x="212503" y="744437"/>
                    </a:lnTo>
                    <a:lnTo>
                      <a:pt x="158156" y="841550"/>
                    </a:lnTo>
                    <a:lnTo>
                      <a:pt x="111230" y="942724"/>
                    </a:lnTo>
                    <a:lnTo>
                      <a:pt x="72067" y="1047634"/>
                    </a:lnTo>
                    <a:lnTo>
                      <a:pt x="41010" y="1155951"/>
                    </a:lnTo>
                    <a:lnTo>
                      <a:pt x="18402" y="1267351"/>
                    </a:lnTo>
                    <a:lnTo>
                      <a:pt x="4586" y="1381507"/>
                    </a:lnTo>
                    <a:lnTo>
                      <a:pt x="0" y="1495725"/>
                    </a:lnTo>
                    <a:lnTo>
                      <a:pt x="15" y="1500712"/>
                    </a:lnTo>
                    <a:lnTo>
                      <a:pt x="5089" y="1620745"/>
                    </a:lnTo>
                    <a:lnTo>
                      <a:pt x="20376" y="1740689"/>
                    </a:lnTo>
                    <a:lnTo>
                      <a:pt x="45365" y="1857541"/>
                    </a:lnTo>
                    <a:lnTo>
                      <a:pt x="79657" y="1970922"/>
                    </a:lnTo>
                    <a:lnTo>
                      <a:pt x="122852" y="2080450"/>
                    </a:lnTo>
                    <a:lnTo>
                      <a:pt x="174550" y="2185745"/>
                    </a:lnTo>
                    <a:lnTo>
                      <a:pt x="234351" y="2286427"/>
                    </a:lnTo>
                    <a:lnTo>
                      <a:pt x="301856" y="2382115"/>
                    </a:lnTo>
                    <a:lnTo>
                      <a:pt x="376663" y="2472428"/>
                    </a:lnTo>
                    <a:lnTo>
                      <a:pt x="458374" y="2556986"/>
                    </a:lnTo>
                    <a:lnTo>
                      <a:pt x="546589" y="2635407"/>
                    </a:lnTo>
                    <a:lnTo>
                      <a:pt x="640908" y="2707312"/>
                    </a:lnTo>
                    <a:lnTo>
                      <a:pt x="740931" y="2772320"/>
                    </a:lnTo>
                    <a:lnTo>
                      <a:pt x="846257" y="2830050"/>
                    </a:lnTo>
                    <a:lnTo>
                      <a:pt x="956488" y="2880121"/>
                    </a:lnTo>
                    <a:lnTo>
                      <a:pt x="1071224" y="2922154"/>
                    </a:lnTo>
                    <a:lnTo>
                      <a:pt x="1190063" y="2955766"/>
                    </a:lnTo>
                    <a:lnTo>
                      <a:pt x="1312608" y="2980579"/>
                    </a:lnTo>
                    <a:lnTo>
                      <a:pt x="1438457" y="2996210"/>
                    </a:lnTo>
                    <a:lnTo>
                      <a:pt x="1567211" y="3002280"/>
                    </a:lnTo>
                    <a:lnTo>
                      <a:pt x="1638105" y="2998705"/>
                    </a:lnTo>
                    <a:lnTo>
                      <a:pt x="1707383" y="2990432"/>
                    </a:lnTo>
                    <a:lnTo>
                      <a:pt x="1774829" y="2977645"/>
                    </a:lnTo>
                    <a:lnTo>
                      <a:pt x="1840222" y="2960532"/>
                    </a:lnTo>
                    <a:lnTo>
                      <a:pt x="1903345" y="2939280"/>
                    </a:lnTo>
                    <a:lnTo>
                      <a:pt x="1963979" y="2914074"/>
                    </a:lnTo>
                    <a:lnTo>
                      <a:pt x="2021905" y="2885103"/>
                    </a:lnTo>
                    <a:lnTo>
                      <a:pt x="2076906" y="2852552"/>
                    </a:lnTo>
                    <a:lnTo>
                      <a:pt x="2128763" y="2816608"/>
                    </a:lnTo>
                    <a:lnTo>
                      <a:pt x="2177256" y="2777458"/>
                    </a:lnTo>
                    <a:lnTo>
                      <a:pt x="2222168" y="2735288"/>
                    </a:lnTo>
                    <a:lnTo>
                      <a:pt x="2263280" y="2690286"/>
                    </a:lnTo>
                    <a:lnTo>
                      <a:pt x="2300374" y="2642638"/>
                    </a:lnTo>
                    <a:lnTo>
                      <a:pt x="2333231" y="2592531"/>
                    </a:lnTo>
                    <a:lnTo>
                      <a:pt x="2361632" y="2540150"/>
                    </a:lnTo>
                    <a:lnTo>
                      <a:pt x="2385360" y="2485684"/>
                    </a:lnTo>
                    <a:lnTo>
                      <a:pt x="2404195" y="2429319"/>
                    </a:lnTo>
                    <a:lnTo>
                      <a:pt x="2417919" y="2371241"/>
                    </a:lnTo>
                    <a:lnTo>
                      <a:pt x="2426314" y="2311637"/>
                    </a:lnTo>
                    <a:lnTo>
                      <a:pt x="2429160" y="2250694"/>
                    </a:lnTo>
                    <a:lnTo>
                      <a:pt x="2426241" y="2188967"/>
                    </a:lnTo>
                    <a:lnTo>
                      <a:pt x="2417633" y="2128616"/>
                    </a:lnTo>
                    <a:lnTo>
                      <a:pt x="2403565" y="2069836"/>
                    </a:lnTo>
                    <a:lnTo>
                      <a:pt x="2384262" y="2012818"/>
                    </a:lnTo>
                    <a:lnTo>
                      <a:pt x="2359953" y="1957758"/>
                    </a:lnTo>
                    <a:lnTo>
                      <a:pt x="2330865" y="1904848"/>
                    </a:lnTo>
                    <a:lnTo>
                      <a:pt x="2297224" y="1854282"/>
                    </a:lnTo>
                    <a:lnTo>
                      <a:pt x="2259257" y="1806252"/>
                    </a:lnTo>
                    <a:lnTo>
                      <a:pt x="2217192" y="1760954"/>
                    </a:lnTo>
                    <a:lnTo>
                      <a:pt x="2171255" y="1718579"/>
                    </a:lnTo>
                    <a:lnTo>
                      <a:pt x="2121674" y="1679322"/>
                    </a:lnTo>
                    <a:lnTo>
                      <a:pt x="2068677" y="1643376"/>
                    </a:lnTo>
                    <a:lnTo>
                      <a:pt x="2012489" y="1610935"/>
                    </a:lnTo>
                    <a:lnTo>
                      <a:pt x="1953337" y="1582191"/>
                    </a:lnTo>
                    <a:lnTo>
                      <a:pt x="1891450" y="1557339"/>
                    </a:lnTo>
                    <a:lnTo>
                      <a:pt x="1827054" y="1536571"/>
                    </a:lnTo>
                    <a:lnTo>
                      <a:pt x="1760377" y="1520082"/>
                    </a:lnTo>
                    <a:lnTo>
                      <a:pt x="1691644" y="1508065"/>
                    </a:lnTo>
                    <a:lnTo>
                      <a:pt x="1621084" y="1500712"/>
                    </a:lnTo>
                    <a:lnTo>
                      <a:pt x="1476763" y="1495725"/>
                    </a:lnTo>
                    <a:lnTo>
                      <a:pt x="1406203" y="1488372"/>
                    </a:lnTo>
                    <a:lnTo>
                      <a:pt x="1337470" y="1476355"/>
                    </a:lnTo>
                    <a:lnTo>
                      <a:pt x="1270792" y="1459867"/>
                    </a:lnTo>
                    <a:lnTo>
                      <a:pt x="1206397" y="1439100"/>
                    </a:lnTo>
                    <a:lnTo>
                      <a:pt x="1144509" y="1414249"/>
                    </a:lnTo>
                    <a:lnTo>
                      <a:pt x="1085358" y="1385508"/>
                    </a:lnTo>
                    <a:lnTo>
                      <a:pt x="1029170" y="1353069"/>
                    </a:lnTo>
                    <a:lnTo>
                      <a:pt x="976172" y="1317126"/>
                    </a:lnTo>
                    <a:lnTo>
                      <a:pt x="926592" y="1277874"/>
                    </a:lnTo>
                    <a:lnTo>
                      <a:pt x="880655" y="1235504"/>
                    </a:lnTo>
                    <a:lnTo>
                      <a:pt x="838590" y="1190212"/>
                    </a:lnTo>
                    <a:lnTo>
                      <a:pt x="800623" y="1142190"/>
                    </a:lnTo>
                    <a:lnTo>
                      <a:pt x="766982" y="1091633"/>
                    </a:lnTo>
                    <a:lnTo>
                      <a:pt x="737894" y="1038732"/>
                    </a:lnTo>
                    <a:lnTo>
                      <a:pt x="713585" y="983684"/>
                    </a:lnTo>
                    <a:lnTo>
                      <a:pt x="694282" y="926679"/>
                    </a:lnTo>
                    <a:lnTo>
                      <a:pt x="680214" y="867913"/>
                    </a:lnTo>
                    <a:lnTo>
                      <a:pt x="671606" y="807579"/>
                    </a:lnTo>
                    <a:lnTo>
                      <a:pt x="668686" y="745871"/>
                    </a:lnTo>
                    <a:lnTo>
                      <a:pt x="671175" y="688868"/>
                    </a:lnTo>
                    <a:lnTo>
                      <a:pt x="678522" y="633024"/>
                    </a:lnTo>
                    <a:lnTo>
                      <a:pt x="690550" y="578491"/>
                    </a:lnTo>
                    <a:lnTo>
                      <a:pt x="707079" y="525422"/>
                    </a:lnTo>
                    <a:lnTo>
                      <a:pt x="727932" y="473969"/>
                    </a:lnTo>
                    <a:lnTo>
                      <a:pt x="752930" y="424286"/>
                    </a:lnTo>
                    <a:lnTo>
                      <a:pt x="781895" y="376525"/>
                    </a:lnTo>
                    <a:lnTo>
                      <a:pt x="814649" y="330839"/>
                    </a:lnTo>
                    <a:lnTo>
                      <a:pt x="851013" y="287379"/>
                    </a:lnTo>
                    <a:lnTo>
                      <a:pt x="890809" y="246300"/>
                    </a:lnTo>
                    <a:lnTo>
                      <a:pt x="933859" y="207754"/>
                    </a:lnTo>
                    <a:lnTo>
                      <a:pt x="979985" y="171892"/>
                    </a:lnTo>
                    <a:lnTo>
                      <a:pt x="1029007" y="138869"/>
                    </a:lnTo>
                    <a:lnTo>
                      <a:pt x="1080749" y="108837"/>
                    </a:lnTo>
                    <a:lnTo>
                      <a:pt x="1135030" y="81948"/>
                    </a:lnTo>
                    <a:lnTo>
                      <a:pt x="1191674" y="58355"/>
                    </a:lnTo>
                    <a:lnTo>
                      <a:pt x="1250502" y="38212"/>
                    </a:lnTo>
                    <a:lnTo>
                      <a:pt x="1311336" y="21669"/>
                    </a:lnTo>
                    <a:lnTo>
                      <a:pt x="1373997" y="8881"/>
                    </a:lnTo>
                    <a:lnTo>
                      <a:pt x="1438306" y="0"/>
                    </a:lnTo>
                    <a:close/>
                  </a:path>
                </a:pathLst>
              </a:custGeom>
              <a:solidFill>
                <a:srgbClr val="FF6600"/>
              </a:solidFill>
            </p:spPr>
            <p:txBody>
              <a:bodyPr wrap="square" lIns="0" tIns="0" rIns="0" bIns="0" rtlCol="0"/>
              <a:lstStyle/>
              <a:p>
                <a:endParaRPr/>
              </a:p>
            </p:txBody>
          </p:sp>
        </p:grpSp>
        <p:sp>
          <p:nvSpPr>
            <p:cNvPr id="34" name="object 48">
              <a:extLst>
                <a:ext uri="{FF2B5EF4-FFF2-40B4-BE49-F238E27FC236}">
                  <a16:creationId xmlns:a16="http://schemas.microsoft.com/office/drawing/2014/main" id="{36C5FEF6-6449-4E23-A701-4E5D9065E276}"/>
                </a:ext>
              </a:extLst>
            </p:cNvPr>
            <p:cNvSpPr/>
            <p:nvPr/>
          </p:nvSpPr>
          <p:spPr>
            <a:xfrm>
              <a:off x="5816165" y="4280227"/>
              <a:ext cx="444347" cy="444347"/>
            </a:xfrm>
            <a:custGeom>
              <a:avLst/>
              <a:gdLst/>
              <a:ahLst/>
              <a:cxnLst/>
              <a:rect l="l" t="t" r="r" b="b"/>
              <a:pathLst>
                <a:path w="1043940" h="1043939">
                  <a:moveTo>
                    <a:pt x="521969" y="0"/>
                  </a:moveTo>
                  <a:lnTo>
                    <a:pt x="479158" y="1730"/>
                  </a:lnTo>
                  <a:lnTo>
                    <a:pt x="437300" y="6831"/>
                  </a:lnTo>
                  <a:lnTo>
                    <a:pt x="396530" y="15169"/>
                  </a:lnTo>
                  <a:lnTo>
                    <a:pt x="356981" y="26609"/>
                  </a:lnTo>
                  <a:lnTo>
                    <a:pt x="318789" y="41017"/>
                  </a:lnTo>
                  <a:lnTo>
                    <a:pt x="282088" y="58258"/>
                  </a:lnTo>
                  <a:lnTo>
                    <a:pt x="247012" y="78199"/>
                  </a:lnTo>
                  <a:lnTo>
                    <a:pt x="213695" y="100705"/>
                  </a:lnTo>
                  <a:lnTo>
                    <a:pt x="182271" y="125642"/>
                  </a:lnTo>
                  <a:lnTo>
                    <a:pt x="152876" y="152876"/>
                  </a:lnTo>
                  <a:lnTo>
                    <a:pt x="125642" y="182271"/>
                  </a:lnTo>
                  <a:lnTo>
                    <a:pt x="100705" y="213695"/>
                  </a:lnTo>
                  <a:lnTo>
                    <a:pt x="78199" y="247012"/>
                  </a:lnTo>
                  <a:lnTo>
                    <a:pt x="58258" y="282088"/>
                  </a:lnTo>
                  <a:lnTo>
                    <a:pt x="41017" y="318789"/>
                  </a:lnTo>
                  <a:lnTo>
                    <a:pt x="26609" y="356981"/>
                  </a:lnTo>
                  <a:lnTo>
                    <a:pt x="15169" y="396530"/>
                  </a:lnTo>
                  <a:lnTo>
                    <a:pt x="6831" y="437300"/>
                  </a:lnTo>
                  <a:lnTo>
                    <a:pt x="1730" y="479158"/>
                  </a:lnTo>
                  <a:lnTo>
                    <a:pt x="0" y="521970"/>
                  </a:lnTo>
                  <a:lnTo>
                    <a:pt x="1730" y="564781"/>
                  </a:lnTo>
                  <a:lnTo>
                    <a:pt x="6831" y="606639"/>
                  </a:lnTo>
                  <a:lnTo>
                    <a:pt x="15169" y="647409"/>
                  </a:lnTo>
                  <a:lnTo>
                    <a:pt x="26609" y="686958"/>
                  </a:lnTo>
                  <a:lnTo>
                    <a:pt x="41017" y="725150"/>
                  </a:lnTo>
                  <a:lnTo>
                    <a:pt x="58258" y="761851"/>
                  </a:lnTo>
                  <a:lnTo>
                    <a:pt x="78199" y="796927"/>
                  </a:lnTo>
                  <a:lnTo>
                    <a:pt x="100705" y="830244"/>
                  </a:lnTo>
                  <a:lnTo>
                    <a:pt x="125642" y="861668"/>
                  </a:lnTo>
                  <a:lnTo>
                    <a:pt x="152876" y="891063"/>
                  </a:lnTo>
                  <a:lnTo>
                    <a:pt x="182271" y="918297"/>
                  </a:lnTo>
                  <a:lnTo>
                    <a:pt x="213695" y="943234"/>
                  </a:lnTo>
                  <a:lnTo>
                    <a:pt x="247012" y="965740"/>
                  </a:lnTo>
                  <a:lnTo>
                    <a:pt x="282088" y="985681"/>
                  </a:lnTo>
                  <a:lnTo>
                    <a:pt x="318789" y="1002922"/>
                  </a:lnTo>
                  <a:lnTo>
                    <a:pt x="356981" y="1017330"/>
                  </a:lnTo>
                  <a:lnTo>
                    <a:pt x="396530" y="1028770"/>
                  </a:lnTo>
                  <a:lnTo>
                    <a:pt x="437300" y="1037108"/>
                  </a:lnTo>
                  <a:lnTo>
                    <a:pt x="479158" y="1042209"/>
                  </a:lnTo>
                  <a:lnTo>
                    <a:pt x="521969" y="1043940"/>
                  </a:lnTo>
                  <a:lnTo>
                    <a:pt x="564781" y="1042209"/>
                  </a:lnTo>
                  <a:lnTo>
                    <a:pt x="606639" y="1037108"/>
                  </a:lnTo>
                  <a:lnTo>
                    <a:pt x="647409" y="1028770"/>
                  </a:lnTo>
                  <a:lnTo>
                    <a:pt x="686958" y="1017330"/>
                  </a:lnTo>
                  <a:lnTo>
                    <a:pt x="725150" y="1002922"/>
                  </a:lnTo>
                  <a:lnTo>
                    <a:pt x="761851" y="985681"/>
                  </a:lnTo>
                  <a:lnTo>
                    <a:pt x="796927" y="965740"/>
                  </a:lnTo>
                  <a:lnTo>
                    <a:pt x="830244" y="943234"/>
                  </a:lnTo>
                  <a:lnTo>
                    <a:pt x="861668" y="918297"/>
                  </a:lnTo>
                  <a:lnTo>
                    <a:pt x="891063" y="891063"/>
                  </a:lnTo>
                  <a:lnTo>
                    <a:pt x="918297" y="861668"/>
                  </a:lnTo>
                  <a:lnTo>
                    <a:pt x="943234" y="830244"/>
                  </a:lnTo>
                  <a:lnTo>
                    <a:pt x="965740" y="796927"/>
                  </a:lnTo>
                  <a:lnTo>
                    <a:pt x="985681" y="761851"/>
                  </a:lnTo>
                  <a:lnTo>
                    <a:pt x="1002922" y="725150"/>
                  </a:lnTo>
                  <a:lnTo>
                    <a:pt x="1017330" y="686958"/>
                  </a:lnTo>
                  <a:lnTo>
                    <a:pt x="1028770" y="647409"/>
                  </a:lnTo>
                  <a:lnTo>
                    <a:pt x="1037108" y="606639"/>
                  </a:lnTo>
                  <a:lnTo>
                    <a:pt x="1042209" y="564781"/>
                  </a:lnTo>
                  <a:lnTo>
                    <a:pt x="1043939" y="521970"/>
                  </a:lnTo>
                  <a:lnTo>
                    <a:pt x="1042209" y="479158"/>
                  </a:lnTo>
                  <a:lnTo>
                    <a:pt x="1037108" y="437300"/>
                  </a:lnTo>
                  <a:lnTo>
                    <a:pt x="1028770" y="396530"/>
                  </a:lnTo>
                  <a:lnTo>
                    <a:pt x="1017330" y="356981"/>
                  </a:lnTo>
                  <a:lnTo>
                    <a:pt x="1002922" y="318789"/>
                  </a:lnTo>
                  <a:lnTo>
                    <a:pt x="985681" y="282088"/>
                  </a:lnTo>
                  <a:lnTo>
                    <a:pt x="965740" y="247012"/>
                  </a:lnTo>
                  <a:lnTo>
                    <a:pt x="943234" y="213695"/>
                  </a:lnTo>
                  <a:lnTo>
                    <a:pt x="918297" y="182271"/>
                  </a:lnTo>
                  <a:lnTo>
                    <a:pt x="891063" y="152876"/>
                  </a:lnTo>
                  <a:lnTo>
                    <a:pt x="861668" y="125642"/>
                  </a:lnTo>
                  <a:lnTo>
                    <a:pt x="830244" y="100705"/>
                  </a:lnTo>
                  <a:lnTo>
                    <a:pt x="796927" y="78199"/>
                  </a:lnTo>
                  <a:lnTo>
                    <a:pt x="761851" y="58258"/>
                  </a:lnTo>
                  <a:lnTo>
                    <a:pt x="725150" y="41017"/>
                  </a:lnTo>
                  <a:lnTo>
                    <a:pt x="686958" y="26609"/>
                  </a:lnTo>
                  <a:lnTo>
                    <a:pt x="647409" y="15169"/>
                  </a:lnTo>
                  <a:lnTo>
                    <a:pt x="606639" y="6831"/>
                  </a:lnTo>
                  <a:lnTo>
                    <a:pt x="564781" y="1730"/>
                  </a:lnTo>
                  <a:lnTo>
                    <a:pt x="521969" y="0"/>
                  </a:lnTo>
                  <a:close/>
                </a:path>
              </a:pathLst>
            </a:custGeom>
            <a:solidFill>
              <a:srgbClr val="F4B183"/>
            </a:solidFill>
          </p:spPr>
          <p:txBody>
            <a:bodyPr wrap="square" lIns="0" tIns="0" rIns="0" bIns="0" rtlCol="0"/>
            <a:lstStyle/>
            <a:p>
              <a:endParaRPr/>
            </a:p>
          </p:txBody>
        </p:sp>
        <p:sp>
          <p:nvSpPr>
            <p:cNvPr id="35" name="object 50">
              <a:extLst>
                <a:ext uri="{FF2B5EF4-FFF2-40B4-BE49-F238E27FC236}">
                  <a16:creationId xmlns:a16="http://schemas.microsoft.com/office/drawing/2014/main" id="{5ECD3C1A-EAA6-4AC5-9DC3-1E338D5375B2}"/>
                </a:ext>
              </a:extLst>
            </p:cNvPr>
            <p:cNvSpPr/>
            <p:nvPr/>
          </p:nvSpPr>
          <p:spPr>
            <a:xfrm>
              <a:off x="5816165" y="3625707"/>
              <a:ext cx="444347" cy="444347"/>
            </a:xfrm>
            <a:custGeom>
              <a:avLst/>
              <a:gdLst/>
              <a:ahLst/>
              <a:cxnLst/>
              <a:rect l="l" t="t" r="r" b="b"/>
              <a:pathLst>
                <a:path w="1043940" h="1043939">
                  <a:moveTo>
                    <a:pt x="521969" y="0"/>
                  </a:moveTo>
                  <a:lnTo>
                    <a:pt x="479158" y="1730"/>
                  </a:lnTo>
                  <a:lnTo>
                    <a:pt x="437300" y="6831"/>
                  </a:lnTo>
                  <a:lnTo>
                    <a:pt x="396530" y="15169"/>
                  </a:lnTo>
                  <a:lnTo>
                    <a:pt x="356981" y="26609"/>
                  </a:lnTo>
                  <a:lnTo>
                    <a:pt x="318789" y="41017"/>
                  </a:lnTo>
                  <a:lnTo>
                    <a:pt x="282088" y="58258"/>
                  </a:lnTo>
                  <a:lnTo>
                    <a:pt x="247012" y="78199"/>
                  </a:lnTo>
                  <a:lnTo>
                    <a:pt x="213695" y="100705"/>
                  </a:lnTo>
                  <a:lnTo>
                    <a:pt x="182271" y="125642"/>
                  </a:lnTo>
                  <a:lnTo>
                    <a:pt x="152876" y="152876"/>
                  </a:lnTo>
                  <a:lnTo>
                    <a:pt x="125642" y="182271"/>
                  </a:lnTo>
                  <a:lnTo>
                    <a:pt x="100705" y="213695"/>
                  </a:lnTo>
                  <a:lnTo>
                    <a:pt x="78199" y="247012"/>
                  </a:lnTo>
                  <a:lnTo>
                    <a:pt x="58258" y="282088"/>
                  </a:lnTo>
                  <a:lnTo>
                    <a:pt x="41017" y="318789"/>
                  </a:lnTo>
                  <a:lnTo>
                    <a:pt x="26609" y="356981"/>
                  </a:lnTo>
                  <a:lnTo>
                    <a:pt x="15169" y="396530"/>
                  </a:lnTo>
                  <a:lnTo>
                    <a:pt x="6831" y="437300"/>
                  </a:lnTo>
                  <a:lnTo>
                    <a:pt x="1730" y="479158"/>
                  </a:lnTo>
                  <a:lnTo>
                    <a:pt x="0" y="521970"/>
                  </a:lnTo>
                  <a:lnTo>
                    <a:pt x="1730" y="564781"/>
                  </a:lnTo>
                  <a:lnTo>
                    <a:pt x="6831" y="606639"/>
                  </a:lnTo>
                  <a:lnTo>
                    <a:pt x="15169" y="647409"/>
                  </a:lnTo>
                  <a:lnTo>
                    <a:pt x="26609" y="686958"/>
                  </a:lnTo>
                  <a:lnTo>
                    <a:pt x="41017" y="725150"/>
                  </a:lnTo>
                  <a:lnTo>
                    <a:pt x="58258" y="761851"/>
                  </a:lnTo>
                  <a:lnTo>
                    <a:pt x="78199" y="796927"/>
                  </a:lnTo>
                  <a:lnTo>
                    <a:pt x="100705" y="830244"/>
                  </a:lnTo>
                  <a:lnTo>
                    <a:pt x="125642" y="861668"/>
                  </a:lnTo>
                  <a:lnTo>
                    <a:pt x="152876" y="891063"/>
                  </a:lnTo>
                  <a:lnTo>
                    <a:pt x="182271" y="918297"/>
                  </a:lnTo>
                  <a:lnTo>
                    <a:pt x="213695" y="943234"/>
                  </a:lnTo>
                  <a:lnTo>
                    <a:pt x="247012" y="965740"/>
                  </a:lnTo>
                  <a:lnTo>
                    <a:pt x="282088" y="985681"/>
                  </a:lnTo>
                  <a:lnTo>
                    <a:pt x="318789" y="1002922"/>
                  </a:lnTo>
                  <a:lnTo>
                    <a:pt x="356981" y="1017330"/>
                  </a:lnTo>
                  <a:lnTo>
                    <a:pt x="396530" y="1028770"/>
                  </a:lnTo>
                  <a:lnTo>
                    <a:pt x="437300" y="1037108"/>
                  </a:lnTo>
                  <a:lnTo>
                    <a:pt x="479158" y="1042209"/>
                  </a:lnTo>
                  <a:lnTo>
                    <a:pt x="521969" y="1043940"/>
                  </a:lnTo>
                  <a:lnTo>
                    <a:pt x="564781" y="1042209"/>
                  </a:lnTo>
                  <a:lnTo>
                    <a:pt x="606639" y="1037108"/>
                  </a:lnTo>
                  <a:lnTo>
                    <a:pt x="647409" y="1028770"/>
                  </a:lnTo>
                  <a:lnTo>
                    <a:pt x="686958" y="1017330"/>
                  </a:lnTo>
                  <a:lnTo>
                    <a:pt x="725150" y="1002922"/>
                  </a:lnTo>
                  <a:lnTo>
                    <a:pt x="761851" y="985681"/>
                  </a:lnTo>
                  <a:lnTo>
                    <a:pt x="796927" y="965740"/>
                  </a:lnTo>
                  <a:lnTo>
                    <a:pt x="830244" y="943234"/>
                  </a:lnTo>
                  <a:lnTo>
                    <a:pt x="861668" y="918297"/>
                  </a:lnTo>
                  <a:lnTo>
                    <a:pt x="891063" y="891063"/>
                  </a:lnTo>
                  <a:lnTo>
                    <a:pt x="918297" y="861668"/>
                  </a:lnTo>
                  <a:lnTo>
                    <a:pt x="943234" y="830244"/>
                  </a:lnTo>
                  <a:lnTo>
                    <a:pt x="965740" y="796927"/>
                  </a:lnTo>
                  <a:lnTo>
                    <a:pt x="985681" y="761851"/>
                  </a:lnTo>
                  <a:lnTo>
                    <a:pt x="1002922" y="725150"/>
                  </a:lnTo>
                  <a:lnTo>
                    <a:pt x="1017330" y="686958"/>
                  </a:lnTo>
                  <a:lnTo>
                    <a:pt x="1028770" y="647409"/>
                  </a:lnTo>
                  <a:lnTo>
                    <a:pt x="1037108" y="606639"/>
                  </a:lnTo>
                  <a:lnTo>
                    <a:pt x="1042209" y="564781"/>
                  </a:lnTo>
                  <a:lnTo>
                    <a:pt x="1043939" y="521970"/>
                  </a:lnTo>
                  <a:lnTo>
                    <a:pt x="1042209" y="479158"/>
                  </a:lnTo>
                  <a:lnTo>
                    <a:pt x="1037108" y="437300"/>
                  </a:lnTo>
                  <a:lnTo>
                    <a:pt x="1028770" y="396530"/>
                  </a:lnTo>
                  <a:lnTo>
                    <a:pt x="1017330" y="356981"/>
                  </a:lnTo>
                  <a:lnTo>
                    <a:pt x="1002922" y="318789"/>
                  </a:lnTo>
                  <a:lnTo>
                    <a:pt x="985681" y="282088"/>
                  </a:lnTo>
                  <a:lnTo>
                    <a:pt x="965740" y="247012"/>
                  </a:lnTo>
                  <a:lnTo>
                    <a:pt x="943234" y="213695"/>
                  </a:lnTo>
                  <a:lnTo>
                    <a:pt x="918297" y="182271"/>
                  </a:lnTo>
                  <a:lnTo>
                    <a:pt x="891063" y="152876"/>
                  </a:lnTo>
                  <a:lnTo>
                    <a:pt x="861668" y="125642"/>
                  </a:lnTo>
                  <a:lnTo>
                    <a:pt x="830244" y="100705"/>
                  </a:lnTo>
                  <a:lnTo>
                    <a:pt x="796927" y="78199"/>
                  </a:lnTo>
                  <a:lnTo>
                    <a:pt x="761851" y="58258"/>
                  </a:lnTo>
                  <a:lnTo>
                    <a:pt x="725150" y="41017"/>
                  </a:lnTo>
                  <a:lnTo>
                    <a:pt x="686958" y="26609"/>
                  </a:lnTo>
                  <a:lnTo>
                    <a:pt x="647409" y="15169"/>
                  </a:lnTo>
                  <a:lnTo>
                    <a:pt x="606639" y="6831"/>
                  </a:lnTo>
                  <a:lnTo>
                    <a:pt x="564781" y="1730"/>
                  </a:lnTo>
                  <a:lnTo>
                    <a:pt x="521969" y="0"/>
                  </a:lnTo>
                  <a:close/>
                </a:path>
              </a:pathLst>
            </a:custGeom>
            <a:solidFill>
              <a:srgbClr val="FF6600"/>
            </a:solidFill>
          </p:spPr>
          <p:txBody>
            <a:bodyPr wrap="square" lIns="0" tIns="0" rIns="0" bIns="0" rtlCol="0"/>
            <a:lstStyle/>
            <a:p>
              <a:endParaRPr/>
            </a:p>
          </p:txBody>
        </p:sp>
      </p:grpSp>
      <p:sp>
        <p:nvSpPr>
          <p:cNvPr id="49" name="Rectangle 48">
            <a:extLst>
              <a:ext uri="{FF2B5EF4-FFF2-40B4-BE49-F238E27FC236}">
                <a16:creationId xmlns:a16="http://schemas.microsoft.com/office/drawing/2014/main" id="{66773EAE-1E9D-4218-A6D1-0E65231A7C7C}"/>
              </a:ext>
            </a:extLst>
          </p:cNvPr>
          <p:cNvSpPr/>
          <p:nvPr/>
        </p:nvSpPr>
        <p:spPr>
          <a:xfrm>
            <a:off x="9274655" y="1346276"/>
            <a:ext cx="2079145" cy="556215"/>
          </a:xfrm>
          <a:prstGeom prst="rect">
            <a:avLst/>
          </a:prstGeom>
          <a:solidFill>
            <a:schemeClr val="bg1"/>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tx1"/>
              </a:solidFill>
            </a:endParaRPr>
          </a:p>
        </p:txBody>
      </p:sp>
      <p:pic>
        <p:nvPicPr>
          <p:cNvPr id="47" name="Picture 46">
            <a:extLst>
              <a:ext uri="{FF2B5EF4-FFF2-40B4-BE49-F238E27FC236}">
                <a16:creationId xmlns:a16="http://schemas.microsoft.com/office/drawing/2014/main" id="{B7A83794-9309-4ADB-8DC7-1DBB0FF5AA0C}"/>
              </a:ext>
            </a:extLst>
          </p:cNvPr>
          <p:cNvPicPr>
            <a:picLocks noChangeAspect="1"/>
          </p:cNvPicPr>
          <p:nvPr/>
        </p:nvPicPr>
        <p:blipFill>
          <a:blip r:embed="rId7"/>
          <a:stretch>
            <a:fillRect/>
          </a:stretch>
        </p:blipFill>
        <p:spPr>
          <a:xfrm>
            <a:off x="10833160" y="1427381"/>
            <a:ext cx="405721" cy="409549"/>
          </a:xfrm>
          <a:prstGeom prst="rect">
            <a:avLst/>
          </a:prstGeom>
        </p:spPr>
      </p:pic>
      <p:sp>
        <p:nvSpPr>
          <p:cNvPr id="53" name="Rectangle 52">
            <a:extLst>
              <a:ext uri="{FF2B5EF4-FFF2-40B4-BE49-F238E27FC236}">
                <a16:creationId xmlns:a16="http://schemas.microsoft.com/office/drawing/2014/main" id="{243864BA-0D53-4FC7-B6F4-C245FDA03857}"/>
              </a:ext>
            </a:extLst>
          </p:cNvPr>
          <p:cNvSpPr/>
          <p:nvPr/>
        </p:nvSpPr>
        <p:spPr>
          <a:xfrm>
            <a:off x="9400912" y="3966205"/>
            <a:ext cx="2079145" cy="556215"/>
          </a:xfrm>
          <a:prstGeom prst="rect">
            <a:avLst/>
          </a:prstGeom>
          <a:solidFill>
            <a:schemeClr val="bg1"/>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tx1"/>
              </a:solidFill>
            </a:endParaRPr>
          </a:p>
        </p:txBody>
      </p:sp>
      <p:pic>
        <p:nvPicPr>
          <p:cNvPr id="51" name="Picture 50">
            <a:extLst>
              <a:ext uri="{FF2B5EF4-FFF2-40B4-BE49-F238E27FC236}">
                <a16:creationId xmlns:a16="http://schemas.microsoft.com/office/drawing/2014/main" id="{0409A713-9120-4AA4-8F80-F57DE87057CC}"/>
              </a:ext>
            </a:extLst>
          </p:cNvPr>
          <p:cNvPicPr>
            <a:picLocks noChangeAspect="1"/>
          </p:cNvPicPr>
          <p:nvPr/>
        </p:nvPicPr>
        <p:blipFill>
          <a:blip r:embed="rId5"/>
          <a:stretch>
            <a:fillRect/>
          </a:stretch>
        </p:blipFill>
        <p:spPr>
          <a:xfrm>
            <a:off x="9708574" y="4058613"/>
            <a:ext cx="404754" cy="396246"/>
          </a:xfrm>
          <a:prstGeom prst="rect">
            <a:avLst/>
          </a:prstGeom>
        </p:spPr>
      </p:pic>
      <p:pic>
        <p:nvPicPr>
          <p:cNvPr id="55" name="Picture 54">
            <a:extLst>
              <a:ext uri="{FF2B5EF4-FFF2-40B4-BE49-F238E27FC236}">
                <a16:creationId xmlns:a16="http://schemas.microsoft.com/office/drawing/2014/main" id="{F5243C37-779D-47AD-8B6F-AB573F84969A}"/>
              </a:ext>
            </a:extLst>
          </p:cNvPr>
          <p:cNvPicPr>
            <a:picLocks noChangeAspect="1"/>
          </p:cNvPicPr>
          <p:nvPr/>
        </p:nvPicPr>
        <p:blipFill>
          <a:blip r:embed="rId7"/>
          <a:stretch>
            <a:fillRect/>
          </a:stretch>
        </p:blipFill>
        <p:spPr>
          <a:xfrm>
            <a:off x="10807122" y="4039537"/>
            <a:ext cx="405721" cy="409549"/>
          </a:xfrm>
          <a:prstGeom prst="rect">
            <a:avLst/>
          </a:prstGeom>
        </p:spPr>
      </p:pic>
      <p:sp>
        <p:nvSpPr>
          <p:cNvPr id="56" name="Oval 55">
            <a:extLst>
              <a:ext uri="{FF2B5EF4-FFF2-40B4-BE49-F238E27FC236}">
                <a16:creationId xmlns:a16="http://schemas.microsoft.com/office/drawing/2014/main" id="{645AE813-6915-4F0E-A491-3F71175743DD}"/>
              </a:ext>
            </a:extLst>
          </p:cNvPr>
          <p:cNvSpPr/>
          <p:nvPr/>
        </p:nvSpPr>
        <p:spPr>
          <a:xfrm>
            <a:off x="8534849" y="5567677"/>
            <a:ext cx="729985" cy="7405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A71C8F0A-84C8-4587-90FA-2738A9A6A2D1}"/>
              </a:ext>
            </a:extLst>
          </p:cNvPr>
          <p:cNvSpPr txBox="1"/>
          <p:nvPr/>
        </p:nvSpPr>
        <p:spPr>
          <a:xfrm>
            <a:off x="8534849" y="1977002"/>
            <a:ext cx="3322311" cy="646331"/>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Shortage of critical drugs in pharmacies due to supply shock of API, packaging material and poor demand estimation </a:t>
            </a:r>
            <a:endParaRPr lang="en-IN" sz="1200">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EEBF020B-D79A-4CD3-8DDA-8A8A79BA1D33}"/>
              </a:ext>
            </a:extLst>
          </p:cNvPr>
          <p:cNvSpPr txBox="1"/>
          <p:nvPr/>
        </p:nvSpPr>
        <p:spPr>
          <a:xfrm>
            <a:off x="8383528" y="3291280"/>
            <a:ext cx="3747710" cy="646331"/>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Overall pharmaceutical sales declined by ~10% in the 2 months post lockdown. Increasing trend observed towards e-pharmacy.</a:t>
            </a:r>
            <a:endParaRPr lang="en-IN" sz="1200">
              <a:latin typeface="Arial" panose="020B0604020202020204" pitchFamily="34" charset="0"/>
              <a:cs typeface="Arial" panose="020B0604020202020204" pitchFamily="34" charset="0"/>
            </a:endParaRPr>
          </a:p>
        </p:txBody>
      </p:sp>
      <p:graphicFrame>
        <p:nvGraphicFramePr>
          <p:cNvPr id="69" name="Table 68">
            <a:extLst>
              <a:ext uri="{FF2B5EF4-FFF2-40B4-BE49-F238E27FC236}">
                <a16:creationId xmlns:a16="http://schemas.microsoft.com/office/drawing/2014/main" id="{96CA80BD-A365-408B-B8D9-A1677EBC8F3F}"/>
              </a:ext>
            </a:extLst>
          </p:cNvPr>
          <p:cNvGraphicFramePr>
            <a:graphicFrameLocks noGrp="1"/>
          </p:cNvGraphicFramePr>
          <p:nvPr>
            <p:extLst>
              <p:ext uri="{D42A27DB-BD31-4B8C-83A1-F6EECF244321}">
                <p14:modId xmlns:p14="http://schemas.microsoft.com/office/powerpoint/2010/main" val="10999141"/>
              </p:ext>
            </p:extLst>
          </p:nvPr>
        </p:nvGraphicFramePr>
        <p:xfrm>
          <a:off x="8914537" y="5149532"/>
          <a:ext cx="2825761" cy="1646021"/>
        </p:xfrm>
        <a:graphic>
          <a:graphicData uri="http://schemas.openxmlformats.org/drawingml/2006/table">
            <a:tbl>
              <a:tblPr/>
              <a:tblGrid>
                <a:gridCol w="1230037">
                  <a:extLst>
                    <a:ext uri="{9D8B030D-6E8A-4147-A177-3AD203B41FA5}">
                      <a16:colId xmlns:a16="http://schemas.microsoft.com/office/drawing/2014/main" val="805707132"/>
                    </a:ext>
                  </a:extLst>
                </a:gridCol>
                <a:gridCol w="797862">
                  <a:extLst>
                    <a:ext uri="{9D8B030D-6E8A-4147-A177-3AD203B41FA5}">
                      <a16:colId xmlns:a16="http://schemas.microsoft.com/office/drawing/2014/main" val="118175359"/>
                    </a:ext>
                  </a:extLst>
                </a:gridCol>
                <a:gridCol w="797862">
                  <a:extLst>
                    <a:ext uri="{9D8B030D-6E8A-4147-A177-3AD203B41FA5}">
                      <a16:colId xmlns:a16="http://schemas.microsoft.com/office/drawing/2014/main" val="3480605167"/>
                    </a:ext>
                  </a:extLst>
                </a:gridCol>
              </a:tblGrid>
              <a:tr h="272445">
                <a:tc>
                  <a:txBody>
                    <a:bodyPr/>
                    <a:lstStyle/>
                    <a:p>
                      <a:pPr algn="ctr" fontAlgn="b"/>
                      <a:endParaRPr lang="en-IN" sz="1100" b="0" i="0" u="none" strike="noStrike">
                        <a:solidFill>
                          <a:srgbClr val="000000"/>
                        </a:solidFill>
                        <a:effectLst/>
                        <a:latin typeface="Calibri"/>
                      </a:endParaRP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00"/>
                    </a:solidFill>
                  </a:tcPr>
                </a:tc>
                <a:tc>
                  <a:txBody>
                    <a:bodyPr/>
                    <a:lstStyle/>
                    <a:p>
                      <a:pPr algn="ctr" fontAlgn="b"/>
                      <a:r>
                        <a:rPr lang="en-IN" sz="1100" b="0" i="0" u="none" strike="noStrike">
                          <a:solidFill>
                            <a:schemeClr val="bg1"/>
                          </a:solidFill>
                          <a:effectLst/>
                          <a:latin typeface="Calibri"/>
                        </a:rPr>
                        <a:t>May’20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00"/>
                    </a:solidFill>
                  </a:tcPr>
                </a:tc>
                <a:tc>
                  <a:txBody>
                    <a:bodyPr/>
                    <a:lstStyle/>
                    <a:p>
                      <a:pPr algn="ctr" fontAlgn="b"/>
                      <a:r>
                        <a:rPr lang="en-IN" sz="1100" b="0" i="0" u="none" strike="noStrike">
                          <a:solidFill>
                            <a:schemeClr val="bg1"/>
                          </a:solidFill>
                          <a:effectLst/>
                          <a:latin typeface="Calibri"/>
                        </a:rPr>
                        <a:t>June’20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00"/>
                    </a:solidFill>
                  </a:tcPr>
                </a:tc>
                <a:extLst>
                  <a:ext uri="{0D108BD9-81ED-4DB2-BD59-A6C34878D82A}">
                    <a16:rowId xmlns:a16="http://schemas.microsoft.com/office/drawing/2014/main" val="192968935"/>
                  </a:ext>
                </a:extLst>
              </a:tr>
              <a:tr h="272445">
                <a:tc>
                  <a:txBody>
                    <a:bodyPr/>
                    <a:lstStyle/>
                    <a:p>
                      <a:pPr algn="ctr" fontAlgn="b"/>
                      <a:r>
                        <a:rPr lang="en-IN" sz="1100" b="0" i="0" u="none" strike="noStrike" dirty="0">
                          <a:solidFill>
                            <a:srgbClr val="000000"/>
                          </a:solidFill>
                          <a:effectLst/>
                          <a:latin typeface="Calibri"/>
                        </a:rPr>
                        <a:t>Vitamins/Minerals</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FD6106"/>
                          </a:solidFill>
                          <a:effectLst/>
                          <a:latin typeface="Calibri"/>
                        </a:rPr>
                        <a:t>-</a:t>
                      </a:r>
                      <a:r>
                        <a:rPr lang="en-IN" sz="1100" b="0" i="0" u="none" strike="noStrike">
                          <a:solidFill>
                            <a:srgbClr val="FF0000"/>
                          </a:solidFill>
                          <a:effectLst/>
                          <a:latin typeface="Calibri"/>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B050"/>
                          </a:solidFill>
                          <a:effectLst/>
                          <a:latin typeface="Calibri"/>
                        </a:rPr>
                        <a:t>6</a:t>
                      </a:r>
                      <a:r>
                        <a:rPr lang="en-IN" sz="1100" b="0" i="0" u="none" strike="noStrike">
                          <a:solidFill>
                            <a:srgbClr val="00B050"/>
                          </a:solidFill>
                          <a:effectLst/>
                          <a:latin typeface="Calibri"/>
                        </a:rPr>
                        <a:t>%</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8026258"/>
                  </a:ext>
                </a:extLst>
              </a:tr>
              <a:tr h="272445">
                <a:tc>
                  <a:txBody>
                    <a:bodyPr/>
                    <a:lstStyle/>
                    <a:p>
                      <a:pPr algn="ctr" fontAlgn="b"/>
                      <a:r>
                        <a:rPr lang="en-IN" sz="1100" b="0" i="0" u="none" strike="noStrike">
                          <a:solidFill>
                            <a:srgbClr val="000000"/>
                          </a:solidFill>
                          <a:effectLst/>
                          <a:latin typeface="Calibri"/>
                        </a:rPr>
                        <a:t>Anti-Diabetic</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B050"/>
                          </a:solidFill>
                          <a:effectLst/>
                          <a:latin typeface="Calibri"/>
                        </a:rPr>
                        <a:t>1.10%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B050"/>
                          </a:solidFill>
                          <a:effectLst/>
                          <a:latin typeface="Calibri"/>
                        </a:rPr>
                        <a:t>8.50%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8845328"/>
                  </a:ext>
                </a:extLst>
              </a:tr>
              <a:tr h="272445">
                <a:tc>
                  <a:txBody>
                    <a:bodyPr/>
                    <a:lstStyle/>
                    <a:p>
                      <a:pPr algn="ctr" fontAlgn="b"/>
                      <a:r>
                        <a:rPr lang="en-IN" sz="1100" b="0" i="0" u="none" strike="noStrike">
                          <a:solidFill>
                            <a:srgbClr val="000000"/>
                          </a:solidFill>
                          <a:effectLst/>
                          <a:latin typeface="Calibri"/>
                        </a:rPr>
                        <a:t>Respiratory Drugs</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FF3300"/>
                          </a:solidFill>
                          <a:effectLst/>
                          <a:latin typeface="Calibri"/>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B050"/>
                          </a:solidFill>
                          <a:effectLst/>
                          <a:latin typeface="Calibri"/>
                        </a:rPr>
                        <a:t>4%</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6937335"/>
                  </a:ext>
                </a:extLst>
              </a:tr>
              <a:tr h="272445">
                <a:tc>
                  <a:txBody>
                    <a:bodyPr/>
                    <a:lstStyle/>
                    <a:p>
                      <a:pPr algn="ctr" fontAlgn="b"/>
                      <a:r>
                        <a:rPr lang="en-IN" sz="1100" b="0" i="0" u="none" strike="noStrike" dirty="0">
                          <a:solidFill>
                            <a:srgbClr val="000000"/>
                          </a:solidFill>
                          <a:effectLst/>
                          <a:latin typeface="Calibri"/>
                        </a:rPr>
                        <a:t>Anti-Infectives</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FF3300"/>
                          </a:solidFill>
                          <a:effectLst/>
                          <a:latin typeface="Calibri"/>
                        </a:rPr>
                        <a:t>-21%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FF3300"/>
                          </a:solidFill>
                          <a:effectLst/>
                          <a:latin typeface="Calibri"/>
                        </a:rPr>
                        <a:t>-10%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213505"/>
                  </a:ext>
                </a:extLst>
              </a:tr>
              <a:tr h="283796">
                <a:tc>
                  <a:txBody>
                    <a:bodyPr/>
                    <a:lstStyle/>
                    <a:p>
                      <a:pPr algn="ctr" fontAlgn="b"/>
                      <a:r>
                        <a:rPr lang="en-IN" sz="1100" b="0" i="0" u="none" strike="noStrike" dirty="0">
                          <a:solidFill>
                            <a:srgbClr val="000000"/>
                          </a:solidFill>
                          <a:effectLst/>
                          <a:latin typeface="Calibri"/>
                        </a:rPr>
                        <a:t>Pain/Analgesics</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FF3300"/>
                          </a:solidFill>
                          <a:effectLst/>
                          <a:latin typeface="Calibri"/>
                        </a:rPr>
                        <a:t>-17%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FF3300"/>
                          </a:solidFill>
                          <a:effectLst/>
                          <a:latin typeface="Calibri"/>
                        </a:rPr>
                        <a:t>-2%</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0359887"/>
                  </a:ext>
                </a:extLst>
              </a:tr>
            </a:tbl>
          </a:graphicData>
        </a:graphic>
      </p:graphicFrame>
      <p:sp>
        <p:nvSpPr>
          <p:cNvPr id="72" name="Arrow: Up 71">
            <a:extLst>
              <a:ext uri="{FF2B5EF4-FFF2-40B4-BE49-F238E27FC236}">
                <a16:creationId xmlns:a16="http://schemas.microsoft.com/office/drawing/2014/main" id="{99EA73D5-4BEF-44F2-ADAB-C5112F9EF1B1}"/>
              </a:ext>
            </a:extLst>
          </p:cNvPr>
          <p:cNvSpPr/>
          <p:nvPr/>
        </p:nvSpPr>
        <p:spPr>
          <a:xfrm>
            <a:off x="10788586" y="5723657"/>
            <a:ext cx="96005" cy="174902"/>
          </a:xfrm>
          <a:prstGeom prst="upArrow">
            <a:avLst/>
          </a:prstGeom>
          <a:solidFill>
            <a:srgbClr val="19B8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Arrow: Up 73">
            <a:extLst>
              <a:ext uri="{FF2B5EF4-FFF2-40B4-BE49-F238E27FC236}">
                <a16:creationId xmlns:a16="http://schemas.microsoft.com/office/drawing/2014/main" id="{6964729E-4256-4574-93EF-67DB3B9A328A}"/>
              </a:ext>
            </a:extLst>
          </p:cNvPr>
          <p:cNvSpPr/>
          <p:nvPr/>
        </p:nvSpPr>
        <p:spPr>
          <a:xfrm>
            <a:off x="11577759" y="5472375"/>
            <a:ext cx="96005" cy="174902"/>
          </a:xfrm>
          <a:prstGeom prst="upArrow">
            <a:avLst/>
          </a:prstGeom>
          <a:solidFill>
            <a:srgbClr val="19B8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Arrow: Up 75">
            <a:extLst>
              <a:ext uri="{FF2B5EF4-FFF2-40B4-BE49-F238E27FC236}">
                <a16:creationId xmlns:a16="http://schemas.microsoft.com/office/drawing/2014/main" id="{51DC5837-E23F-4866-9F13-FEEE157C40EA}"/>
              </a:ext>
            </a:extLst>
          </p:cNvPr>
          <p:cNvSpPr/>
          <p:nvPr/>
        </p:nvSpPr>
        <p:spPr>
          <a:xfrm>
            <a:off x="11577759" y="5768675"/>
            <a:ext cx="96005" cy="174902"/>
          </a:xfrm>
          <a:prstGeom prst="upArrow">
            <a:avLst/>
          </a:prstGeom>
          <a:solidFill>
            <a:srgbClr val="19B8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Up 79">
            <a:extLst>
              <a:ext uri="{FF2B5EF4-FFF2-40B4-BE49-F238E27FC236}">
                <a16:creationId xmlns:a16="http://schemas.microsoft.com/office/drawing/2014/main" id="{93381C34-ED60-49E9-8A22-74E2625D8805}"/>
              </a:ext>
            </a:extLst>
          </p:cNvPr>
          <p:cNvSpPr/>
          <p:nvPr/>
        </p:nvSpPr>
        <p:spPr>
          <a:xfrm>
            <a:off x="11577758" y="6030042"/>
            <a:ext cx="96005" cy="174902"/>
          </a:xfrm>
          <a:prstGeom prst="upArrow">
            <a:avLst/>
          </a:prstGeom>
          <a:solidFill>
            <a:srgbClr val="19B8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Arrow: Up 81">
            <a:extLst>
              <a:ext uri="{FF2B5EF4-FFF2-40B4-BE49-F238E27FC236}">
                <a16:creationId xmlns:a16="http://schemas.microsoft.com/office/drawing/2014/main" id="{7E351056-7A42-4DA8-9219-53EE265338C3}"/>
              </a:ext>
            </a:extLst>
          </p:cNvPr>
          <p:cNvSpPr/>
          <p:nvPr/>
        </p:nvSpPr>
        <p:spPr>
          <a:xfrm rot="10800000">
            <a:off x="10786356" y="6009091"/>
            <a:ext cx="96005" cy="17490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Arrow: Up 83">
            <a:extLst>
              <a:ext uri="{FF2B5EF4-FFF2-40B4-BE49-F238E27FC236}">
                <a16:creationId xmlns:a16="http://schemas.microsoft.com/office/drawing/2014/main" id="{FBC64E14-ABEC-4011-949F-1C525A97710A}"/>
              </a:ext>
            </a:extLst>
          </p:cNvPr>
          <p:cNvSpPr/>
          <p:nvPr/>
        </p:nvSpPr>
        <p:spPr>
          <a:xfrm rot="10800000">
            <a:off x="10797378" y="6292339"/>
            <a:ext cx="96005" cy="17490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Arrow: Up 85">
            <a:extLst>
              <a:ext uri="{FF2B5EF4-FFF2-40B4-BE49-F238E27FC236}">
                <a16:creationId xmlns:a16="http://schemas.microsoft.com/office/drawing/2014/main" id="{0BA8E1B4-7FF1-4940-96D8-E3D312C283C8}"/>
              </a:ext>
            </a:extLst>
          </p:cNvPr>
          <p:cNvSpPr/>
          <p:nvPr/>
        </p:nvSpPr>
        <p:spPr>
          <a:xfrm rot="10800000">
            <a:off x="10798754" y="6572708"/>
            <a:ext cx="96005" cy="17490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Arrow: Up 87">
            <a:extLst>
              <a:ext uri="{FF2B5EF4-FFF2-40B4-BE49-F238E27FC236}">
                <a16:creationId xmlns:a16="http://schemas.microsoft.com/office/drawing/2014/main" id="{2BA8805C-1B96-4123-B95A-3E12FAC15F22}"/>
              </a:ext>
            </a:extLst>
          </p:cNvPr>
          <p:cNvSpPr/>
          <p:nvPr/>
        </p:nvSpPr>
        <p:spPr>
          <a:xfrm rot="10800000">
            <a:off x="11577757" y="6305391"/>
            <a:ext cx="96005" cy="17490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Arrow: Up 89">
            <a:extLst>
              <a:ext uri="{FF2B5EF4-FFF2-40B4-BE49-F238E27FC236}">
                <a16:creationId xmlns:a16="http://schemas.microsoft.com/office/drawing/2014/main" id="{775280EB-D37C-4935-B3A8-05809C161961}"/>
              </a:ext>
            </a:extLst>
          </p:cNvPr>
          <p:cNvSpPr/>
          <p:nvPr/>
        </p:nvSpPr>
        <p:spPr>
          <a:xfrm rot="10800000">
            <a:off x="11577756" y="6595751"/>
            <a:ext cx="96005" cy="17490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a:extLst>
              <a:ext uri="{FF2B5EF4-FFF2-40B4-BE49-F238E27FC236}">
                <a16:creationId xmlns:a16="http://schemas.microsoft.com/office/drawing/2014/main" id="{6E0E47CE-CCD6-4D9D-91E5-76251C1F6DF1}"/>
              </a:ext>
            </a:extLst>
          </p:cNvPr>
          <p:cNvSpPr txBox="1"/>
          <p:nvPr/>
        </p:nvSpPr>
        <p:spPr>
          <a:xfrm>
            <a:off x="8230573" y="4691160"/>
            <a:ext cx="3998113" cy="338554"/>
          </a:xfrm>
          <a:prstGeom prst="rect">
            <a:avLst/>
          </a:prstGeom>
          <a:noFill/>
        </p:spPr>
        <p:txBody>
          <a:bodyPr wrap="square" rtlCol="0">
            <a:spAutoFit/>
          </a:bodyPr>
          <a:lstStyle/>
          <a:p>
            <a:pPr algn="ctr"/>
            <a:r>
              <a:rPr lang="en-US" sz="1600">
                <a:solidFill>
                  <a:schemeClr val="accent2">
                    <a:lumMod val="50000"/>
                  </a:schemeClr>
                </a:solidFill>
              </a:rPr>
              <a:t>Decline in sales/growth across drug categories </a:t>
            </a:r>
            <a:endParaRPr lang="en-IN" sz="1600">
              <a:solidFill>
                <a:schemeClr val="accent2">
                  <a:lumMod val="50000"/>
                </a:schemeClr>
              </a:solidFill>
            </a:endParaRPr>
          </a:p>
        </p:txBody>
      </p:sp>
      <p:cxnSp>
        <p:nvCxnSpPr>
          <p:cNvPr id="94" name="Straight Arrow Connector 93">
            <a:extLst>
              <a:ext uri="{FF2B5EF4-FFF2-40B4-BE49-F238E27FC236}">
                <a16:creationId xmlns:a16="http://schemas.microsoft.com/office/drawing/2014/main" id="{AE630E2A-E1E1-4418-92AB-60E4F2AFE016}"/>
              </a:ext>
            </a:extLst>
          </p:cNvPr>
          <p:cNvCxnSpPr/>
          <p:nvPr/>
        </p:nvCxnSpPr>
        <p:spPr>
          <a:xfrm>
            <a:off x="3798277" y="1624382"/>
            <a:ext cx="616194"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58EB371-3148-4149-9EEB-E2D9A9641D55}"/>
              </a:ext>
            </a:extLst>
          </p:cNvPr>
          <p:cNvCxnSpPr/>
          <p:nvPr/>
        </p:nvCxnSpPr>
        <p:spPr>
          <a:xfrm>
            <a:off x="10062047" y="1606798"/>
            <a:ext cx="616194"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6439935-CAD2-4FD5-955D-92F0EA5538CD}"/>
              </a:ext>
            </a:extLst>
          </p:cNvPr>
          <p:cNvCxnSpPr>
            <a:cxnSpLocks/>
          </p:cNvCxnSpPr>
          <p:nvPr/>
        </p:nvCxnSpPr>
        <p:spPr>
          <a:xfrm flipH="1">
            <a:off x="3767898" y="1708043"/>
            <a:ext cx="616193"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5626A706-3C84-4A87-95E2-6264EA70E20E}"/>
              </a:ext>
            </a:extLst>
          </p:cNvPr>
          <p:cNvCxnSpPr>
            <a:cxnSpLocks/>
          </p:cNvCxnSpPr>
          <p:nvPr/>
        </p:nvCxnSpPr>
        <p:spPr>
          <a:xfrm flipH="1">
            <a:off x="10032753" y="1685117"/>
            <a:ext cx="616193"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5A19345-4003-4AED-B6A8-F3551475D837}"/>
              </a:ext>
            </a:extLst>
          </p:cNvPr>
          <p:cNvCxnSpPr/>
          <p:nvPr/>
        </p:nvCxnSpPr>
        <p:spPr>
          <a:xfrm>
            <a:off x="10161475" y="4213327"/>
            <a:ext cx="616194"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BED87525-8233-410A-8E62-31D8C981496E}"/>
              </a:ext>
            </a:extLst>
          </p:cNvPr>
          <p:cNvCxnSpPr>
            <a:cxnSpLocks/>
          </p:cNvCxnSpPr>
          <p:nvPr/>
        </p:nvCxnSpPr>
        <p:spPr>
          <a:xfrm flipH="1">
            <a:off x="10132181" y="4291646"/>
            <a:ext cx="616193"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6878DBE-51CF-47AF-986F-3BB985000C2A}"/>
              </a:ext>
            </a:extLst>
          </p:cNvPr>
          <p:cNvSpPr txBox="1"/>
          <p:nvPr/>
        </p:nvSpPr>
        <p:spPr>
          <a:xfrm>
            <a:off x="3813111" y="1639268"/>
            <a:ext cx="666952"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Patient</a:t>
            </a:r>
            <a:endParaRPr lang="en-IN" sz="1200">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EA3B7826-B19C-4EBF-8669-ABE7DC61DD7E}"/>
              </a:ext>
            </a:extLst>
          </p:cNvPr>
          <p:cNvSpPr txBox="1"/>
          <p:nvPr/>
        </p:nvSpPr>
        <p:spPr>
          <a:xfrm>
            <a:off x="3755692" y="1415763"/>
            <a:ext cx="666952"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HCP</a:t>
            </a:r>
            <a:endParaRPr lang="en-IN" sz="120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25102BA8-A9D9-448A-B552-88FEFDF02148}"/>
              </a:ext>
            </a:extLst>
          </p:cNvPr>
          <p:cNvSpPr txBox="1"/>
          <p:nvPr/>
        </p:nvSpPr>
        <p:spPr>
          <a:xfrm>
            <a:off x="9919139" y="1346035"/>
            <a:ext cx="879089"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Pharmacy</a:t>
            </a:r>
            <a:endParaRPr lang="en-IN" sz="1200">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E9F02032-1768-4A59-B769-F7E8F498D4AD}"/>
              </a:ext>
            </a:extLst>
          </p:cNvPr>
          <p:cNvSpPr txBox="1"/>
          <p:nvPr/>
        </p:nvSpPr>
        <p:spPr>
          <a:xfrm>
            <a:off x="9866926" y="1651570"/>
            <a:ext cx="1055065"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Pharma Co.</a:t>
            </a:r>
            <a:endParaRPr lang="en-IN" sz="1200">
              <a:latin typeface="Arial" panose="020B0604020202020204" pitchFamily="34" charset="0"/>
              <a:cs typeface="Arial" panose="020B0604020202020204" pitchFamily="34" charset="0"/>
            </a:endParaRPr>
          </a:p>
        </p:txBody>
      </p:sp>
      <p:pic>
        <p:nvPicPr>
          <p:cNvPr id="112" name="Picture 111">
            <a:extLst>
              <a:ext uri="{FF2B5EF4-FFF2-40B4-BE49-F238E27FC236}">
                <a16:creationId xmlns:a16="http://schemas.microsoft.com/office/drawing/2014/main" id="{7FDBE1B6-7A61-463B-97E8-BC6B7749CED8}"/>
              </a:ext>
            </a:extLst>
          </p:cNvPr>
          <p:cNvPicPr>
            <a:picLocks noChangeAspect="1"/>
          </p:cNvPicPr>
          <p:nvPr/>
        </p:nvPicPr>
        <p:blipFill>
          <a:blip r:embed="rId8"/>
          <a:stretch>
            <a:fillRect/>
          </a:stretch>
        </p:blipFill>
        <p:spPr>
          <a:xfrm>
            <a:off x="9487371" y="1441049"/>
            <a:ext cx="390316" cy="384456"/>
          </a:xfrm>
          <a:prstGeom prst="rect">
            <a:avLst/>
          </a:prstGeom>
        </p:spPr>
      </p:pic>
      <p:sp>
        <p:nvSpPr>
          <p:cNvPr id="114" name="TextBox 113">
            <a:extLst>
              <a:ext uri="{FF2B5EF4-FFF2-40B4-BE49-F238E27FC236}">
                <a16:creationId xmlns:a16="http://schemas.microsoft.com/office/drawing/2014/main" id="{7B6D2AF8-D6E9-47D0-BB7D-4E291F96BAC1}"/>
              </a:ext>
            </a:extLst>
          </p:cNvPr>
          <p:cNvSpPr txBox="1"/>
          <p:nvPr/>
        </p:nvSpPr>
        <p:spPr>
          <a:xfrm>
            <a:off x="10000732" y="3944743"/>
            <a:ext cx="879089"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Pharmacy</a:t>
            </a:r>
            <a:endParaRPr lang="en-IN" sz="1200">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DAE9356D-7854-4641-8207-129E7D636ABC}"/>
              </a:ext>
            </a:extLst>
          </p:cNvPr>
          <p:cNvSpPr txBox="1"/>
          <p:nvPr/>
        </p:nvSpPr>
        <p:spPr>
          <a:xfrm>
            <a:off x="10000731" y="4289931"/>
            <a:ext cx="879089"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Patient</a:t>
            </a:r>
            <a:endParaRPr lang="en-IN" sz="1200">
              <a:latin typeface="Arial" panose="020B0604020202020204" pitchFamily="34" charset="0"/>
              <a:cs typeface="Arial" panose="020B0604020202020204" pitchFamily="34" charset="0"/>
            </a:endParaRPr>
          </a:p>
        </p:txBody>
      </p:sp>
      <p:sp>
        <p:nvSpPr>
          <p:cNvPr id="117" name="Rectangle: Rounded Corners 48">
            <a:extLst>
              <a:ext uri="{FF2B5EF4-FFF2-40B4-BE49-F238E27FC236}">
                <a16:creationId xmlns:a16="http://schemas.microsoft.com/office/drawing/2014/main" id="{9C6361C8-DC8C-4D8D-952F-0A060D726E78}"/>
              </a:ext>
            </a:extLst>
          </p:cNvPr>
          <p:cNvSpPr/>
          <p:nvPr/>
        </p:nvSpPr>
        <p:spPr>
          <a:xfrm>
            <a:off x="202488" y="5141873"/>
            <a:ext cx="7895733" cy="1663662"/>
          </a:xfrm>
          <a:prstGeom prst="roundRect">
            <a:avLst/>
          </a:prstGeom>
          <a:noFill/>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b="1"/>
          </a:p>
          <a:p>
            <a:pPr algn="ctr"/>
            <a:endParaRPr lang="en-IN" sz="1200"/>
          </a:p>
        </p:txBody>
      </p:sp>
      <p:sp>
        <p:nvSpPr>
          <p:cNvPr id="119" name="Rectangle 118">
            <a:extLst>
              <a:ext uri="{FF2B5EF4-FFF2-40B4-BE49-F238E27FC236}">
                <a16:creationId xmlns:a16="http://schemas.microsoft.com/office/drawing/2014/main" id="{782A6226-6FE0-4B74-9A83-51CD7104750A}"/>
              </a:ext>
            </a:extLst>
          </p:cNvPr>
          <p:cNvSpPr/>
          <p:nvPr/>
        </p:nvSpPr>
        <p:spPr>
          <a:xfrm>
            <a:off x="3028635" y="4936361"/>
            <a:ext cx="2079145" cy="556215"/>
          </a:xfrm>
          <a:prstGeom prst="rect">
            <a:avLst/>
          </a:prstGeom>
          <a:solidFill>
            <a:schemeClr val="bg1"/>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tx1"/>
              </a:solidFill>
            </a:endParaRPr>
          </a:p>
        </p:txBody>
      </p:sp>
      <p:pic>
        <p:nvPicPr>
          <p:cNvPr id="121" name="Picture 120">
            <a:extLst>
              <a:ext uri="{FF2B5EF4-FFF2-40B4-BE49-F238E27FC236}">
                <a16:creationId xmlns:a16="http://schemas.microsoft.com/office/drawing/2014/main" id="{CF81F7B8-FA57-4D09-A678-06C0ABFBABA3}"/>
              </a:ext>
            </a:extLst>
          </p:cNvPr>
          <p:cNvPicPr>
            <a:picLocks noChangeAspect="1"/>
          </p:cNvPicPr>
          <p:nvPr/>
        </p:nvPicPr>
        <p:blipFill>
          <a:blip r:embed="rId8"/>
          <a:stretch>
            <a:fillRect/>
          </a:stretch>
        </p:blipFill>
        <p:spPr>
          <a:xfrm>
            <a:off x="3331007" y="5032334"/>
            <a:ext cx="390316" cy="384456"/>
          </a:xfrm>
          <a:prstGeom prst="rect">
            <a:avLst/>
          </a:prstGeom>
        </p:spPr>
      </p:pic>
      <p:pic>
        <p:nvPicPr>
          <p:cNvPr id="123" name="Picture 122">
            <a:extLst>
              <a:ext uri="{FF2B5EF4-FFF2-40B4-BE49-F238E27FC236}">
                <a16:creationId xmlns:a16="http://schemas.microsoft.com/office/drawing/2014/main" id="{EC122E44-D497-4ECA-8B79-B58AD382A8D4}"/>
              </a:ext>
            </a:extLst>
          </p:cNvPr>
          <p:cNvPicPr>
            <a:picLocks noChangeAspect="1"/>
          </p:cNvPicPr>
          <p:nvPr/>
        </p:nvPicPr>
        <p:blipFill>
          <a:blip r:embed="rId5"/>
          <a:stretch>
            <a:fillRect/>
          </a:stretch>
        </p:blipFill>
        <p:spPr>
          <a:xfrm>
            <a:off x="4533252" y="5052756"/>
            <a:ext cx="392712" cy="384457"/>
          </a:xfrm>
          <a:prstGeom prst="rect">
            <a:avLst/>
          </a:prstGeom>
        </p:spPr>
      </p:pic>
      <p:cxnSp>
        <p:nvCxnSpPr>
          <p:cNvPr id="124" name="Straight Arrow Connector 123">
            <a:extLst>
              <a:ext uri="{FF2B5EF4-FFF2-40B4-BE49-F238E27FC236}">
                <a16:creationId xmlns:a16="http://schemas.microsoft.com/office/drawing/2014/main" id="{6829C1C0-E372-4214-AFFA-0058F0B2FEBF}"/>
              </a:ext>
            </a:extLst>
          </p:cNvPr>
          <p:cNvCxnSpPr/>
          <p:nvPr/>
        </p:nvCxnSpPr>
        <p:spPr>
          <a:xfrm>
            <a:off x="3838999" y="5216026"/>
            <a:ext cx="616194"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733DFA40-767C-43F6-AAB6-B711316E7C2A}"/>
              </a:ext>
            </a:extLst>
          </p:cNvPr>
          <p:cNvCxnSpPr>
            <a:cxnSpLocks/>
          </p:cNvCxnSpPr>
          <p:nvPr/>
        </p:nvCxnSpPr>
        <p:spPr>
          <a:xfrm flipH="1">
            <a:off x="3809705" y="5294345"/>
            <a:ext cx="616193"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AC874421-6045-4808-8FAE-53AB6E3A9455}"/>
              </a:ext>
            </a:extLst>
          </p:cNvPr>
          <p:cNvSpPr txBox="1"/>
          <p:nvPr/>
        </p:nvSpPr>
        <p:spPr>
          <a:xfrm>
            <a:off x="3707551" y="4981274"/>
            <a:ext cx="879089"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Patient</a:t>
            </a:r>
            <a:endParaRPr lang="en-IN" sz="1200">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ED88CFE2-D22E-45FC-88DD-DC435B3E48F9}"/>
              </a:ext>
            </a:extLst>
          </p:cNvPr>
          <p:cNvSpPr txBox="1"/>
          <p:nvPr/>
        </p:nvSpPr>
        <p:spPr>
          <a:xfrm>
            <a:off x="3669505" y="5258273"/>
            <a:ext cx="1055065" cy="276999"/>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Pharma Co.</a:t>
            </a:r>
            <a:endParaRPr lang="en-IN" sz="1200">
              <a:latin typeface="Arial" panose="020B0604020202020204" pitchFamily="34" charset="0"/>
              <a:cs typeface="Arial" panose="020B0604020202020204" pitchFamily="34" charset="0"/>
            </a:endParaRPr>
          </a:p>
        </p:txBody>
      </p:sp>
      <p:sp>
        <p:nvSpPr>
          <p:cNvPr id="130" name="Oval 129">
            <a:extLst>
              <a:ext uri="{FF2B5EF4-FFF2-40B4-BE49-F238E27FC236}">
                <a16:creationId xmlns:a16="http://schemas.microsoft.com/office/drawing/2014/main" id="{5D32D859-7B26-417A-BD68-212CDD2F25CC}"/>
              </a:ext>
            </a:extLst>
          </p:cNvPr>
          <p:cNvSpPr/>
          <p:nvPr/>
        </p:nvSpPr>
        <p:spPr>
          <a:xfrm>
            <a:off x="302054" y="5845944"/>
            <a:ext cx="520145" cy="529306"/>
          </a:xfrm>
          <a:prstGeom prst="ellipse">
            <a:avLst/>
          </a:prstGeom>
          <a:noFill/>
          <a:ln>
            <a:solidFill>
              <a:srgbClr val="FD61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2" name="Picture 131">
            <a:extLst>
              <a:ext uri="{FF2B5EF4-FFF2-40B4-BE49-F238E27FC236}">
                <a16:creationId xmlns:a16="http://schemas.microsoft.com/office/drawing/2014/main" id="{59C0EBCB-EB64-40F6-8AE5-366A33D92EC6}"/>
              </a:ext>
            </a:extLst>
          </p:cNvPr>
          <p:cNvPicPr>
            <a:picLocks noChangeAspect="1"/>
          </p:cNvPicPr>
          <p:nvPr/>
        </p:nvPicPr>
        <p:blipFill>
          <a:blip r:embed="rId9"/>
          <a:stretch>
            <a:fillRect/>
          </a:stretch>
        </p:blipFill>
        <p:spPr>
          <a:xfrm>
            <a:off x="431085" y="5913539"/>
            <a:ext cx="292943" cy="413636"/>
          </a:xfrm>
          <a:prstGeom prst="rect">
            <a:avLst/>
          </a:prstGeom>
        </p:spPr>
      </p:pic>
      <p:sp>
        <p:nvSpPr>
          <p:cNvPr id="134" name="TextBox 133">
            <a:extLst>
              <a:ext uri="{FF2B5EF4-FFF2-40B4-BE49-F238E27FC236}">
                <a16:creationId xmlns:a16="http://schemas.microsoft.com/office/drawing/2014/main" id="{D77FBFDA-26CE-4F7D-B6CE-C6F51C12E79E}"/>
              </a:ext>
            </a:extLst>
          </p:cNvPr>
          <p:cNvSpPr txBox="1"/>
          <p:nvPr/>
        </p:nvSpPr>
        <p:spPr>
          <a:xfrm>
            <a:off x="759218" y="5605206"/>
            <a:ext cx="1742085" cy="1200329"/>
          </a:xfrm>
          <a:prstGeom prst="rect">
            <a:avLst/>
          </a:prstGeom>
          <a:noFill/>
        </p:spPr>
        <p:txBody>
          <a:bodyPr wrap="square" rtlCol="0">
            <a:spAutoFit/>
          </a:bodyPr>
          <a:lstStyle/>
          <a:p>
            <a:pPr algn="ctr"/>
            <a:r>
              <a:rPr lang="en-US" sz="1200">
                <a:solidFill>
                  <a:schemeClr val="accent2">
                    <a:lumMod val="50000"/>
                  </a:schemeClr>
                </a:solidFill>
                <a:latin typeface="Arial" panose="020B0604020202020204" pitchFamily="34" charset="0"/>
                <a:cs typeface="Arial" panose="020B0604020202020204" pitchFamily="34" charset="0"/>
              </a:rPr>
              <a:t>Increasing trend towards home medical devices like pulse oximeters, glucometers, inhalers etc.</a:t>
            </a:r>
            <a:endParaRPr lang="en-IN" sz="1200">
              <a:solidFill>
                <a:schemeClr val="accent2">
                  <a:lumMod val="50000"/>
                </a:schemeClr>
              </a:solidFill>
              <a:latin typeface="Arial" panose="020B0604020202020204" pitchFamily="34" charset="0"/>
              <a:cs typeface="Arial" panose="020B0604020202020204" pitchFamily="34" charset="0"/>
            </a:endParaRPr>
          </a:p>
        </p:txBody>
      </p:sp>
      <p:sp>
        <p:nvSpPr>
          <p:cNvPr id="136" name="Oval 135">
            <a:extLst>
              <a:ext uri="{FF2B5EF4-FFF2-40B4-BE49-F238E27FC236}">
                <a16:creationId xmlns:a16="http://schemas.microsoft.com/office/drawing/2014/main" id="{BF2ECD8E-E30F-4BC9-9D2E-CB3D387FDED4}"/>
              </a:ext>
            </a:extLst>
          </p:cNvPr>
          <p:cNvSpPr/>
          <p:nvPr/>
        </p:nvSpPr>
        <p:spPr>
          <a:xfrm>
            <a:off x="2424347" y="5808962"/>
            <a:ext cx="520145" cy="529306"/>
          </a:xfrm>
          <a:prstGeom prst="ellipse">
            <a:avLst/>
          </a:prstGeom>
          <a:noFill/>
          <a:ln>
            <a:solidFill>
              <a:srgbClr val="FD61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TextBox 139">
            <a:extLst>
              <a:ext uri="{FF2B5EF4-FFF2-40B4-BE49-F238E27FC236}">
                <a16:creationId xmlns:a16="http://schemas.microsoft.com/office/drawing/2014/main" id="{884BFFCE-33D2-4F1E-801A-A485F25DBBB8}"/>
              </a:ext>
            </a:extLst>
          </p:cNvPr>
          <p:cNvSpPr txBox="1"/>
          <p:nvPr/>
        </p:nvSpPr>
        <p:spPr>
          <a:xfrm>
            <a:off x="4117801" y="5776588"/>
            <a:ext cx="2063563" cy="276999"/>
          </a:xfrm>
          <a:prstGeom prst="rect">
            <a:avLst/>
          </a:prstGeom>
          <a:noFill/>
        </p:spPr>
        <p:txBody>
          <a:bodyPr wrap="square" rtlCol="0">
            <a:spAutoFit/>
          </a:bodyPr>
          <a:lstStyle/>
          <a:p>
            <a:pPr algn="ctr"/>
            <a:endParaRPr lang="en-IN" sz="1200">
              <a:solidFill>
                <a:schemeClr val="accent2">
                  <a:lumMod val="50000"/>
                </a:schemeClr>
              </a:solidFill>
              <a:latin typeface="Arial" panose="020B0604020202020204" pitchFamily="34" charset="0"/>
              <a:cs typeface="Arial" panose="020B0604020202020204" pitchFamily="34" charset="0"/>
            </a:endParaRPr>
          </a:p>
        </p:txBody>
      </p:sp>
      <p:sp>
        <p:nvSpPr>
          <p:cNvPr id="142" name="Arrow: Up 141">
            <a:extLst>
              <a:ext uri="{FF2B5EF4-FFF2-40B4-BE49-F238E27FC236}">
                <a16:creationId xmlns:a16="http://schemas.microsoft.com/office/drawing/2014/main" id="{C2ACCD89-0A53-450B-A345-2037229DA42A}"/>
              </a:ext>
            </a:extLst>
          </p:cNvPr>
          <p:cNvSpPr/>
          <p:nvPr/>
        </p:nvSpPr>
        <p:spPr>
          <a:xfrm rot="10800000">
            <a:off x="10776764" y="5470016"/>
            <a:ext cx="96005" cy="17490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TextBox 143">
            <a:extLst>
              <a:ext uri="{FF2B5EF4-FFF2-40B4-BE49-F238E27FC236}">
                <a16:creationId xmlns:a16="http://schemas.microsoft.com/office/drawing/2014/main" id="{6A506D29-95B0-4776-ADB2-4B1828D758BE}"/>
              </a:ext>
            </a:extLst>
          </p:cNvPr>
          <p:cNvSpPr txBox="1"/>
          <p:nvPr/>
        </p:nvSpPr>
        <p:spPr>
          <a:xfrm>
            <a:off x="3113034" y="5644496"/>
            <a:ext cx="1910348" cy="1015663"/>
          </a:xfrm>
          <a:prstGeom prst="rect">
            <a:avLst/>
          </a:prstGeom>
          <a:noFill/>
        </p:spPr>
        <p:txBody>
          <a:bodyPr wrap="square" rtlCol="0">
            <a:spAutoFit/>
          </a:bodyPr>
          <a:lstStyle/>
          <a:p>
            <a:pPr algn="ctr"/>
            <a:r>
              <a:rPr lang="en-US" sz="1200">
                <a:solidFill>
                  <a:schemeClr val="accent2">
                    <a:lumMod val="50000"/>
                  </a:schemeClr>
                </a:solidFill>
                <a:latin typeface="Arial" panose="020B0604020202020204" pitchFamily="34" charset="0"/>
                <a:cs typeface="Arial" panose="020B0604020202020204" pitchFamily="34" charset="0"/>
              </a:rPr>
              <a:t>With decrease in supply, prices saw an increase of ~5%, affecting patients already reeling with credit crunch. .</a:t>
            </a:r>
            <a:endParaRPr lang="en-IN" sz="1200">
              <a:solidFill>
                <a:schemeClr val="accent2">
                  <a:lumMod val="50000"/>
                </a:schemeClr>
              </a:solidFill>
              <a:latin typeface="Arial" panose="020B0604020202020204" pitchFamily="34" charset="0"/>
              <a:cs typeface="Arial" panose="020B0604020202020204" pitchFamily="34" charset="0"/>
            </a:endParaRPr>
          </a:p>
        </p:txBody>
      </p:sp>
      <p:sp>
        <p:nvSpPr>
          <p:cNvPr id="146" name="Oval 145">
            <a:extLst>
              <a:ext uri="{FF2B5EF4-FFF2-40B4-BE49-F238E27FC236}">
                <a16:creationId xmlns:a16="http://schemas.microsoft.com/office/drawing/2014/main" id="{A893C470-74E0-4AD8-9E30-256751570D08}"/>
              </a:ext>
            </a:extLst>
          </p:cNvPr>
          <p:cNvSpPr/>
          <p:nvPr/>
        </p:nvSpPr>
        <p:spPr>
          <a:xfrm>
            <a:off x="5090555" y="5878703"/>
            <a:ext cx="489665" cy="477721"/>
          </a:xfrm>
          <a:prstGeom prst="ellipse">
            <a:avLst/>
          </a:prstGeom>
          <a:noFill/>
          <a:ln>
            <a:solidFill>
              <a:srgbClr val="FD61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8" name="Picture 147">
            <a:extLst>
              <a:ext uri="{FF2B5EF4-FFF2-40B4-BE49-F238E27FC236}">
                <a16:creationId xmlns:a16="http://schemas.microsoft.com/office/drawing/2014/main" id="{7617A553-5805-4966-BB7E-D3274C3E0D8C}"/>
              </a:ext>
            </a:extLst>
          </p:cNvPr>
          <p:cNvPicPr>
            <a:picLocks noChangeAspect="1"/>
          </p:cNvPicPr>
          <p:nvPr/>
        </p:nvPicPr>
        <p:blipFill>
          <a:blip r:embed="rId10"/>
          <a:stretch>
            <a:fillRect/>
          </a:stretch>
        </p:blipFill>
        <p:spPr>
          <a:xfrm>
            <a:off x="5175520" y="5971869"/>
            <a:ext cx="307175" cy="286517"/>
          </a:xfrm>
          <a:prstGeom prst="rect">
            <a:avLst/>
          </a:prstGeom>
        </p:spPr>
      </p:pic>
      <p:sp>
        <p:nvSpPr>
          <p:cNvPr id="150" name="TextBox 149">
            <a:extLst>
              <a:ext uri="{FF2B5EF4-FFF2-40B4-BE49-F238E27FC236}">
                <a16:creationId xmlns:a16="http://schemas.microsoft.com/office/drawing/2014/main" id="{A06C841C-EE2C-4BE8-9653-1E3CC25CFE77}"/>
              </a:ext>
            </a:extLst>
          </p:cNvPr>
          <p:cNvSpPr txBox="1"/>
          <p:nvPr/>
        </p:nvSpPr>
        <p:spPr>
          <a:xfrm>
            <a:off x="5698125" y="5521163"/>
            <a:ext cx="2026873" cy="1200329"/>
          </a:xfrm>
          <a:prstGeom prst="rect">
            <a:avLst/>
          </a:prstGeom>
          <a:noFill/>
        </p:spPr>
        <p:txBody>
          <a:bodyPr wrap="square" rtlCol="0">
            <a:spAutoFit/>
          </a:bodyPr>
          <a:lstStyle/>
          <a:p>
            <a:pPr algn="ctr"/>
            <a:r>
              <a:rPr lang="en-US" sz="1200">
                <a:solidFill>
                  <a:schemeClr val="accent2">
                    <a:lumMod val="50000"/>
                  </a:schemeClr>
                </a:solidFill>
                <a:latin typeface="Arial" panose="020B0604020202020204" pitchFamily="34" charset="0"/>
                <a:cs typeface="Arial" panose="020B0604020202020204" pitchFamily="34" charset="0"/>
              </a:rPr>
              <a:t>Unpredictability in demand observed due to panic buying of cardiac and anti diabetic drugs. Agile supply chain required to meet future unpredictability</a:t>
            </a:r>
            <a:endParaRPr lang="en-IN" sz="1200">
              <a:solidFill>
                <a:schemeClr val="accent2">
                  <a:lumMod val="50000"/>
                </a:schemeClr>
              </a:solidFill>
              <a:latin typeface="Arial" panose="020B0604020202020204" pitchFamily="34" charset="0"/>
              <a:cs typeface="Arial" panose="020B0604020202020204" pitchFamily="34" charset="0"/>
            </a:endParaRPr>
          </a:p>
        </p:txBody>
      </p:sp>
      <p:pic>
        <p:nvPicPr>
          <p:cNvPr id="152" name="Picture 151">
            <a:extLst>
              <a:ext uri="{FF2B5EF4-FFF2-40B4-BE49-F238E27FC236}">
                <a16:creationId xmlns:a16="http://schemas.microsoft.com/office/drawing/2014/main" id="{29E9B647-D9CF-424F-9370-67A1C1CF6C60}"/>
              </a:ext>
            </a:extLst>
          </p:cNvPr>
          <p:cNvPicPr>
            <a:picLocks noChangeAspect="1"/>
          </p:cNvPicPr>
          <p:nvPr/>
        </p:nvPicPr>
        <p:blipFill>
          <a:blip r:embed="rId11"/>
          <a:stretch>
            <a:fillRect/>
          </a:stretch>
        </p:blipFill>
        <p:spPr>
          <a:xfrm>
            <a:off x="2520789" y="5958381"/>
            <a:ext cx="327259" cy="272029"/>
          </a:xfrm>
          <a:prstGeom prst="rect">
            <a:avLst/>
          </a:prstGeom>
        </p:spPr>
      </p:pic>
      <p:sp>
        <p:nvSpPr>
          <p:cNvPr id="73" name="Oval 72">
            <a:extLst>
              <a:ext uri="{FF2B5EF4-FFF2-40B4-BE49-F238E27FC236}">
                <a16:creationId xmlns:a16="http://schemas.microsoft.com/office/drawing/2014/main" id="{B593FD08-2B98-9448-8B52-4E02D9457480}"/>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3</a:t>
            </a:r>
          </a:p>
        </p:txBody>
      </p:sp>
      <p:sp>
        <p:nvSpPr>
          <p:cNvPr id="75" name="Title 1">
            <a:extLst>
              <a:ext uri="{FF2B5EF4-FFF2-40B4-BE49-F238E27FC236}">
                <a16:creationId xmlns:a16="http://schemas.microsoft.com/office/drawing/2014/main" id="{1ACE3CD4-D768-5243-886A-4D5614754BDA}"/>
              </a:ext>
            </a:extLst>
          </p:cNvPr>
          <p:cNvSpPr>
            <a:spLocks noGrp="1"/>
          </p:cNvSpPr>
          <p:nvPr>
            <p:ph type="title"/>
          </p:nvPr>
        </p:nvSpPr>
        <p:spPr>
          <a:xfrm>
            <a:off x="193856" y="401206"/>
            <a:ext cx="10699789" cy="561975"/>
          </a:xfrm>
        </p:spPr>
        <p:txBody>
          <a:bodyPr>
            <a:normAutofit/>
          </a:bodyPr>
          <a:lstStyle/>
          <a:p>
            <a:r>
              <a:rPr lang="en-US"/>
              <a:t>Significant decline in patient visits to hospitals and out-patient clinics leading to decline in naïve and switch patients affecting the complete patient funnel </a:t>
            </a:r>
            <a:endParaRPr lang="en-IN"/>
          </a:p>
        </p:txBody>
      </p:sp>
      <p:sp>
        <p:nvSpPr>
          <p:cNvPr id="83" name="Rectangle: Top Corners Rounded 80">
            <a:extLst>
              <a:ext uri="{FF2B5EF4-FFF2-40B4-BE49-F238E27FC236}">
                <a16:creationId xmlns:a16="http://schemas.microsoft.com/office/drawing/2014/main" id="{FA28E78D-C8E0-44C2-91D3-C37201D4B0A3}"/>
              </a:ext>
            </a:extLst>
          </p:cNvPr>
          <p:cNvSpPr/>
          <p:nvPr/>
        </p:nvSpPr>
        <p:spPr>
          <a:xfrm rot="5400000">
            <a:off x="6970950" y="-1084101"/>
            <a:ext cx="257818" cy="2583568"/>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85" name="Rectangle: Top Corners Rounded 86">
            <a:extLst>
              <a:ext uri="{FF2B5EF4-FFF2-40B4-BE49-F238E27FC236}">
                <a16:creationId xmlns:a16="http://schemas.microsoft.com/office/drawing/2014/main" id="{FF03421F-5525-461F-B648-B05480A6F7BD}"/>
              </a:ext>
            </a:extLst>
          </p:cNvPr>
          <p:cNvSpPr/>
          <p:nvPr/>
        </p:nvSpPr>
        <p:spPr>
          <a:xfrm rot="5400000">
            <a:off x="4314749" y="-1130079"/>
            <a:ext cx="259304" cy="2690651"/>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87" name="Rectangle: Top Corners Rounded 87">
            <a:extLst>
              <a:ext uri="{FF2B5EF4-FFF2-40B4-BE49-F238E27FC236}">
                <a16:creationId xmlns:a16="http://schemas.microsoft.com/office/drawing/2014/main" id="{18091A9E-28ED-4BA9-AA23-4ABBF7FBC751}"/>
              </a:ext>
            </a:extLst>
          </p:cNvPr>
          <p:cNvSpPr/>
          <p:nvPr/>
        </p:nvSpPr>
        <p:spPr>
          <a:xfrm rot="5400000">
            <a:off x="1433933" y="-1301896"/>
            <a:ext cx="258681" cy="3034908"/>
          </a:xfrm>
          <a:prstGeom prst="round2SameRect">
            <a:avLst>
              <a:gd name="adj1" fmla="val 0"/>
              <a:gd name="adj2" fmla="val 0"/>
            </a:avLst>
          </a:prstGeom>
          <a:solidFill>
            <a:srgbClr val="FD5D0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89" name="Rectangle: Top Corners Rounded 88">
            <a:extLst>
              <a:ext uri="{FF2B5EF4-FFF2-40B4-BE49-F238E27FC236}">
                <a16:creationId xmlns:a16="http://schemas.microsoft.com/office/drawing/2014/main" id="{1333C33C-F58C-4321-9A99-5A2BE132C8B5}"/>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2453156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3D8DF8E8-D3BF-4BB0-9283-E5AF541E10A1}"/>
              </a:ext>
            </a:extLst>
          </p:cNvPr>
          <p:cNvGraphicFramePr>
            <a:graphicFrameLocks/>
          </p:cNvGraphicFramePr>
          <p:nvPr>
            <p:extLst>
              <p:ext uri="{D42A27DB-BD31-4B8C-83A1-F6EECF244321}">
                <p14:modId xmlns:p14="http://schemas.microsoft.com/office/powerpoint/2010/main" val="739502747"/>
              </p:ext>
            </p:extLst>
          </p:nvPr>
        </p:nvGraphicFramePr>
        <p:xfrm>
          <a:off x="468549" y="1495313"/>
          <a:ext cx="4825478" cy="3303169"/>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BFFB5B4C-3A29-43B8-9FCC-3F2D483709EE}"/>
              </a:ext>
            </a:extLst>
          </p:cNvPr>
          <p:cNvSpPr/>
          <p:nvPr/>
        </p:nvSpPr>
        <p:spPr>
          <a:xfrm>
            <a:off x="1148861" y="1543195"/>
            <a:ext cx="804985" cy="2262898"/>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48">
            <a:extLst>
              <a:ext uri="{FF2B5EF4-FFF2-40B4-BE49-F238E27FC236}">
                <a16:creationId xmlns:a16="http://schemas.microsoft.com/office/drawing/2014/main" id="{5DC1AB1E-9520-4A39-A4A1-FE9E3200A820}"/>
              </a:ext>
            </a:extLst>
          </p:cNvPr>
          <p:cNvSpPr/>
          <p:nvPr/>
        </p:nvSpPr>
        <p:spPr>
          <a:xfrm>
            <a:off x="114642" y="1376043"/>
            <a:ext cx="5533292" cy="2844028"/>
          </a:xfrm>
          <a:prstGeom prst="roundRect">
            <a:avLst/>
          </a:prstGeom>
          <a:noFill/>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b="1"/>
          </a:p>
          <a:p>
            <a:pPr algn="ctr"/>
            <a:endParaRPr lang="en-IN" sz="1200"/>
          </a:p>
        </p:txBody>
      </p:sp>
      <p:sp>
        <p:nvSpPr>
          <p:cNvPr id="12" name="Rectangle: Rounded Corners 48">
            <a:extLst>
              <a:ext uri="{FF2B5EF4-FFF2-40B4-BE49-F238E27FC236}">
                <a16:creationId xmlns:a16="http://schemas.microsoft.com/office/drawing/2014/main" id="{7CBE52E7-AA59-4732-A3D8-CEF62F791359}"/>
              </a:ext>
            </a:extLst>
          </p:cNvPr>
          <p:cNvSpPr/>
          <p:nvPr/>
        </p:nvSpPr>
        <p:spPr>
          <a:xfrm>
            <a:off x="248449" y="4398525"/>
            <a:ext cx="11677662" cy="2300399"/>
          </a:xfrm>
          <a:prstGeom prst="roundRect">
            <a:avLst/>
          </a:prstGeom>
          <a:noFill/>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b="1"/>
          </a:p>
          <a:p>
            <a:pPr algn="ctr"/>
            <a:endParaRPr lang="en-IN" sz="1200"/>
          </a:p>
        </p:txBody>
      </p:sp>
      <p:sp>
        <p:nvSpPr>
          <p:cNvPr id="16" name="TextBox 15">
            <a:extLst>
              <a:ext uri="{FF2B5EF4-FFF2-40B4-BE49-F238E27FC236}">
                <a16:creationId xmlns:a16="http://schemas.microsoft.com/office/drawing/2014/main" id="{F3EC1682-9789-48F7-B957-F16AC4C7BA45}"/>
              </a:ext>
            </a:extLst>
          </p:cNvPr>
          <p:cNvSpPr txBox="1"/>
          <p:nvPr/>
        </p:nvSpPr>
        <p:spPr>
          <a:xfrm>
            <a:off x="6962440" y="1696212"/>
            <a:ext cx="205000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Key Trends observed</a:t>
            </a:r>
            <a:endParaRPr lang="en-IN" sz="1200" b="1"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79CA7524-9BB1-4413-A5F0-4728A6BBC2C2}"/>
              </a:ext>
            </a:extLst>
          </p:cNvPr>
          <p:cNvSpPr txBox="1"/>
          <p:nvPr/>
        </p:nvSpPr>
        <p:spPr>
          <a:xfrm>
            <a:off x="5909836" y="2070823"/>
            <a:ext cx="2050000" cy="2308324"/>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Postponed pediatric immunization due to fear of </a:t>
            </a:r>
            <a:r>
              <a:rPr lang="en-US" sz="1200" err="1">
                <a:latin typeface="Arial" panose="020B0604020202020204" pitchFamily="34" charset="0"/>
                <a:cs typeface="Arial" panose="020B0604020202020204" pitchFamily="34" charset="0"/>
              </a:rPr>
              <a:t>covid</a:t>
            </a:r>
            <a:r>
              <a:rPr lang="en-US" sz="1200">
                <a:latin typeface="Arial" panose="020B0604020202020204" pitchFamily="34" charset="0"/>
                <a:cs typeface="Arial" panose="020B0604020202020204" pitchFamily="34" charset="0"/>
              </a:rPr>
              <a:t> and economic hardships.</a:t>
            </a:r>
          </a:p>
          <a:p>
            <a:pPr marL="171450" indent="-171450">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Home immunization catching up and may become a permanent trend</a:t>
            </a:r>
          </a:p>
          <a:p>
            <a:endParaRPr lang="en-US" sz="1200">
              <a:latin typeface="Arial" panose="020B0604020202020204" pitchFamily="34" charset="0"/>
              <a:cs typeface="Arial" panose="020B0604020202020204" pitchFamily="34" charset="0"/>
            </a:endParaRPr>
          </a:p>
          <a:p>
            <a:endParaRPr lang="en-IN" sz="12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6DED944C-CA86-4139-9FBD-CB5BB3F2CABB}"/>
              </a:ext>
            </a:extLst>
          </p:cNvPr>
          <p:cNvSpPr txBox="1"/>
          <p:nvPr/>
        </p:nvSpPr>
        <p:spPr>
          <a:xfrm>
            <a:off x="9883964" y="1886157"/>
            <a:ext cx="2059587" cy="2677656"/>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Agile supply chain required post </a:t>
            </a:r>
            <a:r>
              <a:rPr lang="en-US" sz="1200" err="1">
                <a:latin typeface="Arial" panose="020B0604020202020204" pitchFamily="34" charset="0"/>
                <a:cs typeface="Arial" panose="020B0604020202020204" pitchFamily="34" charset="0"/>
              </a:rPr>
              <a:t>covid</a:t>
            </a:r>
            <a:r>
              <a:rPr lang="en-US" sz="1200">
                <a:latin typeface="Arial" panose="020B0604020202020204" pitchFamily="34" charset="0"/>
                <a:cs typeface="Arial" panose="020B0604020202020204" pitchFamily="34" charset="0"/>
              </a:rPr>
              <a:t> to meet the needs of the pent up demand due to delayed immunization drives</a:t>
            </a:r>
          </a:p>
          <a:p>
            <a:pPr marL="171450" indent="-171450">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Help HCPs in facilitating home immunization drive and make immunization affordable with insurance coverage  </a:t>
            </a:r>
          </a:p>
          <a:p>
            <a:endParaRPr lang="en-US" sz="1200">
              <a:latin typeface="Arial" panose="020B0604020202020204" pitchFamily="34" charset="0"/>
              <a:cs typeface="Arial" panose="020B0604020202020204" pitchFamily="34" charset="0"/>
            </a:endParaRPr>
          </a:p>
          <a:p>
            <a:endParaRPr lang="en-IN" sz="1200">
              <a:latin typeface="Arial" panose="020B0604020202020204" pitchFamily="34" charset="0"/>
              <a:cs typeface="Arial" panose="020B0604020202020204" pitchFamily="34" charset="0"/>
            </a:endParaRPr>
          </a:p>
        </p:txBody>
      </p:sp>
      <p:sp>
        <p:nvSpPr>
          <p:cNvPr id="21" name="Rectangle: Rounded Corners 48">
            <a:extLst>
              <a:ext uri="{FF2B5EF4-FFF2-40B4-BE49-F238E27FC236}">
                <a16:creationId xmlns:a16="http://schemas.microsoft.com/office/drawing/2014/main" id="{8533D875-EB7D-403F-BF8D-F6130E347FFA}"/>
              </a:ext>
            </a:extLst>
          </p:cNvPr>
          <p:cNvSpPr/>
          <p:nvPr/>
        </p:nvSpPr>
        <p:spPr>
          <a:xfrm>
            <a:off x="5835920" y="1333489"/>
            <a:ext cx="3758553" cy="2886581"/>
          </a:xfrm>
          <a:prstGeom prst="roundRect">
            <a:avLst/>
          </a:prstGeom>
          <a:noFill/>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b="1"/>
          </a:p>
          <a:p>
            <a:pPr algn="ctr"/>
            <a:endParaRPr lang="en-IN" sz="1200"/>
          </a:p>
        </p:txBody>
      </p:sp>
      <p:sp>
        <p:nvSpPr>
          <p:cNvPr id="22" name="Isosceles Triangle 21">
            <a:extLst>
              <a:ext uri="{FF2B5EF4-FFF2-40B4-BE49-F238E27FC236}">
                <a16:creationId xmlns:a16="http://schemas.microsoft.com/office/drawing/2014/main" id="{6241D8DE-40AD-42B9-BAE3-4CAE47E242DD}"/>
              </a:ext>
            </a:extLst>
          </p:cNvPr>
          <p:cNvSpPr/>
          <p:nvPr/>
        </p:nvSpPr>
        <p:spPr>
          <a:xfrm rot="5400000">
            <a:off x="8718082" y="2715236"/>
            <a:ext cx="2051099" cy="162377"/>
          </a:xfrm>
          <a:prstGeom prst="triangl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48">
            <a:extLst>
              <a:ext uri="{FF2B5EF4-FFF2-40B4-BE49-F238E27FC236}">
                <a16:creationId xmlns:a16="http://schemas.microsoft.com/office/drawing/2014/main" id="{2958E0D2-582B-429E-BB93-06D1514D8520}"/>
              </a:ext>
            </a:extLst>
          </p:cNvPr>
          <p:cNvSpPr/>
          <p:nvPr/>
        </p:nvSpPr>
        <p:spPr>
          <a:xfrm>
            <a:off x="9876111" y="1350244"/>
            <a:ext cx="2050000" cy="2886581"/>
          </a:xfrm>
          <a:prstGeom prst="roundRect">
            <a:avLst/>
          </a:prstGeom>
          <a:noFill/>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b="1"/>
          </a:p>
          <a:p>
            <a:pPr algn="ctr"/>
            <a:endParaRPr lang="en-IN" sz="1200"/>
          </a:p>
        </p:txBody>
      </p:sp>
      <p:sp>
        <p:nvSpPr>
          <p:cNvPr id="24" name="TextBox 23">
            <a:extLst>
              <a:ext uri="{FF2B5EF4-FFF2-40B4-BE49-F238E27FC236}">
                <a16:creationId xmlns:a16="http://schemas.microsoft.com/office/drawing/2014/main" id="{0330EACE-05CE-4C61-9F36-2D3FE69B58DE}"/>
              </a:ext>
            </a:extLst>
          </p:cNvPr>
          <p:cNvSpPr txBox="1"/>
          <p:nvPr/>
        </p:nvSpPr>
        <p:spPr>
          <a:xfrm>
            <a:off x="10176778" y="1435362"/>
            <a:ext cx="1448665" cy="461665"/>
          </a:xfrm>
          <a:prstGeom prst="rect">
            <a:avLst/>
          </a:prstGeom>
          <a:noFill/>
        </p:spPr>
        <p:txBody>
          <a:bodyPr wrap="square" rtlCol="0">
            <a:spAutoFit/>
          </a:bodyPr>
          <a:lstStyle/>
          <a:p>
            <a:r>
              <a:rPr lang="en-US" sz="1200" b="1">
                <a:latin typeface="Arial" panose="020B0604020202020204" pitchFamily="34" charset="0"/>
                <a:cs typeface="Arial" panose="020B0604020202020204" pitchFamily="34" charset="0"/>
              </a:rPr>
              <a:t>Key Measures to keep in mind</a:t>
            </a:r>
            <a:endParaRPr lang="en-IN" sz="1200" b="1">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E83C4B9-B0A7-475B-9404-63C1E147D59B}"/>
              </a:ext>
            </a:extLst>
          </p:cNvPr>
          <p:cNvSpPr txBox="1"/>
          <p:nvPr/>
        </p:nvSpPr>
        <p:spPr>
          <a:xfrm>
            <a:off x="7796519" y="2979723"/>
            <a:ext cx="1814633" cy="1569660"/>
          </a:xfrm>
          <a:prstGeom prst="rect">
            <a:avLst/>
          </a:prstGeom>
          <a:noFill/>
        </p:spPr>
        <p:txBody>
          <a:bodyPr wrap="square" rtlCol="0">
            <a:spAutoFit/>
          </a:bodyPr>
          <a:lstStyle/>
          <a:p>
            <a:pPr marL="171450" indent="-171450">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Deployment of health workers to </a:t>
            </a:r>
            <a:r>
              <a:rPr lang="en-US" sz="1200" err="1">
                <a:latin typeface="Arial" panose="020B0604020202020204" pitchFamily="34" charset="0"/>
                <a:cs typeface="Arial" panose="020B0604020202020204" pitchFamily="34" charset="0"/>
              </a:rPr>
              <a:t>covid</a:t>
            </a:r>
            <a:r>
              <a:rPr lang="en-US" sz="1200">
                <a:latin typeface="Arial" panose="020B0604020202020204" pitchFamily="34" charset="0"/>
                <a:cs typeface="Arial" panose="020B0604020202020204" pitchFamily="34" charset="0"/>
              </a:rPr>
              <a:t> duties have further hampered the immunization drive</a:t>
            </a:r>
          </a:p>
          <a:p>
            <a:endParaRPr lang="en-US" sz="1200">
              <a:latin typeface="Arial" panose="020B0604020202020204" pitchFamily="34" charset="0"/>
              <a:cs typeface="Arial" panose="020B0604020202020204" pitchFamily="34" charset="0"/>
            </a:endParaRPr>
          </a:p>
          <a:p>
            <a:endParaRPr lang="en-IN" sz="120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B97BFBA7-78F5-41AF-ADFF-D9C762DE169A}"/>
              </a:ext>
            </a:extLst>
          </p:cNvPr>
          <p:cNvSpPr txBox="1"/>
          <p:nvPr/>
        </p:nvSpPr>
        <p:spPr>
          <a:xfrm>
            <a:off x="7830370" y="1864497"/>
            <a:ext cx="1893570" cy="1384995"/>
          </a:xfrm>
          <a:prstGeom prst="rect">
            <a:avLst/>
          </a:prstGeom>
          <a:noFill/>
        </p:spPr>
        <p:txBody>
          <a:bodyPr wrap="square" rtlCol="0">
            <a:spAutoFit/>
          </a:bodyPr>
          <a:lstStyle/>
          <a:p>
            <a:pPr marL="171450" indent="-171450">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Adult vaccines which has been almost non existent in Indian market rising in the pandemic</a:t>
            </a:r>
          </a:p>
          <a:p>
            <a:endParaRPr lang="en-IN" sz="1200"/>
          </a:p>
        </p:txBody>
      </p:sp>
      <p:sp>
        <p:nvSpPr>
          <p:cNvPr id="28" name="TextBox 27">
            <a:extLst>
              <a:ext uri="{FF2B5EF4-FFF2-40B4-BE49-F238E27FC236}">
                <a16:creationId xmlns:a16="http://schemas.microsoft.com/office/drawing/2014/main" id="{49FD17D6-1A58-4A72-9F87-8B6DC2033550}"/>
              </a:ext>
            </a:extLst>
          </p:cNvPr>
          <p:cNvSpPr txBox="1"/>
          <p:nvPr/>
        </p:nvSpPr>
        <p:spPr>
          <a:xfrm>
            <a:off x="468549" y="4449581"/>
            <a:ext cx="11457562" cy="646331"/>
          </a:xfrm>
          <a:prstGeom prst="rect">
            <a:avLst/>
          </a:prstGeom>
          <a:noFill/>
        </p:spPr>
        <p:txBody>
          <a:bodyPr wrap="square" rtlCol="0">
            <a:spAutoFit/>
          </a:bodyPr>
          <a:lstStyle/>
          <a:p>
            <a:pPr algn="ctr"/>
            <a:r>
              <a:rPr lang="en-US"/>
              <a:t>A different approach needs to be adopted for general and specialized HCPs especially in the current scenario to ensure long term engagement</a:t>
            </a:r>
            <a:endParaRPr lang="en-IN"/>
          </a:p>
        </p:txBody>
      </p:sp>
      <p:pic>
        <p:nvPicPr>
          <p:cNvPr id="29" name="Picture 28">
            <a:extLst>
              <a:ext uri="{FF2B5EF4-FFF2-40B4-BE49-F238E27FC236}">
                <a16:creationId xmlns:a16="http://schemas.microsoft.com/office/drawing/2014/main" id="{5B6BF6F4-7256-4BA8-84CB-EED228D74980}"/>
              </a:ext>
            </a:extLst>
          </p:cNvPr>
          <p:cNvPicPr>
            <a:picLocks noChangeAspect="1"/>
          </p:cNvPicPr>
          <p:nvPr/>
        </p:nvPicPr>
        <p:blipFill>
          <a:blip r:embed="rId3"/>
          <a:stretch>
            <a:fillRect/>
          </a:stretch>
        </p:blipFill>
        <p:spPr>
          <a:xfrm>
            <a:off x="1021475" y="5516673"/>
            <a:ext cx="682662" cy="703007"/>
          </a:xfrm>
          <a:prstGeom prst="rect">
            <a:avLst/>
          </a:prstGeom>
        </p:spPr>
      </p:pic>
      <p:pic>
        <p:nvPicPr>
          <p:cNvPr id="30" name="Picture 29">
            <a:extLst>
              <a:ext uri="{FF2B5EF4-FFF2-40B4-BE49-F238E27FC236}">
                <a16:creationId xmlns:a16="http://schemas.microsoft.com/office/drawing/2014/main" id="{9A02CC41-184A-44F0-BF15-3317467971B0}"/>
              </a:ext>
            </a:extLst>
          </p:cNvPr>
          <p:cNvPicPr>
            <a:picLocks noChangeAspect="1"/>
          </p:cNvPicPr>
          <p:nvPr/>
        </p:nvPicPr>
        <p:blipFill>
          <a:blip r:embed="rId4"/>
          <a:stretch>
            <a:fillRect/>
          </a:stretch>
        </p:blipFill>
        <p:spPr>
          <a:xfrm>
            <a:off x="6544756" y="5545169"/>
            <a:ext cx="682662" cy="674511"/>
          </a:xfrm>
          <a:prstGeom prst="rect">
            <a:avLst/>
          </a:prstGeom>
        </p:spPr>
      </p:pic>
      <p:sp>
        <p:nvSpPr>
          <p:cNvPr id="31" name="TextBox 30">
            <a:extLst>
              <a:ext uri="{FF2B5EF4-FFF2-40B4-BE49-F238E27FC236}">
                <a16:creationId xmlns:a16="http://schemas.microsoft.com/office/drawing/2014/main" id="{D86792A5-D09E-4409-A1CD-91BD3173A3CC}"/>
              </a:ext>
            </a:extLst>
          </p:cNvPr>
          <p:cNvSpPr txBox="1"/>
          <p:nvPr/>
        </p:nvSpPr>
        <p:spPr>
          <a:xfrm>
            <a:off x="1970036" y="5216738"/>
            <a:ext cx="3304881" cy="1631216"/>
          </a:xfrm>
          <a:prstGeom prst="rect">
            <a:avLst/>
          </a:prstGeom>
          <a:noFill/>
        </p:spPr>
        <p:txBody>
          <a:bodyPr wrap="square" rtlCol="0">
            <a:spAutoFit/>
          </a:bodyPr>
          <a:lstStyle/>
          <a:p>
            <a:pPr algn="ctr"/>
            <a:r>
              <a:rPr lang="en-US" sz="1600" b="1">
                <a:latin typeface="Arial" panose="020B0604020202020204" pitchFamily="34" charset="0"/>
                <a:cs typeface="Arial" panose="020B0604020202020204" pitchFamily="34" charset="0"/>
              </a:rPr>
              <a:t>Specialized</a:t>
            </a: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Requires more information on new therapy areas, cases and drug formulation</a:t>
            </a: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Ideal promotion strategy would be speaker sessions and interaction with though leaders</a:t>
            </a:r>
          </a:p>
          <a:p>
            <a:endParaRPr lang="en-US" sz="1200">
              <a:latin typeface="Arial" panose="020B0604020202020204" pitchFamily="34" charset="0"/>
              <a:cs typeface="Arial" panose="020B0604020202020204" pitchFamily="34" charset="0"/>
            </a:endParaRPr>
          </a:p>
          <a:p>
            <a:endParaRPr lang="en-US" sz="120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FF0BC22D-3E56-4C35-99B6-B710F3AAAE0F}"/>
              </a:ext>
            </a:extLst>
          </p:cNvPr>
          <p:cNvSpPr txBox="1"/>
          <p:nvPr/>
        </p:nvSpPr>
        <p:spPr>
          <a:xfrm>
            <a:off x="8574952" y="5147341"/>
            <a:ext cx="2924189" cy="369332"/>
          </a:xfrm>
          <a:prstGeom prst="rect">
            <a:avLst/>
          </a:prstGeom>
          <a:noFill/>
        </p:spPr>
        <p:txBody>
          <a:bodyPr wrap="square" rtlCol="0">
            <a:spAutoFit/>
          </a:bodyPr>
          <a:lstStyle/>
          <a:p>
            <a:r>
              <a:rPr lang="en-US" sz="1600" b="1">
                <a:latin typeface="Arial" panose="020B0604020202020204" pitchFamily="34" charset="0"/>
                <a:cs typeface="Arial" panose="020B0604020202020204" pitchFamily="34" charset="0"/>
              </a:rPr>
              <a:t>General</a:t>
            </a:r>
            <a:r>
              <a:rPr lang="en-US" b="1"/>
              <a:t> </a:t>
            </a:r>
          </a:p>
        </p:txBody>
      </p:sp>
      <p:sp>
        <p:nvSpPr>
          <p:cNvPr id="33" name="TextBox 32">
            <a:extLst>
              <a:ext uri="{FF2B5EF4-FFF2-40B4-BE49-F238E27FC236}">
                <a16:creationId xmlns:a16="http://schemas.microsoft.com/office/drawing/2014/main" id="{330D1F6F-4C57-481F-8479-1A1C5A45FBB5}"/>
              </a:ext>
            </a:extLst>
          </p:cNvPr>
          <p:cNvSpPr txBox="1"/>
          <p:nvPr/>
        </p:nvSpPr>
        <p:spPr>
          <a:xfrm>
            <a:off x="2082661" y="2979723"/>
            <a:ext cx="3388320" cy="1077218"/>
          </a:xfrm>
          <a:prstGeom prst="rect">
            <a:avLst/>
          </a:prstGeom>
          <a:noFill/>
        </p:spPr>
        <p:txBody>
          <a:bodyPr wrap="square" rtlCol="0">
            <a:spAutoFit/>
          </a:bodyPr>
          <a:lstStyle/>
          <a:p>
            <a:pPr algn="ctr"/>
            <a:r>
              <a:rPr lang="en-US" sz="1600">
                <a:solidFill>
                  <a:schemeClr val="accent2">
                    <a:lumMod val="50000"/>
                  </a:schemeClr>
                </a:solidFill>
              </a:rPr>
              <a:t>Vaccine portfolio of GSK was the </a:t>
            </a:r>
            <a:r>
              <a:rPr lang="en-US" sz="1600" b="1">
                <a:solidFill>
                  <a:schemeClr val="accent2">
                    <a:lumMod val="50000"/>
                  </a:schemeClr>
                </a:solidFill>
              </a:rPr>
              <a:t>worst</a:t>
            </a:r>
            <a:r>
              <a:rPr lang="en-US" sz="1600">
                <a:solidFill>
                  <a:schemeClr val="accent2">
                    <a:lumMod val="50000"/>
                  </a:schemeClr>
                </a:solidFill>
              </a:rPr>
              <a:t> affected in the pandemic due to </a:t>
            </a:r>
            <a:r>
              <a:rPr lang="en-US" sz="1600" b="1">
                <a:solidFill>
                  <a:schemeClr val="accent2">
                    <a:lumMod val="50000"/>
                  </a:schemeClr>
                </a:solidFill>
              </a:rPr>
              <a:t>reduced</a:t>
            </a:r>
            <a:r>
              <a:rPr lang="en-US" sz="1600">
                <a:solidFill>
                  <a:schemeClr val="accent2">
                    <a:lumMod val="50000"/>
                  </a:schemeClr>
                </a:solidFill>
              </a:rPr>
              <a:t> patient visit and </a:t>
            </a:r>
            <a:r>
              <a:rPr lang="en-US" sz="1600" b="1">
                <a:solidFill>
                  <a:schemeClr val="accent2">
                    <a:lumMod val="50000"/>
                  </a:schemeClr>
                </a:solidFill>
              </a:rPr>
              <a:t>postponed immunization</a:t>
            </a:r>
            <a:r>
              <a:rPr lang="en-US" sz="1600">
                <a:solidFill>
                  <a:schemeClr val="accent2">
                    <a:lumMod val="50000"/>
                  </a:schemeClr>
                </a:solidFill>
              </a:rPr>
              <a:t> drives</a:t>
            </a:r>
            <a:endParaRPr lang="en-IN" sz="1600">
              <a:solidFill>
                <a:schemeClr val="accent2">
                  <a:lumMod val="50000"/>
                </a:schemeClr>
              </a:solidFill>
            </a:endParaRPr>
          </a:p>
        </p:txBody>
      </p:sp>
      <p:sp>
        <p:nvSpPr>
          <p:cNvPr id="34" name="TextBox 33">
            <a:extLst>
              <a:ext uri="{FF2B5EF4-FFF2-40B4-BE49-F238E27FC236}">
                <a16:creationId xmlns:a16="http://schemas.microsoft.com/office/drawing/2014/main" id="{D8FB2176-7F8D-4225-8E5D-1E7D8C303D0A}"/>
              </a:ext>
            </a:extLst>
          </p:cNvPr>
          <p:cNvSpPr txBox="1"/>
          <p:nvPr/>
        </p:nvSpPr>
        <p:spPr>
          <a:xfrm>
            <a:off x="7419643" y="5442332"/>
            <a:ext cx="3652528" cy="1384995"/>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Important for GSK India due to the acute disease portfolio. Traditionally more visit meant greater brand recall and more Rx due to pen habit</a:t>
            </a: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Ideal promotion strategy in the current scenario would be courier sampling and CSR activities </a:t>
            </a:r>
          </a:p>
          <a:p>
            <a:r>
              <a:rPr lang="en-US" sz="1200">
                <a:latin typeface="Arial" panose="020B0604020202020204" pitchFamily="34" charset="0"/>
                <a:cs typeface="Arial" panose="020B0604020202020204" pitchFamily="34" charset="0"/>
              </a:rPr>
              <a:t> </a:t>
            </a:r>
          </a:p>
        </p:txBody>
      </p:sp>
      <p:cxnSp>
        <p:nvCxnSpPr>
          <p:cNvPr id="36" name="Straight Connector 35">
            <a:extLst>
              <a:ext uri="{FF2B5EF4-FFF2-40B4-BE49-F238E27FC236}">
                <a16:creationId xmlns:a16="http://schemas.microsoft.com/office/drawing/2014/main" id="{0D132454-4EB8-4209-900D-9394E3B24BEA}"/>
              </a:ext>
            </a:extLst>
          </p:cNvPr>
          <p:cNvCxnSpPr>
            <a:cxnSpLocks/>
          </p:cNvCxnSpPr>
          <p:nvPr/>
        </p:nvCxnSpPr>
        <p:spPr>
          <a:xfrm>
            <a:off x="5909836" y="5147341"/>
            <a:ext cx="0" cy="1399374"/>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BD2436A-6994-D348-9E96-D8881F26FFC8}"/>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4</a:t>
            </a:r>
          </a:p>
        </p:txBody>
      </p:sp>
      <p:sp>
        <p:nvSpPr>
          <p:cNvPr id="35" name="Title 1">
            <a:extLst>
              <a:ext uri="{FF2B5EF4-FFF2-40B4-BE49-F238E27FC236}">
                <a16:creationId xmlns:a16="http://schemas.microsoft.com/office/drawing/2014/main" id="{CF549DD1-5F40-684B-B11E-AEF2F8497CD7}"/>
              </a:ext>
            </a:extLst>
          </p:cNvPr>
          <p:cNvSpPr txBox="1">
            <a:spLocks/>
          </p:cNvSpPr>
          <p:nvPr/>
        </p:nvSpPr>
        <p:spPr>
          <a:xfrm>
            <a:off x="193856" y="401206"/>
            <a:ext cx="10699789"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600" b="1" kern="1200">
                <a:solidFill>
                  <a:schemeClr val="tx1"/>
                </a:solidFill>
                <a:latin typeface="Arial" panose="020B0604020202020204" pitchFamily="34" charset="0"/>
                <a:ea typeface="+mj-ea"/>
                <a:cs typeface="Arial" panose="020B0604020202020204" pitchFamily="34" charset="0"/>
              </a:defRPr>
            </a:lvl1pPr>
          </a:lstStyle>
          <a:p>
            <a:r>
              <a:rPr lang="en-US"/>
              <a:t>Vaccine segment needs immediate attention due to a major dip in demand and a possible post </a:t>
            </a:r>
            <a:r>
              <a:rPr lang="en-US" err="1"/>
              <a:t>covid</a:t>
            </a:r>
            <a:r>
              <a:rPr lang="en-US"/>
              <a:t> spike in postponed vaccination drives. </a:t>
            </a:r>
            <a:endParaRPr lang="en-IN"/>
          </a:p>
        </p:txBody>
      </p:sp>
      <p:sp>
        <p:nvSpPr>
          <p:cNvPr id="41" name="Rectangle: Top Corners Rounded 80">
            <a:extLst>
              <a:ext uri="{FF2B5EF4-FFF2-40B4-BE49-F238E27FC236}">
                <a16:creationId xmlns:a16="http://schemas.microsoft.com/office/drawing/2014/main" id="{600CE585-9310-4BAF-A953-02423FE85614}"/>
              </a:ext>
            </a:extLst>
          </p:cNvPr>
          <p:cNvSpPr/>
          <p:nvPr/>
        </p:nvSpPr>
        <p:spPr>
          <a:xfrm rot="5400000">
            <a:off x="6970950" y="-1084101"/>
            <a:ext cx="257818" cy="2583568"/>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42" name="Rectangle: Top Corners Rounded 86">
            <a:extLst>
              <a:ext uri="{FF2B5EF4-FFF2-40B4-BE49-F238E27FC236}">
                <a16:creationId xmlns:a16="http://schemas.microsoft.com/office/drawing/2014/main" id="{C28E6B55-344B-4C8A-937E-DDC723BBDF8A}"/>
              </a:ext>
            </a:extLst>
          </p:cNvPr>
          <p:cNvSpPr/>
          <p:nvPr/>
        </p:nvSpPr>
        <p:spPr>
          <a:xfrm rot="5400000">
            <a:off x="4314749" y="-1130079"/>
            <a:ext cx="259304" cy="2690651"/>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43" name="Rectangle: Top Corners Rounded 87">
            <a:extLst>
              <a:ext uri="{FF2B5EF4-FFF2-40B4-BE49-F238E27FC236}">
                <a16:creationId xmlns:a16="http://schemas.microsoft.com/office/drawing/2014/main" id="{BFDBAC80-3D55-4289-B054-644AD2EB76F7}"/>
              </a:ext>
            </a:extLst>
          </p:cNvPr>
          <p:cNvSpPr/>
          <p:nvPr/>
        </p:nvSpPr>
        <p:spPr>
          <a:xfrm rot="5400000">
            <a:off x="1433933" y="-1301896"/>
            <a:ext cx="258681" cy="3034908"/>
          </a:xfrm>
          <a:prstGeom prst="round2SameRect">
            <a:avLst>
              <a:gd name="adj1" fmla="val 0"/>
              <a:gd name="adj2" fmla="val 0"/>
            </a:avLst>
          </a:prstGeom>
          <a:solidFill>
            <a:srgbClr val="FD5D0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44" name="Rectangle: Top Corners Rounded 43">
            <a:extLst>
              <a:ext uri="{FF2B5EF4-FFF2-40B4-BE49-F238E27FC236}">
                <a16:creationId xmlns:a16="http://schemas.microsoft.com/office/drawing/2014/main" id="{8C9E6244-4693-4BFA-9BC5-22CE38D70E49}"/>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1374947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F0484B-BD84-1E4F-A0D3-B6FB0A671E10}"/>
              </a:ext>
            </a:extLst>
          </p:cNvPr>
          <p:cNvSpPr/>
          <p:nvPr/>
        </p:nvSpPr>
        <p:spPr>
          <a:xfrm>
            <a:off x="6746440" y="2009285"/>
            <a:ext cx="5209587" cy="4387675"/>
          </a:xfrm>
          <a:prstGeom prst="rect">
            <a:avLst/>
          </a:prstGeom>
          <a:solidFill>
            <a:schemeClr val="accent2">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p:txBody>
      </p:sp>
      <p:sp>
        <p:nvSpPr>
          <p:cNvPr id="7" name="Title 23">
            <a:extLst>
              <a:ext uri="{FF2B5EF4-FFF2-40B4-BE49-F238E27FC236}">
                <a16:creationId xmlns:a16="http://schemas.microsoft.com/office/drawing/2014/main" id="{E40BD2DC-91C6-AD44-A6A1-E16E8B52CB10}"/>
              </a:ext>
            </a:extLst>
          </p:cNvPr>
          <p:cNvSpPr txBox="1">
            <a:spLocks/>
          </p:cNvSpPr>
          <p:nvPr/>
        </p:nvSpPr>
        <p:spPr>
          <a:xfrm>
            <a:off x="167148" y="1319946"/>
            <a:ext cx="6063326" cy="448451"/>
          </a:xfrm>
          <a:prstGeom prst="rect">
            <a:avLst/>
          </a:prstGeom>
          <a:solidFill>
            <a:schemeClr val="bg1"/>
          </a:solidFill>
          <a:ln w="28575">
            <a:solidFill>
              <a:schemeClr val="tx1">
                <a:lumMod val="50000"/>
                <a:lumOff val="5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a:solidFill>
                  <a:schemeClr val="accent2">
                    <a:lumMod val="75000"/>
                  </a:schemeClr>
                </a:solidFill>
                <a:latin typeface="Cooper Black" panose="0208090404030B020404" pitchFamily="18" charset="0"/>
              </a:rPr>
              <a:t>HCP-MR Engagement Model</a:t>
            </a:r>
            <a:endParaRPr lang="en-IN" sz="2000">
              <a:solidFill>
                <a:schemeClr val="accent2">
                  <a:lumMod val="75000"/>
                </a:schemeClr>
              </a:solidFill>
              <a:latin typeface="Cooper Black" panose="0208090404030B020404" pitchFamily="18" charset="0"/>
            </a:endParaRPr>
          </a:p>
        </p:txBody>
      </p:sp>
      <p:sp>
        <p:nvSpPr>
          <p:cNvPr id="13" name="Rectangle: Rounded Corners 42">
            <a:extLst>
              <a:ext uri="{FF2B5EF4-FFF2-40B4-BE49-F238E27FC236}">
                <a16:creationId xmlns:a16="http://schemas.microsoft.com/office/drawing/2014/main" id="{75AB0395-B606-2443-8ACB-A056C9631F7D}"/>
              </a:ext>
            </a:extLst>
          </p:cNvPr>
          <p:cNvSpPr/>
          <p:nvPr/>
        </p:nvSpPr>
        <p:spPr>
          <a:xfrm>
            <a:off x="167147" y="2199178"/>
            <a:ext cx="6063327" cy="1903590"/>
          </a:xfrm>
          <a:prstGeom prst="roundRect">
            <a:avLst/>
          </a:prstGeom>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a:latin typeface="Arial" panose="020B0604020202020204" pitchFamily="34" charset="0"/>
              <a:cs typeface="Arial" panose="020B0604020202020204" pitchFamily="34" charset="0"/>
            </a:endParaRPr>
          </a:p>
        </p:txBody>
      </p:sp>
      <p:sp>
        <p:nvSpPr>
          <p:cNvPr id="14" name="Rectangle: Rounded Corners 44">
            <a:extLst>
              <a:ext uri="{FF2B5EF4-FFF2-40B4-BE49-F238E27FC236}">
                <a16:creationId xmlns:a16="http://schemas.microsoft.com/office/drawing/2014/main" id="{8DDCDA1C-84E1-EA46-8DC6-5A9DA47EB74B}"/>
              </a:ext>
            </a:extLst>
          </p:cNvPr>
          <p:cNvSpPr/>
          <p:nvPr/>
        </p:nvSpPr>
        <p:spPr>
          <a:xfrm>
            <a:off x="167147" y="4504948"/>
            <a:ext cx="6103054" cy="2294752"/>
          </a:xfrm>
          <a:prstGeom prst="roundRect">
            <a:avLst>
              <a:gd name="adj" fmla="val 9432"/>
            </a:avLst>
          </a:prstGeom>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cs typeface="Arial" panose="020B0604020202020204" pitchFamily="34" charset="0"/>
              </a:rPr>
              <a:t>To replicate the current method of providing the drugs given generic doctors particularly rely on samples, HCPs to be provided with samples of drugs via courier so that HCPs can help patients whenever needed and good will gesture from GSK is maintained</a:t>
            </a:r>
            <a:endParaRPr lang="en-IN" sz="1200">
              <a:solidFill>
                <a:srgbClr val="FF0000"/>
              </a:solidFill>
              <a:latin typeface="Arial" panose="020B0604020202020204" pitchFamily="34" charset="0"/>
              <a:cs typeface="Arial" panose="020B0604020202020204" pitchFamily="34" charset="0"/>
            </a:endParaRPr>
          </a:p>
          <a:p>
            <a:pPr algn="ctr"/>
            <a:endParaRPr lang="en-IN" sz="1200">
              <a:latin typeface="Arial" panose="020B0604020202020204" pitchFamily="34" charset="0"/>
              <a:cs typeface="Arial" panose="020B0604020202020204" pitchFamily="34" charset="0"/>
            </a:endParaRPr>
          </a:p>
          <a:p>
            <a:pPr algn="ctr"/>
            <a:endParaRPr lang="en-IN" sz="1200">
              <a:latin typeface="Arial" panose="020B0604020202020204" pitchFamily="34" charset="0"/>
              <a:cs typeface="Arial" panose="020B0604020202020204" pitchFamily="34" charset="0"/>
            </a:endParaRPr>
          </a:p>
          <a:p>
            <a:pPr algn="ctr"/>
            <a:endParaRPr lang="en-IN" sz="1200">
              <a:latin typeface="Arial" panose="020B0604020202020204" pitchFamily="34" charset="0"/>
              <a:cs typeface="Arial" panose="020B0604020202020204" pitchFamily="34" charset="0"/>
            </a:endParaRPr>
          </a:p>
          <a:p>
            <a:pPr algn="ctr"/>
            <a:endParaRPr lang="en-IN" sz="1200">
              <a:latin typeface="Arial" panose="020B0604020202020204" pitchFamily="34" charset="0"/>
              <a:cs typeface="Arial" panose="020B0604020202020204" pitchFamily="34" charset="0"/>
            </a:endParaRPr>
          </a:p>
          <a:p>
            <a:pPr algn="ctr"/>
            <a:endParaRPr lang="en-IN" sz="1200">
              <a:latin typeface="Arial" panose="020B0604020202020204" pitchFamily="34" charset="0"/>
              <a:cs typeface="Arial" panose="020B0604020202020204" pitchFamily="34" charset="0"/>
            </a:endParaRPr>
          </a:p>
        </p:txBody>
      </p:sp>
      <p:sp>
        <p:nvSpPr>
          <p:cNvPr id="17" name="Rectangle: Rounded Corners 54">
            <a:extLst>
              <a:ext uri="{FF2B5EF4-FFF2-40B4-BE49-F238E27FC236}">
                <a16:creationId xmlns:a16="http://schemas.microsoft.com/office/drawing/2014/main" id="{4106CBB0-9AB5-BF42-90D1-A06559B8F90E}"/>
              </a:ext>
            </a:extLst>
          </p:cNvPr>
          <p:cNvSpPr/>
          <p:nvPr/>
        </p:nvSpPr>
        <p:spPr>
          <a:xfrm>
            <a:off x="2430710" y="1907606"/>
            <a:ext cx="1575928" cy="518659"/>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Virtual Conference</a:t>
            </a:r>
          </a:p>
        </p:txBody>
      </p:sp>
      <p:sp>
        <p:nvSpPr>
          <p:cNvPr id="18" name="Rectangle: Rounded Corners 56">
            <a:extLst>
              <a:ext uri="{FF2B5EF4-FFF2-40B4-BE49-F238E27FC236}">
                <a16:creationId xmlns:a16="http://schemas.microsoft.com/office/drawing/2014/main" id="{146FE8A2-B4EC-8947-A857-86B8428B63BD}"/>
              </a:ext>
            </a:extLst>
          </p:cNvPr>
          <p:cNvSpPr/>
          <p:nvPr/>
        </p:nvSpPr>
        <p:spPr>
          <a:xfrm>
            <a:off x="2430710" y="4229760"/>
            <a:ext cx="1575928" cy="518659"/>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Sampling</a:t>
            </a:r>
          </a:p>
        </p:txBody>
      </p:sp>
      <p:sp>
        <p:nvSpPr>
          <p:cNvPr id="28" name="Left Brace 27">
            <a:extLst>
              <a:ext uri="{FF2B5EF4-FFF2-40B4-BE49-F238E27FC236}">
                <a16:creationId xmlns:a16="http://schemas.microsoft.com/office/drawing/2014/main" id="{6CC58D07-AE05-6648-AAC5-BF51C0A7B41B}"/>
              </a:ext>
            </a:extLst>
          </p:cNvPr>
          <p:cNvSpPr/>
          <p:nvPr/>
        </p:nvSpPr>
        <p:spPr>
          <a:xfrm rot="10800000" flipV="1">
            <a:off x="6322000" y="1590928"/>
            <a:ext cx="384307" cy="5074522"/>
          </a:xfrm>
          <a:prstGeom prst="leftBrace">
            <a:avLst>
              <a:gd name="adj1" fmla="val 118750"/>
              <a:gd name="adj2" fmla="val 7038"/>
            </a:avLst>
          </a:prstGeom>
          <a:gradFill flip="none" rotWithShape="1">
            <a:gsLst>
              <a:gs pos="79000">
                <a:schemeClr val="bg1"/>
              </a:gs>
              <a:gs pos="0">
                <a:srgbClr val="CC0000"/>
              </a:gs>
            </a:gsLst>
            <a:lin ang="0" scaled="0"/>
            <a:tileRect/>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Rectangle 28">
            <a:extLst>
              <a:ext uri="{FF2B5EF4-FFF2-40B4-BE49-F238E27FC236}">
                <a16:creationId xmlns:a16="http://schemas.microsoft.com/office/drawing/2014/main" id="{BE465BB8-D6E1-7947-9D63-7A08710F829F}"/>
              </a:ext>
            </a:extLst>
          </p:cNvPr>
          <p:cNvSpPr/>
          <p:nvPr/>
        </p:nvSpPr>
        <p:spPr>
          <a:xfrm>
            <a:off x="6738056" y="1648223"/>
            <a:ext cx="5217971" cy="36106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Effect on the interaction of HCPs with Patients</a:t>
            </a:r>
          </a:p>
        </p:txBody>
      </p:sp>
      <p:pic>
        <p:nvPicPr>
          <p:cNvPr id="34" name="Graphic 33" descr="Internet">
            <a:extLst>
              <a:ext uri="{FF2B5EF4-FFF2-40B4-BE49-F238E27FC236}">
                <a16:creationId xmlns:a16="http://schemas.microsoft.com/office/drawing/2014/main" id="{75B392E5-0BF1-B946-A67B-1A0FA89F7C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7948" y="1889401"/>
            <a:ext cx="914400" cy="914400"/>
          </a:xfrm>
          <a:prstGeom prst="rect">
            <a:avLst/>
          </a:prstGeom>
        </p:spPr>
      </p:pic>
      <p:sp>
        <p:nvSpPr>
          <p:cNvPr id="35" name="TextBox 34">
            <a:extLst>
              <a:ext uri="{FF2B5EF4-FFF2-40B4-BE49-F238E27FC236}">
                <a16:creationId xmlns:a16="http://schemas.microsoft.com/office/drawing/2014/main" id="{56362A85-A061-2F43-98B8-AA9D04949C9E}"/>
              </a:ext>
            </a:extLst>
          </p:cNvPr>
          <p:cNvSpPr txBox="1"/>
          <p:nvPr/>
        </p:nvSpPr>
        <p:spPr>
          <a:xfrm>
            <a:off x="8552701" y="2089478"/>
            <a:ext cx="3283497" cy="461665"/>
          </a:xfrm>
          <a:prstGeom prst="rect">
            <a:avLst/>
          </a:prstGeom>
          <a:noFill/>
        </p:spPr>
        <p:txBody>
          <a:bodyPr wrap="square" rtlCol="0">
            <a:spAutoFit/>
          </a:bodyPr>
          <a:lstStyle/>
          <a:p>
            <a:r>
              <a:rPr lang="en-US" sz="1200" b="1">
                <a:latin typeface="Arial" panose="020B0604020202020204" pitchFamily="34" charset="0"/>
                <a:cs typeface="Arial" panose="020B0604020202020204" pitchFamily="34" charset="0"/>
              </a:rPr>
              <a:t>Telemedicine facilities to customers with waiting room and patient queue</a:t>
            </a:r>
            <a:endParaRPr lang="en-US" sz="1200">
              <a:latin typeface="Arial" panose="020B0604020202020204" pitchFamily="34" charset="0"/>
              <a:cs typeface="Arial" panose="020B0604020202020204" pitchFamily="34" charset="0"/>
            </a:endParaRPr>
          </a:p>
        </p:txBody>
      </p:sp>
      <p:pic>
        <p:nvPicPr>
          <p:cNvPr id="41" name="Graphic 40" descr="Sling">
            <a:extLst>
              <a:ext uri="{FF2B5EF4-FFF2-40B4-BE49-F238E27FC236}">
                <a16:creationId xmlns:a16="http://schemas.microsoft.com/office/drawing/2014/main" id="{334B5407-25EF-DC45-991D-C6AD270AB5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55439" y="3745831"/>
            <a:ext cx="572311" cy="572311"/>
          </a:xfrm>
          <a:prstGeom prst="rect">
            <a:avLst/>
          </a:prstGeom>
        </p:spPr>
      </p:pic>
      <p:pic>
        <p:nvPicPr>
          <p:cNvPr id="43" name="Graphic 42" descr="Medical">
            <a:extLst>
              <a:ext uri="{FF2B5EF4-FFF2-40B4-BE49-F238E27FC236}">
                <a16:creationId xmlns:a16="http://schemas.microsoft.com/office/drawing/2014/main" id="{5B52BF10-6184-9945-82CE-93E3828FBC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23519" y="3719657"/>
            <a:ext cx="593231" cy="593231"/>
          </a:xfrm>
          <a:prstGeom prst="rect">
            <a:avLst/>
          </a:prstGeom>
        </p:spPr>
      </p:pic>
      <p:sp>
        <p:nvSpPr>
          <p:cNvPr id="45" name="TextBox 44">
            <a:extLst>
              <a:ext uri="{FF2B5EF4-FFF2-40B4-BE49-F238E27FC236}">
                <a16:creationId xmlns:a16="http://schemas.microsoft.com/office/drawing/2014/main" id="{622B4883-5CD7-0C44-95DA-23CA0AC7BB38}"/>
              </a:ext>
            </a:extLst>
          </p:cNvPr>
          <p:cNvSpPr txBox="1"/>
          <p:nvPr/>
        </p:nvSpPr>
        <p:spPr>
          <a:xfrm>
            <a:off x="6796824" y="4343368"/>
            <a:ext cx="2654890" cy="1015663"/>
          </a:xfrm>
          <a:prstGeom prst="rect">
            <a:avLst/>
          </a:prstGeom>
          <a:noFill/>
        </p:spPr>
        <p:txBody>
          <a:bodyPr wrap="square" rtlCol="0">
            <a:spAutoFit/>
          </a:bodyPr>
          <a:lstStyle/>
          <a:p>
            <a:pPr algn="ctr"/>
            <a:r>
              <a:rPr lang="en-US" sz="1200" b="1">
                <a:latin typeface="Arial" panose="020B0604020202020204" pitchFamily="34" charset="0"/>
                <a:cs typeface="Arial" panose="020B0604020202020204" pitchFamily="34" charset="0"/>
              </a:rPr>
              <a:t>Doctors</a:t>
            </a:r>
          </a:p>
          <a:p>
            <a:pPr algn="ctr"/>
            <a:r>
              <a:rPr lang="en-US" sz="1200">
                <a:latin typeface="Arial" panose="020B0604020202020204" pitchFamily="34" charset="0"/>
                <a:cs typeface="Arial" panose="020B0604020202020204" pitchFamily="34" charset="0"/>
              </a:rPr>
              <a:t>Patients to connect with the doctors online and receive advice and medicine related to their health online using the required platform</a:t>
            </a:r>
          </a:p>
        </p:txBody>
      </p:sp>
      <p:sp>
        <p:nvSpPr>
          <p:cNvPr id="46" name="TextBox 45">
            <a:extLst>
              <a:ext uri="{FF2B5EF4-FFF2-40B4-BE49-F238E27FC236}">
                <a16:creationId xmlns:a16="http://schemas.microsoft.com/office/drawing/2014/main" id="{60A0677C-99B2-7F40-9AC3-5B7B99D9860C}"/>
              </a:ext>
            </a:extLst>
          </p:cNvPr>
          <p:cNvSpPr txBox="1"/>
          <p:nvPr/>
        </p:nvSpPr>
        <p:spPr>
          <a:xfrm>
            <a:off x="9491847" y="4359570"/>
            <a:ext cx="2245240" cy="1200329"/>
          </a:xfrm>
          <a:prstGeom prst="rect">
            <a:avLst/>
          </a:prstGeom>
          <a:noFill/>
        </p:spPr>
        <p:txBody>
          <a:bodyPr wrap="square" rtlCol="0">
            <a:spAutoFit/>
          </a:bodyPr>
          <a:lstStyle/>
          <a:p>
            <a:pPr algn="ctr"/>
            <a:r>
              <a:rPr lang="en-US" sz="1200" b="1">
                <a:latin typeface="Arial" panose="020B0604020202020204" pitchFamily="34" charset="0"/>
                <a:cs typeface="Arial" panose="020B0604020202020204" pitchFamily="34" charset="0"/>
              </a:rPr>
              <a:t>Patient</a:t>
            </a:r>
          </a:p>
          <a:p>
            <a:pPr algn="ctr"/>
            <a:r>
              <a:rPr lang="en-US" sz="1200">
                <a:latin typeface="Arial" panose="020B0604020202020204" pitchFamily="34" charset="0"/>
                <a:cs typeface="Arial" panose="020B0604020202020204" pitchFamily="34" charset="0"/>
              </a:rPr>
              <a:t>Due to pandemic patients are not able to visit doctor and prefer online way of connecting, Lack of personal touch along with </a:t>
            </a:r>
          </a:p>
        </p:txBody>
      </p:sp>
      <p:sp>
        <p:nvSpPr>
          <p:cNvPr id="3" name="Rectangle 2">
            <a:extLst>
              <a:ext uri="{FF2B5EF4-FFF2-40B4-BE49-F238E27FC236}">
                <a16:creationId xmlns:a16="http://schemas.microsoft.com/office/drawing/2014/main" id="{AD5B8991-DB0D-4EFC-88AE-33F49D8DE1E2}"/>
              </a:ext>
            </a:extLst>
          </p:cNvPr>
          <p:cNvSpPr/>
          <p:nvPr/>
        </p:nvSpPr>
        <p:spPr>
          <a:xfrm>
            <a:off x="6887533" y="4322520"/>
            <a:ext cx="2475987" cy="1230105"/>
          </a:xfrm>
          <a:prstGeom prst="rect">
            <a:avLst/>
          </a:prstGeom>
          <a:noFill/>
          <a:ln>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B081803B-61D7-4271-9563-A1F0F6F7D8B2}"/>
              </a:ext>
            </a:extLst>
          </p:cNvPr>
          <p:cNvSpPr/>
          <p:nvPr/>
        </p:nvSpPr>
        <p:spPr>
          <a:xfrm>
            <a:off x="9468547" y="4322519"/>
            <a:ext cx="2234893" cy="1230105"/>
          </a:xfrm>
          <a:prstGeom prst="rect">
            <a:avLst/>
          </a:prstGeom>
          <a:noFill/>
          <a:ln>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E95CD380-B3FB-0348-BD7D-9C046B7385EB}"/>
              </a:ext>
            </a:extLst>
          </p:cNvPr>
          <p:cNvSpPr/>
          <p:nvPr/>
        </p:nvSpPr>
        <p:spPr>
          <a:xfrm>
            <a:off x="6887533" y="5905063"/>
            <a:ext cx="4849554" cy="463365"/>
          </a:xfrm>
          <a:prstGeom prst="rect">
            <a:avLst/>
          </a:prstGeom>
          <a:noFill/>
          <a:ln>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latin typeface="Arial" panose="020B0604020202020204" pitchFamily="34" charset="0"/>
                <a:cs typeface="Arial" panose="020B0604020202020204" pitchFamily="34" charset="0"/>
              </a:rPr>
              <a:t>GSK can come-up with diverse platform solutions to maximize doctor equity in new normal and reach out to tier 2,3 cities patients  </a:t>
            </a:r>
          </a:p>
        </p:txBody>
      </p:sp>
      <p:sp>
        <p:nvSpPr>
          <p:cNvPr id="4" name="Rectangle 3">
            <a:extLst>
              <a:ext uri="{FF2B5EF4-FFF2-40B4-BE49-F238E27FC236}">
                <a16:creationId xmlns:a16="http://schemas.microsoft.com/office/drawing/2014/main" id="{13802DAF-AFF1-4844-B5D0-F539545B50EB}"/>
              </a:ext>
            </a:extLst>
          </p:cNvPr>
          <p:cNvSpPr/>
          <p:nvPr/>
        </p:nvSpPr>
        <p:spPr>
          <a:xfrm>
            <a:off x="391254" y="2512388"/>
            <a:ext cx="2689878" cy="458818"/>
          </a:xfrm>
          <a:prstGeom prst="rect">
            <a:avLst/>
          </a:prstGeom>
          <a:noFill/>
          <a:ln>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Virtual speaker session with thought leaders </a:t>
            </a:r>
          </a:p>
        </p:txBody>
      </p:sp>
      <p:sp>
        <p:nvSpPr>
          <p:cNvPr id="22" name="Rectangle 21">
            <a:extLst>
              <a:ext uri="{FF2B5EF4-FFF2-40B4-BE49-F238E27FC236}">
                <a16:creationId xmlns:a16="http://schemas.microsoft.com/office/drawing/2014/main" id="{6ECFD018-8627-6B4E-9348-F88E899DF51F}"/>
              </a:ext>
            </a:extLst>
          </p:cNvPr>
          <p:cNvSpPr/>
          <p:nvPr/>
        </p:nvSpPr>
        <p:spPr>
          <a:xfrm>
            <a:off x="391253" y="3348835"/>
            <a:ext cx="2689878" cy="458818"/>
          </a:xfrm>
          <a:prstGeom prst="rect">
            <a:avLst/>
          </a:prstGeom>
          <a:noFill/>
          <a:ln>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Detailed molecule level information of drugs to HCPs</a:t>
            </a:r>
          </a:p>
        </p:txBody>
      </p:sp>
      <p:sp>
        <p:nvSpPr>
          <p:cNvPr id="23" name="Rectangle 22">
            <a:extLst>
              <a:ext uri="{FF2B5EF4-FFF2-40B4-BE49-F238E27FC236}">
                <a16:creationId xmlns:a16="http://schemas.microsoft.com/office/drawing/2014/main" id="{089A71C0-C2FE-EF4F-8E3D-EA89C6DE6E2C}"/>
              </a:ext>
            </a:extLst>
          </p:cNvPr>
          <p:cNvSpPr/>
          <p:nvPr/>
        </p:nvSpPr>
        <p:spPr>
          <a:xfrm>
            <a:off x="3338094" y="2521372"/>
            <a:ext cx="2689878" cy="458818"/>
          </a:xfrm>
          <a:prstGeom prst="rect">
            <a:avLst/>
          </a:prstGeom>
          <a:noFill/>
          <a:ln>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Round table conference for doctors across countries</a:t>
            </a:r>
          </a:p>
        </p:txBody>
      </p:sp>
      <p:sp>
        <p:nvSpPr>
          <p:cNvPr id="24" name="Rectangle 23">
            <a:extLst>
              <a:ext uri="{FF2B5EF4-FFF2-40B4-BE49-F238E27FC236}">
                <a16:creationId xmlns:a16="http://schemas.microsoft.com/office/drawing/2014/main" id="{74EFF0CC-001A-C443-9B88-9C09AB9E401B}"/>
              </a:ext>
            </a:extLst>
          </p:cNvPr>
          <p:cNvSpPr/>
          <p:nvPr/>
        </p:nvSpPr>
        <p:spPr>
          <a:xfrm>
            <a:off x="3338093" y="3357819"/>
            <a:ext cx="2689878" cy="458818"/>
          </a:xfrm>
          <a:prstGeom prst="rect">
            <a:avLst/>
          </a:prstGeom>
          <a:noFill/>
          <a:ln>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Interactive chatrooms for doctors to interact at anytime of convenience </a:t>
            </a:r>
          </a:p>
        </p:txBody>
      </p:sp>
      <p:pic>
        <p:nvPicPr>
          <p:cNvPr id="8" name="Picture 7" descr="Diagram, text&#10;&#10;Description automatically generated">
            <a:extLst>
              <a:ext uri="{FF2B5EF4-FFF2-40B4-BE49-F238E27FC236}">
                <a16:creationId xmlns:a16="http://schemas.microsoft.com/office/drawing/2014/main" id="{60B53954-8EA2-0047-8309-BC549BA043F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5972" y="5493940"/>
            <a:ext cx="1424385" cy="967652"/>
          </a:xfrm>
          <a:prstGeom prst="rect">
            <a:avLst/>
          </a:prstGeom>
        </p:spPr>
      </p:pic>
      <p:sp>
        <p:nvSpPr>
          <p:cNvPr id="9" name="TextBox 8">
            <a:extLst>
              <a:ext uri="{FF2B5EF4-FFF2-40B4-BE49-F238E27FC236}">
                <a16:creationId xmlns:a16="http://schemas.microsoft.com/office/drawing/2014/main" id="{020AECC6-DD40-0C40-853C-D9A34891DA62}"/>
              </a:ext>
            </a:extLst>
          </p:cNvPr>
          <p:cNvSpPr txBox="1"/>
          <p:nvPr/>
        </p:nvSpPr>
        <p:spPr>
          <a:xfrm>
            <a:off x="1565219" y="5493940"/>
            <a:ext cx="4704982" cy="1015663"/>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cs typeface="Arial" panose="020B0604020202020204" pitchFamily="34" charset="0"/>
              </a:rPr>
              <a:t>For specification drugs like Nucala in respiratory category, GSK can introduce co-pay cards followed by drug insurance which will help GSK to further introduce drugs in respiratory and oncology therapy areas in future where co-pay cards could be used before the drug insurance starts for customers</a:t>
            </a:r>
            <a:endParaRPr lang="en-US" sz="1200"/>
          </a:p>
        </p:txBody>
      </p:sp>
      <p:sp>
        <p:nvSpPr>
          <p:cNvPr id="10" name="TextBox 9">
            <a:extLst>
              <a:ext uri="{FF2B5EF4-FFF2-40B4-BE49-F238E27FC236}">
                <a16:creationId xmlns:a16="http://schemas.microsoft.com/office/drawing/2014/main" id="{DC9EE4AA-1CA1-AA47-A92C-239EB6C186C5}"/>
              </a:ext>
            </a:extLst>
          </p:cNvPr>
          <p:cNvSpPr txBox="1"/>
          <p:nvPr/>
        </p:nvSpPr>
        <p:spPr>
          <a:xfrm>
            <a:off x="6875804" y="2597006"/>
            <a:ext cx="4948665" cy="1200329"/>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Patient to be able to self-schedule visits along with walk-ins</a:t>
            </a:r>
          </a:p>
          <a:p>
            <a:pPr marL="171450" indent="-171450">
              <a:buFont typeface="Arial" panose="020B0604020202020204" pitchFamily="34" charset="0"/>
              <a:buChar char="•"/>
            </a:pPr>
            <a:r>
              <a:rPr lang="en-IN" sz="1200">
                <a:latin typeface="Arial" panose="020B0604020202020204" pitchFamily="34" charset="0"/>
                <a:cs typeface="Arial" panose="020B0604020202020204" pitchFamily="34" charset="0"/>
              </a:rPr>
              <a:t>Allow multiple provider access to the same patient queue for remote load distribution</a:t>
            </a:r>
          </a:p>
          <a:p>
            <a:pPr marL="171450" indent="-171450">
              <a:buFont typeface="Arial" panose="020B0604020202020204" pitchFamily="34" charset="0"/>
              <a:buChar char="•"/>
            </a:pPr>
            <a:r>
              <a:rPr lang="en-IN" sz="1200">
                <a:latin typeface="Arial" panose="020B0604020202020204" pitchFamily="34" charset="0"/>
                <a:cs typeface="Arial" panose="020B0604020202020204" pitchFamily="34" charset="0"/>
              </a:rPr>
              <a:t>Do Uber-style load balancing and distributing patients to the first available provider</a:t>
            </a: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E-prescription, credit card and health record access to HCPs</a:t>
            </a:r>
          </a:p>
        </p:txBody>
      </p:sp>
      <p:sp>
        <p:nvSpPr>
          <p:cNvPr id="11" name="Triangle 10">
            <a:extLst>
              <a:ext uri="{FF2B5EF4-FFF2-40B4-BE49-F238E27FC236}">
                <a16:creationId xmlns:a16="http://schemas.microsoft.com/office/drawing/2014/main" id="{87F76559-95FA-7941-82D6-84A2B5A51D0C}"/>
              </a:ext>
            </a:extLst>
          </p:cNvPr>
          <p:cNvSpPr/>
          <p:nvPr/>
        </p:nvSpPr>
        <p:spPr>
          <a:xfrm flipV="1">
            <a:off x="6875804" y="5613238"/>
            <a:ext cx="4849554" cy="225042"/>
          </a:xfrm>
          <a:prstGeom prs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489A66A-17A4-DA48-A38F-1BB51B9A6D51}"/>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5</a:t>
            </a:r>
          </a:p>
        </p:txBody>
      </p:sp>
      <p:sp>
        <p:nvSpPr>
          <p:cNvPr id="31" name="Title 1">
            <a:extLst>
              <a:ext uri="{FF2B5EF4-FFF2-40B4-BE49-F238E27FC236}">
                <a16:creationId xmlns:a16="http://schemas.microsoft.com/office/drawing/2014/main" id="{F5E4A73B-EDF1-124D-8A5E-EEAFB7A15320}"/>
              </a:ext>
            </a:extLst>
          </p:cNvPr>
          <p:cNvSpPr txBox="1">
            <a:spLocks/>
          </p:cNvSpPr>
          <p:nvPr/>
        </p:nvSpPr>
        <p:spPr>
          <a:xfrm>
            <a:off x="193856" y="401206"/>
            <a:ext cx="10699789"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600" b="1" kern="1200">
                <a:solidFill>
                  <a:schemeClr val="tx1"/>
                </a:solidFill>
                <a:latin typeface="Arial" panose="020B0604020202020204" pitchFamily="34" charset="0"/>
                <a:ea typeface="+mj-ea"/>
                <a:cs typeface="Arial" panose="020B0604020202020204" pitchFamily="34" charset="0"/>
              </a:defRPr>
            </a:lvl1pPr>
          </a:lstStyle>
          <a:p>
            <a:r>
              <a:rPr lang="en-US"/>
              <a:t>Engagement model for HCP to interact with MRs and Patients in the pandemic situation </a:t>
            </a:r>
            <a:endParaRPr lang="en-IN"/>
          </a:p>
        </p:txBody>
      </p:sp>
      <p:sp>
        <p:nvSpPr>
          <p:cNvPr id="39" name="Rectangle: Rounded Corners 54">
            <a:extLst>
              <a:ext uri="{FF2B5EF4-FFF2-40B4-BE49-F238E27FC236}">
                <a16:creationId xmlns:a16="http://schemas.microsoft.com/office/drawing/2014/main" id="{54D466F9-6344-1744-B615-0AC2B0EED178}"/>
              </a:ext>
            </a:extLst>
          </p:cNvPr>
          <p:cNvSpPr/>
          <p:nvPr/>
        </p:nvSpPr>
        <p:spPr>
          <a:xfrm>
            <a:off x="1078285" y="3860624"/>
            <a:ext cx="4241049" cy="19815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KPI: Increased Participation and Feedback Readings</a:t>
            </a:r>
          </a:p>
        </p:txBody>
      </p:sp>
      <p:sp>
        <p:nvSpPr>
          <p:cNvPr id="44" name="Rectangle: Rounded Corners 54">
            <a:extLst>
              <a:ext uri="{FF2B5EF4-FFF2-40B4-BE49-F238E27FC236}">
                <a16:creationId xmlns:a16="http://schemas.microsoft.com/office/drawing/2014/main" id="{F62FDD1B-0843-BC4D-AE34-CD595598C46C}"/>
              </a:ext>
            </a:extLst>
          </p:cNvPr>
          <p:cNvSpPr/>
          <p:nvPr/>
        </p:nvSpPr>
        <p:spPr>
          <a:xfrm>
            <a:off x="1053239" y="6553188"/>
            <a:ext cx="4241049" cy="19815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KPI: Pre and Post Rx </a:t>
            </a:r>
          </a:p>
        </p:txBody>
      </p:sp>
      <p:sp>
        <p:nvSpPr>
          <p:cNvPr id="47" name="Rectangle: Rounded Corners 54">
            <a:extLst>
              <a:ext uri="{FF2B5EF4-FFF2-40B4-BE49-F238E27FC236}">
                <a16:creationId xmlns:a16="http://schemas.microsoft.com/office/drawing/2014/main" id="{4CE1422E-3E2A-914F-8083-2F30695EC58B}"/>
              </a:ext>
            </a:extLst>
          </p:cNvPr>
          <p:cNvSpPr/>
          <p:nvPr/>
        </p:nvSpPr>
        <p:spPr>
          <a:xfrm>
            <a:off x="7086362" y="6462011"/>
            <a:ext cx="4241049" cy="19815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KPI: Activity and </a:t>
            </a:r>
            <a:r>
              <a:rPr lang="en-US" sz="1200" b="1" err="1">
                <a:latin typeface="Arial" panose="020B0604020202020204" pitchFamily="34" charset="0"/>
                <a:cs typeface="Arial" panose="020B0604020202020204" pitchFamily="34" charset="0"/>
              </a:rPr>
              <a:t>SignUps</a:t>
            </a:r>
            <a:r>
              <a:rPr lang="en-US" sz="1200" b="1">
                <a:latin typeface="Arial" panose="020B0604020202020204" pitchFamily="34" charset="0"/>
                <a:cs typeface="Arial" panose="020B0604020202020204" pitchFamily="34" charset="0"/>
              </a:rPr>
              <a:t> on application </a:t>
            </a:r>
          </a:p>
        </p:txBody>
      </p:sp>
      <p:sp>
        <p:nvSpPr>
          <p:cNvPr id="42" name="Rectangle: Top Corners Rounded 80">
            <a:extLst>
              <a:ext uri="{FF2B5EF4-FFF2-40B4-BE49-F238E27FC236}">
                <a16:creationId xmlns:a16="http://schemas.microsoft.com/office/drawing/2014/main" id="{9E2B5FB0-EA3C-49AE-B261-E95982A0F020}"/>
              </a:ext>
            </a:extLst>
          </p:cNvPr>
          <p:cNvSpPr/>
          <p:nvPr/>
        </p:nvSpPr>
        <p:spPr>
          <a:xfrm rot="5400000">
            <a:off x="6970950" y="-1084101"/>
            <a:ext cx="257818" cy="2583568"/>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48" name="Rectangle: Top Corners Rounded 86">
            <a:extLst>
              <a:ext uri="{FF2B5EF4-FFF2-40B4-BE49-F238E27FC236}">
                <a16:creationId xmlns:a16="http://schemas.microsoft.com/office/drawing/2014/main" id="{916EA135-0363-4FE5-A77F-CCA1B894C1B8}"/>
              </a:ext>
            </a:extLst>
          </p:cNvPr>
          <p:cNvSpPr/>
          <p:nvPr/>
        </p:nvSpPr>
        <p:spPr>
          <a:xfrm rot="5400000">
            <a:off x="4314749" y="-1130079"/>
            <a:ext cx="259304" cy="2690651"/>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49" name="Rectangle: Top Corners Rounded 87">
            <a:extLst>
              <a:ext uri="{FF2B5EF4-FFF2-40B4-BE49-F238E27FC236}">
                <a16:creationId xmlns:a16="http://schemas.microsoft.com/office/drawing/2014/main" id="{E120F4B9-0144-49CE-BEA5-61C633FA98F1}"/>
              </a:ext>
            </a:extLst>
          </p:cNvPr>
          <p:cNvSpPr/>
          <p:nvPr/>
        </p:nvSpPr>
        <p:spPr>
          <a:xfrm rot="5400000">
            <a:off x="1433933" y="-1301896"/>
            <a:ext cx="258681" cy="3034908"/>
          </a:xfrm>
          <a:prstGeom prst="round2SameRect">
            <a:avLst>
              <a:gd name="adj1" fmla="val 0"/>
              <a:gd name="adj2" fmla="val 0"/>
            </a:avLst>
          </a:prstGeom>
          <a:solidFill>
            <a:srgbClr val="FE650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50" name="Rectangle: Top Corners Rounded 88">
            <a:extLst>
              <a:ext uri="{FF2B5EF4-FFF2-40B4-BE49-F238E27FC236}">
                <a16:creationId xmlns:a16="http://schemas.microsoft.com/office/drawing/2014/main" id="{F084DC92-7CBB-434A-93F3-9F7A47254CD9}"/>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4202918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42">
            <a:extLst>
              <a:ext uri="{FF2B5EF4-FFF2-40B4-BE49-F238E27FC236}">
                <a16:creationId xmlns:a16="http://schemas.microsoft.com/office/drawing/2014/main" id="{62981182-38ED-4C0D-B25A-01F90E61027C}"/>
              </a:ext>
            </a:extLst>
          </p:cNvPr>
          <p:cNvSpPr/>
          <p:nvPr/>
        </p:nvSpPr>
        <p:spPr>
          <a:xfrm>
            <a:off x="188448" y="1795354"/>
            <a:ext cx="6303991" cy="4877820"/>
          </a:xfrm>
          <a:prstGeom prst="roundRect">
            <a:avLst/>
          </a:prstGeom>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a:latin typeface="Arial" panose="020B0604020202020204" pitchFamily="34" charset="0"/>
              <a:cs typeface="Arial" panose="020B0604020202020204" pitchFamily="34" charset="0"/>
            </a:endParaRPr>
          </a:p>
        </p:txBody>
      </p:sp>
      <p:sp>
        <p:nvSpPr>
          <p:cNvPr id="5" name="Rectangle: Rounded Corners 54">
            <a:extLst>
              <a:ext uri="{FF2B5EF4-FFF2-40B4-BE49-F238E27FC236}">
                <a16:creationId xmlns:a16="http://schemas.microsoft.com/office/drawing/2014/main" id="{EB7A02DC-02AA-4F6E-928B-20D1041BD699}"/>
              </a:ext>
            </a:extLst>
          </p:cNvPr>
          <p:cNvSpPr/>
          <p:nvPr/>
        </p:nvSpPr>
        <p:spPr>
          <a:xfrm>
            <a:off x="2483253" y="1298168"/>
            <a:ext cx="2152394" cy="113343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Prescriptive Analytics</a:t>
            </a:r>
          </a:p>
          <a:p>
            <a:pPr algn="ctr"/>
            <a:r>
              <a:rPr lang="en-US" sz="1600" b="1">
                <a:latin typeface="Arial" panose="020B0604020202020204" pitchFamily="34" charset="0"/>
                <a:cs typeface="Arial" panose="020B0604020202020204" pitchFamily="34" charset="0"/>
              </a:rPr>
              <a:t>(Sales Reps’ virtual manager)</a:t>
            </a:r>
          </a:p>
        </p:txBody>
      </p:sp>
      <p:pic>
        <p:nvPicPr>
          <p:cNvPr id="6" name="Picture 5">
            <a:extLst>
              <a:ext uri="{FF2B5EF4-FFF2-40B4-BE49-F238E27FC236}">
                <a16:creationId xmlns:a16="http://schemas.microsoft.com/office/drawing/2014/main" id="{61693249-50F1-44FC-AB56-BE3ABED9D0B6}"/>
              </a:ext>
            </a:extLst>
          </p:cNvPr>
          <p:cNvPicPr>
            <a:picLocks noChangeAspect="1"/>
          </p:cNvPicPr>
          <p:nvPr/>
        </p:nvPicPr>
        <p:blipFill>
          <a:blip r:embed="rId3"/>
          <a:stretch>
            <a:fillRect/>
          </a:stretch>
        </p:blipFill>
        <p:spPr>
          <a:xfrm>
            <a:off x="587502" y="3640645"/>
            <a:ext cx="501396" cy="495409"/>
          </a:xfrm>
          <a:prstGeom prst="rect">
            <a:avLst/>
          </a:prstGeom>
        </p:spPr>
      </p:pic>
      <p:pic>
        <p:nvPicPr>
          <p:cNvPr id="7" name="Picture 6">
            <a:extLst>
              <a:ext uri="{FF2B5EF4-FFF2-40B4-BE49-F238E27FC236}">
                <a16:creationId xmlns:a16="http://schemas.microsoft.com/office/drawing/2014/main" id="{2F06A8C3-8C19-4C88-816A-C96E1B4158E8}"/>
              </a:ext>
            </a:extLst>
          </p:cNvPr>
          <p:cNvPicPr>
            <a:picLocks noChangeAspect="1"/>
          </p:cNvPicPr>
          <p:nvPr/>
        </p:nvPicPr>
        <p:blipFill>
          <a:blip r:embed="rId4"/>
          <a:stretch>
            <a:fillRect/>
          </a:stretch>
        </p:blipFill>
        <p:spPr>
          <a:xfrm>
            <a:off x="3290993" y="3640645"/>
            <a:ext cx="536915" cy="521719"/>
          </a:xfrm>
          <a:prstGeom prst="rect">
            <a:avLst/>
          </a:prstGeom>
        </p:spPr>
      </p:pic>
      <p:cxnSp>
        <p:nvCxnSpPr>
          <p:cNvPr id="8" name="Straight Arrow Connector 7">
            <a:extLst>
              <a:ext uri="{FF2B5EF4-FFF2-40B4-BE49-F238E27FC236}">
                <a16:creationId xmlns:a16="http://schemas.microsoft.com/office/drawing/2014/main" id="{90BAE52C-B43D-47D1-B9DD-C24745146D3E}"/>
              </a:ext>
            </a:extLst>
          </p:cNvPr>
          <p:cNvCxnSpPr>
            <a:cxnSpLocks/>
          </p:cNvCxnSpPr>
          <p:nvPr/>
        </p:nvCxnSpPr>
        <p:spPr>
          <a:xfrm>
            <a:off x="1219200" y="3888349"/>
            <a:ext cx="1941491" cy="0"/>
          </a:xfrm>
          <a:prstGeom prst="straightConnector1">
            <a:avLst/>
          </a:prstGeom>
          <a:ln>
            <a:solidFill>
              <a:srgbClr val="FD610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2C159D6-ED97-40FC-ABAE-CA8DC1F50B71}"/>
              </a:ext>
            </a:extLst>
          </p:cNvPr>
          <p:cNvSpPr txBox="1"/>
          <p:nvPr/>
        </p:nvSpPr>
        <p:spPr>
          <a:xfrm>
            <a:off x="869241" y="4157195"/>
            <a:ext cx="2618154" cy="1938992"/>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Key Features</a:t>
            </a:r>
          </a:p>
          <a:p>
            <a:pPr algn="ctr"/>
            <a:endParaRPr lang="en-US" sz="1200">
              <a:latin typeface="Arial" panose="020B0604020202020204" pitchFamily="34" charset="0"/>
              <a:cs typeface="Arial" panose="020B0604020202020204" pitchFamily="34" charset="0"/>
            </a:endParaRPr>
          </a:p>
          <a:p>
            <a:pPr marL="171450" indent="-171450" algn="ctr">
              <a:buFont typeface="Arial" panose="020B0604020202020204" pitchFamily="34" charset="0"/>
              <a:buChar char="•"/>
            </a:pPr>
            <a:r>
              <a:rPr lang="en-US" sz="1200">
                <a:latin typeface="Arial" panose="020B0604020202020204" pitchFamily="34" charset="0"/>
                <a:cs typeface="Arial" panose="020B0604020202020204" pitchFamily="34" charset="0"/>
              </a:rPr>
              <a:t>Record of HCP attributes (prescriptions, no. of calls and samples made, demographics and specialty) </a:t>
            </a:r>
          </a:p>
          <a:p>
            <a:pPr marL="171450" indent="-171450" algn="ctr">
              <a:buFont typeface="Arial" panose="020B0604020202020204" pitchFamily="34" charset="0"/>
              <a:buChar char="•"/>
            </a:pPr>
            <a:r>
              <a:rPr lang="en-US" sz="1200">
                <a:latin typeface="Arial" panose="020B0604020202020204" pitchFamily="34" charset="0"/>
                <a:cs typeface="Arial" panose="020B0604020202020204" pitchFamily="34" charset="0"/>
              </a:rPr>
              <a:t>Record of call details (text transcript including time of call and major concerns flagged)</a:t>
            </a:r>
          </a:p>
          <a:p>
            <a:pPr algn="ctr"/>
            <a:endParaRPr lang="en-IN" sz="1200">
              <a:latin typeface="Arial" panose="020B0604020202020204" pitchFamily="34" charset="0"/>
              <a:cs typeface="Arial" panose="020B0604020202020204" pitchFamily="34" charset="0"/>
            </a:endParaRPr>
          </a:p>
        </p:txBody>
      </p:sp>
      <p:cxnSp>
        <p:nvCxnSpPr>
          <p:cNvPr id="20" name="Straight Arrow Connector 19">
            <a:extLst>
              <a:ext uri="{FF2B5EF4-FFF2-40B4-BE49-F238E27FC236}">
                <a16:creationId xmlns:a16="http://schemas.microsoft.com/office/drawing/2014/main" id="{3E937284-3DF0-4E8A-9528-405C9A668D12}"/>
              </a:ext>
            </a:extLst>
          </p:cNvPr>
          <p:cNvCxnSpPr>
            <a:cxnSpLocks/>
          </p:cNvCxnSpPr>
          <p:nvPr/>
        </p:nvCxnSpPr>
        <p:spPr>
          <a:xfrm>
            <a:off x="3975318" y="3901504"/>
            <a:ext cx="1573605" cy="0"/>
          </a:xfrm>
          <a:prstGeom prst="straightConnector1">
            <a:avLst/>
          </a:prstGeom>
          <a:ln>
            <a:solidFill>
              <a:srgbClr val="FD6106"/>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Laptop">
            <a:extLst>
              <a:ext uri="{FF2B5EF4-FFF2-40B4-BE49-F238E27FC236}">
                <a16:creationId xmlns:a16="http://schemas.microsoft.com/office/drawing/2014/main" id="{8AEEE9F3-923B-4412-8928-5E94D4E931D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80702" y="3587789"/>
            <a:ext cx="601120" cy="601120"/>
          </a:xfrm>
          <a:prstGeom prst="rect">
            <a:avLst/>
          </a:prstGeom>
        </p:spPr>
      </p:pic>
      <p:sp>
        <p:nvSpPr>
          <p:cNvPr id="24" name="TextBox 23">
            <a:extLst>
              <a:ext uri="{FF2B5EF4-FFF2-40B4-BE49-F238E27FC236}">
                <a16:creationId xmlns:a16="http://schemas.microsoft.com/office/drawing/2014/main" id="{A3F3E764-FE54-498F-A4EA-2374A796BE7A}"/>
              </a:ext>
            </a:extLst>
          </p:cNvPr>
          <p:cNvSpPr txBox="1"/>
          <p:nvPr/>
        </p:nvSpPr>
        <p:spPr>
          <a:xfrm>
            <a:off x="3605536" y="4273004"/>
            <a:ext cx="2457952" cy="1569660"/>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Key Features</a:t>
            </a:r>
          </a:p>
          <a:p>
            <a:pPr algn="ctr"/>
            <a:endParaRPr lang="en-US" sz="1200">
              <a:latin typeface="Arial" panose="020B0604020202020204" pitchFamily="34" charset="0"/>
              <a:cs typeface="Arial" panose="020B0604020202020204" pitchFamily="34" charset="0"/>
            </a:endParaRPr>
          </a:p>
          <a:p>
            <a:pPr algn="ctr"/>
            <a:r>
              <a:rPr lang="en-IN" sz="1200">
                <a:latin typeface="Arial" panose="020B0604020202020204" pitchFamily="34" charset="0"/>
                <a:cs typeface="Arial" panose="020B0604020202020204" pitchFamily="34" charset="0"/>
              </a:rPr>
              <a:t>Personalised recommendations based on HCP attribute and call transcript on what the HCP likes to be talked about (drug efficacy, prices, formulations, clinical trials etc)</a:t>
            </a:r>
          </a:p>
        </p:txBody>
      </p:sp>
      <p:sp>
        <p:nvSpPr>
          <p:cNvPr id="25" name="Rectangle: Rounded Corners 42">
            <a:extLst>
              <a:ext uri="{FF2B5EF4-FFF2-40B4-BE49-F238E27FC236}">
                <a16:creationId xmlns:a16="http://schemas.microsoft.com/office/drawing/2014/main" id="{EEBD98A7-79A5-468F-88C7-C412FB827B90}"/>
              </a:ext>
            </a:extLst>
          </p:cNvPr>
          <p:cNvSpPr/>
          <p:nvPr/>
        </p:nvSpPr>
        <p:spPr>
          <a:xfrm>
            <a:off x="6593854" y="1795352"/>
            <a:ext cx="5409697" cy="4877820"/>
          </a:xfrm>
          <a:prstGeom prst="roundRect">
            <a:avLst/>
          </a:prstGeom>
          <a:ln w="19050">
            <a:solidFill>
              <a:srgbClr val="FF33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marL="171450" indent="-171450" algn="ctr">
              <a:buFontTx/>
              <a:buChar char="-"/>
            </a:pPr>
            <a:endParaRPr lang="en-IN" sz="1200">
              <a:latin typeface="Arial" panose="020B0604020202020204" pitchFamily="34" charset="0"/>
              <a:cs typeface="Arial" panose="020B0604020202020204" pitchFamily="34" charset="0"/>
            </a:endParaRPr>
          </a:p>
        </p:txBody>
      </p:sp>
      <p:sp>
        <p:nvSpPr>
          <p:cNvPr id="26" name="Rectangle: Rounded Corners 54">
            <a:extLst>
              <a:ext uri="{FF2B5EF4-FFF2-40B4-BE49-F238E27FC236}">
                <a16:creationId xmlns:a16="http://schemas.microsoft.com/office/drawing/2014/main" id="{8B8EA5A8-EE2D-408D-ACED-2092507BF0AA}"/>
              </a:ext>
            </a:extLst>
          </p:cNvPr>
          <p:cNvSpPr/>
          <p:nvPr/>
        </p:nvSpPr>
        <p:spPr>
          <a:xfrm>
            <a:off x="8506677" y="1294163"/>
            <a:ext cx="1769802" cy="119130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Application</a:t>
            </a:r>
          </a:p>
        </p:txBody>
      </p:sp>
      <p:sp>
        <p:nvSpPr>
          <p:cNvPr id="18" name="TextBox 17">
            <a:extLst>
              <a:ext uri="{FF2B5EF4-FFF2-40B4-BE49-F238E27FC236}">
                <a16:creationId xmlns:a16="http://schemas.microsoft.com/office/drawing/2014/main" id="{5A421ED6-A753-45C7-9A8B-8C25C7C12B0E}"/>
              </a:ext>
            </a:extLst>
          </p:cNvPr>
          <p:cNvSpPr txBox="1"/>
          <p:nvPr/>
        </p:nvSpPr>
        <p:spPr>
          <a:xfrm>
            <a:off x="2497970" y="2737110"/>
            <a:ext cx="2152395" cy="830997"/>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Key metrics</a:t>
            </a:r>
          </a:p>
          <a:p>
            <a:pPr marL="171450" indent="-171450" algn="ctr">
              <a:buFont typeface="Arial" panose="020B0604020202020204" pitchFamily="34" charset="0"/>
              <a:buChar char="•"/>
            </a:pPr>
            <a:r>
              <a:rPr lang="en-US" sz="1200">
                <a:latin typeface="Arial" panose="020B0604020202020204" pitchFamily="34" charset="0"/>
                <a:cs typeface="Arial" panose="020B0604020202020204" pitchFamily="34" charset="0"/>
              </a:rPr>
              <a:t>HCP rating of sales rep</a:t>
            </a:r>
          </a:p>
          <a:p>
            <a:pPr marL="171450" indent="-171450" algn="ctr">
              <a:buFont typeface="Arial" panose="020B0604020202020204" pitchFamily="34" charset="0"/>
              <a:buChar char="•"/>
            </a:pPr>
            <a:r>
              <a:rPr lang="en-US" sz="1200">
                <a:latin typeface="Arial" panose="020B0604020202020204" pitchFamily="34" charset="0"/>
                <a:cs typeface="Arial" panose="020B0604020202020204" pitchFamily="34" charset="0"/>
              </a:rPr>
              <a:t>Reps’ satisfaction rating of the call</a:t>
            </a:r>
          </a:p>
        </p:txBody>
      </p:sp>
      <p:sp>
        <p:nvSpPr>
          <p:cNvPr id="29" name="Rectangle: Rounded Corners 42">
            <a:extLst>
              <a:ext uri="{FF2B5EF4-FFF2-40B4-BE49-F238E27FC236}">
                <a16:creationId xmlns:a16="http://schemas.microsoft.com/office/drawing/2014/main" id="{4A49E5FB-AA0B-4AE1-91A2-6F73AB147B55}"/>
              </a:ext>
            </a:extLst>
          </p:cNvPr>
          <p:cNvSpPr/>
          <p:nvPr/>
        </p:nvSpPr>
        <p:spPr>
          <a:xfrm>
            <a:off x="2333849" y="2726214"/>
            <a:ext cx="2457952" cy="859726"/>
          </a:xfrm>
          <a:prstGeom prst="roundRect">
            <a:avLst/>
          </a:prstGeom>
          <a:noFill/>
          <a:ln w="19050">
            <a:solidFill>
              <a:srgbClr val="FF66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200"/>
          </a:p>
        </p:txBody>
      </p:sp>
      <p:cxnSp>
        <p:nvCxnSpPr>
          <p:cNvPr id="23" name="Straight Connector 22">
            <a:extLst>
              <a:ext uri="{FF2B5EF4-FFF2-40B4-BE49-F238E27FC236}">
                <a16:creationId xmlns:a16="http://schemas.microsoft.com/office/drawing/2014/main" id="{1756B4A3-F643-4365-B7F3-A12648016EEA}"/>
              </a:ext>
            </a:extLst>
          </p:cNvPr>
          <p:cNvCxnSpPr/>
          <p:nvPr/>
        </p:nvCxnSpPr>
        <p:spPr>
          <a:xfrm flipH="1">
            <a:off x="1914769" y="3089653"/>
            <a:ext cx="419080" cy="0"/>
          </a:xfrm>
          <a:prstGeom prst="line">
            <a:avLst/>
          </a:prstGeom>
          <a:ln w="12700">
            <a:solidFill>
              <a:srgbClr val="FD6106"/>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433499F-B199-45D6-B920-BC3AF62BB593}"/>
              </a:ext>
            </a:extLst>
          </p:cNvPr>
          <p:cNvCxnSpPr/>
          <p:nvPr/>
        </p:nvCxnSpPr>
        <p:spPr>
          <a:xfrm flipH="1">
            <a:off x="4791801" y="3093560"/>
            <a:ext cx="419080" cy="0"/>
          </a:xfrm>
          <a:prstGeom prst="line">
            <a:avLst/>
          </a:prstGeom>
          <a:ln w="12700">
            <a:solidFill>
              <a:srgbClr val="FD6106"/>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F1D67A5-F7BD-4660-B867-C6E859914003}"/>
              </a:ext>
            </a:extLst>
          </p:cNvPr>
          <p:cNvCxnSpPr>
            <a:cxnSpLocks/>
          </p:cNvCxnSpPr>
          <p:nvPr/>
        </p:nvCxnSpPr>
        <p:spPr>
          <a:xfrm flipV="1">
            <a:off x="1914769" y="3089653"/>
            <a:ext cx="0" cy="798696"/>
          </a:xfrm>
          <a:prstGeom prst="line">
            <a:avLst/>
          </a:prstGeom>
          <a:ln w="12700">
            <a:solidFill>
              <a:srgbClr val="FD6106"/>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E5A197B-1FC5-4F42-AE09-D316C6FF1256}"/>
              </a:ext>
            </a:extLst>
          </p:cNvPr>
          <p:cNvCxnSpPr>
            <a:cxnSpLocks/>
          </p:cNvCxnSpPr>
          <p:nvPr/>
        </p:nvCxnSpPr>
        <p:spPr>
          <a:xfrm flipV="1">
            <a:off x="5210881" y="3089653"/>
            <a:ext cx="0" cy="798696"/>
          </a:xfrm>
          <a:prstGeom prst="line">
            <a:avLst/>
          </a:prstGeom>
          <a:ln w="12700">
            <a:solidFill>
              <a:srgbClr val="FD6106"/>
            </a:solidFill>
            <a:prstDash val="sysDash"/>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E810DC7-9EE9-4717-9FEE-F9D3AD597E4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90798" y="2446640"/>
            <a:ext cx="2188189" cy="3892502"/>
          </a:xfrm>
          <a:prstGeom prst="rect">
            <a:avLst/>
          </a:prstGeom>
        </p:spPr>
      </p:pic>
      <p:sp>
        <p:nvSpPr>
          <p:cNvPr id="12" name="TextBox 11">
            <a:extLst>
              <a:ext uri="{FF2B5EF4-FFF2-40B4-BE49-F238E27FC236}">
                <a16:creationId xmlns:a16="http://schemas.microsoft.com/office/drawing/2014/main" id="{5C84AB89-05BA-4419-B3CA-588D03A0E2E8}"/>
              </a:ext>
            </a:extLst>
          </p:cNvPr>
          <p:cNvSpPr txBox="1"/>
          <p:nvPr/>
        </p:nvSpPr>
        <p:spPr>
          <a:xfrm>
            <a:off x="6592605" y="3409812"/>
            <a:ext cx="1691623" cy="461665"/>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Molecule level information for drugs</a:t>
            </a:r>
            <a:endParaRPr lang="en-IN" sz="120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856E438-D37A-4712-A6C2-45B089213A60}"/>
              </a:ext>
            </a:extLst>
          </p:cNvPr>
          <p:cNvSpPr txBox="1"/>
          <p:nvPr/>
        </p:nvSpPr>
        <p:spPr>
          <a:xfrm>
            <a:off x="6743281" y="4682618"/>
            <a:ext cx="1691623" cy="646331"/>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Community to share new cases and clinical research</a:t>
            </a:r>
            <a:endParaRPr lang="en-IN" sz="120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E33CB664-F2EA-4CA5-AD28-88942AAF5989}"/>
              </a:ext>
            </a:extLst>
          </p:cNvPr>
          <p:cNvSpPr txBox="1"/>
          <p:nvPr/>
        </p:nvSpPr>
        <p:spPr>
          <a:xfrm>
            <a:off x="10386646" y="3317591"/>
            <a:ext cx="1581456" cy="646331"/>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Connecting doctors across the globe. Easy virtual connect </a:t>
            </a:r>
            <a:endParaRPr lang="en-IN" sz="120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8BA07F6F-9A7B-4C9D-B52C-8DDA1217E9EF}"/>
              </a:ext>
            </a:extLst>
          </p:cNvPr>
          <p:cNvSpPr txBox="1"/>
          <p:nvPr/>
        </p:nvSpPr>
        <p:spPr>
          <a:xfrm>
            <a:off x="10228399" y="4734668"/>
            <a:ext cx="1691623" cy="646331"/>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Chatbot to help doctors with general concerns</a:t>
            </a:r>
            <a:endParaRPr lang="en-IN" sz="120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A3059D03-4113-4072-BCAD-4DB0BB4CD3AC}"/>
              </a:ext>
            </a:extLst>
          </p:cNvPr>
          <p:cNvPicPr>
            <a:picLocks noChangeAspect="1"/>
          </p:cNvPicPr>
          <p:nvPr/>
        </p:nvPicPr>
        <p:blipFill>
          <a:blip r:embed="rId8"/>
          <a:stretch>
            <a:fillRect/>
          </a:stretch>
        </p:blipFill>
        <p:spPr>
          <a:xfrm rot="10800000" flipV="1">
            <a:off x="7291785" y="4183440"/>
            <a:ext cx="511662" cy="496450"/>
          </a:xfrm>
          <a:prstGeom prst="rect">
            <a:avLst/>
          </a:prstGeom>
        </p:spPr>
      </p:pic>
      <p:pic>
        <p:nvPicPr>
          <p:cNvPr id="17" name="Picture 16">
            <a:extLst>
              <a:ext uri="{FF2B5EF4-FFF2-40B4-BE49-F238E27FC236}">
                <a16:creationId xmlns:a16="http://schemas.microsoft.com/office/drawing/2014/main" id="{C9B1B688-D2B4-4E51-BA26-F3DEDD2EEBAE}"/>
              </a:ext>
            </a:extLst>
          </p:cNvPr>
          <p:cNvPicPr>
            <a:picLocks noChangeAspect="1"/>
          </p:cNvPicPr>
          <p:nvPr/>
        </p:nvPicPr>
        <p:blipFill>
          <a:blip r:embed="rId9"/>
          <a:stretch>
            <a:fillRect/>
          </a:stretch>
        </p:blipFill>
        <p:spPr>
          <a:xfrm>
            <a:off x="10966338" y="4194716"/>
            <a:ext cx="438174" cy="596492"/>
          </a:xfrm>
          <a:prstGeom prst="rect">
            <a:avLst/>
          </a:prstGeom>
        </p:spPr>
      </p:pic>
      <p:pic>
        <p:nvPicPr>
          <p:cNvPr id="22" name="Picture 21">
            <a:extLst>
              <a:ext uri="{FF2B5EF4-FFF2-40B4-BE49-F238E27FC236}">
                <a16:creationId xmlns:a16="http://schemas.microsoft.com/office/drawing/2014/main" id="{14A099C9-D59C-4CEE-AC88-5F06DAB5391E}"/>
              </a:ext>
            </a:extLst>
          </p:cNvPr>
          <p:cNvPicPr>
            <a:picLocks noChangeAspect="1"/>
          </p:cNvPicPr>
          <p:nvPr/>
        </p:nvPicPr>
        <p:blipFill>
          <a:blip r:embed="rId10"/>
          <a:stretch>
            <a:fillRect/>
          </a:stretch>
        </p:blipFill>
        <p:spPr>
          <a:xfrm>
            <a:off x="10959476" y="2960986"/>
            <a:ext cx="435795" cy="383243"/>
          </a:xfrm>
          <a:prstGeom prst="rect">
            <a:avLst/>
          </a:prstGeom>
        </p:spPr>
      </p:pic>
      <p:pic>
        <p:nvPicPr>
          <p:cNvPr id="34" name="Picture 33">
            <a:extLst>
              <a:ext uri="{FF2B5EF4-FFF2-40B4-BE49-F238E27FC236}">
                <a16:creationId xmlns:a16="http://schemas.microsoft.com/office/drawing/2014/main" id="{5AAD86D5-0EEB-456B-9548-DD5D39BEEA6D}"/>
              </a:ext>
            </a:extLst>
          </p:cNvPr>
          <p:cNvPicPr>
            <a:picLocks noChangeAspect="1"/>
          </p:cNvPicPr>
          <p:nvPr/>
        </p:nvPicPr>
        <p:blipFill>
          <a:blip r:embed="rId11"/>
          <a:stretch>
            <a:fillRect/>
          </a:stretch>
        </p:blipFill>
        <p:spPr>
          <a:xfrm>
            <a:off x="7182680" y="2985894"/>
            <a:ext cx="511471" cy="423655"/>
          </a:xfrm>
          <a:prstGeom prst="rect">
            <a:avLst/>
          </a:prstGeom>
        </p:spPr>
      </p:pic>
      <p:sp>
        <p:nvSpPr>
          <p:cNvPr id="35" name="Rectangle 34">
            <a:extLst>
              <a:ext uri="{FF2B5EF4-FFF2-40B4-BE49-F238E27FC236}">
                <a16:creationId xmlns:a16="http://schemas.microsoft.com/office/drawing/2014/main" id="{EDD1B6FF-48A0-4D60-9834-5CFA6F01D3E0}"/>
              </a:ext>
            </a:extLst>
          </p:cNvPr>
          <p:cNvSpPr/>
          <p:nvPr/>
        </p:nvSpPr>
        <p:spPr>
          <a:xfrm>
            <a:off x="1602328" y="6285654"/>
            <a:ext cx="3476230" cy="187001"/>
          </a:xfrm>
          <a:prstGeom prst="rect">
            <a:avLst/>
          </a:prstGeom>
          <a:solidFill>
            <a:srgbClr val="FD5D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Arial" panose="020B0604020202020204" pitchFamily="34" charset="0"/>
                <a:cs typeface="Arial" panose="020B0604020202020204" pitchFamily="34" charset="0"/>
              </a:rPr>
              <a:t>KPI: Pre and post Rx of the HCP (Beta Testing) </a:t>
            </a:r>
            <a:endParaRPr lang="en-IN" sz="120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5ABBE217-6A3A-429B-B0CF-26D03F6F5B83}"/>
              </a:ext>
            </a:extLst>
          </p:cNvPr>
          <p:cNvSpPr/>
          <p:nvPr/>
        </p:nvSpPr>
        <p:spPr>
          <a:xfrm>
            <a:off x="7803126" y="6317072"/>
            <a:ext cx="3374247" cy="183708"/>
          </a:xfrm>
          <a:prstGeom prst="rect">
            <a:avLst/>
          </a:prstGeom>
          <a:solidFill>
            <a:srgbClr val="FD5D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Arial" panose="020B0604020202020204" pitchFamily="34" charset="0"/>
                <a:cs typeface="Arial" panose="020B0604020202020204" pitchFamily="34" charset="0"/>
              </a:rPr>
              <a:t>KPI: HCP registration and engagement</a:t>
            </a:r>
            <a:endParaRPr lang="en-IN" sz="120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F4493501-5272-5740-945B-279DC211C2C5}"/>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6</a:t>
            </a:r>
          </a:p>
        </p:txBody>
      </p:sp>
      <p:sp>
        <p:nvSpPr>
          <p:cNvPr id="38" name="Title 1">
            <a:extLst>
              <a:ext uri="{FF2B5EF4-FFF2-40B4-BE49-F238E27FC236}">
                <a16:creationId xmlns:a16="http://schemas.microsoft.com/office/drawing/2014/main" id="{6F89FCF7-20C9-404D-835D-FF9CA0380932}"/>
              </a:ext>
            </a:extLst>
          </p:cNvPr>
          <p:cNvSpPr txBox="1">
            <a:spLocks/>
          </p:cNvSpPr>
          <p:nvPr/>
        </p:nvSpPr>
        <p:spPr>
          <a:xfrm>
            <a:off x="193856" y="401206"/>
            <a:ext cx="10699789"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600" b="1" kern="1200">
                <a:solidFill>
                  <a:schemeClr val="tx1"/>
                </a:solidFill>
                <a:latin typeface="Arial" panose="020B0604020202020204" pitchFamily="34" charset="0"/>
                <a:ea typeface="+mj-ea"/>
                <a:cs typeface="Arial" panose="020B0604020202020204" pitchFamily="34" charset="0"/>
              </a:defRPr>
            </a:lvl1pPr>
          </a:lstStyle>
          <a:p>
            <a:r>
              <a:rPr lang="en-US"/>
              <a:t>GSK can use the opportunity of shift towards digital use in starting to building capabilities for long term disruptive innovations </a:t>
            </a:r>
            <a:endParaRPr lang="en-IN"/>
          </a:p>
        </p:txBody>
      </p:sp>
      <p:sp>
        <p:nvSpPr>
          <p:cNvPr id="39" name="Rectangle: Top Corners Rounded 80">
            <a:extLst>
              <a:ext uri="{FF2B5EF4-FFF2-40B4-BE49-F238E27FC236}">
                <a16:creationId xmlns:a16="http://schemas.microsoft.com/office/drawing/2014/main" id="{E872E9D7-311E-4560-B7F1-323C775ADEDA}"/>
              </a:ext>
            </a:extLst>
          </p:cNvPr>
          <p:cNvSpPr/>
          <p:nvPr/>
        </p:nvSpPr>
        <p:spPr>
          <a:xfrm rot="5400000">
            <a:off x="6970950" y="-1084101"/>
            <a:ext cx="257818" cy="2583568"/>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40" name="Rectangle: Top Corners Rounded 86">
            <a:extLst>
              <a:ext uri="{FF2B5EF4-FFF2-40B4-BE49-F238E27FC236}">
                <a16:creationId xmlns:a16="http://schemas.microsoft.com/office/drawing/2014/main" id="{0A1AA4EC-EBAE-4979-8F52-C0FEDDE9A0E3}"/>
              </a:ext>
            </a:extLst>
          </p:cNvPr>
          <p:cNvSpPr/>
          <p:nvPr/>
        </p:nvSpPr>
        <p:spPr>
          <a:xfrm rot="5400000">
            <a:off x="4314749" y="-1130079"/>
            <a:ext cx="259304" cy="2690651"/>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41" name="Rectangle: Top Corners Rounded 87">
            <a:extLst>
              <a:ext uri="{FF2B5EF4-FFF2-40B4-BE49-F238E27FC236}">
                <a16:creationId xmlns:a16="http://schemas.microsoft.com/office/drawing/2014/main" id="{EBDDBA08-F188-44D6-80C3-30D1FA297DA7}"/>
              </a:ext>
            </a:extLst>
          </p:cNvPr>
          <p:cNvSpPr/>
          <p:nvPr/>
        </p:nvSpPr>
        <p:spPr>
          <a:xfrm rot="5400000">
            <a:off x="1433933" y="-1301896"/>
            <a:ext cx="258681" cy="3034908"/>
          </a:xfrm>
          <a:prstGeom prst="round2SameRect">
            <a:avLst>
              <a:gd name="adj1" fmla="val 0"/>
              <a:gd name="adj2" fmla="val 0"/>
            </a:avLst>
          </a:prstGeom>
          <a:solidFill>
            <a:srgbClr val="FE650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42" name="Rectangle: Top Corners Rounded 88">
            <a:extLst>
              <a:ext uri="{FF2B5EF4-FFF2-40B4-BE49-F238E27FC236}">
                <a16:creationId xmlns:a16="http://schemas.microsoft.com/office/drawing/2014/main" id="{D2350839-48CC-42B8-9396-52905F1758E2}"/>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3573412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CF9245-3A87-4D38-9C4C-0C6D4FFEC70A}"/>
              </a:ext>
            </a:extLst>
          </p:cNvPr>
          <p:cNvSpPr/>
          <p:nvPr/>
        </p:nvSpPr>
        <p:spPr>
          <a:xfrm>
            <a:off x="519530" y="1311645"/>
            <a:ext cx="7992000" cy="287840"/>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Pharmaceuticals Supply Chain – Digitization response</a:t>
            </a:r>
          </a:p>
        </p:txBody>
      </p:sp>
      <p:pic>
        <p:nvPicPr>
          <p:cNvPr id="5" name="Graphic 4" descr="Single gear">
            <a:extLst>
              <a:ext uri="{FF2B5EF4-FFF2-40B4-BE49-F238E27FC236}">
                <a16:creationId xmlns:a16="http://schemas.microsoft.com/office/drawing/2014/main" id="{B3C49D44-DE17-4A84-A139-58F40BCE79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21745" y="2811623"/>
            <a:ext cx="535377" cy="535377"/>
          </a:xfrm>
          <a:prstGeom prst="rect">
            <a:avLst/>
          </a:prstGeom>
        </p:spPr>
      </p:pic>
      <p:sp>
        <p:nvSpPr>
          <p:cNvPr id="6" name="Rectangle 5">
            <a:extLst>
              <a:ext uri="{FF2B5EF4-FFF2-40B4-BE49-F238E27FC236}">
                <a16:creationId xmlns:a16="http://schemas.microsoft.com/office/drawing/2014/main" id="{D077F696-0040-4F38-9AB5-4734BD86A540}"/>
              </a:ext>
            </a:extLst>
          </p:cNvPr>
          <p:cNvSpPr/>
          <p:nvPr/>
        </p:nvSpPr>
        <p:spPr>
          <a:xfrm>
            <a:off x="732432" y="3239325"/>
            <a:ext cx="897662" cy="531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latin typeface="Arial" panose="020B0604020202020204" pitchFamily="34" charset="0"/>
                <a:cs typeface="Arial" panose="020B0604020202020204" pitchFamily="34" charset="0"/>
              </a:rPr>
              <a:t>Tier-2</a:t>
            </a:r>
            <a:br>
              <a:rPr lang="en-IN" sz="1200" b="1">
                <a:solidFill>
                  <a:schemeClr val="tx1"/>
                </a:solidFill>
                <a:latin typeface="Arial" panose="020B0604020202020204" pitchFamily="34" charset="0"/>
                <a:cs typeface="Arial" panose="020B0604020202020204" pitchFamily="34" charset="0"/>
              </a:rPr>
            </a:br>
            <a:r>
              <a:rPr lang="en-IN" sz="1200" b="1">
                <a:solidFill>
                  <a:schemeClr val="tx1"/>
                </a:solidFill>
                <a:latin typeface="Arial" panose="020B0604020202020204" pitchFamily="34" charset="0"/>
                <a:cs typeface="Arial" panose="020B0604020202020204" pitchFamily="34" charset="0"/>
              </a:rPr>
              <a:t>Supplier</a:t>
            </a:r>
          </a:p>
          <a:p>
            <a:pPr marL="171450" indent="-171450">
              <a:buFont typeface="Arial" panose="020B0604020202020204" pitchFamily="34" charset="0"/>
              <a:buChar char="•"/>
            </a:pPr>
            <a:endParaRPr lang="en-IN" sz="1200">
              <a:solidFill>
                <a:schemeClr val="tx1"/>
              </a:solidFill>
              <a:latin typeface="Arial" panose="020B0604020202020204" pitchFamily="34" charset="0"/>
              <a:cs typeface="Arial" panose="020B0604020202020204" pitchFamily="34" charset="0"/>
            </a:endParaRPr>
          </a:p>
        </p:txBody>
      </p:sp>
      <p:pic>
        <p:nvPicPr>
          <p:cNvPr id="7" name="Graphic 6" descr="First aid kit">
            <a:extLst>
              <a:ext uri="{FF2B5EF4-FFF2-40B4-BE49-F238E27FC236}">
                <a16:creationId xmlns:a16="http://schemas.microsoft.com/office/drawing/2014/main" id="{A42F84FB-11BC-416A-85BA-C1FB45A287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97578" y="2836564"/>
            <a:ext cx="477093" cy="477093"/>
          </a:xfrm>
          <a:prstGeom prst="rect">
            <a:avLst/>
          </a:prstGeom>
        </p:spPr>
      </p:pic>
      <p:grpSp>
        <p:nvGrpSpPr>
          <p:cNvPr id="8" name="Group 7">
            <a:extLst>
              <a:ext uri="{FF2B5EF4-FFF2-40B4-BE49-F238E27FC236}">
                <a16:creationId xmlns:a16="http://schemas.microsoft.com/office/drawing/2014/main" id="{875E04FB-3966-484C-BC92-71ED8A1DA842}"/>
              </a:ext>
            </a:extLst>
          </p:cNvPr>
          <p:cNvGrpSpPr/>
          <p:nvPr/>
        </p:nvGrpSpPr>
        <p:grpSpPr>
          <a:xfrm>
            <a:off x="7050851" y="2924277"/>
            <a:ext cx="1403744" cy="1714088"/>
            <a:chOff x="6530523" y="2033302"/>
            <a:chExt cx="1374816" cy="1536140"/>
          </a:xfrm>
        </p:grpSpPr>
        <p:pic>
          <p:nvPicPr>
            <p:cNvPr id="9" name="Graphic 8" descr="Medical">
              <a:extLst>
                <a:ext uri="{FF2B5EF4-FFF2-40B4-BE49-F238E27FC236}">
                  <a16:creationId xmlns:a16="http://schemas.microsoft.com/office/drawing/2014/main" id="{5EB087EF-F410-4E46-897A-E335CC82B1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24871" y="2151442"/>
              <a:ext cx="394515" cy="394515"/>
            </a:xfrm>
            <a:prstGeom prst="rect">
              <a:avLst/>
            </a:prstGeom>
          </p:spPr>
        </p:pic>
        <p:sp>
          <p:nvSpPr>
            <p:cNvPr id="10" name="Rectangle 9">
              <a:extLst>
                <a:ext uri="{FF2B5EF4-FFF2-40B4-BE49-F238E27FC236}">
                  <a16:creationId xmlns:a16="http://schemas.microsoft.com/office/drawing/2014/main" id="{92568877-47D1-45D5-97C4-2FF345B11EDB}"/>
                </a:ext>
              </a:extLst>
            </p:cNvPr>
            <p:cNvSpPr/>
            <p:nvPr/>
          </p:nvSpPr>
          <p:spPr>
            <a:xfrm>
              <a:off x="6538917" y="2499889"/>
              <a:ext cx="1366422" cy="8824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latin typeface="Arial" panose="020B0604020202020204" pitchFamily="34" charset="0"/>
                  <a:cs typeface="Arial" panose="020B0604020202020204" pitchFamily="34" charset="0"/>
                </a:rPr>
                <a:t>General pharmacies, care homes, pharmacy, charities, and hospitals  </a:t>
              </a:r>
              <a:endParaRPr lang="en-IN" sz="1200">
                <a:solidFill>
                  <a:schemeClr val="tx1"/>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A9FDA009-CC52-470A-9001-EFE3C19187A0}"/>
                </a:ext>
              </a:extLst>
            </p:cNvPr>
            <p:cNvSpPr/>
            <p:nvPr/>
          </p:nvSpPr>
          <p:spPr>
            <a:xfrm>
              <a:off x="6530523" y="2033302"/>
              <a:ext cx="1366422" cy="1536140"/>
            </a:xfrm>
            <a:prstGeom prst="rect">
              <a:avLst/>
            </a:prstGeom>
            <a:noFill/>
            <a:ln>
              <a:solidFill>
                <a:srgbClr val="056F5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cxnSp>
        <p:nvCxnSpPr>
          <p:cNvPr id="12" name="Straight Arrow Connector 11">
            <a:extLst>
              <a:ext uri="{FF2B5EF4-FFF2-40B4-BE49-F238E27FC236}">
                <a16:creationId xmlns:a16="http://schemas.microsoft.com/office/drawing/2014/main" id="{8D22F0A5-53C3-46D0-9054-D76C23D55F18}"/>
              </a:ext>
            </a:extLst>
          </p:cNvPr>
          <p:cNvCxnSpPr>
            <a:cxnSpLocks/>
          </p:cNvCxnSpPr>
          <p:nvPr/>
        </p:nvCxnSpPr>
        <p:spPr>
          <a:xfrm flipV="1">
            <a:off x="6689838" y="3138710"/>
            <a:ext cx="275730" cy="1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oogle Shape;7945;p61">
            <a:extLst>
              <a:ext uri="{FF2B5EF4-FFF2-40B4-BE49-F238E27FC236}">
                <a16:creationId xmlns:a16="http://schemas.microsoft.com/office/drawing/2014/main" id="{41E5012F-7250-477D-9D2B-2A14503F32C7}"/>
              </a:ext>
            </a:extLst>
          </p:cNvPr>
          <p:cNvGrpSpPr/>
          <p:nvPr/>
        </p:nvGrpSpPr>
        <p:grpSpPr>
          <a:xfrm>
            <a:off x="1022699" y="2900973"/>
            <a:ext cx="392967" cy="356132"/>
            <a:chOff x="-6690625" y="3631325"/>
            <a:chExt cx="307225" cy="292225"/>
          </a:xfrm>
          <a:solidFill>
            <a:schemeClr val="accent4">
              <a:lumMod val="75000"/>
            </a:schemeClr>
          </a:solidFill>
        </p:grpSpPr>
        <p:sp>
          <p:nvSpPr>
            <p:cNvPr id="14" name="Google Shape;7946;p61">
              <a:extLst>
                <a:ext uri="{FF2B5EF4-FFF2-40B4-BE49-F238E27FC236}">
                  <a16:creationId xmlns:a16="http://schemas.microsoft.com/office/drawing/2014/main" id="{E950E966-0B82-4572-8CFC-EA7A40D82D02}"/>
                </a:ext>
              </a:extLst>
            </p:cNvPr>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15" name="Google Shape;7947;p61">
              <a:extLst>
                <a:ext uri="{FF2B5EF4-FFF2-40B4-BE49-F238E27FC236}">
                  <a16:creationId xmlns:a16="http://schemas.microsoft.com/office/drawing/2014/main" id="{4A141B89-F756-4EDF-8CE1-EB79EBE97855}"/>
                </a:ext>
              </a:extLst>
            </p:cNvPr>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16" name="Google Shape;7948;p61">
              <a:extLst>
                <a:ext uri="{FF2B5EF4-FFF2-40B4-BE49-F238E27FC236}">
                  <a16:creationId xmlns:a16="http://schemas.microsoft.com/office/drawing/2014/main" id="{FDACB7C8-BDFD-4974-A76E-9CB49AB712A0}"/>
                </a:ext>
              </a:extLst>
            </p:cNvPr>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17" name="Google Shape;7949;p61">
              <a:extLst>
                <a:ext uri="{FF2B5EF4-FFF2-40B4-BE49-F238E27FC236}">
                  <a16:creationId xmlns:a16="http://schemas.microsoft.com/office/drawing/2014/main" id="{99452B01-F0F1-4998-BD38-B024A8B6B631}"/>
                </a:ext>
              </a:extLst>
            </p:cNvPr>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18" name="Google Shape;7950;p61">
              <a:extLst>
                <a:ext uri="{FF2B5EF4-FFF2-40B4-BE49-F238E27FC236}">
                  <a16:creationId xmlns:a16="http://schemas.microsoft.com/office/drawing/2014/main" id="{6D7C4DAA-EDF8-4CE9-AECB-6A425967F7A1}"/>
                </a:ext>
              </a:extLst>
            </p:cNvPr>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sp>
        <p:nvSpPr>
          <p:cNvPr id="19" name="Rectangle 18">
            <a:extLst>
              <a:ext uri="{FF2B5EF4-FFF2-40B4-BE49-F238E27FC236}">
                <a16:creationId xmlns:a16="http://schemas.microsoft.com/office/drawing/2014/main" id="{B0810FA0-0800-4FD5-88A6-73E9F8BC3589}"/>
              </a:ext>
            </a:extLst>
          </p:cNvPr>
          <p:cNvSpPr/>
          <p:nvPr/>
        </p:nvSpPr>
        <p:spPr>
          <a:xfrm>
            <a:off x="2773977" y="3273525"/>
            <a:ext cx="1247444" cy="531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latin typeface="Arial" panose="020B0604020202020204" pitchFamily="34" charset="0"/>
                <a:cs typeface="Arial" panose="020B0604020202020204" pitchFamily="34" charset="0"/>
              </a:rPr>
              <a:t>Manufacturing plant</a:t>
            </a:r>
          </a:p>
          <a:p>
            <a:pPr marL="171450" indent="-171450">
              <a:buFont typeface="Arial" panose="020B0604020202020204" pitchFamily="34" charset="0"/>
              <a:buChar char="•"/>
            </a:pPr>
            <a:endParaRPr lang="en-IN" sz="1200">
              <a:solidFill>
                <a:schemeClr val="tx1"/>
              </a:solidFill>
              <a:latin typeface="Arial" panose="020B0604020202020204" pitchFamily="34" charset="0"/>
              <a:cs typeface="Arial" panose="020B0604020202020204" pitchFamily="34" charset="0"/>
            </a:endParaRPr>
          </a:p>
        </p:txBody>
      </p:sp>
      <p:grpSp>
        <p:nvGrpSpPr>
          <p:cNvPr id="20" name="Google Shape;7945;p61">
            <a:extLst>
              <a:ext uri="{FF2B5EF4-FFF2-40B4-BE49-F238E27FC236}">
                <a16:creationId xmlns:a16="http://schemas.microsoft.com/office/drawing/2014/main" id="{CB04B945-37DD-4129-9F1F-47BE21A906FC}"/>
              </a:ext>
            </a:extLst>
          </p:cNvPr>
          <p:cNvGrpSpPr/>
          <p:nvPr/>
        </p:nvGrpSpPr>
        <p:grpSpPr>
          <a:xfrm>
            <a:off x="1947989" y="2911855"/>
            <a:ext cx="392967" cy="356132"/>
            <a:chOff x="-6690625" y="3631325"/>
            <a:chExt cx="307225" cy="292225"/>
          </a:xfrm>
          <a:solidFill>
            <a:schemeClr val="accent4">
              <a:lumMod val="75000"/>
            </a:schemeClr>
          </a:solidFill>
        </p:grpSpPr>
        <p:sp>
          <p:nvSpPr>
            <p:cNvPr id="21" name="Google Shape;7946;p61">
              <a:extLst>
                <a:ext uri="{FF2B5EF4-FFF2-40B4-BE49-F238E27FC236}">
                  <a16:creationId xmlns:a16="http://schemas.microsoft.com/office/drawing/2014/main" id="{3351FFBE-F92C-49D9-9E7F-0AF6542D8E66}"/>
                </a:ext>
              </a:extLst>
            </p:cNvPr>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22" name="Google Shape;7947;p61">
              <a:extLst>
                <a:ext uri="{FF2B5EF4-FFF2-40B4-BE49-F238E27FC236}">
                  <a16:creationId xmlns:a16="http://schemas.microsoft.com/office/drawing/2014/main" id="{2578A8C9-58C1-4C67-B681-368FA73DF311}"/>
                </a:ext>
              </a:extLst>
            </p:cNvPr>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23" name="Google Shape;7948;p61">
              <a:extLst>
                <a:ext uri="{FF2B5EF4-FFF2-40B4-BE49-F238E27FC236}">
                  <a16:creationId xmlns:a16="http://schemas.microsoft.com/office/drawing/2014/main" id="{7FF0EAC9-50C0-415E-AA58-FAE3E2A86763}"/>
                </a:ext>
              </a:extLst>
            </p:cNvPr>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24" name="Google Shape;7949;p61">
              <a:extLst>
                <a:ext uri="{FF2B5EF4-FFF2-40B4-BE49-F238E27FC236}">
                  <a16:creationId xmlns:a16="http://schemas.microsoft.com/office/drawing/2014/main" id="{EE387993-C3BB-461A-97FA-B4BB47A5E208}"/>
                </a:ext>
              </a:extLst>
            </p:cNvPr>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25" name="Google Shape;7950;p61">
              <a:extLst>
                <a:ext uri="{FF2B5EF4-FFF2-40B4-BE49-F238E27FC236}">
                  <a16:creationId xmlns:a16="http://schemas.microsoft.com/office/drawing/2014/main" id="{5AC7E8B1-B6BF-4A72-9223-C6AA27E8676F}"/>
                </a:ext>
              </a:extLst>
            </p:cNvPr>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pic>
        <p:nvPicPr>
          <p:cNvPr id="26" name="Graphic 25" descr="Call centre">
            <a:extLst>
              <a:ext uri="{FF2B5EF4-FFF2-40B4-BE49-F238E27FC236}">
                <a16:creationId xmlns:a16="http://schemas.microsoft.com/office/drawing/2014/main" id="{63C94005-1837-46A1-97EF-32BEC9D98B0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80043" y="2890103"/>
            <a:ext cx="393281" cy="393281"/>
          </a:xfrm>
          <a:prstGeom prst="rect">
            <a:avLst/>
          </a:prstGeom>
        </p:spPr>
      </p:pic>
      <p:pic>
        <p:nvPicPr>
          <p:cNvPr id="27" name="Graphic 26" descr="Home">
            <a:extLst>
              <a:ext uri="{FF2B5EF4-FFF2-40B4-BE49-F238E27FC236}">
                <a16:creationId xmlns:a16="http://schemas.microsoft.com/office/drawing/2014/main" id="{744C56B6-EA19-448E-9499-81918E68E4B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05821" y="2839662"/>
            <a:ext cx="432727" cy="432727"/>
          </a:xfrm>
          <a:prstGeom prst="rect">
            <a:avLst/>
          </a:prstGeom>
        </p:spPr>
      </p:pic>
      <p:sp>
        <p:nvSpPr>
          <p:cNvPr id="28" name="Rectangle 27">
            <a:extLst>
              <a:ext uri="{FF2B5EF4-FFF2-40B4-BE49-F238E27FC236}">
                <a16:creationId xmlns:a16="http://schemas.microsoft.com/office/drawing/2014/main" id="{991EC723-B55E-4370-9929-CE68F9FACB4E}"/>
              </a:ext>
            </a:extLst>
          </p:cNvPr>
          <p:cNvSpPr/>
          <p:nvPr/>
        </p:nvSpPr>
        <p:spPr>
          <a:xfrm>
            <a:off x="1677457" y="3249569"/>
            <a:ext cx="897662" cy="531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latin typeface="Arial" panose="020B0604020202020204" pitchFamily="34" charset="0"/>
                <a:cs typeface="Arial" panose="020B0604020202020204" pitchFamily="34" charset="0"/>
              </a:rPr>
              <a:t>Tier-1</a:t>
            </a:r>
            <a:br>
              <a:rPr lang="en-IN" sz="1200" b="1">
                <a:solidFill>
                  <a:schemeClr val="tx1"/>
                </a:solidFill>
                <a:latin typeface="Arial" panose="020B0604020202020204" pitchFamily="34" charset="0"/>
                <a:cs typeface="Arial" panose="020B0604020202020204" pitchFamily="34" charset="0"/>
              </a:rPr>
            </a:br>
            <a:r>
              <a:rPr lang="en-IN" sz="1200" b="1">
                <a:solidFill>
                  <a:schemeClr val="tx1"/>
                </a:solidFill>
                <a:latin typeface="Arial" panose="020B0604020202020204" pitchFamily="34" charset="0"/>
                <a:cs typeface="Arial" panose="020B0604020202020204" pitchFamily="34" charset="0"/>
              </a:rPr>
              <a:t>Supplier</a:t>
            </a:r>
          </a:p>
          <a:p>
            <a:pPr marL="171450" indent="-171450">
              <a:buFont typeface="Arial" panose="020B0604020202020204" pitchFamily="34" charset="0"/>
              <a:buChar char="•"/>
            </a:pPr>
            <a:endParaRPr lang="en-IN" sz="1200">
              <a:solidFill>
                <a:schemeClr val="tx1"/>
              </a:solidFill>
              <a:latin typeface="Arial" panose="020B0604020202020204" pitchFamily="34" charset="0"/>
              <a:cs typeface="Arial" panose="020B0604020202020204" pitchFamily="34" charset="0"/>
            </a:endParaRPr>
          </a:p>
        </p:txBody>
      </p:sp>
      <p:cxnSp>
        <p:nvCxnSpPr>
          <p:cNvPr id="29" name="Straight Arrow Connector 28">
            <a:extLst>
              <a:ext uri="{FF2B5EF4-FFF2-40B4-BE49-F238E27FC236}">
                <a16:creationId xmlns:a16="http://schemas.microsoft.com/office/drawing/2014/main" id="{64525AE4-AC88-4491-965B-4EFDFD46E31E}"/>
              </a:ext>
            </a:extLst>
          </p:cNvPr>
          <p:cNvCxnSpPr>
            <a:cxnSpLocks/>
          </p:cNvCxnSpPr>
          <p:nvPr/>
        </p:nvCxnSpPr>
        <p:spPr>
          <a:xfrm flipV="1">
            <a:off x="5738171" y="3138709"/>
            <a:ext cx="430925" cy="70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48823CE-F108-4C32-B279-287E0E16A7A3}"/>
              </a:ext>
            </a:extLst>
          </p:cNvPr>
          <p:cNvCxnSpPr>
            <a:cxnSpLocks/>
          </p:cNvCxnSpPr>
          <p:nvPr/>
        </p:nvCxnSpPr>
        <p:spPr>
          <a:xfrm flipV="1">
            <a:off x="4773954" y="3138707"/>
            <a:ext cx="275730" cy="1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22D4FBD-2116-4C95-967E-97DD3EC3D6E1}"/>
              </a:ext>
            </a:extLst>
          </p:cNvPr>
          <p:cNvCxnSpPr>
            <a:cxnSpLocks/>
          </p:cNvCxnSpPr>
          <p:nvPr/>
        </p:nvCxnSpPr>
        <p:spPr>
          <a:xfrm flipV="1">
            <a:off x="3826895" y="3138708"/>
            <a:ext cx="275730" cy="1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2F25EDB-022E-432A-808D-FC936624BF82}"/>
              </a:ext>
            </a:extLst>
          </p:cNvPr>
          <p:cNvCxnSpPr>
            <a:cxnSpLocks/>
          </p:cNvCxnSpPr>
          <p:nvPr/>
        </p:nvCxnSpPr>
        <p:spPr>
          <a:xfrm flipV="1">
            <a:off x="2446702" y="3138708"/>
            <a:ext cx="469378" cy="141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EED0307-7E60-4DBC-A8F0-FB6FAD236F07}"/>
              </a:ext>
            </a:extLst>
          </p:cNvPr>
          <p:cNvCxnSpPr>
            <a:cxnSpLocks/>
          </p:cNvCxnSpPr>
          <p:nvPr/>
        </p:nvCxnSpPr>
        <p:spPr>
          <a:xfrm flipV="1">
            <a:off x="1508238" y="3149592"/>
            <a:ext cx="275730" cy="1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8467E699-17E0-458E-9A0E-99F0BE68C098}"/>
              </a:ext>
            </a:extLst>
          </p:cNvPr>
          <p:cNvSpPr/>
          <p:nvPr/>
        </p:nvSpPr>
        <p:spPr>
          <a:xfrm>
            <a:off x="3841522" y="3283384"/>
            <a:ext cx="1247444" cy="531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latin typeface="Arial" panose="020B0604020202020204" pitchFamily="34" charset="0"/>
                <a:cs typeface="Arial" panose="020B0604020202020204" pitchFamily="34" charset="0"/>
              </a:rPr>
              <a:t>Warehousing</a:t>
            </a:r>
          </a:p>
          <a:p>
            <a:pPr marL="171450" indent="-171450">
              <a:buFont typeface="Arial" panose="020B0604020202020204" pitchFamily="34" charset="0"/>
              <a:buChar char="•"/>
            </a:pPr>
            <a:endParaRPr lang="en-IN" sz="1200">
              <a:solidFill>
                <a:schemeClr val="tx1"/>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9834FB54-5979-4421-B625-C209AC0C72D5}"/>
              </a:ext>
            </a:extLst>
          </p:cNvPr>
          <p:cNvSpPr/>
          <p:nvPr/>
        </p:nvSpPr>
        <p:spPr>
          <a:xfrm>
            <a:off x="4817665" y="3283384"/>
            <a:ext cx="1247444" cy="531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latin typeface="Arial" panose="020B0604020202020204" pitchFamily="34" charset="0"/>
                <a:cs typeface="Arial" panose="020B0604020202020204" pitchFamily="34" charset="0"/>
              </a:rPr>
              <a:t>C&amp;FA</a:t>
            </a:r>
          </a:p>
          <a:p>
            <a:pPr marL="171450" indent="-171450">
              <a:buFont typeface="Arial" panose="020B0604020202020204" pitchFamily="34" charset="0"/>
              <a:buChar char="•"/>
            </a:pPr>
            <a:endParaRPr lang="en-IN" sz="1200">
              <a:solidFill>
                <a:schemeClr val="tx1"/>
              </a:solidFill>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2224C631-8801-43ED-A270-784F090577CD}"/>
              </a:ext>
            </a:extLst>
          </p:cNvPr>
          <p:cNvSpPr/>
          <p:nvPr/>
        </p:nvSpPr>
        <p:spPr>
          <a:xfrm>
            <a:off x="5721459" y="3283384"/>
            <a:ext cx="1247444" cy="531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latin typeface="Arial" panose="020B0604020202020204" pitchFamily="34" charset="0"/>
                <a:cs typeface="Arial" panose="020B0604020202020204" pitchFamily="34" charset="0"/>
              </a:rPr>
              <a:t>Distributor</a:t>
            </a:r>
          </a:p>
          <a:p>
            <a:pPr marL="171450" indent="-171450">
              <a:buFont typeface="Arial" panose="020B0604020202020204" pitchFamily="34" charset="0"/>
              <a:buChar char="•"/>
            </a:pPr>
            <a:endParaRPr lang="en-IN" sz="1200">
              <a:solidFill>
                <a:schemeClr val="tx1"/>
              </a:solidFill>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E3E99613-C3FA-46C9-B237-5F386CE4D0AA}"/>
              </a:ext>
            </a:extLst>
          </p:cNvPr>
          <p:cNvSpPr/>
          <p:nvPr/>
        </p:nvSpPr>
        <p:spPr>
          <a:xfrm>
            <a:off x="2984401" y="3861664"/>
            <a:ext cx="1768121" cy="1103627"/>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Geo-analytics based network optimization, warehousing automation to reduce cost and human intervention</a:t>
            </a:r>
          </a:p>
        </p:txBody>
      </p:sp>
      <p:sp>
        <p:nvSpPr>
          <p:cNvPr id="38" name="Rectangle 37">
            <a:extLst>
              <a:ext uri="{FF2B5EF4-FFF2-40B4-BE49-F238E27FC236}">
                <a16:creationId xmlns:a16="http://schemas.microsoft.com/office/drawing/2014/main" id="{AFAA3BE2-36F9-403A-BE7B-5D9BC0EED7C9}"/>
              </a:ext>
            </a:extLst>
          </p:cNvPr>
          <p:cNvSpPr/>
          <p:nvPr/>
        </p:nvSpPr>
        <p:spPr>
          <a:xfrm>
            <a:off x="883144" y="3861664"/>
            <a:ext cx="1706179" cy="110362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Supplier platforms and spend analytics help manage multiple supplier while controlling costs</a:t>
            </a:r>
          </a:p>
        </p:txBody>
      </p:sp>
      <p:sp>
        <p:nvSpPr>
          <p:cNvPr id="39" name="Rectangle 38">
            <a:extLst>
              <a:ext uri="{FF2B5EF4-FFF2-40B4-BE49-F238E27FC236}">
                <a16:creationId xmlns:a16="http://schemas.microsoft.com/office/drawing/2014/main" id="{35967CCB-F584-4BD8-BF8F-56BE47FFBE7C}"/>
              </a:ext>
            </a:extLst>
          </p:cNvPr>
          <p:cNvSpPr/>
          <p:nvPr/>
        </p:nvSpPr>
        <p:spPr>
          <a:xfrm>
            <a:off x="5133804" y="3861663"/>
            <a:ext cx="1704527" cy="110362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Demand driven SCM, predictive analytics and enhanced connectivity improve responsiveness and prevent stock outs</a:t>
            </a:r>
          </a:p>
        </p:txBody>
      </p:sp>
      <p:sp>
        <p:nvSpPr>
          <p:cNvPr id="40" name="Rectangle 39">
            <a:extLst>
              <a:ext uri="{FF2B5EF4-FFF2-40B4-BE49-F238E27FC236}">
                <a16:creationId xmlns:a16="http://schemas.microsoft.com/office/drawing/2014/main" id="{9B6CF412-D15A-463F-A02D-938B8250EDF2}"/>
              </a:ext>
            </a:extLst>
          </p:cNvPr>
          <p:cNvSpPr/>
          <p:nvPr/>
        </p:nvSpPr>
        <p:spPr>
          <a:xfrm>
            <a:off x="888125" y="2021159"/>
            <a:ext cx="1515956" cy="557728"/>
          </a:xfrm>
          <a:prstGeom prst="rect">
            <a:avLst/>
          </a:prstGeom>
          <a:noFill/>
          <a:ln>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Manage multiple suppliers through the multi-tier chain</a:t>
            </a:r>
          </a:p>
        </p:txBody>
      </p:sp>
      <p:sp>
        <p:nvSpPr>
          <p:cNvPr id="41" name="Oval 40">
            <a:extLst>
              <a:ext uri="{FF2B5EF4-FFF2-40B4-BE49-F238E27FC236}">
                <a16:creationId xmlns:a16="http://schemas.microsoft.com/office/drawing/2014/main" id="{387310E3-32C1-4EEF-9415-A7FC0500C8D7}"/>
              </a:ext>
            </a:extLst>
          </p:cNvPr>
          <p:cNvSpPr>
            <a:spLocks noChangeAspect="1"/>
          </p:cNvSpPr>
          <p:nvPr/>
        </p:nvSpPr>
        <p:spPr>
          <a:xfrm>
            <a:off x="2537740" y="3049619"/>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latin typeface="Arial" panose="020B0604020202020204" pitchFamily="34" charset="0"/>
                <a:cs typeface="Arial" panose="020B0604020202020204" pitchFamily="34" charset="0"/>
              </a:rPr>
              <a:t>!</a:t>
            </a:r>
            <a:endParaRPr lang="en-IN" b="1">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D39D6F23-112E-485C-9C58-AA8F48BED139}"/>
              </a:ext>
            </a:extLst>
          </p:cNvPr>
          <p:cNvSpPr/>
          <p:nvPr/>
        </p:nvSpPr>
        <p:spPr>
          <a:xfrm>
            <a:off x="3056970" y="2005557"/>
            <a:ext cx="1695551" cy="568485"/>
          </a:xfrm>
          <a:prstGeom prst="rect">
            <a:avLst/>
          </a:prstGeom>
          <a:noFill/>
          <a:ln>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Implement ERP to assess real-time inventory on each leg</a:t>
            </a:r>
          </a:p>
        </p:txBody>
      </p:sp>
      <p:sp>
        <p:nvSpPr>
          <p:cNvPr id="43" name="Rectangle 42">
            <a:extLst>
              <a:ext uri="{FF2B5EF4-FFF2-40B4-BE49-F238E27FC236}">
                <a16:creationId xmlns:a16="http://schemas.microsoft.com/office/drawing/2014/main" id="{57EA4FDD-0291-4309-AE90-1EF249D7D2B8}"/>
              </a:ext>
            </a:extLst>
          </p:cNvPr>
          <p:cNvSpPr/>
          <p:nvPr/>
        </p:nvSpPr>
        <p:spPr>
          <a:xfrm>
            <a:off x="5067164" y="2016035"/>
            <a:ext cx="1749297" cy="557729"/>
          </a:xfrm>
          <a:prstGeom prst="rect">
            <a:avLst/>
          </a:prstGeom>
          <a:noFill/>
          <a:ln>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Stress test the supply chain, through forecasting capabilities</a:t>
            </a:r>
          </a:p>
        </p:txBody>
      </p:sp>
      <p:cxnSp>
        <p:nvCxnSpPr>
          <p:cNvPr id="44" name="Connector: Elbow 43">
            <a:extLst>
              <a:ext uri="{FF2B5EF4-FFF2-40B4-BE49-F238E27FC236}">
                <a16:creationId xmlns:a16="http://schemas.microsoft.com/office/drawing/2014/main" id="{150E09A4-4627-4B46-A303-C978C69186D3}"/>
              </a:ext>
            </a:extLst>
          </p:cNvPr>
          <p:cNvCxnSpPr>
            <a:cxnSpLocks/>
          </p:cNvCxnSpPr>
          <p:nvPr/>
        </p:nvCxnSpPr>
        <p:spPr>
          <a:xfrm rot="10800000" flipV="1">
            <a:off x="2627740" y="2574043"/>
            <a:ext cx="1187210" cy="224231"/>
          </a:xfrm>
          <a:prstGeom prst="bentConnector3">
            <a:avLst>
              <a:gd name="adj1" fmla="val -346"/>
            </a:avLst>
          </a:prstGeom>
          <a:ln>
            <a:solidFill>
              <a:srgbClr val="FF9966"/>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A59FE4B-EC8E-417C-A4B1-88E432272968}"/>
              </a:ext>
            </a:extLst>
          </p:cNvPr>
          <p:cNvCxnSpPr>
            <a:cxnSpLocks/>
          </p:cNvCxnSpPr>
          <p:nvPr/>
        </p:nvCxnSpPr>
        <p:spPr>
          <a:xfrm>
            <a:off x="3805115" y="2804801"/>
            <a:ext cx="2132125" cy="0"/>
          </a:xfrm>
          <a:prstGeom prst="line">
            <a:avLst/>
          </a:prstGeom>
          <a:ln>
            <a:solidFill>
              <a:srgbClr val="FF9966"/>
            </a:solidFill>
          </a:ln>
        </p:spPr>
        <p:style>
          <a:lnRef idx="1">
            <a:schemeClr val="accent1"/>
          </a:lnRef>
          <a:fillRef idx="0">
            <a:schemeClr val="accent1"/>
          </a:fillRef>
          <a:effectRef idx="0">
            <a:schemeClr val="accent1"/>
          </a:effectRef>
          <a:fontRef idx="minor">
            <a:schemeClr val="tx1"/>
          </a:fontRef>
        </p:style>
      </p:cxnSp>
      <p:pic>
        <p:nvPicPr>
          <p:cNvPr id="46" name="Graphic 45" descr="Radar Chart">
            <a:extLst>
              <a:ext uri="{FF2B5EF4-FFF2-40B4-BE49-F238E27FC236}">
                <a16:creationId xmlns:a16="http://schemas.microsoft.com/office/drawing/2014/main" id="{0C70933E-E72C-4F52-85C1-C4BA4BC86F3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91217" y="1601167"/>
            <a:ext cx="367391" cy="367391"/>
          </a:xfrm>
          <a:prstGeom prst="rect">
            <a:avLst/>
          </a:prstGeom>
        </p:spPr>
      </p:pic>
      <p:cxnSp>
        <p:nvCxnSpPr>
          <p:cNvPr id="47" name="Connector: Elbow 46">
            <a:extLst>
              <a:ext uri="{FF2B5EF4-FFF2-40B4-BE49-F238E27FC236}">
                <a16:creationId xmlns:a16="http://schemas.microsoft.com/office/drawing/2014/main" id="{590A7AEC-3F5A-4B38-A59B-653A66706ADD}"/>
              </a:ext>
            </a:extLst>
          </p:cNvPr>
          <p:cNvCxnSpPr>
            <a:cxnSpLocks/>
          </p:cNvCxnSpPr>
          <p:nvPr/>
        </p:nvCxnSpPr>
        <p:spPr>
          <a:xfrm rot="16200000" flipH="1">
            <a:off x="1901556" y="2304458"/>
            <a:ext cx="470732" cy="981637"/>
          </a:xfrm>
          <a:prstGeom prst="bentConnector3">
            <a:avLst/>
          </a:prstGeom>
          <a:ln>
            <a:solidFill>
              <a:srgbClr val="FF9966"/>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7B3FB4C5-9C7B-4715-BC2E-0D9BCE84E5CF}"/>
              </a:ext>
            </a:extLst>
          </p:cNvPr>
          <p:cNvSpPr>
            <a:spLocks noChangeAspect="1"/>
          </p:cNvSpPr>
          <p:nvPr/>
        </p:nvSpPr>
        <p:spPr>
          <a:xfrm>
            <a:off x="5847240" y="3066075"/>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400" b="1">
                <a:latin typeface="Arial" panose="020B0604020202020204" pitchFamily="34" charset="0"/>
                <a:cs typeface="Arial" panose="020B0604020202020204" pitchFamily="34" charset="0"/>
              </a:rPr>
              <a:t>!</a:t>
            </a:r>
            <a:endParaRPr lang="en-IN" b="1">
              <a:latin typeface="Arial" panose="020B0604020202020204" pitchFamily="34" charset="0"/>
              <a:cs typeface="Arial" panose="020B0604020202020204" pitchFamily="34" charset="0"/>
            </a:endParaRPr>
          </a:p>
        </p:txBody>
      </p:sp>
      <p:cxnSp>
        <p:nvCxnSpPr>
          <p:cNvPr id="49" name="Straight Connector 48">
            <a:extLst>
              <a:ext uri="{FF2B5EF4-FFF2-40B4-BE49-F238E27FC236}">
                <a16:creationId xmlns:a16="http://schemas.microsoft.com/office/drawing/2014/main" id="{8E74CA18-9F34-4EAD-9785-F78164EDB32D}"/>
              </a:ext>
            </a:extLst>
          </p:cNvPr>
          <p:cNvCxnSpPr>
            <a:cxnSpLocks/>
            <a:stCxn id="43" idx="2"/>
            <a:endCxn id="48" idx="0"/>
          </p:cNvCxnSpPr>
          <p:nvPr/>
        </p:nvCxnSpPr>
        <p:spPr>
          <a:xfrm flipH="1">
            <a:off x="5937240" y="2573764"/>
            <a:ext cx="4573" cy="492311"/>
          </a:xfrm>
          <a:prstGeom prst="line">
            <a:avLst/>
          </a:prstGeom>
          <a:ln>
            <a:solidFill>
              <a:srgbClr val="FF9966"/>
            </a:solidFill>
          </a:ln>
        </p:spPr>
        <p:style>
          <a:lnRef idx="1">
            <a:schemeClr val="accent1"/>
          </a:lnRef>
          <a:fillRef idx="0">
            <a:schemeClr val="accent1"/>
          </a:fillRef>
          <a:effectRef idx="0">
            <a:schemeClr val="accent1"/>
          </a:effectRef>
          <a:fontRef idx="minor">
            <a:schemeClr val="tx1"/>
          </a:fontRef>
        </p:style>
      </p:cxnSp>
      <p:grpSp>
        <p:nvGrpSpPr>
          <p:cNvPr id="50" name="Google Shape;8077;p61">
            <a:extLst>
              <a:ext uri="{FF2B5EF4-FFF2-40B4-BE49-F238E27FC236}">
                <a16:creationId xmlns:a16="http://schemas.microsoft.com/office/drawing/2014/main" id="{A3BCCF22-9DDA-4C5C-840A-BEF27FE0A4B6}"/>
              </a:ext>
            </a:extLst>
          </p:cNvPr>
          <p:cNvGrpSpPr/>
          <p:nvPr/>
        </p:nvGrpSpPr>
        <p:grpSpPr>
          <a:xfrm>
            <a:off x="5721448" y="1668883"/>
            <a:ext cx="305783" cy="268721"/>
            <a:chOff x="-1182750" y="3962900"/>
            <a:chExt cx="294575" cy="291450"/>
          </a:xfrm>
          <a:solidFill>
            <a:schemeClr val="tx1"/>
          </a:solidFill>
        </p:grpSpPr>
        <p:sp>
          <p:nvSpPr>
            <p:cNvPr id="51" name="Google Shape;8078;p61">
              <a:extLst>
                <a:ext uri="{FF2B5EF4-FFF2-40B4-BE49-F238E27FC236}">
                  <a16:creationId xmlns:a16="http://schemas.microsoft.com/office/drawing/2014/main" id="{ABA37837-9EE4-4E0F-BE6E-F0E8B50FEAD9}"/>
                </a:ext>
              </a:extLst>
            </p:cNvPr>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52" name="Google Shape;8079;p61">
              <a:extLst>
                <a:ext uri="{FF2B5EF4-FFF2-40B4-BE49-F238E27FC236}">
                  <a16:creationId xmlns:a16="http://schemas.microsoft.com/office/drawing/2014/main" id="{778A3631-77A8-4426-9EFB-C6F1C0B69F16}"/>
                </a:ext>
              </a:extLst>
            </p:cNvPr>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53" name="Google Shape;8080;p61">
              <a:extLst>
                <a:ext uri="{FF2B5EF4-FFF2-40B4-BE49-F238E27FC236}">
                  <a16:creationId xmlns:a16="http://schemas.microsoft.com/office/drawing/2014/main" id="{B6F50D48-71BF-47D0-B940-8EBE0659F995}"/>
                </a:ext>
              </a:extLst>
            </p:cNvPr>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54" name="Google Shape;8081;p61">
              <a:extLst>
                <a:ext uri="{FF2B5EF4-FFF2-40B4-BE49-F238E27FC236}">
                  <a16:creationId xmlns:a16="http://schemas.microsoft.com/office/drawing/2014/main" id="{096A8640-E4E6-40EA-B7A8-79CE911AB441}"/>
                </a:ext>
              </a:extLst>
            </p:cNvPr>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55" name="Google Shape;8082;p61">
              <a:extLst>
                <a:ext uri="{FF2B5EF4-FFF2-40B4-BE49-F238E27FC236}">
                  <a16:creationId xmlns:a16="http://schemas.microsoft.com/office/drawing/2014/main" id="{F7F302A2-A05F-4D02-8B94-CE63D784C6FF}"/>
                </a:ext>
              </a:extLst>
            </p:cNvPr>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56" name="Google Shape;8083;p61">
              <a:extLst>
                <a:ext uri="{FF2B5EF4-FFF2-40B4-BE49-F238E27FC236}">
                  <a16:creationId xmlns:a16="http://schemas.microsoft.com/office/drawing/2014/main" id="{A19A8552-1327-45AA-8C1E-B944CD5E2110}"/>
                </a:ext>
              </a:extLst>
            </p:cNvPr>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sp>
          <p:nvSpPr>
            <p:cNvPr id="57" name="Google Shape;8084;p61">
              <a:extLst>
                <a:ext uri="{FF2B5EF4-FFF2-40B4-BE49-F238E27FC236}">
                  <a16:creationId xmlns:a16="http://schemas.microsoft.com/office/drawing/2014/main" id="{F91BAD2C-559D-46A0-A54D-05E72F7AED2B}"/>
                </a:ext>
              </a:extLst>
            </p:cNvPr>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pic>
        <p:nvPicPr>
          <p:cNvPr id="58" name="Graphic 57" descr="Internet">
            <a:extLst>
              <a:ext uri="{FF2B5EF4-FFF2-40B4-BE49-F238E27FC236}">
                <a16:creationId xmlns:a16="http://schemas.microsoft.com/office/drawing/2014/main" id="{A39553C0-34CE-418A-9D26-D9D084FACEF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677283" y="1542369"/>
            <a:ext cx="516473" cy="516473"/>
          </a:xfrm>
          <a:prstGeom prst="rect">
            <a:avLst/>
          </a:prstGeom>
        </p:spPr>
      </p:pic>
      <p:cxnSp>
        <p:nvCxnSpPr>
          <p:cNvPr id="63" name="Straight Connector 62">
            <a:extLst>
              <a:ext uri="{FF2B5EF4-FFF2-40B4-BE49-F238E27FC236}">
                <a16:creationId xmlns:a16="http://schemas.microsoft.com/office/drawing/2014/main" id="{B3EC3E09-A7D4-4A8F-9744-A1B146BE209B}"/>
              </a:ext>
            </a:extLst>
          </p:cNvPr>
          <p:cNvCxnSpPr>
            <a:cxnSpLocks/>
          </p:cNvCxnSpPr>
          <p:nvPr/>
        </p:nvCxnSpPr>
        <p:spPr>
          <a:xfrm>
            <a:off x="8626930" y="1327636"/>
            <a:ext cx="0" cy="541606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085B777C-4944-4FDB-810D-C3C0DE0E9E4C}"/>
              </a:ext>
            </a:extLst>
          </p:cNvPr>
          <p:cNvSpPr/>
          <p:nvPr/>
        </p:nvSpPr>
        <p:spPr>
          <a:xfrm>
            <a:off x="8809467" y="1311645"/>
            <a:ext cx="3050515" cy="287840"/>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Online Pharmacy</a:t>
            </a:r>
          </a:p>
        </p:txBody>
      </p:sp>
      <p:pic>
        <p:nvPicPr>
          <p:cNvPr id="74" name="Picture 73" descr="A picture containing rectangle&#10;&#10;Description automatically generated">
            <a:extLst>
              <a:ext uri="{FF2B5EF4-FFF2-40B4-BE49-F238E27FC236}">
                <a16:creationId xmlns:a16="http://schemas.microsoft.com/office/drawing/2014/main" id="{A874623C-55B2-4B1C-B753-8106D9F4E46A}"/>
              </a:ext>
            </a:extLst>
          </p:cNvPr>
          <p:cNvPicPr>
            <a:picLocks noChangeAspect="1"/>
          </p:cNvPicPr>
          <p:nvPr/>
        </p:nvPicPr>
        <p:blipFill rotWithShape="1">
          <a:blip r:embed="rId16">
            <a:extLst>
              <a:ext uri="{28A0092B-C50C-407E-A947-70E740481C1C}">
                <a14:useLocalDpi xmlns:a14="http://schemas.microsoft.com/office/drawing/2010/main" val="0"/>
              </a:ext>
            </a:extLst>
          </a:blip>
          <a:srcRect t="22599" b="26747"/>
          <a:stretch/>
        </p:blipFill>
        <p:spPr>
          <a:xfrm>
            <a:off x="9852557" y="2054206"/>
            <a:ext cx="992159" cy="598270"/>
          </a:xfrm>
          <a:prstGeom prst="rect">
            <a:avLst/>
          </a:prstGeom>
        </p:spPr>
      </p:pic>
      <p:pic>
        <p:nvPicPr>
          <p:cNvPr id="75" name="Picture 2" descr="Unfilled Shopping Cart Symbol Icon Stock Illustration - Download Image Now  - iStock">
            <a:extLst>
              <a:ext uri="{FF2B5EF4-FFF2-40B4-BE49-F238E27FC236}">
                <a16:creationId xmlns:a16="http://schemas.microsoft.com/office/drawing/2014/main" id="{F9C2CE6C-D320-4050-B985-87E66B71767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34743" y="2054206"/>
            <a:ext cx="697705" cy="598270"/>
          </a:xfrm>
          <a:prstGeom prst="rect">
            <a:avLst/>
          </a:prstGeom>
          <a:noFill/>
          <a:extLst>
            <a:ext uri="{909E8E84-426E-40DD-AFC4-6F175D3DCCD1}">
              <a14:hiddenFill xmlns:a14="http://schemas.microsoft.com/office/drawing/2010/main">
                <a:solidFill>
                  <a:srgbClr val="FFFFFF"/>
                </a:solidFill>
              </a14:hiddenFill>
            </a:ext>
          </a:extLst>
        </p:spPr>
      </p:pic>
      <p:cxnSp>
        <p:nvCxnSpPr>
          <p:cNvPr id="76" name="Straight Arrow Connector 75">
            <a:extLst>
              <a:ext uri="{FF2B5EF4-FFF2-40B4-BE49-F238E27FC236}">
                <a16:creationId xmlns:a16="http://schemas.microsoft.com/office/drawing/2014/main" id="{3EC5B432-5C0F-4619-8FE1-89EE4A28A957}"/>
              </a:ext>
            </a:extLst>
          </p:cNvPr>
          <p:cNvCxnSpPr>
            <a:cxnSpLocks/>
            <a:endCxn id="74" idx="1"/>
          </p:cNvCxnSpPr>
          <p:nvPr/>
        </p:nvCxnSpPr>
        <p:spPr>
          <a:xfrm>
            <a:off x="9504341" y="2353341"/>
            <a:ext cx="34821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D1B6FBE-32F4-46E9-BDD8-D67FF557B2BD}"/>
              </a:ext>
            </a:extLst>
          </p:cNvPr>
          <p:cNvCxnSpPr>
            <a:cxnSpLocks/>
          </p:cNvCxnSpPr>
          <p:nvPr/>
        </p:nvCxnSpPr>
        <p:spPr>
          <a:xfrm>
            <a:off x="10881272" y="2349712"/>
            <a:ext cx="345349" cy="27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Picture 77" descr="Icon&#10;&#10;Description automatically generated">
            <a:extLst>
              <a:ext uri="{FF2B5EF4-FFF2-40B4-BE49-F238E27FC236}">
                <a16:creationId xmlns:a16="http://schemas.microsoft.com/office/drawing/2014/main" id="{29A5C422-50E6-401B-BA64-8D7661C38C9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1374446" y="2507149"/>
            <a:ext cx="504059" cy="533783"/>
          </a:xfrm>
          <a:prstGeom prst="rect">
            <a:avLst/>
          </a:prstGeom>
        </p:spPr>
      </p:pic>
      <p:pic>
        <p:nvPicPr>
          <p:cNvPr id="79" name="Picture 78" descr="Text&#10;&#10;Description automatically generated">
            <a:extLst>
              <a:ext uri="{FF2B5EF4-FFF2-40B4-BE49-F238E27FC236}">
                <a16:creationId xmlns:a16="http://schemas.microsoft.com/office/drawing/2014/main" id="{6A0EA546-B5A5-4C0A-A707-EC4EA21BB08E}"/>
              </a:ext>
            </a:extLst>
          </p:cNvPr>
          <p:cNvPicPr>
            <a:picLocks noChangeAspect="1"/>
          </p:cNvPicPr>
          <p:nvPr/>
        </p:nvPicPr>
        <p:blipFill rotWithShape="1">
          <a:blip r:embed="rId19">
            <a:extLst>
              <a:ext uri="{28A0092B-C50C-407E-A947-70E740481C1C}">
                <a14:useLocalDpi xmlns:a14="http://schemas.microsoft.com/office/drawing/2010/main" val="0"/>
              </a:ext>
            </a:extLst>
          </a:blip>
          <a:srcRect l="8097" t="19271" r="14011" b="31336"/>
          <a:stretch/>
        </p:blipFill>
        <p:spPr>
          <a:xfrm>
            <a:off x="11235429" y="1665750"/>
            <a:ext cx="779403" cy="533783"/>
          </a:xfrm>
          <a:prstGeom prst="rect">
            <a:avLst/>
          </a:prstGeom>
        </p:spPr>
      </p:pic>
      <p:sp>
        <p:nvSpPr>
          <p:cNvPr id="80" name="Plus Sign 79">
            <a:extLst>
              <a:ext uri="{FF2B5EF4-FFF2-40B4-BE49-F238E27FC236}">
                <a16:creationId xmlns:a16="http://schemas.microsoft.com/office/drawing/2014/main" id="{70F7E961-FB37-41CF-885A-205FCFEBE352}"/>
              </a:ext>
            </a:extLst>
          </p:cNvPr>
          <p:cNvSpPr/>
          <p:nvPr/>
        </p:nvSpPr>
        <p:spPr>
          <a:xfrm>
            <a:off x="11508259" y="2199533"/>
            <a:ext cx="236432" cy="272639"/>
          </a:xfrm>
          <a:prstGeom prst="math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Rectangle 86">
            <a:extLst>
              <a:ext uri="{FF2B5EF4-FFF2-40B4-BE49-F238E27FC236}">
                <a16:creationId xmlns:a16="http://schemas.microsoft.com/office/drawing/2014/main" id="{0E256928-C511-4323-ACE3-FDC6320DCAE8}"/>
              </a:ext>
            </a:extLst>
          </p:cNvPr>
          <p:cNvSpPr/>
          <p:nvPr/>
        </p:nvSpPr>
        <p:spPr>
          <a:xfrm>
            <a:off x="8809467" y="3231130"/>
            <a:ext cx="3073270" cy="816143"/>
          </a:xfrm>
          <a:prstGeom prst="rect">
            <a:avLst/>
          </a:prstGeom>
          <a:noFill/>
          <a:ln>
            <a:solidFill>
              <a:srgbClr val="FF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Arial" panose="020B0604020202020204" pitchFamily="34" charset="0"/>
                <a:cs typeface="Arial" panose="020B0604020202020204" pitchFamily="34" charset="0"/>
              </a:rPr>
              <a:t>Eliminate multiple levels: </a:t>
            </a:r>
            <a:r>
              <a:rPr lang="en-IN" sz="1200">
                <a:solidFill>
                  <a:schemeClr val="tx1"/>
                </a:solidFill>
                <a:latin typeface="Arial" panose="020B0604020202020204" pitchFamily="34" charset="0"/>
                <a:cs typeface="Arial" panose="020B0604020202020204" pitchFamily="34" charset="0"/>
              </a:rPr>
              <a:t>With online pharmacies like </a:t>
            </a:r>
            <a:r>
              <a:rPr lang="en-IN" sz="1200" err="1">
                <a:solidFill>
                  <a:schemeClr val="tx1"/>
                </a:solidFill>
                <a:latin typeface="Arial" panose="020B0604020202020204" pitchFamily="34" charset="0"/>
                <a:cs typeface="Arial" panose="020B0604020202020204" pitchFamily="34" charset="0"/>
              </a:rPr>
              <a:t>Pharmeasy</a:t>
            </a:r>
            <a:r>
              <a:rPr lang="en-IN" sz="1200">
                <a:solidFill>
                  <a:schemeClr val="tx1"/>
                </a:solidFill>
                <a:latin typeface="Arial" panose="020B0604020202020204" pitchFamily="34" charset="0"/>
                <a:cs typeface="Arial" panose="020B0604020202020204" pitchFamily="34" charset="0"/>
              </a:rPr>
              <a:t>, 1mgd; pharma companies can open a D2C channel eliminating redundancies</a:t>
            </a:r>
            <a:endParaRPr lang="en-IN" sz="1200" b="1">
              <a:solidFill>
                <a:schemeClr val="tx1"/>
              </a:solidFill>
              <a:latin typeface="Arial" panose="020B0604020202020204" pitchFamily="34" charset="0"/>
              <a:cs typeface="Arial" panose="020B0604020202020204" pitchFamily="34" charset="0"/>
            </a:endParaRPr>
          </a:p>
        </p:txBody>
      </p:sp>
      <p:sp>
        <p:nvSpPr>
          <p:cNvPr id="88" name="Rectangle 87">
            <a:extLst>
              <a:ext uri="{FF2B5EF4-FFF2-40B4-BE49-F238E27FC236}">
                <a16:creationId xmlns:a16="http://schemas.microsoft.com/office/drawing/2014/main" id="{4C2C5AEC-D1BA-4323-BD24-EAE1791028B9}"/>
              </a:ext>
            </a:extLst>
          </p:cNvPr>
          <p:cNvSpPr/>
          <p:nvPr/>
        </p:nvSpPr>
        <p:spPr>
          <a:xfrm>
            <a:off x="8819981" y="4156146"/>
            <a:ext cx="3069032" cy="809143"/>
          </a:xfrm>
          <a:prstGeom prst="rect">
            <a:avLst/>
          </a:prstGeom>
          <a:noFill/>
          <a:ln>
            <a:solidFill>
              <a:srgbClr val="FF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Arial" panose="020B0604020202020204" pitchFamily="34" charset="0"/>
                <a:cs typeface="Arial" panose="020B0604020202020204" pitchFamily="34" charset="0"/>
              </a:rPr>
              <a:t>Demand centric: </a:t>
            </a:r>
            <a:r>
              <a:rPr lang="en-IN" sz="1200">
                <a:solidFill>
                  <a:schemeClr val="tx1"/>
                </a:solidFill>
                <a:latin typeface="Arial" panose="020B0604020202020204" pitchFamily="34" charset="0"/>
                <a:cs typeface="Arial" panose="020B0604020202020204" pitchFamily="34" charset="0"/>
              </a:rPr>
              <a:t>Lean supply chain and demand centric operations would enable lower inventory, higher sales and lower stock outs </a:t>
            </a:r>
            <a:endParaRPr lang="en-IN" sz="1200" b="1">
              <a:solidFill>
                <a:schemeClr val="tx1"/>
              </a:solidFill>
              <a:latin typeface="Arial" panose="020B060402020202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9C546868-3D70-42F3-8E9C-EC97F29F7A87}"/>
              </a:ext>
            </a:extLst>
          </p:cNvPr>
          <p:cNvSpPr txBox="1"/>
          <p:nvPr/>
        </p:nvSpPr>
        <p:spPr>
          <a:xfrm>
            <a:off x="8684035" y="2718916"/>
            <a:ext cx="1010694" cy="430887"/>
          </a:xfrm>
          <a:prstGeom prst="rect">
            <a:avLst/>
          </a:prstGeom>
          <a:noFill/>
          <a:ln>
            <a:solidFill>
              <a:srgbClr val="FF6600"/>
            </a:solidFill>
          </a:ln>
        </p:spPr>
        <p:txBody>
          <a:bodyPr wrap="square" rtlCol="0">
            <a:spAutoFit/>
          </a:bodyPr>
          <a:lstStyle/>
          <a:p>
            <a:pPr algn="ctr"/>
            <a:r>
              <a:rPr lang="en-IN" sz="1100"/>
              <a:t>Buy directly from company</a:t>
            </a:r>
          </a:p>
        </p:txBody>
      </p:sp>
      <p:sp>
        <p:nvSpPr>
          <p:cNvPr id="81" name="TextBox 80">
            <a:extLst>
              <a:ext uri="{FF2B5EF4-FFF2-40B4-BE49-F238E27FC236}">
                <a16:creationId xmlns:a16="http://schemas.microsoft.com/office/drawing/2014/main" id="{C467DF5F-4B22-4168-B3B9-B2728EEE16A1}"/>
              </a:ext>
            </a:extLst>
          </p:cNvPr>
          <p:cNvSpPr txBox="1"/>
          <p:nvPr/>
        </p:nvSpPr>
        <p:spPr>
          <a:xfrm>
            <a:off x="9777304" y="2714699"/>
            <a:ext cx="1436991" cy="430887"/>
          </a:xfrm>
          <a:prstGeom prst="rect">
            <a:avLst/>
          </a:prstGeom>
          <a:noFill/>
          <a:ln>
            <a:solidFill>
              <a:srgbClr val="FF6600"/>
            </a:solidFill>
          </a:ln>
        </p:spPr>
        <p:txBody>
          <a:bodyPr wrap="square" rtlCol="0">
            <a:spAutoFit/>
          </a:bodyPr>
          <a:lstStyle/>
          <a:p>
            <a:pPr algn="ctr"/>
            <a:r>
              <a:rPr lang="en-IN" sz="1100"/>
              <a:t>Allow the pharmacy to go to the customer</a:t>
            </a:r>
          </a:p>
        </p:txBody>
      </p:sp>
      <p:sp>
        <p:nvSpPr>
          <p:cNvPr id="82" name="Rectangle 81">
            <a:extLst>
              <a:ext uri="{FF2B5EF4-FFF2-40B4-BE49-F238E27FC236}">
                <a16:creationId xmlns:a16="http://schemas.microsoft.com/office/drawing/2014/main" id="{B41DA4CE-FDA0-4B76-A2B7-9E4225C50EF5}"/>
              </a:ext>
            </a:extLst>
          </p:cNvPr>
          <p:cNvSpPr/>
          <p:nvPr/>
        </p:nvSpPr>
        <p:spPr>
          <a:xfrm>
            <a:off x="8921741" y="5078034"/>
            <a:ext cx="2967268" cy="290563"/>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Investment Distribution</a:t>
            </a:r>
          </a:p>
        </p:txBody>
      </p:sp>
      <p:sp>
        <p:nvSpPr>
          <p:cNvPr id="83" name="Rectangle 82">
            <a:extLst>
              <a:ext uri="{FF2B5EF4-FFF2-40B4-BE49-F238E27FC236}">
                <a16:creationId xmlns:a16="http://schemas.microsoft.com/office/drawing/2014/main" id="{BF102C93-8625-4CD0-B09B-8AEDA6F2B7F8}"/>
              </a:ext>
            </a:extLst>
          </p:cNvPr>
          <p:cNvSpPr/>
          <p:nvPr/>
        </p:nvSpPr>
        <p:spPr>
          <a:xfrm>
            <a:off x="8921741" y="5415139"/>
            <a:ext cx="893376" cy="124657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Rectangle 83">
            <a:extLst>
              <a:ext uri="{FF2B5EF4-FFF2-40B4-BE49-F238E27FC236}">
                <a16:creationId xmlns:a16="http://schemas.microsoft.com/office/drawing/2014/main" id="{9D0A2486-337A-4C03-BE81-5D26AA1627DA}"/>
              </a:ext>
            </a:extLst>
          </p:cNvPr>
          <p:cNvSpPr/>
          <p:nvPr/>
        </p:nvSpPr>
        <p:spPr>
          <a:xfrm>
            <a:off x="9951340" y="5415139"/>
            <a:ext cx="893376" cy="124657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Rectangle 84">
            <a:extLst>
              <a:ext uri="{FF2B5EF4-FFF2-40B4-BE49-F238E27FC236}">
                <a16:creationId xmlns:a16="http://schemas.microsoft.com/office/drawing/2014/main" id="{B86939D7-7A75-4445-92AD-B5C14D2570DC}"/>
              </a:ext>
            </a:extLst>
          </p:cNvPr>
          <p:cNvSpPr/>
          <p:nvPr/>
        </p:nvSpPr>
        <p:spPr>
          <a:xfrm>
            <a:off x="10985129" y="5415139"/>
            <a:ext cx="893376" cy="1246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xtBox 59">
            <a:extLst>
              <a:ext uri="{FF2B5EF4-FFF2-40B4-BE49-F238E27FC236}">
                <a16:creationId xmlns:a16="http://schemas.microsoft.com/office/drawing/2014/main" id="{DDB6EBD6-E509-416A-9570-A0B616385042}"/>
              </a:ext>
            </a:extLst>
          </p:cNvPr>
          <p:cNvSpPr txBox="1"/>
          <p:nvPr/>
        </p:nvSpPr>
        <p:spPr>
          <a:xfrm>
            <a:off x="9078284" y="5481342"/>
            <a:ext cx="684075" cy="369332"/>
          </a:xfrm>
          <a:prstGeom prst="rect">
            <a:avLst/>
          </a:prstGeom>
          <a:noFill/>
        </p:spPr>
        <p:txBody>
          <a:bodyPr wrap="square" rtlCol="0">
            <a:spAutoFit/>
          </a:bodyPr>
          <a:lstStyle/>
          <a:p>
            <a:r>
              <a:rPr lang="en-IN"/>
              <a:t>70%</a:t>
            </a:r>
          </a:p>
        </p:txBody>
      </p:sp>
      <p:sp>
        <p:nvSpPr>
          <p:cNvPr id="91" name="TextBox 90">
            <a:extLst>
              <a:ext uri="{FF2B5EF4-FFF2-40B4-BE49-F238E27FC236}">
                <a16:creationId xmlns:a16="http://schemas.microsoft.com/office/drawing/2014/main" id="{8BD3EB97-1E7A-46E7-A0FC-0544BC845404}"/>
              </a:ext>
            </a:extLst>
          </p:cNvPr>
          <p:cNvSpPr txBox="1"/>
          <p:nvPr/>
        </p:nvSpPr>
        <p:spPr>
          <a:xfrm>
            <a:off x="10109927" y="5481342"/>
            <a:ext cx="684075" cy="369332"/>
          </a:xfrm>
          <a:prstGeom prst="rect">
            <a:avLst/>
          </a:prstGeom>
          <a:noFill/>
        </p:spPr>
        <p:txBody>
          <a:bodyPr wrap="square" rtlCol="0">
            <a:spAutoFit/>
          </a:bodyPr>
          <a:lstStyle/>
          <a:p>
            <a:r>
              <a:rPr lang="en-IN"/>
              <a:t>20%</a:t>
            </a:r>
          </a:p>
        </p:txBody>
      </p:sp>
      <p:sp>
        <p:nvSpPr>
          <p:cNvPr id="92" name="TextBox 91">
            <a:extLst>
              <a:ext uri="{FF2B5EF4-FFF2-40B4-BE49-F238E27FC236}">
                <a16:creationId xmlns:a16="http://schemas.microsoft.com/office/drawing/2014/main" id="{458FCF03-9C25-45B7-BA4E-A1B5861EF32A}"/>
              </a:ext>
            </a:extLst>
          </p:cNvPr>
          <p:cNvSpPr txBox="1"/>
          <p:nvPr/>
        </p:nvSpPr>
        <p:spPr>
          <a:xfrm>
            <a:off x="11166221" y="5481342"/>
            <a:ext cx="684075" cy="369332"/>
          </a:xfrm>
          <a:prstGeom prst="rect">
            <a:avLst/>
          </a:prstGeom>
          <a:noFill/>
        </p:spPr>
        <p:txBody>
          <a:bodyPr wrap="square" rtlCol="0">
            <a:spAutoFit/>
          </a:bodyPr>
          <a:lstStyle/>
          <a:p>
            <a:r>
              <a:rPr lang="en-IN"/>
              <a:t>10%</a:t>
            </a:r>
          </a:p>
        </p:txBody>
      </p:sp>
      <p:sp>
        <p:nvSpPr>
          <p:cNvPr id="61" name="TextBox 60">
            <a:extLst>
              <a:ext uri="{FF2B5EF4-FFF2-40B4-BE49-F238E27FC236}">
                <a16:creationId xmlns:a16="http://schemas.microsoft.com/office/drawing/2014/main" id="{2D4698A0-5509-45B6-B4B6-59707AE0255C}"/>
              </a:ext>
            </a:extLst>
          </p:cNvPr>
          <p:cNvSpPr txBox="1"/>
          <p:nvPr/>
        </p:nvSpPr>
        <p:spPr>
          <a:xfrm>
            <a:off x="8893161" y="5794730"/>
            <a:ext cx="978885" cy="830997"/>
          </a:xfrm>
          <a:prstGeom prst="rect">
            <a:avLst/>
          </a:prstGeom>
          <a:noFill/>
        </p:spPr>
        <p:txBody>
          <a:bodyPr wrap="square" rtlCol="0">
            <a:spAutoFit/>
          </a:bodyPr>
          <a:lstStyle/>
          <a:p>
            <a:r>
              <a:rPr lang="en-IN" sz="1200" b="1"/>
              <a:t>Digital foundation </a:t>
            </a:r>
            <a:r>
              <a:rPr lang="en-IN" sz="1200"/>
              <a:t>– mature technologies</a:t>
            </a:r>
          </a:p>
        </p:txBody>
      </p:sp>
      <p:sp>
        <p:nvSpPr>
          <p:cNvPr id="93" name="TextBox 92">
            <a:extLst>
              <a:ext uri="{FF2B5EF4-FFF2-40B4-BE49-F238E27FC236}">
                <a16:creationId xmlns:a16="http://schemas.microsoft.com/office/drawing/2014/main" id="{594E916D-E8A9-4783-BC4C-A9F30B8F5A76}"/>
              </a:ext>
            </a:extLst>
          </p:cNvPr>
          <p:cNvSpPr txBox="1"/>
          <p:nvPr/>
        </p:nvSpPr>
        <p:spPr>
          <a:xfrm>
            <a:off x="9951340" y="5794730"/>
            <a:ext cx="978885" cy="830997"/>
          </a:xfrm>
          <a:prstGeom prst="rect">
            <a:avLst/>
          </a:prstGeom>
          <a:noFill/>
        </p:spPr>
        <p:txBody>
          <a:bodyPr wrap="square" rtlCol="0">
            <a:spAutoFit/>
          </a:bodyPr>
          <a:lstStyle/>
          <a:p>
            <a:r>
              <a:rPr lang="en-IN" sz="1200" b="1"/>
              <a:t>Digital innovation </a:t>
            </a:r>
            <a:r>
              <a:rPr lang="en-IN" sz="1200"/>
              <a:t>– developing technologies</a:t>
            </a:r>
          </a:p>
        </p:txBody>
      </p:sp>
      <p:sp>
        <p:nvSpPr>
          <p:cNvPr id="94" name="TextBox 93">
            <a:extLst>
              <a:ext uri="{FF2B5EF4-FFF2-40B4-BE49-F238E27FC236}">
                <a16:creationId xmlns:a16="http://schemas.microsoft.com/office/drawing/2014/main" id="{3A7DCCDF-467C-429D-BD44-7A853B82DB8B}"/>
              </a:ext>
            </a:extLst>
          </p:cNvPr>
          <p:cNvSpPr txBox="1"/>
          <p:nvPr/>
        </p:nvSpPr>
        <p:spPr>
          <a:xfrm>
            <a:off x="10952589" y="5794729"/>
            <a:ext cx="978885" cy="830997"/>
          </a:xfrm>
          <a:prstGeom prst="rect">
            <a:avLst/>
          </a:prstGeom>
          <a:noFill/>
        </p:spPr>
        <p:txBody>
          <a:bodyPr wrap="square" rtlCol="0">
            <a:spAutoFit/>
          </a:bodyPr>
          <a:lstStyle/>
          <a:p>
            <a:r>
              <a:rPr lang="en-IN" sz="1200" b="1"/>
              <a:t>Digital edge </a:t>
            </a:r>
            <a:r>
              <a:rPr lang="en-IN" sz="1200"/>
              <a:t>– early stage disruptive technologies</a:t>
            </a:r>
          </a:p>
        </p:txBody>
      </p:sp>
      <p:sp>
        <p:nvSpPr>
          <p:cNvPr id="95" name="Rectangle 94">
            <a:extLst>
              <a:ext uri="{FF2B5EF4-FFF2-40B4-BE49-F238E27FC236}">
                <a16:creationId xmlns:a16="http://schemas.microsoft.com/office/drawing/2014/main" id="{F07CC352-EB3B-4C45-B2B3-A122178F6F63}"/>
              </a:ext>
            </a:extLst>
          </p:cNvPr>
          <p:cNvSpPr/>
          <p:nvPr/>
        </p:nvSpPr>
        <p:spPr>
          <a:xfrm>
            <a:off x="566825" y="5078035"/>
            <a:ext cx="7952293" cy="28601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Going beyond the pharmaceutical industry</a:t>
            </a:r>
          </a:p>
        </p:txBody>
      </p:sp>
      <p:cxnSp>
        <p:nvCxnSpPr>
          <p:cNvPr id="96" name="Google Shape;239;p23">
            <a:extLst>
              <a:ext uri="{FF2B5EF4-FFF2-40B4-BE49-F238E27FC236}">
                <a16:creationId xmlns:a16="http://schemas.microsoft.com/office/drawing/2014/main" id="{A4523A39-2809-40CC-AF08-31931938242D}"/>
              </a:ext>
            </a:extLst>
          </p:cNvPr>
          <p:cNvCxnSpPr/>
          <p:nvPr/>
        </p:nvCxnSpPr>
        <p:spPr>
          <a:xfrm rot="10800000">
            <a:off x="3466833" y="5602791"/>
            <a:ext cx="2912400" cy="0"/>
          </a:xfrm>
          <a:prstGeom prst="straightConnector1">
            <a:avLst/>
          </a:prstGeom>
          <a:noFill/>
          <a:ln w="19050" cap="flat" cmpd="sng">
            <a:solidFill>
              <a:srgbClr val="434343"/>
            </a:solidFill>
            <a:prstDash val="solid"/>
            <a:round/>
            <a:headEnd type="none" w="med" len="med"/>
            <a:tailEnd type="diamond" w="med" len="med"/>
          </a:ln>
        </p:spPr>
      </p:cxnSp>
      <p:cxnSp>
        <p:nvCxnSpPr>
          <p:cNvPr id="97" name="Google Shape;240;p23">
            <a:extLst>
              <a:ext uri="{FF2B5EF4-FFF2-40B4-BE49-F238E27FC236}">
                <a16:creationId xmlns:a16="http://schemas.microsoft.com/office/drawing/2014/main" id="{1A420797-CDDB-45A7-B005-91DDF60BE1DF}"/>
              </a:ext>
            </a:extLst>
          </p:cNvPr>
          <p:cNvCxnSpPr/>
          <p:nvPr/>
        </p:nvCxnSpPr>
        <p:spPr>
          <a:xfrm rot="10800000">
            <a:off x="3467110" y="5936365"/>
            <a:ext cx="2919600" cy="6000"/>
          </a:xfrm>
          <a:prstGeom prst="straightConnector1">
            <a:avLst/>
          </a:prstGeom>
          <a:noFill/>
          <a:ln w="19050" cap="flat" cmpd="sng">
            <a:solidFill>
              <a:srgbClr val="434343"/>
            </a:solidFill>
            <a:prstDash val="solid"/>
            <a:round/>
            <a:headEnd type="none" w="med" len="med"/>
            <a:tailEnd type="diamond" w="med" len="med"/>
          </a:ln>
        </p:spPr>
      </p:cxnSp>
      <p:cxnSp>
        <p:nvCxnSpPr>
          <p:cNvPr id="98" name="Google Shape;241;p23">
            <a:extLst>
              <a:ext uri="{FF2B5EF4-FFF2-40B4-BE49-F238E27FC236}">
                <a16:creationId xmlns:a16="http://schemas.microsoft.com/office/drawing/2014/main" id="{EFCFFB40-B015-4C34-90A8-C957CD6FFD69}"/>
              </a:ext>
            </a:extLst>
          </p:cNvPr>
          <p:cNvCxnSpPr/>
          <p:nvPr/>
        </p:nvCxnSpPr>
        <p:spPr>
          <a:xfrm rot="10800000">
            <a:off x="3466785" y="6264191"/>
            <a:ext cx="2919600" cy="0"/>
          </a:xfrm>
          <a:prstGeom prst="straightConnector1">
            <a:avLst/>
          </a:prstGeom>
          <a:noFill/>
          <a:ln w="19050" cap="flat" cmpd="sng">
            <a:solidFill>
              <a:srgbClr val="434343"/>
            </a:solidFill>
            <a:prstDash val="solid"/>
            <a:round/>
            <a:headEnd type="none" w="med" len="med"/>
            <a:tailEnd type="diamond" w="med" len="med"/>
          </a:ln>
        </p:spPr>
      </p:cxnSp>
      <p:sp>
        <p:nvSpPr>
          <p:cNvPr id="99" name="Google Shape;242;p23">
            <a:extLst>
              <a:ext uri="{FF2B5EF4-FFF2-40B4-BE49-F238E27FC236}">
                <a16:creationId xmlns:a16="http://schemas.microsoft.com/office/drawing/2014/main" id="{A665CB56-E460-43BB-B4A9-AC9E4F3D7658}"/>
              </a:ext>
            </a:extLst>
          </p:cNvPr>
          <p:cNvSpPr/>
          <p:nvPr/>
        </p:nvSpPr>
        <p:spPr>
          <a:xfrm>
            <a:off x="3550351" y="5482191"/>
            <a:ext cx="2555949" cy="237230"/>
          </a:xfrm>
          <a:prstGeom prst="rect">
            <a:avLst/>
          </a:pr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0" name="Google Shape;243;p23">
            <a:extLst>
              <a:ext uri="{FF2B5EF4-FFF2-40B4-BE49-F238E27FC236}">
                <a16:creationId xmlns:a16="http://schemas.microsoft.com/office/drawing/2014/main" id="{11012C76-214A-4259-929A-D477118200A2}"/>
              </a:ext>
            </a:extLst>
          </p:cNvPr>
          <p:cNvCxnSpPr/>
          <p:nvPr/>
        </p:nvCxnSpPr>
        <p:spPr>
          <a:xfrm rot="10800000">
            <a:off x="3466910" y="6619561"/>
            <a:ext cx="2905200" cy="0"/>
          </a:xfrm>
          <a:prstGeom prst="straightConnector1">
            <a:avLst/>
          </a:prstGeom>
          <a:noFill/>
          <a:ln w="19050" cap="flat" cmpd="sng">
            <a:solidFill>
              <a:srgbClr val="434343"/>
            </a:solidFill>
            <a:prstDash val="solid"/>
            <a:round/>
            <a:headEnd type="none" w="med" len="med"/>
            <a:tailEnd type="diamond" w="med" len="med"/>
          </a:ln>
        </p:spPr>
      </p:cxnSp>
      <p:sp>
        <p:nvSpPr>
          <p:cNvPr id="101" name="Google Shape;244;p23">
            <a:extLst>
              <a:ext uri="{FF2B5EF4-FFF2-40B4-BE49-F238E27FC236}">
                <a16:creationId xmlns:a16="http://schemas.microsoft.com/office/drawing/2014/main" id="{FD42F160-0803-4223-81A3-9E6176D796DB}"/>
              </a:ext>
            </a:extLst>
          </p:cNvPr>
          <p:cNvSpPr/>
          <p:nvPr/>
        </p:nvSpPr>
        <p:spPr>
          <a:xfrm>
            <a:off x="3549977" y="5823977"/>
            <a:ext cx="1985729" cy="244799"/>
          </a:xfrm>
          <a:prstGeom prst="rect">
            <a:avLst/>
          </a:pr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47;p23">
            <a:extLst>
              <a:ext uri="{FF2B5EF4-FFF2-40B4-BE49-F238E27FC236}">
                <a16:creationId xmlns:a16="http://schemas.microsoft.com/office/drawing/2014/main" id="{2FA062C2-9514-4F26-8A61-448B7070D89A}"/>
              </a:ext>
            </a:extLst>
          </p:cNvPr>
          <p:cNvSpPr/>
          <p:nvPr/>
        </p:nvSpPr>
        <p:spPr>
          <a:xfrm>
            <a:off x="3546745" y="6136415"/>
            <a:ext cx="1376269" cy="259931"/>
          </a:xfrm>
          <a:prstGeom prst="rect">
            <a:avLst/>
          </a:prstGeom>
          <a:solidFill>
            <a:srgbClr val="FF9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49;p23">
            <a:extLst>
              <a:ext uri="{FF2B5EF4-FFF2-40B4-BE49-F238E27FC236}">
                <a16:creationId xmlns:a16="http://schemas.microsoft.com/office/drawing/2014/main" id="{51FAC97C-3AD6-4F95-BB0A-2601FDB8DA30}"/>
              </a:ext>
            </a:extLst>
          </p:cNvPr>
          <p:cNvSpPr/>
          <p:nvPr/>
        </p:nvSpPr>
        <p:spPr>
          <a:xfrm>
            <a:off x="3545163" y="6509636"/>
            <a:ext cx="980100" cy="241200"/>
          </a:xfrm>
          <a:prstGeom prst="rect">
            <a:avLst/>
          </a:prstGeom>
          <a:solidFill>
            <a:schemeClr val="accent4">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TextBox 63">
            <a:extLst>
              <a:ext uri="{FF2B5EF4-FFF2-40B4-BE49-F238E27FC236}">
                <a16:creationId xmlns:a16="http://schemas.microsoft.com/office/drawing/2014/main" id="{65CA58F9-BBD3-4197-BEF7-A194A0B21CC5}"/>
              </a:ext>
            </a:extLst>
          </p:cNvPr>
          <p:cNvSpPr txBox="1"/>
          <p:nvPr/>
        </p:nvSpPr>
        <p:spPr>
          <a:xfrm>
            <a:off x="6560325" y="5445298"/>
            <a:ext cx="1938206" cy="307777"/>
          </a:xfrm>
          <a:prstGeom prst="rect">
            <a:avLst/>
          </a:prstGeom>
          <a:noFill/>
        </p:spPr>
        <p:txBody>
          <a:bodyPr wrap="square" rtlCol="0">
            <a:spAutoFit/>
          </a:bodyPr>
          <a:lstStyle/>
          <a:p>
            <a:r>
              <a:rPr lang="en-IN" sz="1400"/>
              <a:t>Pharma Average (India)</a:t>
            </a:r>
          </a:p>
        </p:txBody>
      </p:sp>
      <p:sp>
        <p:nvSpPr>
          <p:cNvPr id="108" name="TextBox 107">
            <a:extLst>
              <a:ext uri="{FF2B5EF4-FFF2-40B4-BE49-F238E27FC236}">
                <a16:creationId xmlns:a16="http://schemas.microsoft.com/office/drawing/2014/main" id="{BEF25C8A-A3CA-4164-A8EF-02205FDE889E}"/>
              </a:ext>
            </a:extLst>
          </p:cNvPr>
          <p:cNvSpPr txBox="1"/>
          <p:nvPr/>
        </p:nvSpPr>
        <p:spPr>
          <a:xfrm>
            <a:off x="6555608" y="5768190"/>
            <a:ext cx="2014217" cy="307777"/>
          </a:xfrm>
          <a:prstGeom prst="rect">
            <a:avLst/>
          </a:prstGeom>
          <a:noFill/>
        </p:spPr>
        <p:txBody>
          <a:bodyPr wrap="square" rtlCol="0">
            <a:spAutoFit/>
          </a:bodyPr>
          <a:lstStyle/>
          <a:p>
            <a:r>
              <a:rPr lang="en-IN" sz="1400"/>
              <a:t>Best in Pharma  (Global)</a:t>
            </a:r>
          </a:p>
        </p:txBody>
      </p:sp>
      <p:sp>
        <p:nvSpPr>
          <p:cNvPr id="109" name="TextBox 108">
            <a:extLst>
              <a:ext uri="{FF2B5EF4-FFF2-40B4-BE49-F238E27FC236}">
                <a16:creationId xmlns:a16="http://schemas.microsoft.com/office/drawing/2014/main" id="{BF82A29A-16FD-4641-817A-FCA32FA5DAAA}"/>
              </a:ext>
            </a:extLst>
          </p:cNvPr>
          <p:cNvSpPr txBox="1"/>
          <p:nvPr/>
        </p:nvSpPr>
        <p:spPr>
          <a:xfrm>
            <a:off x="6552501" y="6086661"/>
            <a:ext cx="1938206" cy="307777"/>
          </a:xfrm>
          <a:prstGeom prst="rect">
            <a:avLst/>
          </a:prstGeom>
          <a:noFill/>
        </p:spPr>
        <p:txBody>
          <a:bodyPr wrap="square" rtlCol="0">
            <a:spAutoFit/>
          </a:bodyPr>
          <a:lstStyle/>
          <a:p>
            <a:r>
              <a:rPr lang="en-IN" sz="1400"/>
              <a:t>FMCG Average    (India)</a:t>
            </a:r>
          </a:p>
        </p:txBody>
      </p:sp>
      <p:sp>
        <p:nvSpPr>
          <p:cNvPr id="110" name="TextBox 109">
            <a:extLst>
              <a:ext uri="{FF2B5EF4-FFF2-40B4-BE49-F238E27FC236}">
                <a16:creationId xmlns:a16="http://schemas.microsoft.com/office/drawing/2014/main" id="{8FEDC951-3A6E-40F5-AF5C-A07C25B4FB4E}"/>
              </a:ext>
            </a:extLst>
          </p:cNvPr>
          <p:cNvSpPr txBox="1"/>
          <p:nvPr/>
        </p:nvSpPr>
        <p:spPr>
          <a:xfrm>
            <a:off x="6559061" y="6434417"/>
            <a:ext cx="1938206" cy="307777"/>
          </a:xfrm>
          <a:prstGeom prst="rect">
            <a:avLst/>
          </a:prstGeom>
          <a:noFill/>
        </p:spPr>
        <p:txBody>
          <a:bodyPr wrap="square" rtlCol="0">
            <a:spAutoFit/>
          </a:bodyPr>
          <a:lstStyle/>
          <a:p>
            <a:r>
              <a:rPr lang="en-IN" sz="1400"/>
              <a:t>Best in FMCG     (Global)</a:t>
            </a:r>
          </a:p>
        </p:txBody>
      </p:sp>
      <p:sp>
        <p:nvSpPr>
          <p:cNvPr id="111" name="Google Shape;1124;p34">
            <a:extLst>
              <a:ext uri="{FF2B5EF4-FFF2-40B4-BE49-F238E27FC236}">
                <a16:creationId xmlns:a16="http://schemas.microsoft.com/office/drawing/2014/main" id="{243C488F-0A06-4664-9BF6-439B0224512C}"/>
              </a:ext>
            </a:extLst>
          </p:cNvPr>
          <p:cNvSpPr txBox="1"/>
          <p:nvPr/>
        </p:nvSpPr>
        <p:spPr>
          <a:xfrm>
            <a:off x="2668934" y="5349403"/>
            <a:ext cx="800685" cy="385516"/>
          </a:xfrm>
          <a:prstGeom prst="rect">
            <a:avLst/>
          </a:prstGeom>
          <a:noFill/>
          <a:ln>
            <a:noFill/>
          </a:ln>
        </p:spPr>
        <p:txBody>
          <a:bodyPr spcFirstLastPara="1" wrap="square" lIns="91425" tIns="91425" rIns="91425" bIns="91425" anchor="t" anchorCtr="0">
            <a:noAutofit/>
          </a:bodyPr>
          <a:lstStyle/>
          <a:p>
            <a:pPr algn="ctr">
              <a:buClr>
                <a:srgbClr val="000000"/>
              </a:buClr>
              <a:buFont typeface="Arial"/>
              <a:buNone/>
            </a:pPr>
            <a:r>
              <a:rPr lang="en" sz="2400" b="1" kern="0">
                <a:solidFill>
                  <a:schemeClr val="accent2">
                    <a:lumMod val="50000"/>
                  </a:schemeClr>
                </a:solidFill>
                <a:latin typeface="Fira Sans"/>
                <a:ea typeface="Fira Sans"/>
                <a:cs typeface="Fira Sans"/>
                <a:sym typeface="Fira Sans"/>
              </a:rPr>
              <a:t>231</a:t>
            </a:r>
            <a:endParaRPr sz="2400" b="1" kern="0">
              <a:solidFill>
                <a:schemeClr val="accent2">
                  <a:lumMod val="50000"/>
                </a:schemeClr>
              </a:solidFill>
              <a:latin typeface="Fira Sans"/>
              <a:ea typeface="Fira Sans"/>
              <a:cs typeface="Fira Sans"/>
              <a:sym typeface="Fira Sans"/>
            </a:endParaRPr>
          </a:p>
        </p:txBody>
      </p:sp>
      <p:sp>
        <p:nvSpPr>
          <p:cNvPr id="112" name="Google Shape;1124;p34">
            <a:extLst>
              <a:ext uri="{FF2B5EF4-FFF2-40B4-BE49-F238E27FC236}">
                <a16:creationId xmlns:a16="http://schemas.microsoft.com/office/drawing/2014/main" id="{93D0D900-49D9-49D6-87E9-C3B433958AED}"/>
              </a:ext>
            </a:extLst>
          </p:cNvPr>
          <p:cNvSpPr txBox="1"/>
          <p:nvPr/>
        </p:nvSpPr>
        <p:spPr>
          <a:xfrm>
            <a:off x="2726587" y="5669025"/>
            <a:ext cx="702534" cy="432058"/>
          </a:xfrm>
          <a:prstGeom prst="rect">
            <a:avLst/>
          </a:prstGeom>
          <a:noFill/>
          <a:ln>
            <a:noFill/>
          </a:ln>
        </p:spPr>
        <p:txBody>
          <a:bodyPr spcFirstLastPara="1" wrap="square" lIns="91425" tIns="91425" rIns="91425" bIns="91425" anchor="t" anchorCtr="0">
            <a:noAutofit/>
          </a:bodyPr>
          <a:lstStyle/>
          <a:p>
            <a:pPr algn="ctr">
              <a:buClr>
                <a:srgbClr val="000000"/>
              </a:buClr>
              <a:buFont typeface="Arial"/>
              <a:buNone/>
            </a:pPr>
            <a:r>
              <a:rPr lang="en" sz="2400" b="1" kern="0">
                <a:solidFill>
                  <a:schemeClr val="accent2">
                    <a:lumMod val="75000"/>
                  </a:schemeClr>
                </a:solidFill>
                <a:latin typeface="Fira Sans"/>
                <a:ea typeface="Fira Sans"/>
                <a:cs typeface="Fira Sans"/>
                <a:sym typeface="Fira Sans"/>
              </a:rPr>
              <a:t>133</a:t>
            </a:r>
            <a:endParaRPr sz="2400" b="1" kern="0">
              <a:solidFill>
                <a:schemeClr val="accent2">
                  <a:lumMod val="75000"/>
                </a:schemeClr>
              </a:solidFill>
              <a:latin typeface="Fira Sans"/>
              <a:ea typeface="Fira Sans"/>
              <a:cs typeface="Fira Sans"/>
              <a:sym typeface="Fira Sans"/>
            </a:endParaRPr>
          </a:p>
        </p:txBody>
      </p:sp>
      <p:sp>
        <p:nvSpPr>
          <p:cNvPr id="113" name="Google Shape;1124;p34">
            <a:extLst>
              <a:ext uri="{FF2B5EF4-FFF2-40B4-BE49-F238E27FC236}">
                <a16:creationId xmlns:a16="http://schemas.microsoft.com/office/drawing/2014/main" id="{5E82108D-179A-49BE-BD1D-02EE5AC0E91F}"/>
              </a:ext>
            </a:extLst>
          </p:cNvPr>
          <p:cNvSpPr txBox="1"/>
          <p:nvPr/>
        </p:nvSpPr>
        <p:spPr>
          <a:xfrm>
            <a:off x="2725146" y="5993524"/>
            <a:ext cx="702534" cy="432058"/>
          </a:xfrm>
          <a:prstGeom prst="rect">
            <a:avLst/>
          </a:prstGeom>
          <a:noFill/>
          <a:ln>
            <a:noFill/>
          </a:ln>
        </p:spPr>
        <p:txBody>
          <a:bodyPr spcFirstLastPara="1" wrap="square" lIns="91425" tIns="91425" rIns="91425" bIns="91425" anchor="t" anchorCtr="0">
            <a:noAutofit/>
          </a:bodyPr>
          <a:lstStyle/>
          <a:p>
            <a:pPr algn="ctr">
              <a:buClr>
                <a:srgbClr val="000000"/>
              </a:buClr>
              <a:buFont typeface="Arial"/>
              <a:buNone/>
            </a:pPr>
            <a:r>
              <a:rPr lang="en" sz="2400" b="1" kern="0">
                <a:solidFill>
                  <a:schemeClr val="accent2">
                    <a:lumMod val="60000"/>
                    <a:lumOff val="40000"/>
                  </a:schemeClr>
                </a:solidFill>
                <a:latin typeface="Fira Sans"/>
                <a:ea typeface="Fira Sans"/>
                <a:cs typeface="Fira Sans"/>
                <a:sym typeface="Fira Sans"/>
              </a:rPr>
              <a:t>117</a:t>
            </a:r>
            <a:endParaRPr sz="2400" b="1" kern="0">
              <a:solidFill>
                <a:schemeClr val="accent2">
                  <a:lumMod val="60000"/>
                  <a:lumOff val="40000"/>
                </a:schemeClr>
              </a:solidFill>
              <a:latin typeface="Fira Sans"/>
              <a:ea typeface="Fira Sans"/>
              <a:cs typeface="Fira Sans"/>
              <a:sym typeface="Fira Sans"/>
            </a:endParaRPr>
          </a:p>
        </p:txBody>
      </p:sp>
      <p:sp>
        <p:nvSpPr>
          <p:cNvPr id="114" name="Google Shape;1124;p34">
            <a:extLst>
              <a:ext uri="{FF2B5EF4-FFF2-40B4-BE49-F238E27FC236}">
                <a16:creationId xmlns:a16="http://schemas.microsoft.com/office/drawing/2014/main" id="{30EE15B9-B853-4536-B7B0-9DA413D8C2A1}"/>
              </a:ext>
            </a:extLst>
          </p:cNvPr>
          <p:cNvSpPr txBox="1"/>
          <p:nvPr/>
        </p:nvSpPr>
        <p:spPr>
          <a:xfrm>
            <a:off x="2720529" y="6346429"/>
            <a:ext cx="702534" cy="432058"/>
          </a:xfrm>
          <a:prstGeom prst="rect">
            <a:avLst/>
          </a:prstGeom>
          <a:noFill/>
          <a:ln>
            <a:noFill/>
          </a:ln>
        </p:spPr>
        <p:txBody>
          <a:bodyPr spcFirstLastPara="1" wrap="square" lIns="91425" tIns="91425" rIns="91425" bIns="91425" anchor="t" anchorCtr="0">
            <a:noAutofit/>
          </a:bodyPr>
          <a:lstStyle/>
          <a:p>
            <a:pPr algn="ctr">
              <a:buClr>
                <a:srgbClr val="000000"/>
              </a:buClr>
              <a:buFont typeface="Arial"/>
              <a:buNone/>
            </a:pPr>
            <a:r>
              <a:rPr lang="en" sz="2400" b="1" kern="0">
                <a:solidFill>
                  <a:schemeClr val="accent4">
                    <a:lumMod val="60000"/>
                    <a:lumOff val="40000"/>
                  </a:schemeClr>
                </a:solidFill>
                <a:latin typeface="Fira Sans"/>
                <a:ea typeface="Fira Sans"/>
                <a:cs typeface="Fira Sans"/>
                <a:sym typeface="Fira Sans"/>
              </a:rPr>
              <a:t>83</a:t>
            </a:r>
            <a:endParaRPr sz="2400" b="1" kern="0">
              <a:solidFill>
                <a:schemeClr val="accent4">
                  <a:lumMod val="60000"/>
                  <a:lumOff val="40000"/>
                </a:schemeClr>
              </a:solidFill>
              <a:latin typeface="Fira Sans"/>
              <a:ea typeface="Fira Sans"/>
              <a:cs typeface="Fira Sans"/>
              <a:sym typeface="Fira Sans"/>
            </a:endParaRPr>
          </a:p>
        </p:txBody>
      </p:sp>
      <p:sp>
        <p:nvSpPr>
          <p:cNvPr id="65" name="TextBox 64">
            <a:extLst>
              <a:ext uri="{FF2B5EF4-FFF2-40B4-BE49-F238E27FC236}">
                <a16:creationId xmlns:a16="http://schemas.microsoft.com/office/drawing/2014/main" id="{9870392A-C208-460C-8705-525D3B90FA5C}"/>
              </a:ext>
            </a:extLst>
          </p:cNvPr>
          <p:cNvSpPr txBox="1"/>
          <p:nvPr/>
        </p:nvSpPr>
        <p:spPr>
          <a:xfrm>
            <a:off x="554055" y="5483949"/>
            <a:ext cx="1867682" cy="1200329"/>
          </a:xfrm>
          <a:prstGeom prst="rect">
            <a:avLst/>
          </a:prstGeom>
          <a:noFill/>
          <a:ln>
            <a:solidFill>
              <a:schemeClr val="accent2"/>
            </a:solidFill>
            <a:prstDash val="dash"/>
          </a:ln>
        </p:spPr>
        <p:txBody>
          <a:bodyPr wrap="square" rtlCol="0">
            <a:spAutoFit/>
          </a:bodyPr>
          <a:lstStyle/>
          <a:p>
            <a:r>
              <a:rPr lang="en-IN" sz="1200">
                <a:latin typeface="Arial" panose="020B0604020202020204" pitchFamily="34" charset="0"/>
                <a:cs typeface="Arial" panose="020B0604020202020204" pitchFamily="34" charset="0"/>
              </a:rPr>
              <a:t>The Pharma industry in India shows clear potential of improvement which is brought out both by FMCG sector and in global practises</a:t>
            </a:r>
          </a:p>
        </p:txBody>
      </p:sp>
      <p:sp>
        <p:nvSpPr>
          <p:cNvPr id="66" name="TextBox 65">
            <a:extLst>
              <a:ext uri="{FF2B5EF4-FFF2-40B4-BE49-F238E27FC236}">
                <a16:creationId xmlns:a16="http://schemas.microsoft.com/office/drawing/2014/main" id="{962DF486-9525-422B-873C-410871EA0B69}"/>
              </a:ext>
            </a:extLst>
          </p:cNvPr>
          <p:cNvSpPr txBox="1"/>
          <p:nvPr/>
        </p:nvSpPr>
        <p:spPr>
          <a:xfrm rot="16200000">
            <a:off x="1936280" y="5922078"/>
            <a:ext cx="1467068" cy="307777"/>
          </a:xfrm>
          <a:prstGeom prst="rect">
            <a:avLst/>
          </a:prstGeom>
          <a:noFill/>
        </p:spPr>
        <p:txBody>
          <a:bodyPr wrap="none" rtlCol="0">
            <a:spAutoFit/>
          </a:bodyPr>
          <a:lstStyle/>
          <a:p>
            <a:r>
              <a:rPr lang="en-IN" sz="1400" b="1">
                <a:latin typeface="Arial" panose="020B0604020202020204" pitchFamily="34" charset="0"/>
                <a:cs typeface="Arial" panose="020B0604020202020204" pitchFamily="34" charset="0"/>
              </a:rPr>
              <a:t>Inventory Days</a:t>
            </a:r>
          </a:p>
        </p:txBody>
      </p:sp>
      <p:sp>
        <p:nvSpPr>
          <p:cNvPr id="102" name="Oval 101">
            <a:extLst>
              <a:ext uri="{FF2B5EF4-FFF2-40B4-BE49-F238E27FC236}">
                <a16:creationId xmlns:a16="http://schemas.microsoft.com/office/drawing/2014/main" id="{0E7E9982-FEEC-8849-91B1-3CED66057742}"/>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7</a:t>
            </a:r>
          </a:p>
        </p:txBody>
      </p:sp>
      <p:sp>
        <p:nvSpPr>
          <p:cNvPr id="103" name="Title 1">
            <a:extLst>
              <a:ext uri="{FF2B5EF4-FFF2-40B4-BE49-F238E27FC236}">
                <a16:creationId xmlns:a16="http://schemas.microsoft.com/office/drawing/2014/main" id="{C1DD968A-6BE0-CA4F-B56B-D2E7470E6892}"/>
              </a:ext>
            </a:extLst>
          </p:cNvPr>
          <p:cNvSpPr txBox="1">
            <a:spLocks/>
          </p:cNvSpPr>
          <p:nvPr/>
        </p:nvSpPr>
        <p:spPr>
          <a:xfrm>
            <a:off x="193856" y="401206"/>
            <a:ext cx="10699789"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600" b="1" kern="1200">
                <a:solidFill>
                  <a:schemeClr val="tx1"/>
                </a:solidFill>
                <a:latin typeface="Arial" panose="020B0604020202020204" pitchFamily="34" charset="0"/>
                <a:ea typeface="+mj-ea"/>
                <a:cs typeface="Arial" panose="020B0604020202020204" pitchFamily="34" charset="0"/>
              </a:defRPr>
            </a:lvl1pPr>
          </a:lstStyle>
          <a:p>
            <a:r>
              <a:rPr lang="en-IN"/>
              <a:t>Digitize supply chain to prevent stock outs and increase visibility on demand </a:t>
            </a:r>
          </a:p>
        </p:txBody>
      </p:sp>
      <p:sp>
        <p:nvSpPr>
          <p:cNvPr id="68" name="Rectangle 67">
            <a:extLst>
              <a:ext uri="{FF2B5EF4-FFF2-40B4-BE49-F238E27FC236}">
                <a16:creationId xmlns:a16="http://schemas.microsoft.com/office/drawing/2014/main" id="{0846F47E-61D9-4808-A99E-7A3DCFA02922}"/>
              </a:ext>
            </a:extLst>
          </p:cNvPr>
          <p:cNvSpPr/>
          <p:nvPr/>
        </p:nvSpPr>
        <p:spPr>
          <a:xfrm>
            <a:off x="7046171" y="1687508"/>
            <a:ext cx="1404161" cy="1110370"/>
          </a:xfrm>
          <a:prstGeom prst="rect">
            <a:avLst/>
          </a:prstGeom>
          <a:solidFill>
            <a:schemeClr val="bg1"/>
          </a:solidFill>
          <a:ln>
            <a:solidFill>
              <a:srgbClr val="FF640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400" b="1" dirty="0">
                <a:solidFill>
                  <a:schemeClr val="tx1"/>
                </a:solidFill>
              </a:rPr>
              <a:t>KPIs:</a:t>
            </a:r>
            <a:r>
              <a:rPr lang="en-IN" sz="1400" dirty="0">
                <a:solidFill>
                  <a:schemeClr val="tx1"/>
                </a:solidFill>
              </a:rPr>
              <a:t>  tracking stock outs, operational costs, tracking inventory days   </a:t>
            </a:r>
          </a:p>
        </p:txBody>
      </p:sp>
      <p:sp>
        <p:nvSpPr>
          <p:cNvPr id="105" name="Rectangle: Top Corners Rounded 80">
            <a:extLst>
              <a:ext uri="{FF2B5EF4-FFF2-40B4-BE49-F238E27FC236}">
                <a16:creationId xmlns:a16="http://schemas.microsoft.com/office/drawing/2014/main" id="{2BFA94CC-B73D-479B-9C1E-756877B89F97}"/>
              </a:ext>
            </a:extLst>
          </p:cNvPr>
          <p:cNvSpPr/>
          <p:nvPr/>
        </p:nvSpPr>
        <p:spPr>
          <a:xfrm rot="5400000">
            <a:off x="6970950" y="-1084101"/>
            <a:ext cx="257818" cy="2583568"/>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107" name="Rectangle: Top Corners Rounded 86">
            <a:extLst>
              <a:ext uri="{FF2B5EF4-FFF2-40B4-BE49-F238E27FC236}">
                <a16:creationId xmlns:a16="http://schemas.microsoft.com/office/drawing/2014/main" id="{0E1B8120-FF7B-46C5-A940-CBCEC44EF812}"/>
              </a:ext>
            </a:extLst>
          </p:cNvPr>
          <p:cNvSpPr/>
          <p:nvPr/>
        </p:nvSpPr>
        <p:spPr>
          <a:xfrm rot="5400000">
            <a:off x="4314749" y="-1130079"/>
            <a:ext cx="259304" cy="2690651"/>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115" name="Rectangle: Top Corners Rounded 87">
            <a:extLst>
              <a:ext uri="{FF2B5EF4-FFF2-40B4-BE49-F238E27FC236}">
                <a16:creationId xmlns:a16="http://schemas.microsoft.com/office/drawing/2014/main" id="{F7377B9E-6EBB-4BF6-8150-93C10AE5A082}"/>
              </a:ext>
            </a:extLst>
          </p:cNvPr>
          <p:cNvSpPr/>
          <p:nvPr/>
        </p:nvSpPr>
        <p:spPr>
          <a:xfrm rot="5400000">
            <a:off x="1433933" y="-1301896"/>
            <a:ext cx="258681" cy="3034908"/>
          </a:xfrm>
          <a:prstGeom prst="round2SameRect">
            <a:avLst>
              <a:gd name="adj1" fmla="val 0"/>
              <a:gd name="adj2" fmla="val 0"/>
            </a:avLst>
          </a:prstGeom>
          <a:solidFill>
            <a:srgbClr val="FE650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116" name="Rectangle: Top Corners Rounded 88">
            <a:extLst>
              <a:ext uri="{FF2B5EF4-FFF2-40B4-BE49-F238E27FC236}">
                <a16:creationId xmlns:a16="http://schemas.microsoft.com/office/drawing/2014/main" id="{B38C5649-070B-499D-97ED-7CE0B1DC4F44}"/>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1305736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5387F1-0B8D-4F4E-B1D1-0E7FA5D3E1B1}"/>
              </a:ext>
            </a:extLst>
          </p:cNvPr>
          <p:cNvSpPr/>
          <p:nvPr/>
        </p:nvSpPr>
        <p:spPr>
          <a:xfrm>
            <a:off x="328085" y="1322347"/>
            <a:ext cx="3137009" cy="36106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Product Additions</a:t>
            </a:r>
          </a:p>
        </p:txBody>
      </p:sp>
      <p:sp>
        <p:nvSpPr>
          <p:cNvPr id="6" name="Rectangle 5">
            <a:extLst>
              <a:ext uri="{FF2B5EF4-FFF2-40B4-BE49-F238E27FC236}">
                <a16:creationId xmlns:a16="http://schemas.microsoft.com/office/drawing/2014/main" id="{1B667D1B-708F-E046-8E0E-3A227260BB0B}"/>
              </a:ext>
            </a:extLst>
          </p:cNvPr>
          <p:cNvSpPr/>
          <p:nvPr/>
        </p:nvSpPr>
        <p:spPr>
          <a:xfrm>
            <a:off x="328085" y="3216357"/>
            <a:ext cx="3137009" cy="36106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Product Expansion</a:t>
            </a:r>
          </a:p>
        </p:txBody>
      </p:sp>
      <p:sp>
        <p:nvSpPr>
          <p:cNvPr id="7" name="Rectangle 6">
            <a:extLst>
              <a:ext uri="{FF2B5EF4-FFF2-40B4-BE49-F238E27FC236}">
                <a16:creationId xmlns:a16="http://schemas.microsoft.com/office/drawing/2014/main" id="{9D0F09CB-303B-094F-A538-B1581C1D769D}"/>
              </a:ext>
            </a:extLst>
          </p:cNvPr>
          <p:cNvSpPr/>
          <p:nvPr/>
        </p:nvSpPr>
        <p:spPr>
          <a:xfrm>
            <a:off x="328085" y="5104585"/>
            <a:ext cx="3137009" cy="36106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Business Diversification</a:t>
            </a:r>
          </a:p>
        </p:txBody>
      </p:sp>
      <p:sp>
        <p:nvSpPr>
          <p:cNvPr id="8" name="Rectangle 7">
            <a:extLst>
              <a:ext uri="{FF2B5EF4-FFF2-40B4-BE49-F238E27FC236}">
                <a16:creationId xmlns:a16="http://schemas.microsoft.com/office/drawing/2014/main" id="{D0C6458B-1009-204C-9DEA-2FD09A83D28A}"/>
              </a:ext>
            </a:extLst>
          </p:cNvPr>
          <p:cNvSpPr/>
          <p:nvPr/>
        </p:nvSpPr>
        <p:spPr>
          <a:xfrm>
            <a:off x="3633537" y="1328128"/>
            <a:ext cx="8230377" cy="837555"/>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a:solidFill>
                  <a:schemeClr val="tx1"/>
                </a:solidFill>
                <a:latin typeface="Arial" panose="020B0604020202020204" pitchFamily="34" charset="0"/>
                <a:cs typeface="Arial" panose="020B0604020202020204" pitchFamily="34" charset="0"/>
              </a:rPr>
              <a:t>With reduced hospital and outpatient visits, there is an uptake in home medical devices. Post-</a:t>
            </a:r>
            <a:r>
              <a:rPr lang="en-US" sz="1200" err="1">
                <a:solidFill>
                  <a:schemeClr val="tx1"/>
                </a:solidFill>
                <a:latin typeface="Arial" panose="020B0604020202020204" pitchFamily="34" charset="0"/>
                <a:cs typeface="Arial" panose="020B0604020202020204" pitchFamily="34" charset="0"/>
              </a:rPr>
              <a:t>Covid</a:t>
            </a:r>
            <a:r>
              <a:rPr lang="en-US" sz="1200">
                <a:solidFill>
                  <a:schemeClr val="tx1"/>
                </a:solidFill>
                <a:latin typeface="Arial" panose="020B0604020202020204" pitchFamily="34" charset="0"/>
                <a:cs typeface="Arial" panose="020B0604020202020204" pitchFamily="34" charset="0"/>
              </a:rPr>
              <a:t>, sale of pulse oximeters surged 15 times and that of glucometers increased by almost 90 percent in online pharmacy. With medical devices being the fastest growing segment in healthcare segment, there is potential in becoming a household brand by entering to home medical devices space.</a:t>
            </a:r>
          </a:p>
        </p:txBody>
      </p:sp>
      <p:sp>
        <p:nvSpPr>
          <p:cNvPr id="11" name="Triangle 10">
            <a:extLst>
              <a:ext uri="{FF2B5EF4-FFF2-40B4-BE49-F238E27FC236}">
                <a16:creationId xmlns:a16="http://schemas.microsoft.com/office/drawing/2014/main" id="{B7DBA8AE-BC32-D54F-96B3-CFDF2C6832BF}"/>
              </a:ext>
            </a:extLst>
          </p:cNvPr>
          <p:cNvSpPr/>
          <p:nvPr/>
        </p:nvSpPr>
        <p:spPr>
          <a:xfrm flipV="1">
            <a:off x="3633537" y="2225842"/>
            <a:ext cx="8230377" cy="152374"/>
          </a:xfrm>
          <a:prstGeom prs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C4E863A5-2B0A-0346-AC88-B78D3F8D45B5}"/>
              </a:ext>
            </a:extLst>
          </p:cNvPr>
          <p:cNvSpPr/>
          <p:nvPr/>
        </p:nvSpPr>
        <p:spPr>
          <a:xfrm>
            <a:off x="3633536" y="2460695"/>
            <a:ext cx="8230377" cy="519490"/>
          </a:xfrm>
          <a:prstGeom prst="rect">
            <a:avLst/>
          </a:prstGeom>
          <a:solidFill>
            <a:schemeClr val="accent2">
              <a:lumMod val="60000"/>
              <a:lumOff val="4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Arial" panose="020B0604020202020204" pitchFamily="34" charset="0"/>
                <a:cs typeface="Arial" panose="020B0604020202020204" pitchFamily="34" charset="0"/>
              </a:rPr>
              <a:t>Medical devices can be bundled with medicines and sold in the market by either partnering with firms manufacturing medical devices or manufacturing themselves</a:t>
            </a:r>
          </a:p>
        </p:txBody>
      </p:sp>
      <p:sp>
        <p:nvSpPr>
          <p:cNvPr id="15" name="Rectangle 14">
            <a:extLst>
              <a:ext uri="{FF2B5EF4-FFF2-40B4-BE49-F238E27FC236}">
                <a16:creationId xmlns:a16="http://schemas.microsoft.com/office/drawing/2014/main" id="{9AEC858C-4732-1344-AF2D-7406450F1C25}"/>
              </a:ext>
            </a:extLst>
          </p:cNvPr>
          <p:cNvSpPr/>
          <p:nvPr/>
        </p:nvSpPr>
        <p:spPr>
          <a:xfrm>
            <a:off x="3633536" y="3167082"/>
            <a:ext cx="8230377" cy="837555"/>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a:solidFill>
                  <a:schemeClr val="tx1"/>
                </a:solidFill>
                <a:latin typeface="Arial" panose="020B0604020202020204" pitchFamily="34" charset="0"/>
                <a:cs typeface="Arial" panose="020B0604020202020204" pitchFamily="34" charset="0"/>
              </a:rPr>
              <a:t>Expand portfolio by bringing in healthcare chronic medicines only available abroad to India basis the demand, especially drugs related to respiratory therapeutic area which are expected to be high in demand due to pandemic situation. Expansion of Oncology therapy area based dugs given increase in medical tourism in USA for treatments for Indian patients</a:t>
            </a:r>
          </a:p>
        </p:txBody>
      </p:sp>
      <p:sp>
        <p:nvSpPr>
          <p:cNvPr id="16" name="Triangle 15">
            <a:extLst>
              <a:ext uri="{FF2B5EF4-FFF2-40B4-BE49-F238E27FC236}">
                <a16:creationId xmlns:a16="http://schemas.microsoft.com/office/drawing/2014/main" id="{F62D6AC6-2154-6842-89DD-78E40949852F}"/>
              </a:ext>
            </a:extLst>
          </p:cNvPr>
          <p:cNvSpPr/>
          <p:nvPr/>
        </p:nvSpPr>
        <p:spPr>
          <a:xfrm flipV="1">
            <a:off x="3633537" y="4086386"/>
            <a:ext cx="8230377" cy="152374"/>
          </a:xfrm>
          <a:prstGeom prs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B910D448-BB3F-5B46-83FA-E2BC6ED11CFA}"/>
              </a:ext>
            </a:extLst>
          </p:cNvPr>
          <p:cNvSpPr/>
          <p:nvPr/>
        </p:nvSpPr>
        <p:spPr>
          <a:xfrm>
            <a:off x="3633536" y="4321239"/>
            <a:ext cx="8230377" cy="519490"/>
          </a:xfrm>
          <a:prstGeom prst="rect">
            <a:avLst/>
          </a:prstGeom>
          <a:solidFill>
            <a:schemeClr val="accent2">
              <a:lumMod val="60000"/>
              <a:lumOff val="4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Arial" panose="020B0604020202020204" pitchFamily="34" charset="0"/>
                <a:cs typeface="Arial" panose="020B0604020202020204" pitchFamily="34" charset="0"/>
              </a:rPr>
              <a:t>Expanding Indian portfolio by including oncology and respiratory based drugs given the marketing trend </a:t>
            </a:r>
          </a:p>
        </p:txBody>
      </p:sp>
      <p:sp>
        <p:nvSpPr>
          <p:cNvPr id="18" name="Rectangle 17">
            <a:extLst>
              <a:ext uri="{FF2B5EF4-FFF2-40B4-BE49-F238E27FC236}">
                <a16:creationId xmlns:a16="http://schemas.microsoft.com/office/drawing/2014/main" id="{77D20583-6D3B-6446-A694-85C98E2F48C5}"/>
              </a:ext>
            </a:extLst>
          </p:cNvPr>
          <p:cNvSpPr/>
          <p:nvPr/>
        </p:nvSpPr>
        <p:spPr>
          <a:xfrm>
            <a:off x="3633536" y="5035003"/>
            <a:ext cx="8230377" cy="837555"/>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a:solidFill>
                  <a:schemeClr val="tx1"/>
                </a:solidFill>
                <a:latin typeface="Arial" panose="020B0604020202020204" pitchFamily="34" charset="0"/>
                <a:cs typeface="Arial" panose="020B0604020202020204" pitchFamily="34" charset="0"/>
              </a:rPr>
              <a:t>Given the expansion of drugs in the Indian portfolio in the respiratory and oncology space and drugs being expensive, GSK needs to ensure that Indian consumers are able to buy the drug by mechanisms like Co-pay cards and Drug insurance schemes in place which will reduce the burden from the patients </a:t>
            </a:r>
          </a:p>
        </p:txBody>
      </p:sp>
      <p:sp>
        <p:nvSpPr>
          <p:cNvPr id="19" name="Triangle 18">
            <a:extLst>
              <a:ext uri="{FF2B5EF4-FFF2-40B4-BE49-F238E27FC236}">
                <a16:creationId xmlns:a16="http://schemas.microsoft.com/office/drawing/2014/main" id="{17B819AE-74BE-004C-8E83-E1D3E6DCE45D}"/>
              </a:ext>
            </a:extLst>
          </p:cNvPr>
          <p:cNvSpPr/>
          <p:nvPr/>
        </p:nvSpPr>
        <p:spPr>
          <a:xfrm flipV="1">
            <a:off x="3633537" y="5954307"/>
            <a:ext cx="8230377" cy="152374"/>
          </a:xfrm>
          <a:prstGeom prs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683DE77B-F1A5-0E43-92F8-16916D52130B}"/>
              </a:ext>
            </a:extLst>
          </p:cNvPr>
          <p:cNvSpPr/>
          <p:nvPr/>
        </p:nvSpPr>
        <p:spPr>
          <a:xfrm>
            <a:off x="3633536" y="6189160"/>
            <a:ext cx="8230377" cy="519490"/>
          </a:xfrm>
          <a:prstGeom prst="rect">
            <a:avLst/>
          </a:prstGeom>
          <a:solidFill>
            <a:schemeClr val="accent2">
              <a:lumMod val="60000"/>
              <a:lumOff val="4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Arial" panose="020B0604020202020204" pitchFamily="34" charset="0"/>
                <a:cs typeface="Arial" panose="020B0604020202020204" pitchFamily="34" charset="0"/>
              </a:rPr>
              <a:t>Expanding Indian portfolio by including oncology and respiratory based drugs given the marketing trend </a:t>
            </a:r>
          </a:p>
        </p:txBody>
      </p:sp>
      <p:pic>
        <p:nvPicPr>
          <p:cNvPr id="24" name="Picture 23" descr="A picture containing text, person, hand&#10;&#10;Description automatically generated">
            <a:extLst>
              <a:ext uri="{FF2B5EF4-FFF2-40B4-BE49-F238E27FC236}">
                <a16:creationId xmlns:a16="http://schemas.microsoft.com/office/drawing/2014/main" id="{43399061-B536-2949-AAF1-EDB2232C9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473" y="1789809"/>
            <a:ext cx="1612232" cy="1024439"/>
          </a:xfrm>
          <a:prstGeom prst="rect">
            <a:avLst/>
          </a:prstGeom>
        </p:spPr>
      </p:pic>
      <p:pic>
        <p:nvPicPr>
          <p:cNvPr id="26" name="Picture 25" descr="A picture containing graphical user interface&#10;&#10;Description automatically generated">
            <a:extLst>
              <a:ext uri="{FF2B5EF4-FFF2-40B4-BE49-F238E27FC236}">
                <a16:creationId xmlns:a16="http://schemas.microsoft.com/office/drawing/2014/main" id="{2BEB503D-A042-6D4E-A057-9DC6303D5F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456" y="3669191"/>
            <a:ext cx="2768266" cy="1143288"/>
          </a:xfrm>
          <a:prstGeom prst="rect">
            <a:avLst/>
          </a:prstGeom>
        </p:spPr>
      </p:pic>
      <p:pic>
        <p:nvPicPr>
          <p:cNvPr id="28" name="Picture 27">
            <a:extLst>
              <a:ext uri="{FF2B5EF4-FFF2-40B4-BE49-F238E27FC236}">
                <a16:creationId xmlns:a16="http://schemas.microsoft.com/office/drawing/2014/main" id="{2266CC36-C34E-2342-B8C5-35EC2DA539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236" y="5577855"/>
            <a:ext cx="2735486" cy="1057652"/>
          </a:xfrm>
          <a:prstGeom prst="rect">
            <a:avLst/>
          </a:prstGeom>
        </p:spPr>
      </p:pic>
      <p:sp>
        <p:nvSpPr>
          <p:cNvPr id="21" name="Oval 20">
            <a:extLst>
              <a:ext uri="{FF2B5EF4-FFF2-40B4-BE49-F238E27FC236}">
                <a16:creationId xmlns:a16="http://schemas.microsoft.com/office/drawing/2014/main" id="{B7EA3D21-E943-DA49-9D91-23857121E41C}"/>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8</a:t>
            </a:r>
          </a:p>
        </p:txBody>
      </p:sp>
      <p:sp>
        <p:nvSpPr>
          <p:cNvPr id="22" name="Title 1">
            <a:extLst>
              <a:ext uri="{FF2B5EF4-FFF2-40B4-BE49-F238E27FC236}">
                <a16:creationId xmlns:a16="http://schemas.microsoft.com/office/drawing/2014/main" id="{53E2B4AE-47AC-7A4C-8298-D0DC07A600F9}"/>
              </a:ext>
            </a:extLst>
          </p:cNvPr>
          <p:cNvSpPr>
            <a:spLocks noGrp="1"/>
          </p:cNvSpPr>
          <p:nvPr>
            <p:ph type="title"/>
          </p:nvPr>
        </p:nvSpPr>
        <p:spPr>
          <a:xfrm>
            <a:off x="193856" y="401206"/>
            <a:ext cx="10699789" cy="561975"/>
          </a:xfrm>
        </p:spPr>
        <p:txBody>
          <a:bodyPr>
            <a:normAutofit/>
          </a:bodyPr>
          <a:lstStyle/>
          <a:p>
            <a:r>
              <a:rPr lang="en-IN"/>
              <a:t>Reinventing patient-pharmacy level interaction by expanding product portfolio, business diversification and development of D2C application</a:t>
            </a:r>
          </a:p>
        </p:txBody>
      </p:sp>
      <p:sp>
        <p:nvSpPr>
          <p:cNvPr id="23" name="Rectangle: Top Corners Rounded 80">
            <a:extLst>
              <a:ext uri="{FF2B5EF4-FFF2-40B4-BE49-F238E27FC236}">
                <a16:creationId xmlns:a16="http://schemas.microsoft.com/office/drawing/2014/main" id="{C7714C37-F3E8-4A63-86E7-E81151929427}"/>
              </a:ext>
            </a:extLst>
          </p:cNvPr>
          <p:cNvSpPr/>
          <p:nvPr/>
        </p:nvSpPr>
        <p:spPr>
          <a:xfrm rot="5400000">
            <a:off x="6970950" y="-1084101"/>
            <a:ext cx="257818" cy="2583568"/>
          </a:xfrm>
          <a:prstGeom prst="round2SameRect">
            <a:avLst>
              <a:gd name="adj1" fmla="val 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25" name="Rectangle: Top Corners Rounded 86">
            <a:extLst>
              <a:ext uri="{FF2B5EF4-FFF2-40B4-BE49-F238E27FC236}">
                <a16:creationId xmlns:a16="http://schemas.microsoft.com/office/drawing/2014/main" id="{F6057FEC-D961-45BF-870A-9BAD1DA27290}"/>
              </a:ext>
            </a:extLst>
          </p:cNvPr>
          <p:cNvSpPr/>
          <p:nvPr/>
        </p:nvSpPr>
        <p:spPr>
          <a:xfrm rot="5400000">
            <a:off x="4314749" y="-1130079"/>
            <a:ext cx="259304" cy="2690651"/>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27" name="Rectangle: Top Corners Rounded 87">
            <a:extLst>
              <a:ext uri="{FF2B5EF4-FFF2-40B4-BE49-F238E27FC236}">
                <a16:creationId xmlns:a16="http://schemas.microsoft.com/office/drawing/2014/main" id="{98D9CDA1-8C15-4D21-8D94-CE858CD3D8F4}"/>
              </a:ext>
            </a:extLst>
          </p:cNvPr>
          <p:cNvSpPr/>
          <p:nvPr/>
        </p:nvSpPr>
        <p:spPr>
          <a:xfrm rot="5400000">
            <a:off x="1433933" y="-1301896"/>
            <a:ext cx="258681" cy="3034908"/>
          </a:xfrm>
          <a:prstGeom prst="round2SameRect">
            <a:avLst>
              <a:gd name="adj1" fmla="val 0"/>
              <a:gd name="adj2" fmla="val 0"/>
            </a:avLst>
          </a:prstGeom>
          <a:solidFill>
            <a:srgbClr val="FF660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29" name="Rectangle: Top Corners Rounded 88">
            <a:extLst>
              <a:ext uri="{FF2B5EF4-FFF2-40B4-BE49-F238E27FC236}">
                <a16:creationId xmlns:a16="http://schemas.microsoft.com/office/drawing/2014/main" id="{65B253D2-FB43-4ACC-A914-8CD8DA267B31}"/>
              </a:ext>
            </a:extLst>
          </p:cNvPr>
          <p:cNvSpPr/>
          <p:nvPr/>
        </p:nvSpPr>
        <p:spPr>
          <a:xfrm rot="5400000">
            <a:off x="9511045" y="-1018245"/>
            <a:ext cx="281245" cy="2464501"/>
          </a:xfrm>
          <a:prstGeom prst="round2SameRect">
            <a:avLst>
              <a:gd name="adj1" fmla="val 5000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2552829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A5BF9-8E4C-4BDC-BEA4-467070CBBDBB}"/>
              </a:ext>
            </a:extLst>
          </p:cNvPr>
          <p:cNvSpPr>
            <a:spLocks noGrp="1"/>
          </p:cNvSpPr>
          <p:nvPr>
            <p:ph type="title"/>
          </p:nvPr>
        </p:nvSpPr>
        <p:spPr>
          <a:xfrm>
            <a:off x="720242" y="365125"/>
            <a:ext cx="10633558" cy="561975"/>
          </a:xfrm>
        </p:spPr>
        <p:txBody>
          <a:bodyPr/>
          <a:lstStyle/>
          <a:p>
            <a:r>
              <a:rPr lang="en-IN"/>
              <a:t>Recommendation analysis and financial implications</a:t>
            </a:r>
          </a:p>
        </p:txBody>
      </p:sp>
      <p:sp>
        <p:nvSpPr>
          <p:cNvPr id="7" name="Rectangle 6">
            <a:extLst>
              <a:ext uri="{FF2B5EF4-FFF2-40B4-BE49-F238E27FC236}">
                <a16:creationId xmlns:a16="http://schemas.microsoft.com/office/drawing/2014/main" id="{BA3862E3-ADFB-4782-A8F9-ECEB75410D55}"/>
              </a:ext>
            </a:extLst>
          </p:cNvPr>
          <p:cNvSpPr/>
          <p:nvPr/>
        </p:nvSpPr>
        <p:spPr>
          <a:xfrm>
            <a:off x="725013" y="1344546"/>
            <a:ext cx="6950948" cy="253698"/>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Implementation and Impact</a:t>
            </a:r>
          </a:p>
        </p:txBody>
      </p:sp>
      <p:sp>
        <p:nvSpPr>
          <p:cNvPr id="11" name="Rectangle 10">
            <a:extLst>
              <a:ext uri="{FF2B5EF4-FFF2-40B4-BE49-F238E27FC236}">
                <a16:creationId xmlns:a16="http://schemas.microsoft.com/office/drawing/2014/main" id="{008E4211-2282-4ECD-B64F-088E9F3DC209}"/>
              </a:ext>
            </a:extLst>
          </p:cNvPr>
          <p:cNvSpPr/>
          <p:nvPr/>
        </p:nvSpPr>
        <p:spPr>
          <a:xfrm>
            <a:off x="725322" y="1730511"/>
            <a:ext cx="6949636" cy="4495614"/>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F0944D2B-AFF1-4AE9-8753-F717181CF1B2}"/>
              </a:ext>
            </a:extLst>
          </p:cNvPr>
          <p:cNvGrpSpPr/>
          <p:nvPr/>
        </p:nvGrpSpPr>
        <p:grpSpPr>
          <a:xfrm>
            <a:off x="455514" y="1765569"/>
            <a:ext cx="251317" cy="4403556"/>
            <a:chOff x="796624" y="1828805"/>
            <a:chExt cx="264451" cy="4373869"/>
          </a:xfrm>
        </p:grpSpPr>
        <p:sp>
          <p:nvSpPr>
            <p:cNvPr id="13" name="Rectangle 12">
              <a:extLst>
                <a:ext uri="{FF2B5EF4-FFF2-40B4-BE49-F238E27FC236}">
                  <a16:creationId xmlns:a16="http://schemas.microsoft.com/office/drawing/2014/main" id="{1AB7D6DE-B619-4396-B10F-8F1992AB61F5}"/>
                </a:ext>
              </a:extLst>
            </p:cNvPr>
            <p:cNvSpPr/>
            <p:nvPr/>
          </p:nvSpPr>
          <p:spPr>
            <a:xfrm>
              <a:off x="798730" y="1828805"/>
              <a:ext cx="233022" cy="580247"/>
            </a:xfrm>
            <a:prstGeom prst="rect">
              <a:avLst/>
            </a:prstGeom>
            <a:noFill/>
            <a:ln w="28575" cap="flat" cmpd="sng" algn="ctr">
              <a:noFill/>
              <a:prstDash val="solid"/>
            </a:ln>
            <a:effectLst/>
          </p:spPr>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solidFill>
                    <a:srgbClr val="000000"/>
                  </a:solidFill>
                  <a:effectLst/>
                  <a:uLnTx/>
                  <a:uFillTx/>
                  <a:latin typeface="Calibri" panose="020F0502020204030204"/>
                  <a:ea typeface="+mn-ea"/>
                  <a:cs typeface="+mn-cs"/>
                </a:rPr>
                <a:t>High</a:t>
              </a:r>
              <a:endParaRPr kumimoji="0" lang="en-IN" sz="1199" b="1"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A265BA9-4826-43B1-AC30-C65595B02A62}"/>
                </a:ext>
              </a:extLst>
            </p:cNvPr>
            <p:cNvSpPr/>
            <p:nvPr/>
          </p:nvSpPr>
          <p:spPr>
            <a:xfrm>
              <a:off x="796624" y="5667580"/>
              <a:ext cx="264451" cy="535094"/>
            </a:xfrm>
            <a:prstGeom prst="rect">
              <a:avLst/>
            </a:prstGeom>
            <a:noFill/>
            <a:ln w="28575" cap="flat" cmpd="sng" algn="ctr">
              <a:noFill/>
              <a:prstDash val="solid"/>
            </a:ln>
            <a:effectLst/>
          </p:spPr>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solidFill>
                    <a:srgbClr val="000000"/>
                  </a:solidFill>
                  <a:effectLst/>
                  <a:uLnTx/>
                  <a:uFillTx/>
                  <a:latin typeface="Calibri" panose="020F0502020204030204"/>
                  <a:ea typeface="+mn-ea"/>
                  <a:cs typeface="+mn-cs"/>
                </a:rPr>
                <a:t>Low</a:t>
              </a:r>
              <a:endParaRPr kumimoji="0" lang="en-IN" sz="1199" b="1" i="0" u="none" strike="noStrike" kern="0" cap="none" spc="0" normalizeH="0" baseline="0" noProof="0">
                <a:ln>
                  <a:noFill/>
                </a:ln>
                <a:solidFill>
                  <a:srgbClr val="000000"/>
                </a:solidFill>
                <a:effectLst/>
                <a:uLnTx/>
                <a:uFillTx/>
                <a:latin typeface="Calibri" panose="020F0502020204030204"/>
                <a:ea typeface="+mn-ea"/>
                <a:cs typeface="+mn-cs"/>
              </a:endParaRPr>
            </a:p>
          </p:txBody>
        </p:sp>
      </p:grpSp>
      <p:sp>
        <p:nvSpPr>
          <p:cNvPr id="15" name="Text Box 59">
            <a:extLst>
              <a:ext uri="{FF2B5EF4-FFF2-40B4-BE49-F238E27FC236}">
                <a16:creationId xmlns:a16="http://schemas.microsoft.com/office/drawing/2014/main" id="{6E28CB54-E948-40F6-9BFC-9DA5A6F80289}"/>
              </a:ext>
            </a:extLst>
          </p:cNvPr>
          <p:cNvSpPr txBox="1">
            <a:spLocks noChangeArrowheads="1"/>
          </p:cNvSpPr>
          <p:nvPr/>
        </p:nvSpPr>
        <p:spPr bwMode="auto">
          <a:xfrm>
            <a:off x="3040032" y="6224831"/>
            <a:ext cx="2322873" cy="252000"/>
          </a:xfrm>
          <a:prstGeom prst="rect">
            <a:avLst/>
          </a:prstGeom>
          <a:solidFill>
            <a:schemeClr val="tx2">
              <a:lumMod val="75000"/>
            </a:schemeClr>
          </a:solidFill>
          <a:ln w="9525" algn="ctr">
            <a:noFill/>
            <a:miter lim="800000"/>
            <a:headEnd/>
            <a:tailEnd/>
          </a:ln>
          <a:effectLst/>
        </p:spPr>
        <p:txBody>
          <a:bodyPr wrap="square" anchor="ctr">
            <a:spAutoFit/>
          </a:bodyPr>
          <a:lstStyle/>
          <a:p>
            <a:pPr marL="0" marR="0" lvl="0" indent="0" algn="ctr" defTabSz="913746" rtl="0" eaLnBrk="1" fontAlgn="auto" latinLnBrk="0" hangingPunct="1">
              <a:lnSpc>
                <a:spcPct val="100000"/>
              </a:lnSpc>
              <a:spcBef>
                <a:spcPts val="0"/>
              </a:spcBef>
              <a:spcAft>
                <a:spcPts val="0"/>
              </a:spcAft>
              <a:buClrTx/>
              <a:buSzTx/>
              <a:buFontTx/>
              <a:buNone/>
              <a:tabLst/>
              <a:defRPr/>
            </a:pPr>
            <a:r>
              <a:rPr lang="en-US" sz="1399" b="1" kern="0">
                <a:solidFill>
                  <a:srgbClr val="FFFFFF"/>
                </a:solidFill>
                <a:latin typeface="Calibri" panose="020F0502020204030204"/>
                <a:cs typeface="Segoe UI"/>
                <a:sym typeface="Segoe UI"/>
              </a:rPr>
              <a:t>Ease of implementation</a:t>
            </a:r>
            <a:endParaRPr kumimoji="0" lang="en-US" sz="1399" b="1" i="0" u="none" strike="noStrike" kern="0" cap="none" spc="0" normalizeH="0" baseline="0" noProof="0">
              <a:ln>
                <a:noFill/>
              </a:ln>
              <a:solidFill>
                <a:srgbClr val="FFFFFF"/>
              </a:solidFill>
              <a:effectLst/>
              <a:uLnTx/>
              <a:uFillTx/>
              <a:latin typeface="Calibri" panose="020F0502020204030204"/>
              <a:ea typeface="+mn-ea"/>
              <a:cs typeface="Segoe UI"/>
              <a:sym typeface="Segoe UI"/>
            </a:endParaRPr>
          </a:p>
        </p:txBody>
      </p:sp>
      <p:cxnSp>
        <p:nvCxnSpPr>
          <p:cNvPr id="16" name="Straight Connector 15">
            <a:extLst>
              <a:ext uri="{FF2B5EF4-FFF2-40B4-BE49-F238E27FC236}">
                <a16:creationId xmlns:a16="http://schemas.microsoft.com/office/drawing/2014/main" id="{8247969C-E3DB-4E7C-945F-FF830CDFD229}"/>
              </a:ext>
            </a:extLst>
          </p:cNvPr>
          <p:cNvCxnSpPr>
            <a:cxnSpLocks/>
          </p:cNvCxnSpPr>
          <p:nvPr/>
        </p:nvCxnSpPr>
        <p:spPr>
          <a:xfrm flipV="1">
            <a:off x="726077" y="1738839"/>
            <a:ext cx="9018" cy="4471311"/>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9D023FC-AF9D-45F9-B8B5-F18AF19871EC}"/>
              </a:ext>
            </a:extLst>
          </p:cNvPr>
          <p:cNvCxnSpPr>
            <a:cxnSpLocks/>
          </p:cNvCxnSpPr>
          <p:nvPr/>
        </p:nvCxnSpPr>
        <p:spPr>
          <a:xfrm flipV="1">
            <a:off x="725013" y="6213176"/>
            <a:ext cx="6991816" cy="3"/>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3E6BE6DC-4C80-4F22-8D4F-974DAB0BA020}"/>
              </a:ext>
            </a:extLst>
          </p:cNvPr>
          <p:cNvGrpSpPr/>
          <p:nvPr/>
        </p:nvGrpSpPr>
        <p:grpSpPr>
          <a:xfrm rot="5400000">
            <a:off x="4016315" y="2843904"/>
            <a:ext cx="388664" cy="6991816"/>
            <a:chOff x="669520" y="1306723"/>
            <a:chExt cx="271489" cy="5477230"/>
          </a:xfrm>
        </p:grpSpPr>
        <p:sp>
          <p:nvSpPr>
            <p:cNvPr id="19" name="Rectangle 18">
              <a:extLst>
                <a:ext uri="{FF2B5EF4-FFF2-40B4-BE49-F238E27FC236}">
                  <a16:creationId xmlns:a16="http://schemas.microsoft.com/office/drawing/2014/main" id="{EA9E37CD-909A-4CD1-BB26-71C27AF1B9CC}"/>
                </a:ext>
              </a:extLst>
            </p:cNvPr>
            <p:cNvSpPr/>
            <p:nvPr/>
          </p:nvSpPr>
          <p:spPr>
            <a:xfrm>
              <a:off x="686045" y="1306723"/>
              <a:ext cx="254964" cy="521630"/>
            </a:xfrm>
            <a:prstGeom prst="rect">
              <a:avLst/>
            </a:prstGeom>
            <a:noFill/>
            <a:ln w="28575" cap="flat" cmpd="sng" algn="ctr">
              <a:noFill/>
              <a:prstDash val="solid"/>
            </a:ln>
            <a:effectLst/>
          </p:spPr>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solidFill>
                    <a:srgbClr val="000000"/>
                  </a:solidFill>
                  <a:effectLst/>
                  <a:uLnTx/>
                  <a:uFillTx/>
                  <a:latin typeface="Calibri" panose="020F0502020204030204"/>
                  <a:ea typeface="+mn-ea"/>
                  <a:cs typeface="+mn-cs"/>
                </a:rPr>
                <a:t>High</a:t>
              </a:r>
              <a:endParaRPr kumimoji="0" lang="en-IN" sz="1199" b="1" i="0" u="none" strike="noStrike" kern="0" cap="none" spc="0" normalizeH="0" baseline="0" noProof="0">
                <a:ln>
                  <a:noFill/>
                </a:ln>
                <a:solidFill>
                  <a:srgbClr val="000000"/>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2939F4BA-DDA0-4913-BB4E-12573795CE92}"/>
                </a:ext>
              </a:extLst>
            </p:cNvPr>
            <p:cNvSpPr/>
            <p:nvPr/>
          </p:nvSpPr>
          <p:spPr>
            <a:xfrm>
              <a:off x="669520" y="6248859"/>
              <a:ext cx="264451" cy="535094"/>
            </a:xfrm>
            <a:prstGeom prst="rect">
              <a:avLst/>
            </a:prstGeom>
            <a:noFill/>
            <a:ln w="28575" cap="flat" cmpd="sng" algn="ctr">
              <a:noFill/>
              <a:prstDash val="solid"/>
            </a:ln>
            <a:effectLst/>
          </p:spPr>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a:ln>
                    <a:noFill/>
                  </a:ln>
                  <a:solidFill>
                    <a:srgbClr val="000000"/>
                  </a:solidFill>
                  <a:effectLst/>
                  <a:uLnTx/>
                  <a:uFillTx/>
                  <a:latin typeface="Calibri" panose="020F0502020204030204"/>
                  <a:ea typeface="+mn-ea"/>
                  <a:cs typeface="+mn-cs"/>
                </a:rPr>
                <a:t>Low</a:t>
              </a:r>
              <a:endParaRPr kumimoji="0" lang="en-IN" sz="1199" b="1" i="0" u="none" strike="noStrike" kern="0" cap="none" spc="0" normalizeH="0" baseline="0" noProof="0">
                <a:ln>
                  <a:noFill/>
                </a:ln>
                <a:solidFill>
                  <a:srgbClr val="000000"/>
                </a:solidFill>
                <a:effectLst/>
                <a:uLnTx/>
                <a:uFillTx/>
                <a:latin typeface="Calibri" panose="020F0502020204030204"/>
                <a:ea typeface="+mn-ea"/>
                <a:cs typeface="+mn-cs"/>
              </a:endParaRPr>
            </a:p>
          </p:txBody>
        </p:sp>
      </p:grpSp>
      <p:sp>
        <p:nvSpPr>
          <p:cNvPr id="21" name="Text Box 59">
            <a:extLst>
              <a:ext uri="{FF2B5EF4-FFF2-40B4-BE49-F238E27FC236}">
                <a16:creationId xmlns:a16="http://schemas.microsoft.com/office/drawing/2014/main" id="{110D904F-B130-44F4-9ECD-E0672F0BDFDD}"/>
              </a:ext>
            </a:extLst>
          </p:cNvPr>
          <p:cNvSpPr txBox="1">
            <a:spLocks noChangeArrowheads="1"/>
          </p:cNvSpPr>
          <p:nvPr/>
        </p:nvSpPr>
        <p:spPr bwMode="auto">
          <a:xfrm rot="16200000">
            <a:off x="-398092" y="3809091"/>
            <a:ext cx="2011276" cy="252000"/>
          </a:xfrm>
          <a:prstGeom prst="rect">
            <a:avLst/>
          </a:prstGeom>
          <a:solidFill>
            <a:schemeClr val="tx2">
              <a:lumMod val="75000"/>
            </a:schemeClr>
          </a:solidFill>
          <a:ln w="9525" algn="ctr">
            <a:noFill/>
            <a:miter lim="800000"/>
            <a:headEnd/>
            <a:tailEnd/>
          </a:ln>
          <a:effectLst/>
        </p:spPr>
        <p:txBody>
          <a:bodyPr wrap="square" anchor="ctr">
            <a:spAutoFit/>
          </a:bodyPr>
          <a:lstStyle/>
          <a:p>
            <a:pPr marL="0" marR="0" lvl="0" indent="0" algn="ctr" defTabSz="913746" rtl="0" eaLnBrk="1" fontAlgn="auto" latinLnBrk="0" hangingPunct="1">
              <a:lnSpc>
                <a:spcPct val="100000"/>
              </a:lnSpc>
              <a:spcBef>
                <a:spcPts val="0"/>
              </a:spcBef>
              <a:spcAft>
                <a:spcPts val="0"/>
              </a:spcAft>
              <a:buClrTx/>
              <a:buSzTx/>
              <a:buFontTx/>
              <a:buNone/>
              <a:tabLst/>
              <a:defRPr/>
            </a:pPr>
            <a:r>
              <a:rPr kumimoji="0" lang="en-US" sz="1399" b="1" i="0" u="none" strike="noStrike" kern="0" cap="none" spc="0" normalizeH="0" baseline="0" noProof="0">
                <a:ln>
                  <a:noFill/>
                </a:ln>
                <a:solidFill>
                  <a:prstClr val="white"/>
                </a:solidFill>
                <a:effectLst/>
                <a:uLnTx/>
                <a:uFillTx/>
                <a:latin typeface="Calibri" panose="020F0502020204030204"/>
                <a:ea typeface="+mn-ea"/>
                <a:cs typeface="Segoe UI"/>
                <a:sym typeface="Segoe UI"/>
              </a:rPr>
              <a:t>Impact of </a:t>
            </a:r>
            <a:r>
              <a:rPr lang="en-US" sz="1399" b="1" kern="0">
                <a:solidFill>
                  <a:prstClr val="white"/>
                </a:solidFill>
                <a:latin typeface="Calibri" panose="020F0502020204030204"/>
                <a:cs typeface="Segoe UI"/>
                <a:sym typeface="Segoe UI"/>
              </a:rPr>
              <a:t>initiative</a:t>
            </a:r>
            <a:endParaRPr kumimoji="0" lang="en-US" sz="1399" b="1" i="0" u="none" strike="noStrike" kern="0" cap="none" spc="0" normalizeH="0" baseline="0" noProof="0">
              <a:ln>
                <a:noFill/>
              </a:ln>
              <a:solidFill>
                <a:prstClr val="white"/>
              </a:solidFill>
              <a:effectLst/>
              <a:uLnTx/>
              <a:uFillTx/>
              <a:latin typeface="Calibri" panose="020F0502020204030204"/>
              <a:ea typeface="+mn-ea"/>
              <a:cs typeface="Segoe UI"/>
              <a:sym typeface="Segoe UI"/>
            </a:endParaRPr>
          </a:p>
        </p:txBody>
      </p:sp>
      <p:grpSp>
        <p:nvGrpSpPr>
          <p:cNvPr id="22" name="Group 21">
            <a:extLst>
              <a:ext uri="{FF2B5EF4-FFF2-40B4-BE49-F238E27FC236}">
                <a16:creationId xmlns:a16="http://schemas.microsoft.com/office/drawing/2014/main" id="{EEAD9078-5CF3-4688-81AE-887D91AF1C54}"/>
              </a:ext>
            </a:extLst>
          </p:cNvPr>
          <p:cNvGrpSpPr/>
          <p:nvPr/>
        </p:nvGrpSpPr>
        <p:grpSpPr>
          <a:xfrm>
            <a:off x="1675627" y="1739911"/>
            <a:ext cx="6041510" cy="3567384"/>
            <a:chOff x="2047460" y="1955722"/>
            <a:chExt cx="6621535" cy="2801333"/>
          </a:xfrm>
          <a:solidFill>
            <a:schemeClr val="accent2">
              <a:lumMod val="40000"/>
              <a:lumOff val="60000"/>
            </a:schemeClr>
          </a:solidFill>
        </p:grpSpPr>
        <p:sp>
          <p:nvSpPr>
            <p:cNvPr id="23" name="Freeform: Shape 22">
              <a:extLst>
                <a:ext uri="{FF2B5EF4-FFF2-40B4-BE49-F238E27FC236}">
                  <a16:creationId xmlns:a16="http://schemas.microsoft.com/office/drawing/2014/main" id="{FC42049F-7034-451F-981B-5DD71DAC5A15}"/>
                </a:ext>
              </a:extLst>
            </p:cNvPr>
            <p:cNvSpPr/>
            <p:nvPr/>
          </p:nvSpPr>
          <p:spPr>
            <a:xfrm>
              <a:off x="2047460" y="1955722"/>
              <a:ext cx="6621535" cy="2797912"/>
            </a:xfrm>
            <a:custGeom>
              <a:avLst/>
              <a:gdLst>
                <a:gd name="connsiteX0" fmla="*/ 0 w 6609522"/>
                <a:gd name="connsiteY0" fmla="*/ 0 h 2738562"/>
                <a:gd name="connsiteX1" fmla="*/ 268357 w 6609522"/>
                <a:gd name="connsiteY1" fmla="*/ 993913 h 2738562"/>
                <a:gd name="connsiteX2" fmla="*/ 765314 w 6609522"/>
                <a:gd name="connsiteY2" fmla="*/ 1620078 h 2738562"/>
                <a:gd name="connsiteX3" fmla="*/ 1520687 w 6609522"/>
                <a:gd name="connsiteY3" fmla="*/ 2017644 h 2738562"/>
                <a:gd name="connsiteX4" fmla="*/ 2395331 w 6609522"/>
                <a:gd name="connsiteY4" fmla="*/ 2256183 h 2738562"/>
                <a:gd name="connsiteX5" fmla="*/ 3697357 w 6609522"/>
                <a:gd name="connsiteY5" fmla="*/ 2494722 h 2738562"/>
                <a:gd name="connsiteX6" fmla="*/ 5416827 w 6609522"/>
                <a:gd name="connsiteY6" fmla="*/ 2693504 h 2738562"/>
                <a:gd name="connsiteX7" fmla="*/ 6609522 w 6609522"/>
                <a:gd name="connsiteY7" fmla="*/ 2713383 h 273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09522" h="2738562">
                  <a:moveTo>
                    <a:pt x="0" y="0"/>
                  </a:moveTo>
                  <a:cubicBezTo>
                    <a:pt x="70402" y="361950"/>
                    <a:pt x="140805" y="723900"/>
                    <a:pt x="268357" y="993913"/>
                  </a:cubicBezTo>
                  <a:cubicBezTo>
                    <a:pt x="395909" y="1263926"/>
                    <a:pt x="556592" y="1449456"/>
                    <a:pt x="765314" y="1620078"/>
                  </a:cubicBezTo>
                  <a:cubicBezTo>
                    <a:pt x="974036" y="1790700"/>
                    <a:pt x="1249018" y="1911627"/>
                    <a:pt x="1520687" y="2017644"/>
                  </a:cubicBezTo>
                  <a:cubicBezTo>
                    <a:pt x="1792357" y="2123662"/>
                    <a:pt x="2032553" y="2176670"/>
                    <a:pt x="2395331" y="2256183"/>
                  </a:cubicBezTo>
                  <a:cubicBezTo>
                    <a:pt x="2758109" y="2335696"/>
                    <a:pt x="3193774" y="2421835"/>
                    <a:pt x="3697357" y="2494722"/>
                  </a:cubicBezTo>
                  <a:cubicBezTo>
                    <a:pt x="4200940" y="2567609"/>
                    <a:pt x="4931466" y="2657061"/>
                    <a:pt x="5416827" y="2693504"/>
                  </a:cubicBezTo>
                  <a:cubicBezTo>
                    <a:pt x="5902188" y="2729947"/>
                    <a:pt x="6271592" y="2763079"/>
                    <a:pt x="6609522" y="2713383"/>
                  </a:cubicBez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ight Triangle 23">
              <a:extLst>
                <a:ext uri="{FF2B5EF4-FFF2-40B4-BE49-F238E27FC236}">
                  <a16:creationId xmlns:a16="http://schemas.microsoft.com/office/drawing/2014/main" id="{CF37E888-907F-4FCD-B8C6-5C33251FC0E1}"/>
                </a:ext>
              </a:extLst>
            </p:cNvPr>
            <p:cNvSpPr/>
            <p:nvPr/>
          </p:nvSpPr>
          <p:spPr>
            <a:xfrm rot="10800000">
              <a:off x="2054148" y="1959143"/>
              <a:ext cx="6582155" cy="279791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5" name="Group 24">
            <a:extLst>
              <a:ext uri="{FF2B5EF4-FFF2-40B4-BE49-F238E27FC236}">
                <a16:creationId xmlns:a16="http://schemas.microsoft.com/office/drawing/2014/main" id="{768DE45B-66B9-4490-9294-DF7FFF7E682B}"/>
              </a:ext>
            </a:extLst>
          </p:cNvPr>
          <p:cNvGrpSpPr/>
          <p:nvPr/>
        </p:nvGrpSpPr>
        <p:grpSpPr>
          <a:xfrm>
            <a:off x="3468461" y="1738473"/>
            <a:ext cx="4238094" cy="1982318"/>
            <a:chOff x="5304748" y="1946005"/>
            <a:chExt cx="3351851" cy="1479250"/>
          </a:xfrm>
          <a:solidFill>
            <a:srgbClr val="FF9966"/>
          </a:solidFill>
        </p:grpSpPr>
        <p:grpSp>
          <p:nvGrpSpPr>
            <p:cNvPr id="26" name="Group 25">
              <a:extLst>
                <a:ext uri="{FF2B5EF4-FFF2-40B4-BE49-F238E27FC236}">
                  <a16:creationId xmlns:a16="http://schemas.microsoft.com/office/drawing/2014/main" id="{71B0BDAA-CA0B-4874-AE9D-639087E10002}"/>
                </a:ext>
              </a:extLst>
            </p:cNvPr>
            <p:cNvGrpSpPr/>
            <p:nvPr/>
          </p:nvGrpSpPr>
          <p:grpSpPr>
            <a:xfrm>
              <a:off x="5316499" y="1946005"/>
              <a:ext cx="3340100" cy="1473200"/>
              <a:chOff x="5308600" y="1955800"/>
              <a:chExt cx="3340100" cy="1473200"/>
            </a:xfrm>
            <a:grpFill/>
          </p:grpSpPr>
          <p:sp>
            <p:nvSpPr>
              <p:cNvPr id="28" name="Freeform: Shape 27">
                <a:extLst>
                  <a:ext uri="{FF2B5EF4-FFF2-40B4-BE49-F238E27FC236}">
                    <a16:creationId xmlns:a16="http://schemas.microsoft.com/office/drawing/2014/main" id="{6B8A2E75-8534-4924-8011-AF01BC0CAF50}"/>
                  </a:ext>
                </a:extLst>
              </p:cNvPr>
              <p:cNvSpPr/>
              <p:nvPr/>
            </p:nvSpPr>
            <p:spPr>
              <a:xfrm>
                <a:off x="5308600" y="1955800"/>
                <a:ext cx="3340100" cy="1473200"/>
              </a:xfrm>
              <a:custGeom>
                <a:avLst/>
                <a:gdLst>
                  <a:gd name="connsiteX0" fmla="*/ 0 w 3340100"/>
                  <a:gd name="connsiteY0" fmla="*/ 0 h 1473200"/>
                  <a:gd name="connsiteX1" fmla="*/ 1092200 w 3340100"/>
                  <a:gd name="connsiteY1" fmla="*/ 1206500 h 1473200"/>
                  <a:gd name="connsiteX2" fmla="*/ 3340100 w 3340100"/>
                  <a:gd name="connsiteY2" fmla="*/ 1473200 h 1473200"/>
                </a:gdLst>
                <a:ahLst/>
                <a:cxnLst>
                  <a:cxn ang="0">
                    <a:pos x="connsiteX0" y="connsiteY0"/>
                  </a:cxn>
                  <a:cxn ang="0">
                    <a:pos x="connsiteX1" y="connsiteY1"/>
                  </a:cxn>
                  <a:cxn ang="0">
                    <a:pos x="connsiteX2" y="connsiteY2"/>
                  </a:cxn>
                </a:cxnLst>
                <a:rect l="l" t="t" r="r" b="b"/>
                <a:pathLst>
                  <a:path w="3340100" h="1473200">
                    <a:moveTo>
                      <a:pt x="0" y="0"/>
                    </a:moveTo>
                    <a:cubicBezTo>
                      <a:pt x="267758" y="480483"/>
                      <a:pt x="535517" y="960967"/>
                      <a:pt x="1092200" y="1206500"/>
                    </a:cubicBezTo>
                    <a:cubicBezTo>
                      <a:pt x="1648883" y="1452033"/>
                      <a:pt x="3003550" y="1382183"/>
                      <a:pt x="3340100" y="1473200"/>
                    </a:cubicBez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62D2D818-98D1-403F-BF18-F1380F7098FC}"/>
                  </a:ext>
                </a:extLst>
              </p:cNvPr>
              <p:cNvCxnSpPr>
                <a:cxnSpLocks/>
                <a:stCxn id="28" idx="0"/>
              </p:cNvCxnSpPr>
              <p:nvPr/>
            </p:nvCxnSpPr>
            <p:spPr>
              <a:xfrm>
                <a:off x="5308600" y="1955800"/>
                <a:ext cx="3324367" cy="0"/>
              </a:xfrm>
              <a:prstGeom prst="line">
                <a:avLst/>
              </a:prstGeom>
              <a:grpFill/>
              <a:ln>
                <a:no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C708CE5-9E70-4EDA-888B-58144D4F3619}"/>
                  </a:ext>
                </a:extLst>
              </p:cNvPr>
              <p:cNvCxnSpPr>
                <a:cxnSpLocks/>
                <a:endCxn id="28" idx="2"/>
              </p:cNvCxnSpPr>
              <p:nvPr/>
            </p:nvCxnSpPr>
            <p:spPr>
              <a:xfrm>
                <a:off x="8632967" y="1955800"/>
                <a:ext cx="15733" cy="1473200"/>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sp>
          <p:nvSpPr>
            <p:cNvPr id="27" name="Right Triangle 26">
              <a:extLst>
                <a:ext uri="{FF2B5EF4-FFF2-40B4-BE49-F238E27FC236}">
                  <a16:creationId xmlns:a16="http://schemas.microsoft.com/office/drawing/2014/main" id="{236EA09C-BAC5-4D8C-A10B-FFBB68211588}"/>
                </a:ext>
              </a:extLst>
            </p:cNvPr>
            <p:cNvSpPr/>
            <p:nvPr/>
          </p:nvSpPr>
          <p:spPr>
            <a:xfrm rot="10800000">
              <a:off x="5304748" y="1959222"/>
              <a:ext cx="3332201" cy="1466033"/>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2" name="Google Shape;8077;p61">
            <a:extLst>
              <a:ext uri="{FF2B5EF4-FFF2-40B4-BE49-F238E27FC236}">
                <a16:creationId xmlns:a16="http://schemas.microsoft.com/office/drawing/2014/main" id="{FEE065EA-FB17-4D63-81D2-811603E7C263}"/>
              </a:ext>
            </a:extLst>
          </p:cNvPr>
          <p:cNvGrpSpPr/>
          <p:nvPr/>
        </p:nvGrpSpPr>
        <p:grpSpPr>
          <a:xfrm>
            <a:off x="3494487" y="2025355"/>
            <a:ext cx="398423" cy="357385"/>
            <a:chOff x="-1182750" y="3962900"/>
            <a:chExt cx="294575" cy="291450"/>
          </a:xfrm>
          <a:solidFill>
            <a:schemeClr val="tx1"/>
          </a:solidFill>
        </p:grpSpPr>
        <p:sp>
          <p:nvSpPr>
            <p:cNvPr id="33" name="Google Shape;8078;p61">
              <a:extLst>
                <a:ext uri="{FF2B5EF4-FFF2-40B4-BE49-F238E27FC236}">
                  <a16:creationId xmlns:a16="http://schemas.microsoft.com/office/drawing/2014/main" id="{14498328-CED0-41E9-A017-4DAF0741E3A1}"/>
                </a:ext>
              </a:extLst>
            </p:cNvPr>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8079;p61">
              <a:extLst>
                <a:ext uri="{FF2B5EF4-FFF2-40B4-BE49-F238E27FC236}">
                  <a16:creationId xmlns:a16="http://schemas.microsoft.com/office/drawing/2014/main" id="{6B131D79-A050-4978-A4A6-D868F4F8C47C}"/>
                </a:ext>
              </a:extLst>
            </p:cNvPr>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8080;p61">
              <a:extLst>
                <a:ext uri="{FF2B5EF4-FFF2-40B4-BE49-F238E27FC236}">
                  <a16:creationId xmlns:a16="http://schemas.microsoft.com/office/drawing/2014/main" id="{3EEED5BA-E54E-43D0-A984-0AF0FA45E469}"/>
                </a:ext>
              </a:extLst>
            </p:cNvPr>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8081;p61">
              <a:extLst>
                <a:ext uri="{FF2B5EF4-FFF2-40B4-BE49-F238E27FC236}">
                  <a16:creationId xmlns:a16="http://schemas.microsoft.com/office/drawing/2014/main" id="{D40AE66F-D472-42ED-BBD8-B202CC869FC4}"/>
                </a:ext>
              </a:extLst>
            </p:cNvPr>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082;p61">
              <a:extLst>
                <a:ext uri="{FF2B5EF4-FFF2-40B4-BE49-F238E27FC236}">
                  <a16:creationId xmlns:a16="http://schemas.microsoft.com/office/drawing/2014/main" id="{4F7C7F21-418D-4A2E-B174-98AE73B38AA3}"/>
                </a:ext>
              </a:extLst>
            </p:cNvPr>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083;p61">
              <a:extLst>
                <a:ext uri="{FF2B5EF4-FFF2-40B4-BE49-F238E27FC236}">
                  <a16:creationId xmlns:a16="http://schemas.microsoft.com/office/drawing/2014/main" id="{63718B3B-431B-4868-87E1-5A8A200BB477}"/>
                </a:ext>
              </a:extLst>
            </p:cNvPr>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084;p61">
              <a:extLst>
                <a:ext uri="{FF2B5EF4-FFF2-40B4-BE49-F238E27FC236}">
                  <a16:creationId xmlns:a16="http://schemas.microsoft.com/office/drawing/2014/main" id="{B2A609DA-9C56-4904-B80D-60F83CB079B7}"/>
                </a:ext>
              </a:extLst>
            </p:cNvPr>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6649;p58">
            <a:extLst>
              <a:ext uri="{FF2B5EF4-FFF2-40B4-BE49-F238E27FC236}">
                <a16:creationId xmlns:a16="http://schemas.microsoft.com/office/drawing/2014/main" id="{582BAAAA-D22A-4FC8-92F6-00F58C74EA2A}"/>
              </a:ext>
            </a:extLst>
          </p:cNvPr>
          <p:cNvGrpSpPr/>
          <p:nvPr/>
        </p:nvGrpSpPr>
        <p:grpSpPr>
          <a:xfrm>
            <a:off x="4087321" y="3456366"/>
            <a:ext cx="404795" cy="380338"/>
            <a:chOff x="-32569575" y="3586425"/>
            <a:chExt cx="292225" cy="291450"/>
          </a:xfrm>
          <a:solidFill>
            <a:schemeClr val="tx1"/>
          </a:solidFill>
        </p:grpSpPr>
        <p:sp>
          <p:nvSpPr>
            <p:cNvPr id="47" name="Google Shape;6650;p58">
              <a:extLst>
                <a:ext uri="{FF2B5EF4-FFF2-40B4-BE49-F238E27FC236}">
                  <a16:creationId xmlns:a16="http://schemas.microsoft.com/office/drawing/2014/main" id="{64E17892-4161-45F0-BC2B-CE14B1902D9D}"/>
                </a:ext>
              </a:extLst>
            </p:cNvPr>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6651;p58">
              <a:extLst>
                <a:ext uri="{FF2B5EF4-FFF2-40B4-BE49-F238E27FC236}">
                  <a16:creationId xmlns:a16="http://schemas.microsoft.com/office/drawing/2014/main" id="{FDFF75D7-D601-4A47-94A5-E1B6CC73D8E6}"/>
                </a:ext>
              </a:extLst>
            </p:cNvPr>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8085;p61">
            <a:extLst>
              <a:ext uri="{FF2B5EF4-FFF2-40B4-BE49-F238E27FC236}">
                <a16:creationId xmlns:a16="http://schemas.microsoft.com/office/drawing/2014/main" id="{2038B79D-A478-4BE1-9435-0E5C24AD38B9}"/>
              </a:ext>
            </a:extLst>
          </p:cNvPr>
          <p:cNvGrpSpPr/>
          <p:nvPr/>
        </p:nvGrpSpPr>
        <p:grpSpPr>
          <a:xfrm>
            <a:off x="6332604" y="3373029"/>
            <a:ext cx="470404" cy="445212"/>
            <a:chOff x="-5611575" y="3272950"/>
            <a:chExt cx="294600" cy="291450"/>
          </a:xfrm>
          <a:solidFill>
            <a:schemeClr val="tx1"/>
          </a:solidFill>
        </p:grpSpPr>
        <p:sp>
          <p:nvSpPr>
            <p:cNvPr id="50" name="Google Shape;8086;p61">
              <a:extLst>
                <a:ext uri="{FF2B5EF4-FFF2-40B4-BE49-F238E27FC236}">
                  <a16:creationId xmlns:a16="http://schemas.microsoft.com/office/drawing/2014/main" id="{1D0B336F-EE57-4874-A18B-13FAD8178186}"/>
                </a:ext>
              </a:extLst>
            </p:cNvPr>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087;p61">
              <a:extLst>
                <a:ext uri="{FF2B5EF4-FFF2-40B4-BE49-F238E27FC236}">
                  <a16:creationId xmlns:a16="http://schemas.microsoft.com/office/drawing/2014/main" id="{02BD41DA-82B9-4BFA-8E96-2828D03C90B4}"/>
                </a:ext>
              </a:extLst>
            </p:cNvPr>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088;p61">
              <a:extLst>
                <a:ext uri="{FF2B5EF4-FFF2-40B4-BE49-F238E27FC236}">
                  <a16:creationId xmlns:a16="http://schemas.microsoft.com/office/drawing/2014/main" id="{7BDB5981-9725-443A-BF9A-682F489A2CC5}"/>
                </a:ext>
              </a:extLst>
            </p:cNvPr>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8089;p61">
              <a:extLst>
                <a:ext uri="{FF2B5EF4-FFF2-40B4-BE49-F238E27FC236}">
                  <a16:creationId xmlns:a16="http://schemas.microsoft.com/office/drawing/2014/main" id="{E675611D-5C4E-420F-BBAB-787EE2F00283}"/>
                </a:ext>
              </a:extLst>
            </p:cNvPr>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8090;p61">
              <a:extLst>
                <a:ext uri="{FF2B5EF4-FFF2-40B4-BE49-F238E27FC236}">
                  <a16:creationId xmlns:a16="http://schemas.microsoft.com/office/drawing/2014/main" id="{0FE2C1A7-B607-4B8D-94C4-8F58A6B6E044}"/>
                </a:ext>
              </a:extLst>
            </p:cNvPr>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8142;p61">
            <a:extLst>
              <a:ext uri="{FF2B5EF4-FFF2-40B4-BE49-F238E27FC236}">
                <a16:creationId xmlns:a16="http://schemas.microsoft.com/office/drawing/2014/main" id="{989F703C-32AE-417A-B834-8D6BF75381BB}"/>
              </a:ext>
            </a:extLst>
          </p:cNvPr>
          <p:cNvGrpSpPr/>
          <p:nvPr/>
        </p:nvGrpSpPr>
        <p:grpSpPr>
          <a:xfrm>
            <a:off x="6519458" y="1954108"/>
            <a:ext cx="427578" cy="421351"/>
            <a:chOff x="-5254775" y="3631325"/>
            <a:chExt cx="296950" cy="292625"/>
          </a:xfrm>
          <a:solidFill>
            <a:schemeClr val="tx1"/>
          </a:solidFill>
        </p:grpSpPr>
        <p:sp>
          <p:nvSpPr>
            <p:cNvPr id="56" name="Google Shape;8143;p61">
              <a:extLst>
                <a:ext uri="{FF2B5EF4-FFF2-40B4-BE49-F238E27FC236}">
                  <a16:creationId xmlns:a16="http://schemas.microsoft.com/office/drawing/2014/main" id="{48BBDB48-DC0F-45E9-9277-B8842F03A689}"/>
                </a:ext>
              </a:extLst>
            </p:cNvPr>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144;p61">
              <a:extLst>
                <a:ext uri="{FF2B5EF4-FFF2-40B4-BE49-F238E27FC236}">
                  <a16:creationId xmlns:a16="http://schemas.microsoft.com/office/drawing/2014/main" id="{B822227C-691C-4C69-B67F-80A0D40F75A0}"/>
                </a:ext>
              </a:extLst>
            </p:cNvPr>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8145;p61">
              <a:extLst>
                <a:ext uri="{FF2B5EF4-FFF2-40B4-BE49-F238E27FC236}">
                  <a16:creationId xmlns:a16="http://schemas.microsoft.com/office/drawing/2014/main" id="{921FC4FD-D7E5-4D5D-8DF7-14F861338FF6}"/>
                </a:ext>
              </a:extLst>
            </p:cNvPr>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146;p61">
              <a:extLst>
                <a:ext uri="{FF2B5EF4-FFF2-40B4-BE49-F238E27FC236}">
                  <a16:creationId xmlns:a16="http://schemas.microsoft.com/office/drawing/2014/main" id="{08A99E15-8351-4FBD-B461-EF2CBCC3F2BC}"/>
                </a:ext>
              </a:extLst>
            </p:cNvPr>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147;p61">
              <a:extLst>
                <a:ext uri="{FF2B5EF4-FFF2-40B4-BE49-F238E27FC236}">
                  <a16:creationId xmlns:a16="http://schemas.microsoft.com/office/drawing/2014/main" id="{0EB894B1-FE66-4862-B51D-98676CE2BF0A}"/>
                </a:ext>
              </a:extLst>
            </p:cNvPr>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8148;p61">
              <a:extLst>
                <a:ext uri="{FF2B5EF4-FFF2-40B4-BE49-F238E27FC236}">
                  <a16:creationId xmlns:a16="http://schemas.microsoft.com/office/drawing/2014/main" id="{CB5960F8-8342-4FDA-AEC2-624AE606DE73}"/>
                </a:ext>
              </a:extLst>
            </p:cNvPr>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149;p61">
              <a:extLst>
                <a:ext uri="{FF2B5EF4-FFF2-40B4-BE49-F238E27FC236}">
                  <a16:creationId xmlns:a16="http://schemas.microsoft.com/office/drawing/2014/main" id="{2497D74D-CDFC-4B24-BFCD-BB42F0E1C11A}"/>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8112;p61">
            <a:extLst>
              <a:ext uri="{FF2B5EF4-FFF2-40B4-BE49-F238E27FC236}">
                <a16:creationId xmlns:a16="http://schemas.microsoft.com/office/drawing/2014/main" id="{61D98AC9-A3FF-40F6-BE06-8BD8E6FE9884}"/>
              </a:ext>
            </a:extLst>
          </p:cNvPr>
          <p:cNvGrpSpPr/>
          <p:nvPr/>
        </p:nvGrpSpPr>
        <p:grpSpPr>
          <a:xfrm>
            <a:off x="1485186" y="2092696"/>
            <a:ext cx="355228" cy="337495"/>
            <a:chOff x="-3771675" y="3971775"/>
            <a:chExt cx="291300" cy="292025"/>
          </a:xfrm>
          <a:solidFill>
            <a:schemeClr val="tx1"/>
          </a:solidFill>
        </p:grpSpPr>
        <p:sp>
          <p:nvSpPr>
            <p:cNvPr id="64" name="Google Shape;8113;p61">
              <a:extLst>
                <a:ext uri="{FF2B5EF4-FFF2-40B4-BE49-F238E27FC236}">
                  <a16:creationId xmlns:a16="http://schemas.microsoft.com/office/drawing/2014/main" id="{6DE7F980-091D-4DB4-B31E-7B6FC5858BAD}"/>
                </a:ext>
              </a:extLst>
            </p:cNvPr>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8114;p61">
              <a:extLst>
                <a:ext uri="{FF2B5EF4-FFF2-40B4-BE49-F238E27FC236}">
                  <a16:creationId xmlns:a16="http://schemas.microsoft.com/office/drawing/2014/main" id="{AB66865F-2B70-4F02-A5B0-965E74557F2B}"/>
                </a:ext>
              </a:extLst>
            </p:cNvPr>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8115;p61">
              <a:extLst>
                <a:ext uri="{FF2B5EF4-FFF2-40B4-BE49-F238E27FC236}">
                  <a16:creationId xmlns:a16="http://schemas.microsoft.com/office/drawing/2014/main" id="{2CBF2B37-2022-4935-AE04-A2C9C5A91B40}"/>
                </a:ext>
              </a:extLst>
            </p:cNvPr>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8116;p61">
              <a:extLst>
                <a:ext uri="{FF2B5EF4-FFF2-40B4-BE49-F238E27FC236}">
                  <a16:creationId xmlns:a16="http://schemas.microsoft.com/office/drawing/2014/main" id="{003BA67B-E016-4E76-878D-444A1692FBAB}"/>
                </a:ext>
              </a:extLst>
            </p:cNvPr>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8117;p61">
              <a:extLst>
                <a:ext uri="{FF2B5EF4-FFF2-40B4-BE49-F238E27FC236}">
                  <a16:creationId xmlns:a16="http://schemas.microsoft.com/office/drawing/2014/main" id="{4C1AD99E-DB2F-4ED8-8152-56BC3E740D25}"/>
                </a:ext>
              </a:extLst>
            </p:cNvPr>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0" name="Graphic 69" descr="Radar Chart">
            <a:extLst>
              <a:ext uri="{FF2B5EF4-FFF2-40B4-BE49-F238E27FC236}">
                <a16:creationId xmlns:a16="http://schemas.microsoft.com/office/drawing/2014/main" id="{1EB29806-E71B-4999-B7BA-DAE91BBAED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61386" y="3554020"/>
            <a:ext cx="444160" cy="444160"/>
          </a:xfrm>
          <a:prstGeom prst="rect">
            <a:avLst/>
          </a:prstGeom>
        </p:spPr>
      </p:pic>
      <p:sp>
        <p:nvSpPr>
          <p:cNvPr id="80" name="Rectangle 79">
            <a:extLst>
              <a:ext uri="{FF2B5EF4-FFF2-40B4-BE49-F238E27FC236}">
                <a16:creationId xmlns:a16="http://schemas.microsoft.com/office/drawing/2014/main" id="{3196041E-7A42-4AE0-A3A3-E271923D1DAC}"/>
              </a:ext>
            </a:extLst>
          </p:cNvPr>
          <p:cNvSpPr/>
          <p:nvPr/>
        </p:nvSpPr>
        <p:spPr>
          <a:xfrm>
            <a:off x="6031822" y="2414005"/>
            <a:ext cx="1493677" cy="59142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MR and HCPs virtual engagement model</a:t>
            </a:r>
          </a:p>
        </p:txBody>
      </p:sp>
      <p:sp>
        <p:nvSpPr>
          <p:cNvPr id="81" name="Rectangle 80">
            <a:extLst>
              <a:ext uri="{FF2B5EF4-FFF2-40B4-BE49-F238E27FC236}">
                <a16:creationId xmlns:a16="http://schemas.microsoft.com/office/drawing/2014/main" id="{102C7716-70C5-423F-A76F-816D8437F187}"/>
              </a:ext>
            </a:extLst>
          </p:cNvPr>
          <p:cNvSpPr/>
          <p:nvPr/>
        </p:nvSpPr>
        <p:spPr>
          <a:xfrm>
            <a:off x="2962967" y="2429468"/>
            <a:ext cx="1493677" cy="59142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Digitize supply chain becoming demand driven</a:t>
            </a:r>
          </a:p>
        </p:txBody>
      </p:sp>
      <p:sp>
        <p:nvSpPr>
          <p:cNvPr id="82" name="Rectangle 81">
            <a:extLst>
              <a:ext uri="{FF2B5EF4-FFF2-40B4-BE49-F238E27FC236}">
                <a16:creationId xmlns:a16="http://schemas.microsoft.com/office/drawing/2014/main" id="{94D72D32-C535-4F4A-A996-E7DA94D2B61F}"/>
              </a:ext>
            </a:extLst>
          </p:cNvPr>
          <p:cNvSpPr/>
          <p:nvPr/>
        </p:nvSpPr>
        <p:spPr>
          <a:xfrm>
            <a:off x="3577924" y="3875338"/>
            <a:ext cx="1493677" cy="59142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Online Pharmacy enabling direct delivery of drugs</a:t>
            </a:r>
          </a:p>
        </p:txBody>
      </p:sp>
      <p:sp>
        <p:nvSpPr>
          <p:cNvPr id="83" name="Rectangle 82">
            <a:extLst>
              <a:ext uri="{FF2B5EF4-FFF2-40B4-BE49-F238E27FC236}">
                <a16:creationId xmlns:a16="http://schemas.microsoft.com/office/drawing/2014/main" id="{C3BFC911-2DFA-4184-B509-342782EC3A9E}"/>
              </a:ext>
            </a:extLst>
          </p:cNvPr>
          <p:cNvSpPr/>
          <p:nvPr/>
        </p:nvSpPr>
        <p:spPr>
          <a:xfrm>
            <a:off x="5847636" y="3848695"/>
            <a:ext cx="1493677" cy="59142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Tele medicine and virtual consultation</a:t>
            </a:r>
          </a:p>
        </p:txBody>
      </p:sp>
      <p:sp>
        <p:nvSpPr>
          <p:cNvPr id="84" name="Rectangle 83">
            <a:extLst>
              <a:ext uri="{FF2B5EF4-FFF2-40B4-BE49-F238E27FC236}">
                <a16:creationId xmlns:a16="http://schemas.microsoft.com/office/drawing/2014/main" id="{74AFAFBB-3753-4C72-8C5E-14EEF5AD1241}"/>
              </a:ext>
            </a:extLst>
          </p:cNvPr>
          <p:cNvSpPr/>
          <p:nvPr/>
        </p:nvSpPr>
        <p:spPr>
          <a:xfrm>
            <a:off x="997171" y="2465237"/>
            <a:ext cx="1493677" cy="59142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Reorient product portfolio to include med devices</a:t>
            </a:r>
          </a:p>
        </p:txBody>
      </p:sp>
      <p:sp>
        <p:nvSpPr>
          <p:cNvPr id="85" name="Rectangle 84">
            <a:extLst>
              <a:ext uri="{FF2B5EF4-FFF2-40B4-BE49-F238E27FC236}">
                <a16:creationId xmlns:a16="http://schemas.microsoft.com/office/drawing/2014/main" id="{80F130CB-80CD-45B0-88B2-F258BB234F1F}"/>
              </a:ext>
            </a:extLst>
          </p:cNvPr>
          <p:cNvSpPr/>
          <p:nvPr/>
        </p:nvSpPr>
        <p:spPr>
          <a:xfrm>
            <a:off x="1047658" y="3950296"/>
            <a:ext cx="1493677" cy="73768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Expand business into providing drug insurance to ease credit crunch</a:t>
            </a:r>
          </a:p>
        </p:txBody>
      </p:sp>
      <p:pic>
        <p:nvPicPr>
          <p:cNvPr id="86" name="Graphic 85" descr="Sling">
            <a:extLst>
              <a:ext uri="{FF2B5EF4-FFF2-40B4-BE49-F238E27FC236}">
                <a16:creationId xmlns:a16="http://schemas.microsoft.com/office/drawing/2014/main" id="{25E08CA2-35C5-4AC5-86D9-4B99444DA1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73097" y="2623403"/>
            <a:ext cx="473924" cy="473924"/>
          </a:xfrm>
          <a:prstGeom prst="rect">
            <a:avLst/>
          </a:prstGeom>
        </p:spPr>
      </p:pic>
      <p:pic>
        <p:nvPicPr>
          <p:cNvPr id="87" name="Graphic 86" descr="Medical">
            <a:extLst>
              <a:ext uri="{FF2B5EF4-FFF2-40B4-BE49-F238E27FC236}">
                <a16:creationId xmlns:a16="http://schemas.microsoft.com/office/drawing/2014/main" id="{6D3DD451-B1BC-4BFD-9CA5-31F31BA8BC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40488" y="2606591"/>
            <a:ext cx="558720" cy="558720"/>
          </a:xfrm>
          <a:prstGeom prst="rect">
            <a:avLst/>
          </a:prstGeom>
        </p:spPr>
      </p:pic>
      <p:pic>
        <p:nvPicPr>
          <p:cNvPr id="89" name="Graphic 88" descr="Doctor">
            <a:extLst>
              <a:ext uri="{FF2B5EF4-FFF2-40B4-BE49-F238E27FC236}">
                <a16:creationId xmlns:a16="http://schemas.microsoft.com/office/drawing/2014/main" id="{6481F9DD-F396-452F-9D52-C2AC5B9DBA9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615742" y="1822237"/>
            <a:ext cx="571581" cy="571581"/>
          </a:xfrm>
          <a:prstGeom prst="rect">
            <a:avLst/>
          </a:prstGeom>
        </p:spPr>
      </p:pic>
      <p:pic>
        <p:nvPicPr>
          <p:cNvPr id="91" name="Graphic 90" descr="Medicine">
            <a:extLst>
              <a:ext uri="{FF2B5EF4-FFF2-40B4-BE49-F238E27FC236}">
                <a16:creationId xmlns:a16="http://schemas.microsoft.com/office/drawing/2014/main" id="{6AFEEE5E-E1DA-4276-95E8-0F4D95C6D10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709850" y="3268516"/>
            <a:ext cx="535844" cy="535844"/>
          </a:xfrm>
          <a:prstGeom prst="rect">
            <a:avLst/>
          </a:prstGeom>
        </p:spPr>
      </p:pic>
      <p:sp>
        <p:nvSpPr>
          <p:cNvPr id="92" name="Rectangle 91">
            <a:extLst>
              <a:ext uri="{FF2B5EF4-FFF2-40B4-BE49-F238E27FC236}">
                <a16:creationId xmlns:a16="http://schemas.microsoft.com/office/drawing/2014/main" id="{C74BA825-7337-4603-A9D1-37D23597A7F4}"/>
              </a:ext>
            </a:extLst>
          </p:cNvPr>
          <p:cNvSpPr/>
          <p:nvPr/>
        </p:nvSpPr>
        <p:spPr>
          <a:xfrm>
            <a:off x="7914169" y="1347521"/>
            <a:ext cx="3974725" cy="250855"/>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Changing interactions</a:t>
            </a:r>
          </a:p>
        </p:txBody>
      </p:sp>
      <p:cxnSp>
        <p:nvCxnSpPr>
          <p:cNvPr id="94" name="Straight Arrow Connector 93">
            <a:extLst>
              <a:ext uri="{FF2B5EF4-FFF2-40B4-BE49-F238E27FC236}">
                <a16:creationId xmlns:a16="http://schemas.microsoft.com/office/drawing/2014/main" id="{8DDD01C2-9DE6-433B-92DE-36C731BC33DE}"/>
              </a:ext>
            </a:extLst>
          </p:cNvPr>
          <p:cNvCxnSpPr>
            <a:cxnSpLocks/>
            <a:stCxn id="87" idx="3"/>
            <a:endCxn id="86" idx="1"/>
          </p:cNvCxnSpPr>
          <p:nvPr/>
        </p:nvCxnSpPr>
        <p:spPr>
          <a:xfrm flipV="1">
            <a:off x="9099208" y="2860365"/>
            <a:ext cx="1773889" cy="2558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3316F9A5-8B15-4BBD-8F0F-827C7CBB995C}"/>
              </a:ext>
            </a:extLst>
          </p:cNvPr>
          <p:cNvCxnSpPr>
            <a:cxnSpLocks/>
            <a:stCxn id="87" idx="0"/>
            <a:endCxn id="89" idx="1"/>
          </p:cNvCxnSpPr>
          <p:nvPr/>
        </p:nvCxnSpPr>
        <p:spPr>
          <a:xfrm flipV="1">
            <a:off x="8819848" y="2108028"/>
            <a:ext cx="795894" cy="49856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214FE232-AB53-46D5-B10F-9D2DC72D0E98}"/>
              </a:ext>
            </a:extLst>
          </p:cNvPr>
          <p:cNvCxnSpPr>
            <a:cxnSpLocks/>
            <a:endCxn id="86" idx="0"/>
          </p:cNvCxnSpPr>
          <p:nvPr/>
        </p:nvCxnSpPr>
        <p:spPr>
          <a:xfrm>
            <a:off x="10297950" y="2150917"/>
            <a:ext cx="812109" cy="47248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112CE8FD-BB76-4EBA-990D-A0EF445D852A}"/>
              </a:ext>
            </a:extLst>
          </p:cNvPr>
          <p:cNvCxnSpPr>
            <a:cxnSpLocks/>
            <a:endCxn id="91" idx="1"/>
          </p:cNvCxnSpPr>
          <p:nvPr/>
        </p:nvCxnSpPr>
        <p:spPr>
          <a:xfrm>
            <a:off x="8769319" y="3191344"/>
            <a:ext cx="940531" cy="34509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1BBAFB7D-04BB-4CEB-9999-A966A30B2BFD}"/>
              </a:ext>
            </a:extLst>
          </p:cNvPr>
          <p:cNvCxnSpPr>
            <a:cxnSpLocks/>
            <a:endCxn id="91" idx="3"/>
          </p:cNvCxnSpPr>
          <p:nvPr/>
        </p:nvCxnSpPr>
        <p:spPr>
          <a:xfrm flipH="1">
            <a:off x="10245694" y="3122890"/>
            <a:ext cx="856502" cy="41354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AA194A84-2BF1-4D81-90E7-9C17548C6652}"/>
              </a:ext>
            </a:extLst>
          </p:cNvPr>
          <p:cNvSpPr/>
          <p:nvPr/>
        </p:nvSpPr>
        <p:spPr>
          <a:xfrm>
            <a:off x="5938814" y="2335753"/>
            <a:ext cx="205868" cy="19380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1</a:t>
            </a:r>
          </a:p>
        </p:txBody>
      </p:sp>
      <p:sp>
        <p:nvSpPr>
          <p:cNvPr id="108" name="Oval 107">
            <a:extLst>
              <a:ext uri="{FF2B5EF4-FFF2-40B4-BE49-F238E27FC236}">
                <a16:creationId xmlns:a16="http://schemas.microsoft.com/office/drawing/2014/main" id="{ED291B0C-CE88-46A8-885E-68BD23E1F8AC}"/>
              </a:ext>
            </a:extLst>
          </p:cNvPr>
          <p:cNvSpPr/>
          <p:nvPr/>
        </p:nvSpPr>
        <p:spPr>
          <a:xfrm>
            <a:off x="5732115" y="3760817"/>
            <a:ext cx="205868" cy="19380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2</a:t>
            </a:r>
          </a:p>
        </p:txBody>
      </p:sp>
      <p:sp>
        <p:nvSpPr>
          <p:cNvPr id="109" name="Oval 108">
            <a:extLst>
              <a:ext uri="{FF2B5EF4-FFF2-40B4-BE49-F238E27FC236}">
                <a16:creationId xmlns:a16="http://schemas.microsoft.com/office/drawing/2014/main" id="{2B7D2BAB-7476-483A-9559-A663DEFD22CA}"/>
              </a:ext>
            </a:extLst>
          </p:cNvPr>
          <p:cNvSpPr/>
          <p:nvPr/>
        </p:nvSpPr>
        <p:spPr>
          <a:xfrm>
            <a:off x="3453159" y="3780247"/>
            <a:ext cx="205868" cy="19380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3</a:t>
            </a:r>
          </a:p>
        </p:txBody>
      </p:sp>
      <p:sp>
        <p:nvSpPr>
          <p:cNvPr id="110" name="Oval 109">
            <a:extLst>
              <a:ext uri="{FF2B5EF4-FFF2-40B4-BE49-F238E27FC236}">
                <a16:creationId xmlns:a16="http://schemas.microsoft.com/office/drawing/2014/main" id="{F2136473-FABE-40FC-9130-7F8DF278BED8}"/>
              </a:ext>
            </a:extLst>
          </p:cNvPr>
          <p:cNvSpPr/>
          <p:nvPr/>
        </p:nvSpPr>
        <p:spPr>
          <a:xfrm>
            <a:off x="2848822" y="2330722"/>
            <a:ext cx="205868" cy="193802"/>
          </a:xfrm>
          <a:prstGeom prst="ellipse">
            <a:avLst/>
          </a:prstGeom>
          <a:solidFill>
            <a:srgbClr val="FD6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4</a:t>
            </a:r>
          </a:p>
        </p:txBody>
      </p:sp>
      <p:sp>
        <p:nvSpPr>
          <p:cNvPr id="111" name="Oval 110">
            <a:extLst>
              <a:ext uri="{FF2B5EF4-FFF2-40B4-BE49-F238E27FC236}">
                <a16:creationId xmlns:a16="http://schemas.microsoft.com/office/drawing/2014/main" id="{405A27F8-7ED7-4B06-93DE-672569B43F15}"/>
              </a:ext>
            </a:extLst>
          </p:cNvPr>
          <p:cNvSpPr/>
          <p:nvPr/>
        </p:nvSpPr>
        <p:spPr>
          <a:xfrm>
            <a:off x="957571" y="3824971"/>
            <a:ext cx="205868" cy="193802"/>
          </a:xfrm>
          <a:prstGeom prst="ellipse">
            <a:avLst/>
          </a:prstGeom>
          <a:solidFill>
            <a:srgbClr val="FD6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5</a:t>
            </a:r>
          </a:p>
        </p:txBody>
      </p:sp>
      <p:sp>
        <p:nvSpPr>
          <p:cNvPr id="112" name="Oval 111">
            <a:extLst>
              <a:ext uri="{FF2B5EF4-FFF2-40B4-BE49-F238E27FC236}">
                <a16:creationId xmlns:a16="http://schemas.microsoft.com/office/drawing/2014/main" id="{55E64E8F-1641-4B14-A88D-C10D4A334D15}"/>
              </a:ext>
            </a:extLst>
          </p:cNvPr>
          <p:cNvSpPr/>
          <p:nvPr/>
        </p:nvSpPr>
        <p:spPr>
          <a:xfrm>
            <a:off x="900652" y="2360311"/>
            <a:ext cx="205868" cy="193802"/>
          </a:xfrm>
          <a:prstGeom prst="ellipse">
            <a:avLst/>
          </a:prstGeom>
          <a:solidFill>
            <a:srgbClr val="FD6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6</a:t>
            </a:r>
          </a:p>
        </p:txBody>
      </p:sp>
      <p:sp>
        <p:nvSpPr>
          <p:cNvPr id="113" name="TextBox 112">
            <a:extLst>
              <a:ext uri="{FF2B5EF4-FFF2-40B4-BE49-F238E27FC236}">
                <a16:creationId xmlns:a16="http://schemas.microsoft.com/office/drawing/2014/main" id="{9A660DFD-61F4-4ABB-9BEF-E820A8FCEAB0}"/>
              </a:ext>
            </a:extLst>
          </p:cNvPr>
          <p:cNvSpPr txBox="1"/>
          <p:nvPr/>
        </p:nvSpPr>
        <p:spPr>
          <a:xfrm>
            <a:off x="10059302" y="1840624"/>
            <a:ext cx="1050757" cy="307777"/>
          </a:xfrm>
          <a:prstGeom prst="rect">
            <a:avLst/>
          </a:prstGeom>
          <a:noFill/>
        </p:spPr>
        <p:txBody>
          <a:bodyPr wrap="square" rtlCol="0">
            <a:spAutoFit/>
          </a:bodyPr>
          <a:lstStyle/>
          <a:p>
            <a:r>
              <a:rPr lang="en-IN" sz="1400">
                <a:latin typeface="Arial" panose="020B0604020202020204" pitchFamily="34" charset="0"/>
                <a:cs typeface="Arial" panose="020B0604020202020204" pitchFamily="34" charset="0"/>
              </a:rPr>
              <a:t>HCPs</a:t>
            </a:r>
          </a:p>
        </p:txBody>
      </p:sp>
      <p:sp>
        <p:nvSpPr>
          <p:cNvPr id="114" name="TextBox 113">
            <a:extLst>
              <a:ext uri="{FF2B5EF4-FFF2-40B4-BE49-F238E27FC236}">
                <a16:creationId xmlns:a16="http://schemas.microsoft.com/office/drawing/2014/main" id="{CACB798F-EF0D-4F7D-AB03-825532FFE841}"/>
              </a:ext>
            </a:extLst>
          </p:cNvPr>
          <p:cNvSpPr txBox="1"/>
          <p:nvPr/>
        </p:nvSpPr>
        <p:spPr>
          <a:xfrm>
            <a:off x="10148566" y="3621253"/>
            <a:ext cx="1050757" cy="307777"/>
          </a:xfrm>
          <a:prstGeom prst="rect">
            <a:avLst/>
          </a:prstGeom>
          <a:noFill/>
        </p:spPr>
        <p:txBody>
          <a:bodyPr wrap="square" rtlCol="0">
            <a:spAutoFit/>
          </a:bodyPr>
          <a:lstStyle/>
          <a:p>
            <a:r>
              <a:rPr lang="en-IN" sz="1400">
                <a:latin typeface="Arial" panose="020B0604020202020204" pitchFamily="34" charset="0"/>
                <a:cs typeface="Arial" panose="020B0604020202020204" pitchFamily="34" charset="0"/>
              </a:rPr>
              <a:t>Pharmacy</a:t>
            </a:r>
          </a:p>
        </p:txBody>
      </p:sp>
      <p:sp>
        <p:nvSpPr>
          <p:cNvPr id="115" name="TextBox 114">
            <a:extLst>
              <a:ext uri="{FF2B5EF4-FFF2-40B4-BE49-F238E27FC236}">
                <a16:creationId xmlns:a16="http://schemas.microsoft.com/office/drawing/2014/main" id="{331B00FC-8519-4185-9DBC-BD7346F0A1F9}"/>
              </a:ext>
            </a:extLst>
          </p:cNvPr>
          <p:cNvSpPr txBox="1"/>
          <p:nvPr/>
        </p:nvSpPr>
        <p:spPr>
          <a:xfrm>
            <a:off x="11102196" y="3126939"/>
            <a:ext cx="1050757" cy="307777"/>
          </a:xfrm>
          <a:prstGeom prst="rect">
            <a:avLst/>
          </a:prstGeom>
          <a:noFill/>
        </p:spPr>
        <p:txBody>
          <a:bodyPr wrap="square" rtlCol="0">
            <a:spAutoFit/>
          </a:bodyPr>
          <a:lstStyle/>
          <a:p>
            <a:r>
              <a:rPr lang="en-IN" sz="1400">
                <a:latin typeface="Arial" panose="020B0604020202020204" pitchFamily="34" charset="0"/>
                <a:cs typeface="Arial" panose="020B0604020202020204" pitchFamily="34" charset="0"/>
              </a:rPr>
              <a:t>Patient</a:t>
            </a:r>
          </a:p>
        </p:txBody>
      </p:sp>
      <p:sp>
        <p:nvSpPr>
          <p:cNvPr id="116" name="TextBox 115">
            <a:extLst>
              <a:ext uri="{FF2B5EF4-FFF2-40B4-BE49-F238E27FC236}">
                <a16:creationId xmlns:a16="http://schemas.microsoft.com/office/drawing/2014/main" id="{A0E3C818-EE1B-4418-BC50-622E906515D2}"/>
              </a:ext>
            </a:extLst>
          </p:cNvPr>
          <p:cNvSpPr txBox="1"/>
          <p:nvPr/>
        </p:nvSpPr>
        <p:spPr>
          <a:xfrm>
            <a:off x="7778147" y="2582527"/>
            <a:ext cx="1050757" cy="738664"/>
          </a:xfrm>
          <a:prstGeom prst="rect">
            <a:avLst/>
          </a:prstGeom>
          <a:noFill/>
        </p:spPr>
        <p:txBody>
          <a:bodyPr wrap="square" rtlCol="0">
            <a:spAutoFit/>
          </a:bodyPr>
          <a:lstStyle/>
          <a:p>
            <a:r>
              <a:rPr lang="en-IN" sz="1400">
                <a:latin typeface="Arial" panose="020B0604020202020204" pitchFamily="34" charset="0"/>
                <a:cs typeface="Arial" panose="020B0604020202020204" pitchFamily="34" charset="0"/>
              </a:rPr>
              <a:t>Pharma-</a:t>
            </a:r>
            <a:r>
              <a:rPr lang="en-IN" sz="1400" err="1">
                <a:latin typeface="Arial" panose="020B0604020202020204" pitchFamily="34" charset="0"/>
                <a:cs typeface="Arial" panose="020B0604020202020204" pitchFamily="34" charset="0"/>
              </a:rPr>
              <a:t>ceutical</a:t>
            </a:r>
            <a:r>
              <a:rPr lang="en-IN" sz="1400">
                <a:latin typeface="Arial" panose="020B0604020202020204" pitchFamily="34" charset="0"/>
                <a:cs typeface="Arial" panose="020B0604020202020204" pitchFamily="34" charset="0"/>
              </a:rPr>
              <a:t> company</a:t>
            </a:r>
          </a:p>
        </p:txBody>
      </p:sp>
      <p:sp>
        <p:nvSpPr>
          <p:cNvPr id="117" name="Oval 116">
            <a:extLst>
              <a:ext uri="{FF2B5EF4-FFF2-40B4-BE49-F238E27FC236}">
                <a16:creationId xmlns:a16="http://schemas.microsoft.com/office/drawing/2014/main" id="{F03169F8-28EA-4D53-A4A9-11F9167431B8}"/>
              </a:ext>
            </a:extLst>
          </p:cNvPr>
          <p:cNvSpPr/>
          <p:nvPr/>
        </p:nvSpPr>
        <p:spPr>
          <a:xfrm>
            <a:off x="9119415" y="2249491"/>
            <a:ext cx="205868" cy="19380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1</a:t>
            </a:r>
          </a:p>
        </p:txBody>
      </p:sp>
      <p:sp>
        <p:nvSpPr>
          <p:cNvPr id="118" name="Oval 117">
            <a:extLst>
              <a:ext uri="{FF2B5EF4-FFF2-40B4-BE49-F238E27FC236}">
                <a16:creationId xmlns:a16="http://schemas.microsoft.com/office/drawing/2014/main" id="{15BD09D8-24DE-458C-88E3-7F43A1CF5626}"/>
              </a:ext>
            </a:extLst>
          </p:cNvPr>
          <p:cNvSpPr/>
          <p:nvPr/>
        </p:nvSpPr>
        <p:spPr>
          <a:xfrm>
            <a:off x="10626024" y="3212457"/>
            <a:ext cx="205868" cy="19380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3</a:t>
            </a:r>
          </a:p>
        </p:txBody>
      </p:sp>
      <p:sp>
        <p:nvSpPr>
          <p:cNvPr id="119" name="Oval 118">
            <a:extLst>
              <a:ext uri="{FF2B5EF4-FFF2-40B4-BE49-F238E27FC236}">
                <a16:creationId xmlns:a16="http://schemas.microsoft.com/office/drawing/2014/main" id="{19F51A6D-22D3-46F9-92A7-F7A2C4D1451F}"/>
              </a:ext>
            </a:extLst>
          </p:cNvPr>
          <p:cNvSpPr/>
          <p:nvPr/>
        </p:nvSpPr>
        <p:spPr>
          <a:xfrm>
            <a:off x="9099850" y="3251614"/>
            <a:ext cx="205868" cy="193802"/>
          </a:xfrm>
          <a:prstGeom prst="ellipse">
            <a:avLst/>
          </a:prstGeom>
          <a:solidFill>
            <a:srgbClr val="FD6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4</a:t>
            </a:r>
          </a:p>
        </p:txBody>
      </p:sp>
      <p:sp>
        <p:nvSpPr>
          <p:cNvPr id="120" name="Oval 119">
            <a:extLst>
              <a:ext uri="{FF2B5EF4-FFF2-40B4-BE49-F238E27FC236}">
                <a16:creationId xmlns:a16="http://schemas.microsoft.com/office/drawing/2014/main" id="{E7800C83-2966-4A10-A09E-9B009A554868}"/>
              </a:ext>
            </a:extLst>
          </p:cNvPr>
          <p:cNvSpPr/>
          <p:nvPr/>
        </p:nvSpPr>
        <p:spPr>
          <a:xfrm>
            <a:off x="9861549" y="2657664"/>
            <a:ext cx="205868" cy="193802"/>
          </a:xfrm>
          <a:prstGeom prst="ellipse">
            <a:avLst/>
          </a:prstGeom>
          <a:solidFill>
            <a:srgbClr val="FD6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5</a:t>
            </a:r>
          </a:p>
        </p:txBody>
      </p:sp>
      <p:sp>
        <p:nvSpPr>
          <p:cNvPr id="121" name="Oval 120">
            <a:extLst>
              <a:ext uri="{FF2B5EF4-FFF2-40B4-BE49-F238E27FC236}">
                <a16:creationId xmlns:a16="http://schemas.microsoft.com/office/drawing/2014/main" id="{26FCEDFC-5D40-4CC8-B1D8-755AD1E85563}"/>
              </a:ext>
            </a:extLst>
          </p:cNvPr>
          <p:cNvSpPr/>
          <p:nvPr/>
        </p:nvSpPr>
        <p:spPr>
          <a:xfrm>
            <a:off x="9862882" y="2925311"/>
            <a:ext cx="205868" cy="193802"/>
          </a:xfrm>
          <a:prstGeom prst="ellipse">
            <a:avLst/>
          </a:prstGeom>
          <a:solidFill>
            <a:srgbClr val="FD6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6</a:t>
            </a:r>
          </a:p>
        </p:txBody>
      </p:sp>
      <p:sp>
        <p:nvSpPr>
          <p:cNvPr id="122" name="Oval 121">
            <a:extLst>
              <a:ext uri="{FF2B5EF4-FFF2-40B4-BE49-F238E27FC236}">
                <a16:creationId xmlns:a16="http://schemas.microsoft.com/office/drawing/2014/main" id="{F1350417-F8DB-4992-8544-CA720AED3640}"/>
              </a:ext>
            </a:extLst>
          </p:cNvPr>
          <p:cNvSpPr/>
          <p:nvPr/>
        </p:nvSpPr>
        <p:spPr>
          <a:xfrm>
            <a:off x="10571010" y="2287918"/>
            <a:ext cx="205868" cy="19380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2</a:t>
            </a:r>
          </a:p>
        </p:txBody>
      </p:sp>
      <p:sp>
        <p:nvSpPr>
          <p:cNvPr id="123" name="Rectangle 122">
            <a:extLst>
              <a:ext uri="{FF2B5EF4-FFF2-40B4-BE49-F238E27FC236}">
                <a16:creationId xmlns:a16="http://schemas.microsoft.com/office/drawing/2014/main" id="{1A95458E-2087-4F9D-9AF8-B82CE2DD6545}"/>
              </a:ext>
            </a:extLst>
          </p:cNvPr>
          <p:cNvSpPr/>
          <p:nvPr/>
        </p:nvSpPr>
        <p:spPr>
          <a:xfrm>
            <a:off x="7914169" y="3976442"/>
            <a:ext cx="3991051" cy="525175"/>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The recommendations are focused on leveraging the changing interactions between the different entities</a:t>
            </a:r>
          </a:p>
        </p:txBody>
      </p:sp>
      <p:sp>
        <p:nvSpPr>
          <p:cNvPr id="141" name="Rectangle 140">
            <a:extLst>
              <a:ext uri="{FF2B5EF4-FFF2-40B4-BE49-F238E27FC236}">
                <a16:creationId xmlns:a16="http://schemas.microsoft.com/office/drawing/2014/main" id="{FC7C36A6-2106-4D06-B7BB-0C5606AA53A9}"/>
              </a:ext>
            </a:extLst>
          </p:cNvPr>
          <p:cNvSpPr/>
          <p:nvPr/>
        </p:nvSpPr>
        <p:spPr>
          <a:xfrm>
            <a:off x="7914169" y="1888857"/>
            <a:ext cx="148462" cy="133038"/>
          </a:xfrm>
          <a:prstGeom prst="rect">
            <a:avLst/>
          </a:prstGeom>
          <a:solidFill>
            <a:srgbClr val="FD610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Rectangle 141">
            <a:extLst>
              <a:ext uri="{FF2B5EF4-FFF2-40B4-BE49-F238E27FC236}">
                <a16:creationId xmlns:a16="http://schemas.microsoft.com/office/drawing/2014/main" id="{9A4DFD8D-CD3A-4BC8-AF67-9E4618C909C2}"/>
              </a:ext>
            </a:extLst>
          </p:cNvPr>
          <p:cNvSpPr/>
          <p:nvPr/>
        </p:nvSpPr>
        <p:spPr>
          <a:xfrm>
            <a:off x="7913283" y="2069726"/>
            <a:ext cx="148462" cy="133038"/>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TextBox 142">
            <a:extLst>
              <a:ext uri="{FF2B5EF4-FFF2-40B4-BE49-F238E27FC236}">
                <a16:creationId xmlns:a16="http://schemas.microsoft.com/office/drawing/2014/main" id="{8CBFCABF-E3FA-438F-8B8E-BB7925F4C797}"/>
              </a:ext>
            </a:extLst>
          </p:cNvPr>
          <p:cNvSpPr txBox="1"/>
          <p:nvPr/>
        </p:nvSpPr>
        <p:spPr>
          <a:xfrm>
            <a:off x="8031459" y="1813648"/>
            <a:ext cx="1057652" cy="276999"/>
          </a:xfrm>
          <a:prstGeom prst="rect">
            <a:avLst/>
          </a:prstGeom>
          <a:noFill/>
        </p:spPr>
        <p:txBody>
          <a:bodyPr wrap="square" rtlCol="0">
            <a:spAutoFit/>
          </a:bodyPr>
          <a:lstStyle/>
          <a:p>
            <a:r>
              <a:rPr lang="en-IN" sz="1200">
                <a:latin typeface="Arial" panose="020B0604020202020204" pitchFamily="34" charset="0"/>
                <a:cs typeface="Arial" panose="020B0604020202020204" pitchFamily="34" charset="0"/>
              </a:rPr>
              <a:t>Long term</a:t>
            </a:r>
          </a:p>
        </p:txBody>
      </p:sp>
      <p:sp>
        <p:nvSpPr>
          <p:cNvPr id="144" name="TextBox 143">
            <a:extLst>
              <a:ext uri="{FF2B5EF4-FFF2-40B4-BE49-F238E27FC236}">
                <a16:creationId xmlns:a16="http://schemas.microsoft.com/office/drawing/2014/main" id="{6957226A-7001-4BE3-AD3C-998B4D93F653}"/>
              </a:ext>
            </a:extLst>
          </p:cNvPr>
          <p:cNvSpPr txBox="1"/>
          <p:nvPr/>
        </p:nvSpPr>
        <p:spPr>
          <a:xfrm>
            <a:off x="8031459" y="2011608"/>
            <a:ext cx="1057652" cy="276999"/>
          </a:xfrm>
          <a:prstGeom prst="rect">
            <a:avLst/>
          </a:prstGeom>
          <a:noFill/>
        </p:spPr>
        <p:txBody>
          <a:bodyPr wrap="square" rtlCol="0">
            <a:spAutoFit/>
          </a:bodyPr>
          <a:lstStyle/>
          <a:p>
            <a:r>
              <a:rPr lang="en-IN" sz="1200">
                <a:latin typeface="Arial" panose="020B0604020202020204" pitchFamily="34" charset="0"/>
                <a:cs typeface="Arial" panose="020B0604020202020204" pitchFamily="34" charset="0"/>
              </a:rPr>
              <a:t>Short term</a:t>
            </a:r>
          </a:p>
        </p:txBody>
      </p:sp>
      <p:sp>
        <p:nvSpPr>
          <p:cNvPr id="128" name="Rectangle 127">
            <a:extLst>
              <a:ext uri="{FF2B5EF4-FFF2-40B4-BE49-F238E27FC236}">
                <a16:creationId xmlns:a16="http://schemas.microsoft.com/office/drawing/2014/main" id="{7732B3B5-51B9-4394-BCE6-DF3C80F59424}"/>
              </a:ext>
            </a:extLst>
          </p:cNvPr>
          <p:cNvSpPr/>
          <p:nvPr/>
        </p:nvSpPr>
        <p:spPr>
          <a:xfrm>
            <a:off x="5100797" y="5184607"/>
            <a:ext cx="1493677" cy="73768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cs typeface="Arial" panose="020B0604020202020204" pitchFamily="34" charset="0"/>
              </a:rPr>
              <a:t>Provide PPEs to patients visiting HCPs showcasing trust </a:t>
            </a:r>
          </a:p>
        </p:txBody>
      </p:sp>
      <p:sp>
        <p:nvSpPr>
          <p:cNvPr id="133" name="Oval 132">
            <a:extLst>
              <a:ext uri="{FF2B5EF4-FFF2-40B4-BE49-F238E27FC236}">
                <a16:creationId xmlns:a16="http://schemas.microsoft.com/office/drawing/2014/main" id="{9E3C7382-4937-4DA9-BAB9-2CA9F8511395}"/>
              </a:ext>
            </a:extLst>
          </p:cNvPr>
          <p:cNvSpPr/>
          <p:nvPr/>
        </p:nvSpPr>
        <p:spPr>
          <a:xfrm>
            <a:off x="5010710" y="5059282"/>
            <a:ext cx="205868" cy="193802"/>
          </a:xfrm>
          <a:prstGeom prst="ellipse">
            <a:avLst/>
          </a:prstGeom>
          <a:solidFill>
            <a:srgbClr val="FD6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latin typeface="Arial" panose="020B0604020202020204" pitchFamily="34" charset="0"/>
                <a:cs typeface="Arial" panose="020B0604020202020204" pitchFamily="34" charset="0"/>
              </a:rPr>
              <a:t>5</a:t>
            </a:r>
          </a:p>
        </p:txBody>
      </p:sp>
      <p:pic>
        <p:nvPicPr>
          <p:cNvPr id="2050" name="Picture 2" descr="Face Mask Icon of Glyph style - Available in SVG, PNG, EPS, AI &amp; Icon fonts">
            <a:extLst>
              <a:ext uri="{FF2B5EF4-FFF2-40B4-BE49-F238E27FC236}">
                <a16:creationId xmlns:a16="http://schemas.microsoft.com/office/drawing/2014/main" id="{33D41FC5-6735-413A-B90C-94F2FFCB955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28305" y="4656881"/>
            <a:ext cx="567695" cy="56769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994313D9-361C-4143-AEFE-905400F1D49D}"/>
              </a:ext>
            </a:extLst>
          </p:cNvPr>
          <p:cNvSpPr/>
          <p:nvPr/>
        </p:nvSpPr>
        <p:spPr>
          <a:xfrm>
            <a:off x="7913283" y="4940728"/>
            <a:ext cx="915621" cy="1284100"/>
          </a:xfrm>
          <a:prstGeom prst="rect">
            <a:avLst/>
          </a:prstGeom>
          <a:noFill/>
          <a:ln>
            <a:solidFill>
              <a:srgbClr val="FF640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Arial" panose="020B0604020202020204" pitchFamily="34" charset="0"/>
                <a:cs typeface="Arial" panose="020B0604020202020204" pitchFamily="34" charset="0"/>
              </a:rPr>
              <a:t>System and Tools </a:t>
            </a:r>
            <a:r>
              <a:rPr lang="en-IN" sz="1200">
                <a:solidFill>
                  <a:schemeClr val="tx1"/>
                </a:solidFill>
                <a:latin typeface="Arial" panose="020B0604020202020204" pitchFamily="34" charset="0"/>
                <a:cs typeface="Arial" panose="020B0604020202020204" pitchFamily="34" charset="0"/>
              </a:rPr>
              <a:t>developed to enhance Team work</a:t>
            </a:r>
          </a:p>
        </p:txBody>
      </p:sp>
      <p:sp>
        <p:nvSpPr>
          <p:cNvPr id="146" name="Rectangle 145">
            <a:extLst>
              <a:ext uri="{FF2B5EF4-FFF2-40B4-BE49-F238E27FC236}">
                <a16:creationId xmlns:a16="http://schemas.microsoft.com/office/drawing/2014/main" id="{8A37D5D1-CFA7-4352-A1CE-05A94A25E8D3}"/>
              </a:ext>
            </a:extLst>
          </p:cNvPr>
          <p:cNvSpPr/>
          <p:nvPr/>
        </p:nvSpPr>
        <p:spPr>
          <a:xfrm>
            <a:off x="8941761" y="4940728"/>
            <a:ext cx="915621" cy="1284100"/>
          </a:xfrm>
          <a:prstGeom prst="rect">
            <a:avLst/>
          </a:prstGeom>
          <a:noFill/>
          <a:ln>
            <a:solidFill>
              <a:srgbClr val="FF640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Arial" panose="020B0604020202020204" pitchFamily="34" charset="0"/>
                <a:cs typeface="Arial" panose="020B0604020202020204" pitchFamily="34" charset="0"/>
              </a:rPr>
              <a:t>People and Capability</a:t>
            </a:r>
            <a:r>
              <a:rPr lang="en-IN" sz="1200">
                <a:solidFill>
                  <a:schemeClr val="tx1"/>
                </a:solidFill>
                <a:latin typeface="Arial" panose="020B0604020202020204" pitchFamily="34" charset="0"/>
                <a:cs typeface="Arial" panose="020B0604020202020204" pitchFamily="34" charset="0"/>
              </a:rPr>
              <a:t> focus on perform-</a:t>
            </a:r>
            <a:r>
              <a:rPr lang="en-IN" sz="1200" err="1">
                <a:solidFill>
                  <a:schemeClr val="tx1"/>
                </a:solidFill>
                <a:latin typeface="Arial" panose="020B0604020202020204" pitchFamily="34" charset="0"/>
                <a:cs typeface="Arial" panose="020B0604020202020204" pitchFamily="34" charset="0"/>
              </a:rPr>
              <a:t>ance</a:t>
            </a:r>
            <a:r>
              <a:rPr lang="en-IN" sz="1200">
                <a:solidFill>
                  <a:schemeClr val="tx1"/>
                </a:solidFill>
                <a:latin typeface="Arial" panose="020B0604020202020204" pitchFamily="34" charset="0"/>
                <a:cs typeface="Arial" panose="020B0604020202020204" pitchFamily="34" charset="0"/>
              </a:rPr>
              <a:t> and </a:t>
            </a:r>
            <a:r>
              <a:rPr lang="en-IN" sz="1200" err="1">
                <a:solidFill>
                  <a:schemeClr val="tx1"/>
                </a:solidFill>
                <a:latin typeface="Arial" panose="020B0604020202020204" pitchFamily="34" charset="0"/>
                <a:cs typeface="Arial" panose="020B0604020202020204" pitchFamily="34" charset="0"/>
              </a:rPr>
              <a:t>innocation</a:t>
            </a:r>
            <a:endParaRPr lang="en-IN" sz="1200">
              <a:solidFill>
                <a:schemeClr val="tx1"/>
              </a:solidFill>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BBA1EFC5-78F0-4F93-821E-25D6158C655C}"/>
              </a:ext>
            </a:extLst>
          </p:cNvPr>
          <p:cNvSpPr/>
          <p:nvPr/>
        </p:nvSpPr>
        <p:spPr>
          <a:xfrm>
            <a:off x="9980586" y="4940728"/>
            <a:ext cx="922991" cy="1284100"/>
          </a:xfrm>
          <a:prstGeom prst="rect">
            <a:avLst/>
          </a:prstGeom>
          <a:noFill/>
          <a:ln>
            <a:solidFill>
              <a:srgbClr val="FF640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err="1">
                <a:solidFill>
                  <a:schemeClr val="tx1"/>
                </a:solidFill>
                <a:latin typeface="Arial" panose="020B0604020202020204" pitchFamily="34" charset="0"/>
                <a:cs typeface="Arial" panose="020B0604020202020204" pitchFamily="34" charset="0"/>
              </a:rPr>
              <a:t>Proce-sses</a:t>
            </a:r>
            <a:r>
              <a:rPr lang="en-IN" sz="1200" b="1">
                <a:solidFill>
                  <a:schemeClr val="tx1"/>
                </a:solidFill>
                <a:latin typeface="Arial" panose="020B0604020202020204" pitchFamily="34" charset="0"/>
                <a:cs typeface="Arial" panose="020B0604020202020204" pitchFamily="34" charset="0"/>
              </a:rPr>
              <a:t> </a:t>
            </a:r>
            <a:r>
              <a:rPr lang="en-IN" sz="1200">
                <a:solidFill>
                  <a:schemeClr val="tx1"/>
                </a:solidFill>
                <a:latin typeface="Arial" panose="020B0604020202020204" pitchFamily="34" charset="0"/>
                <a:cs typeface="Arial" panose="020B0604020202020204" pitchFamily="34" charset="0"/>
              </a:rPr>
              <a:t>promote accountability and trans-</a:t>
            </a:r>
            <a:r>
              <a:rPr lang="en-IN" sz="1200" err="1">
                <a:solidFill>
                  <a:schemeClr val="tx1"/>
                </a:solidFill>
                <a:latin typeface="Arial" panose="020B0604020202020204" pitchFamily="34" charset="0"/>
                <a:cs typeface="Arial" panose="020B0604020202020204" pitchFamily="34" charset="0"/>
              </a:rPr>
              <a:t>parency</a:t>
            </a:r>
            <a:endParaRPr lang="en-IN" sz="1200">
              <a:solidFill>
                <a:schemeClr val="tx1"/>
              </a:solidFill>
              <a:latin typeface="Arial" panose="020B0604020202020204" pitchFamily="34" charset="0"/>
              <a:cs typeface="Arial" panose="020B0604020202020204" pitchFamily="34" charset="0"/>
            </a:endParaRPr>
          </a:p>
        </p:txBody>
      </p:sp>
      <p:sp>
        <p:nvSpPr>
          <p:cNvPr id="148" name="Rectangle 147">
            <a:extLst>
              <a:ext uri="{FF2B5EF4-FFF2-40B4-BE49-F238E27FC236}">
                <a16:creationId xmlns:a16="http://schemas.microsoft.com/office/drawing/2014/main" id="{F8AB536D-347F-4393-9861-72F4FC667781}"/>
              </a:ext>
            </a:extLst>
          </p:cNvPr>
          <p:cNvSpPr/>
          <p:nvPr/>
        </p:nvSpPr>
        <p:spPr>
          <a:xfrm>
            <a:off x="11018520" y="4940728"/>
            <a:ext cx="886700" cy="1284100"/>
          </a:xfrm>
          <a:prstGeom prst="rect">
            <a:avLst/>
          </a:prstGeom>
          <a:noFill/>
          <a:ln>
            <a:solidFill>
              <a:srgbClr val="FF640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Arial" panose="020B0604020202020204" pitchFamily="34" charset="0"/>
                <a:cs typeface="Arial" panose="020B0604020202020204" pitchFamily="34" charset="0"/>
              </a:rPr>
              <a:t>Structure</a:t>
            </a:r>
          </a:p>
          <a:p>
            <a:pPr algn="ctr"/>
            <a:r>
              <a:rPr lang="en-IN" sz="1200">
                <a:solidFill>
                  <a:schemeClr val="tx1"/>
                </a:solidFill>
                <a:latin typeface="Arial" panose="020B0604020202020204" pitchFamily="34" charset="0"/>
                <a:cs typeface="Arial" panose="020B0604020202020204" pitchFamily="34" charset="0"/>
              </a:rPr>
              <a:t>Move away from silos and promote </a:t>
            </a:r>
            <a:r>
              <a:rPr lang="en-IN" sz="1200" err="1">
                <a:solidFill>
                  <a:schemeClr val="tx1"/>
                </a:solidFill>
                <a:latin typeface="Arial" panose="020B0604020202020204" pitchFamily="34" charset="0"/>
                <a:cs typeface="Arial" panose="020B0604020202020204" pitchFamily="34" charset="0"/>
              </a:rPr>
              <a:t>collabora-tion</a:t>
            </a:r>
            <a:endParaRPr lang="en-IN" sz="1200">
              <a:solidFill>
                <a:schemeClr val="tx1"/>
              </a:solidFill>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C7375799-1CCB-4012-8517-E5D2DE6942C7}"/>
              </a:ext>
            </a:extLst>
          </p:cNvPr>
          <p:cNvSpPr/>
          <p:nvPr/>
        </p:nvSpPr>
        <p:spPr>
          <a:xfrm>
            <a:off x="7913283" y="4582971"/>
            <a:ext cx="3974725" cy="250855"/>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Internalize the new normal</a:t>
            </a:r>
          </a:p>
        </p:txBody>
      </p:sp>
      <p:sp>
        <p:nvSpPr>
          <p:cNvPr id="102" name="Oval 101">
            <a:extLst>
              <a:ext uri="{FF2B5EF4-FFF2-40B4-BE49-F238E27FC236}">
                <a16:creationId xmlns:a16="http://schemas.microsoft.com/office/drawing/2014/main" id="{428230C9-B2FC-5A40-A5DF-DEE75CB70689}"/>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bg1"/>
                </a:solidFill>
              </a:rPr>
              <a:t>9</a:t>
            </a:r>
          </a:p>
        </p:txBody>
      </p:sp>
      <p:sp>
        <p:nvSpPr>
          <p:cNvPr id="104" name="Rectangle: Top Corners Rounded 80">
            <a:extLst>
              <a:ext uri="{FF2B5EF4-FFF2-40B4-BE49-F238E27FC236}">
                <a16:creationId xmlns:a16="http://schemas.microsoft.com/office/drawing/2014/main" id="{D2A67FC0-F4F2-48D0-BB36-F216A3E9A484}"/>
              </a:ext>
            </a:extLst>
          </p:cNvPr>
          <p:cNvSpPr/>
          <p:nvPr/>
        </p:nvSpPr>
        <p:spPr>
          <a:xfrm rot="5400000">
            <a:off x="6970950" y="-1084101"/>
            <a:ext cx="257818" cy="2583568"/>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105" name="Rectangle: Top Corners Rounded 86">
            <a:extLst>
              <a:ext uri="{FF2B5EF4-FFF2-40B4-BE49-F238E27FC236}">
                <a16:creationId xmlns:a16="http://schemas.microsoft.com/office/drawing/2014/main" id="{813E5382-C0F3-41F0-AC3C-21E0CFB41508}"/>
              </a:ext>
            </a:extLst>
          </p:cNvPr>
          <p:cNvSpPr/>
          <p:nvPr/>
        </p:nvSpPr>
        <p:spPr>
          <a:xfrm rot="5400000">
            <a:off x="4314749" y="-1130079"/>
            <a:ext cx="259304" cy="2690651"/>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106" name="Rectangle: Top Corners Rounded 87">
            <a:extLst>
              <a:ext uri="{FF2B5EF4-FFF2-40B4-BE49-F238E27FC236}">
                <a16:creationId xmlns:a16="http://schemas.microsoft.com/office/drawing/2014/main" id="{89797A7F-43CE-46EC-92EB-2EC0E97CA37F}"/>
              </a:ext>
            </a:extLst>
          </p:cNvPr>
          <p:cNvSpPr/>
          <p:nvPr/>
        </p:nvSpPr>
        <p:spPr>
          <a:xfrm rot="5400000">
            <a:off x="1433933" y="-1301896"/>
            <a:ext cx="258681" cy="3034908"/>
          </a:xfrm>
          <a:prstGeom prst="round2SameRect">
            <a:avLst>
              <a:gd name="adj1" fmla="val 0"/>
              <a:gd name="adj2" fmla="val 0"/>
            </a:avLst>
          </a:prstGeom>
          <a:solidFill>
            <a:srgbClr val="FA510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124" name="Rectangle: Top Corners Rounded 88">
            <a:extLst>
              <a:ext uri="{FF2B5EF4-FFF2-40B4-BE49-F238E27FC236}">
                <a16:creationId xmlns:a16="http://schemas.microsoft.com/office/drawing/2014/main" id="{79B7C639-72ED-4B7C-B3EE-AE3A655D99D2}"/>
              </a:ext>
            </a:extLst>
          </p:cNvPr>
          <p:cNvSpPr/>
          <p:nvPr/>
        </p:nvSpPr>
        <p:spPr>
          <a:xfrm rot="5400000">
            <a:off x="9511045" y="-1018245"/>
            <a:ext cx="281245" cy="2464501"/>
          </a:xfrm>
          <a:prstGeom prst="round2SameRect">
            <a:avLst>
              <a:gd name="adj1" fmla="val 5000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937368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3799D-580A-4804-9D89-943508F0DA92}"/>
              </a:ext>
            </a:extLst>
          </p:cNvPr>
          <p:cNvSpPr>
            <a:spLocks noGrp="1"/>
          </p:cNvSpPr>
          <p:nvPr>
            <p:ph type="title"/>
          </p:nvPr>
        </p:nvSpPr>
        <p:spPr/>
        <p:txBody>
          <a:bodyPr/>
          <a:lstStyle/>
          <a:p>
            <a:r>
              <a:rPr lang="en-IN"/>
              <a:t>Key risks and financial implications</a:t>
            </a:r>
          </a:p>
        </p:txBody>
      </p:sp>
      <p:sp>
        <p:nvSpPr>
          <p:cNvPr id="4" name="Rectangle 3">
            <a:extLst>
              <a:ext uri="{FF2B5EF4-FFF2-40B4-BE49-F238E27FC236}">
                <a16:creationId xmlns:a16="http://schemas.microsoft.com/office/drawing/2014/main" id="{93D152F6-5F4E-417B-B9A6-222189D87FD1}"/>
              </a:ext>
            </a:extLst>
          </p:cNvPr>
          <p:cNvSpPr/>
          <p:nvPr/>
        </p:nvSpPr>
        <p:spPr>
          <a:xfrm>
            <a:off x="695447" y="4877248"/>
            <a:ext cx="3974725" cy="250855"/>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Financial Projections</a:t>
            </a:r>
          </a:p>
        </p:txBody>
      </p:sp>
      <p:sp>
        <p:nvSpPr>
          <p:cNvPr id="5" name="Rectangle 4">
            <a:extLst>
              <a:ext uri="{FF2B5EF4-FFF2-40B4-BE49-F238E27FC236}">
                <a16:creationId xmlns:a16="http://schemas.microsoft.com/office/drawing/2014/main" id="{945DCB3E-1454-4E1C-A126-939419076273}"/>
              </a:ext>
            </a:extLst>
          </p:cNvPr>
          <p:cNvSpPr/>
          <p:nvPr/>
        </p:nvSpPr>
        <p:spPr>
          <a:xfrm>
            <a:off x="7103133" y="4876799"/>
            <a:ext cx="2329538" cy="259814"/>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Key Assumptions</a:t>
            </a:r>
          </a:p>
        </p:txBody>
      </p:sp>
      <p:sp>
        <p:nvSpPr>
          <p:cNvPr id="6" name="Rectangle 5">
            <a:extLst>
              <a:ext uri="{FF2B5EF4-FFF2-40B4-BE49-F238E27FC236}">
                <a16:creationId xmlns:a16="http://schemas.microsoft.com/office/drawing/2014/main" id="{D81E5AFD-7D64-4DE7-B715-D4ADDF1B09B2}"/>
              </a:ext>
            </a:extLst>
          </p:cNvPr>
          <p:cNvSpPr/>
          <p:nvPr/>
        </p:nvSpPr>
        <p:spPr>
          <a:xfrm>
            <a:off x="9486899" y="4876799"/>
            <a:ext cx="2401995" cy="259814"/>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Key Metrics</a:t>
            </a:r>
          </a:p>
        </p:txBody>
      </p:sp>
      <p:graphicFrame>
        <p:nvGraphicFramePr>
          <p:cNvPr id="7" name="Chart 6">
            <a:extLst>
              <a:ext uri="{FF2B5EF4-FFF2-40B4-BE49-F238E27FC236}">
                <a16:creationId xmlns:a16="http://schemas.microsoft.com/office/drawing/2014/main" id="{DF0B9B87-2668-485F-9F78-15E8A92673A9}"/>
              </a:ext>
            </a:extLst>
          </p:cNvPr>
          <p:cNvGraphicFramePr>
            <a:graphicFrameLocks/>
          </p:cNvGraphicFramePr>
          <p:nvPr>
            <p:extLst>
              <p:ext uri="{D42A27DB-BD31-4B8C-83A1-F6EECF244321}">
                <p14:modId xmlns:p14="http://schemas.microsoft.com/office/powerpoint/2010/main" val="1583490107"/>
              </p:ext>
            </p:extLst>
          </p:nvPr>
        </p:nvGraphicFramePr>
        <p:xfrm>
          <a:off x="613830" y="4885382"/>
          <a:ext cx="4045947" cy="2134331"/>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7">
            <a:extLst>
              <a:ext uri="{FF2B5EF4-FFF2-40B4-BE49-F238E27FC236}">
                <a16:creationId xmlns:a16="http://schemas.microsoft.com/office/drawing/2014/main" id="{FFE15453-1F28-422D-9917-F6E1F126A80F}"/>
              </a:ext>
            </a:extLst>
          </p:cNvPr>
          <p:cNvSpPr/>
          <p:nvPr/>
        </p:nvSpPr>
        <p:spPr>
          <a:xfrm>
            <a:off x="4724400" y="4876800"/>
            <a:ext cx="2329538" cy="23812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Highlights</a:t>
            </a:r>
          </a:p>
        </p:txBody>
      </p:sp>
      <p:sp>
        <p:nvSpPr>
          <p:cNvPr id="9" name="Rectangle 8">
            <a:extLst>
              <a:ext uri="{FF2B5EF4-FFF2-40B4-BE49-F238E27FC236}">
                <a16:creationId xmlns:a16="http://schemas.microsoft.com/office/drawing/2014/main" id="{E98B6C90-8491-4F8C-9BC0-204FF81E3C32}"/>
              </a:ext>
            </a:extLst>
          </p:cNvPr>
          <p:cNvSpPr/>
          <p:nvPr/>
        </p:nvSpPr>
        <p:spPr>
          <a:xfrm>
            <a:off x="4724400" y="5181601"/>
            <a:ext cx="2329538" cy="1457322"/>
          </a:xfrm>
          <a:prstGeom prst="rect">
            <a:avLst/>
          </a:prstGeom>
          <a:noFill/>
          <a:ln>
            <a:solidFill>
              <a:srgbClr val="FD610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a:solidFill>
                  <a:schemeClr val="tx1"/>
                </a:solidFill>
                <a:latin typeface="Arial" panose="020B0604020202020204" pitchFamily="34" charset="0"/>
                <a:cs typeface="Arial" panose="020B0604020202020204" pitchFamily="34" charset="0"/>
              </a:rPr>
              <a:t>Growth in EBITDA supported by 0.34% additional growth in top line and improvement of 0.58% to the bottom line.</a:t>
            </a:r>
          </a:p>
          <a:p>
            <a:r>
              <a:rPr lang="en-IN" sz="1200">
                <a:solidFill>
                  <a:schemeClr val="tx1"/>
                </a:solidFill>
                <a:latin typeface="Arial" panose="020B0604020202020204" pitchFamily="34" charset="0"/>
                <a:cs typeface="Arial" panose="020B0604020202020204" pitchFamily="34" charset="0"/>
              </a:rPr>
              <a:t>Savings accrue even after 2 years as the industry settles into a new normal.</a:t>
            </a:r>
          </a:p>
        </p:txBody>
      </p:sp>
      <p:sp>
        <p:nvSpPr>
          <p:cNvPr id="10" name="Rectangle 9">
            <a:extLst>
              <a:ext uri="{FF2B5EF4-FFF2-40B4-BE49-F238E27FC236}">
                <a16:creationId xmlns:a16="http://schemas.microsoft.com/office/drawing/2014/main" id="{DE7A0DC0-124B-495B-A8A5-7BF14ED971B5}"/>
              </a:ext>
            </a:extLst>
          </p:cNvPr>
          <p:cNvSpPr/>
          <p:nvPr/>
        </p:nvSpPr>
        <p:spPr>
          <a:xfrm>
            <a:off x="7103133" y="5190235"/>
            <a:ext cx="2329538" cy="1457322"/>
          </a:xfrm>
          <a:prstGeom prst="rect">
            <a:avLst/>
          </a:prstGeom>
          <a:noFill/>
          <a:ln>
            <a:solidFill>
              <a:srgbClr val="FD610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a:solidFill>
                  <a:schemeClr val="tx1"/>
                </a:solidFill>
                <a:latin typeface="Arial" panose="020B0604020202020204" pitchFamily="34" charset="0"/>
                <a:cs typeface="Arial" panose="020B0604020202020204" pitchFamily="34" charset="0"/>
              </a:rPr>
              <a:t>-The investments give results in  same year of implementation</a:t>
            </a:r>
          </a:p>
          <a:p>
            <a:r>
              <a:rPr lang="en-IN" sz="1200">
                <a:solidFill>
                  <a:schemeClr val="tx1"/>
                </a:solidFill>
                <a:latin typeface="Arial" panose="020B0604020202020204" pitchFamily="34" charset="0"/>
                <a:cs typeface="Arial" panose="020B0604020202020204" pitchFamily="34" charset="0"/>
              </a:rPr>
              <a:t>-No drastic development in the pandemic situation for 2 years</a:t>
            </a:r>
          </a:p>
          <a:p>
            <a:r>
              <a:rPr lang="en-IN" sz="1200">
                <a:solidFill>
                  <a:schemeClr val="tx1"/>
                </a:solidFill>
                <a:latin typeface="Arial" panose="020B0604020202020204" pitchFamily="34" charset="0"/>
                <a:cs typeface="Arial" panose="020B0604020202020204" pitchFamily="34" charset="0"/>
              </a:rPr>
              <a:t>-No regulatory issues in implementing recommendation</a:t>
            </a:r>
          </a:p>
          <a:p>
            <a:r>
              <a:rPr lang="en-IN" sz="1200">
                <a:solidFill>
                  <a:schemeClr val="tx1"/>
                </a:solidFill>
                <a:latin typeface="Arial" panose="020B0604020202020204" pitchFamily="34" charset="0"/>
                <a:cs typeface="Arial" panose="020B0604020202020204" pitchFamily="34" charset="0"/>
              </a:rPr>
              <a:t>-Savings to accrue for 5 years</a:t>
            </a:r>
          </a:p>
        </p:txBody>
      </p:sp>
      <p:cxnSp>
        <p:nvCxnSpPr>
          <p:cNvPr id="11" name="Straight Arrow Connector 10">
            <a:extLst>
              <a:ext uri="{FF2B5EF4-FFF2-40B4-BE49-F238E27FC236}">
                <a16:creationId xmlns:a16="http://schemas.microsoft.com/office/drawing/2014/main" id="{8D1AD436-9C4B-4786-A6D0-0D2AED5F95DF}"/>
              </a:ext>
            </a:extLst>
          </p:cNvPr>
          <p:cNvCxnSpPr/>
          <p:nvPr/>
        </p:nvCxnSpPr>
        <p:spPr>
          <a:xfrm flipV="1">
            <a:off x="3362293" y="5705475"/>
            <a:ext cx="234361" cy="85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4B64D61-E69A-4851-99B4-43F438EB061A}"/>
              </a:ext>
            </a:extLst>
          </p:cNvPr>
          <p:cNvCxnSpPr/>
          <p:nvPr/>
        </p:nvCxnSpPr>
        <p:spPr>
          <a:xfrm flipV="1">
            <a:off x="4072685" y="5532103"/>
            <a:ext cx="234361" cy="85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7502661-ECEC-4C46-9C79-416ED0420CB8}"/>
              </a:ext>
            </a:extLst>
          </p:cNvPr>
          <p:cNvSpPr/>
          <p:nvPr/>
        </p:nvSpPr>
        <p:spPr>
          <a:xfrm>
            <a:off x="9509175" y="5169215"/>
            <a:ext cx="2366852" cy="340664"/>
          </a:xfrm>
          <a:prstGeom prst="rect">
            <a:avLst/>
          </a:prstGeom>
          <a:noFill/>
          <a:ln>
            <a:solidFill>
              <a:srgbClr val="FD610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Arial" panose="020B0604020202020204" pitchFamily="34" charset="0"/>
                <a:cs typeface="Arial" panose="020B0604020202020204" pitchFamily="34" charset="0"/>
              </a:rPr>
              <a:t>NPV</a:t>
            </a:r>
            <a:r>
              <a:rPr lang="en-IN" sz="1200" b="1" baseline="30000">
                <a:solidFill>
                  <a:schemeClr val="tx1"/>
                </a:solidFill>
                <a:latin typeface="Arial" panose="020B0604020202020204" pitchFamily="34" charset="0"/>
                <a:cs typeface="Arial" panose="020B0604020202020204" pitchFamily="34" charset="0"/>
              </a:rPr>
              <a:t>1</a:t>
            </a:r>
            <a:r>
              <a:rPr lang="en-IN" sz="1200" b="1">
                <a:solidFill>
                  <a:schemeClr val="tx1"/>
                </a:solidFill>
                <a:latin typeface="Arial" panose="020B0604020202020204" pitchFamily="34" charset="0"/>
                <a:cs typeface="Arial" panose="020B0604020202020204" pitchFamily="34" charset="0"/>
              </a:rPr>
              <a:t> – Rs. 849M </a:t>
            </a:r>
          </a:p>
        </p:txBody>
      </p:sp>
      <p:sp>
        <p:nvSpPr>
          <p:cNvPr id="14" name="Rectangle 13">
            <a:extLst>
              <a:ext uri="{FF2B5EF4-FFF2-40B4-BE49-F238E27FC236}">
                <a16:creationId xmlns:a16="http://schemas.microsoft.com/office/drawing/2014/main" id="{7DED4504-48EB-4923-87C7-2E6F79731026}"/>
              </a:ext>
            </a:extLst>
          </p:cNvPr>
          <p:cNvSpPr/>
          <p:nvPr/>
        </p:nvSpPr>
        <p:spPr>
          <a:xfrm>
            <a:off x="9509175" y="5692748"/>
            <a:ext cx="2366852" cy="340664"/>
          </a:xfrm>
          <a:prstGeom prst="rect">
            <a:avLst/>
          </a:prstGeom>
          <a:noFill/>
          <a:ln>
            <a:solidFill>
              <a:srgbClr val="FD610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latin typeface="Arial" panose="020B0604020202020204" pitchFamily="34" charset="0"/>
                <a:cs typeface="Arial" panose="020B0604020202020204" pitchFamily="34" charset="0"/>
              </a:rPr>
              <a:t>IRR – 44% </a:t>
            </a:r>
          </a:p>
        </p:txBody>
      </p:sp>
      <p:sp>
        <p:nvSpPr>
          <p:cNvPr id="15" name="Rectangle 14">
            <a:extLst>
              <a:ext uri="{FF2B5EF4-FFF2-40B4-BE49-F238E27FC236}">
                <a16:creationId xmlns:a16="http://schemas.microsoft.com/office/drawing/2014/main" id="{AF04CD58-059B-400F-AE27-33047FAA787E}"/>
              </a:ext>
            </a:extLst>
          </p:cNvPr>
          <p:cNvSpPr/>
          <p:nvPr/>
        </p:nvSpPr>
        <p:spPr>
          <a:xfrm>
            <a:off x="9509175" y="6216281"/>
            <a:ext cx="2366852" cy="340664"/>
          </a:xfrm>
          <a:prstGeom prst="rect">
            <a:avLst/>
          </a:prstGeom>
          <a:noFill/>
          <a:ln>
            <a:solidFill>
              <a:srgbClr val="FD610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a:solidFill>
                  <a:schemeClr val="tx1"/>
                </a:solidFill>
                <a:latin typeface="Arial" panose="020B0604020202020204" pitchFamily="34" charset="0"/>
                <a:cs typeface="Arial" panose="020B0604020202020204" pitchFamily="34" charset="0"/>
              </a:rPr>
              <a:t>Savings for 2 years</a:t>
            </a:r>
            <a:r>
              <a:rPr lang="en-IN" sz="1200" baseline="30000">
                <a:solidFill>
                  <a:schemeClr val="tx1"/>
                </a:solidFill>
                <a:latin typeface="Arial" panose="020B0604020202020204" pitchFamily="34" charset="0"/>
                <a:cs typeface="Arial" panose="020B0604020202020204" pitchFamily="34" charset="0"/>
              </a:rPr>
              <a:t>2</a:t>
            </a:r>
            <a:r>
              <a:rPr lang="en-IN" sz="1200">
                <a:solidFill>
                  <a:schemeClr val="tx1"/>
                </a:solidFill>
                <a:latin typeface="Arial" panose="020B0604020202020204" pitchFamily="34" charset="0"/>
                <a:cs typeface="Arial" panose="020B0604020202020204" pitchFamily="34" charset="0"/>
              </a:rPr>
              <a:t>– Rs.533M </a:t>
            </a:r>
          </a:p>
        </p:txBody>
      </p:sp>
      <p:sp>
        <p:nvSpPr>
          <p:cNvPr id="16" name="TextBox 15">
            <a:extLst>
              <a:ext uri="{FF2B5EF4-FFF2-40B4-BE49-F238E27FC236}">
                <a16:creationId xmlns:a16="http://schemas.microsoft.com/office/drawing/2014/main" id="{6BF36C7B-BBC3-47C6-A86D-52198A449731}"/>
              </a:ext>
            </a:extLst>
          </p:cNvPr>
          <p:cNvSpPr txBox="1"/>
          <p:nvPr/>
        </p:nvSpPr>
        <p:spPr>
          <a:xfrm>
            <a:off x="9471310" y="6541730"/>
            <a:ext cx="2587339" cy="338554"/>
          </a:xfrm>
          <a:prstGeom prst="rect">
            <a:avLst/>
          </a:prstGeom>
          <a:noFill/>
        </p:spPr>
        <p:txBody>
          <a:bodyPr wrap="square" rtlCol="0">
            <a:spAutoFit/>
          </a:bodyPr>
          <a:lstStyle/>
          <a:p>
            <a:r>
              <a:rPr lang="en-IN" sz="800"/>
              <a:t>Note 1: measured on incremental savings on EBITDA</a:t>
            </a:r>
          </a:p>
          <a:p>
            <a:r>
              <a:rPr lang="en-IN" sz="800"/>
              <a:t>2- Absolute values on EBITDA, not discounted over time</a:t>
            </a:r>
          </a:p>
        </p:txBody>
      </p:sp>
      <p:sp>
        <p:nvSpPr>
          <p:cNvPr id="17" name="TextBox 16">
            <a:extLst>
              <a:ext uri="{FF2B5EF4-FFF2-40B4-BE49-F238E27FC236}">
                <a16:creationId xmlns:a16="http://schemas.microsoft.com/office/drawing/2014/main" id="{73B63BD2-E82B-48AF-8F49-AE1166AE96F3}"/>
              </a:ext>
            </a:extLst>
          </p:cNvPr>
          <p:cNvSpPr txBox="1"/>
          <p:nvPr/>
        </p:nvSpPr>
        <p:spPr>
          <a:xfrm rot="16200000">
            <a:off x="7165319" y="2935129"/>
            <a:ext cx="1853681" cy="274316"/>
          </a:xfrm>
          <a:prstGeom prst="rect">
            <a:avLst/>
          </a:prstGeom>
          <a:solidFill>
            <a:srgbClr val="35335F"/>
          </a:solidFill>
        </p:spPr>
        <p:txBody>
          <a:bodyPr wrap="square" lIns="88900" tIns="38100" rIns="88900" bIns="38100">
            <a:noAutofit/>
          </a:bodyPr>
          <a:lstStyle/>
          <a:p>
            <a:pPr algn="ctr"/>
            <a:r>
              <a:rPr lang="en-IN" sz="1200" b="1">
                <a:solidFill>
                  <a:schemeClr val="bg1"/>
                </a:solidFill>
              </a:rPr>
              <a:t>Probability of Impact</a:t>
            </a:r>
          </a:p>
        </p:txBody>
      </p:sp>
      <p:sp>
        <p:nvSpPr>
          <p:cNvPr id="18" name="TextBox 17">
            <a:extLst>
              <a:ext uri="{FF2B5EF4-FFF2-40B4-BE49-F238E27FC236}">
                <a16:creationId xmlns:a16="http://schemas.microsoft.com/office/drawing/2014/main" id="{DEFA4B98-402B-4EDE-AB94-EC1DC1E43440}"/>
              </a:ext>
            </a:extLst>
          </p:cNvPr>
          <p:cNvSpPr txBox="1"/>
          <p:nvPr/>
        </p:nvSpPr>
        <p:spPr>
          <a:xfrm>
            <a:off x="8953084" y="4568381"/>
            <a:ext cx="1930609" cy="263385"/>
          </a:xfrm>
          <a:prstGeom prst="rect">
            <a:avLst/>
          </a:prstGeom>
          <a:solidFill>
            <a:srgbClr val="35335F"/>
          </a:solidFill>
        </p:spPr>
        <p:txBody>
          <a:bodyPr wrap="square" lIns="88900" tIns="38100" rIns="88900" bIns="38100">
            <a:spAutoFit/>
          </a:bodyPr>
          <a:lstStyle/>
          <a:p>
            <a:pPr algn="ctr"/>
            <a:r>
              <a:rPr lang="en-IN" sz="1200" b="1">
                <a:solidFill>
                  <a:schemeClr val="bg1"/>
                </a:solidFill>
              </a:rPr>
              <a:t>Potential Cost of Impact</a:t>
            </a:r>
          </a:p>
        </p:txBody>
      </p:sp>
      <p:sp>
        <p:nvSpPr>
          <p:cNvPr id="19" name="Rectangle 18">
            <a:extLst>
              <a:ext uri="{FF2B5EF4-FFF2-40B4-BE49-F238E27FC236}">
                <a16:creationId xmlns:a16="http://schemas.microsoft.com/office/drawing/2014/main" id="{0BDD8117-E307-4C63-A6E4-8CFFF7B25F06}"/>
              </a:ext>
            </a:extLst>
          </p:cNvPr>
          <p:cNvSpPr>
            <a:spLocks noChangeAspect="1"/>
          </p:cNvSpPr>
          <p:nvPr/>
        </p:nvSpPr>
        <p:spPr>
          <a:xfrm>
            <a:off x="8238354" y="1627627"/>
            <a:ext cx="3586045" cy="2982925"/>
          </a:xfrm>
          <a:prstGeom prst="rect">
            <a:avLst/>
          </a:prstGeom>
          <a:gradFill flip="none" rotWithShape="1">
            <a:gsLst>
              <a:gs pos="100000">
                <a:srgbClr val="F1523C"/>
              </a:gs>
              <a:gs pos="50000">
                <a:schemeClr val="accent4"/>
              </a:gs>
              <a:gs pos="0">
                <a:srgbClr val="00B050"/>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71CEC4B0-A566-46A3-8919-5CB0499F6800}"/>
              </a:ext>
            </a:extLst>
          </p:cNvPr>
          <p:cNvCxnSpPr>
            <a:cxnSpLocks/>
          </p:cNvCxnSpPr>
          <p:nvPr/>
        </p:nvCxnSpPr>
        <p:spPr>
          <a:xfrm>
            <a:off x="8223579" y="1584840"/>
            <a:ext cx="14775" cy="3046260"/>
          </a:xfrm>
          <a:prstGeom prst="line">
            <a:avLst/>
          </a:prstGeom>
          <a:ln w="38100">
            <a:solidFill>
              <a:srgbClr val="402B7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D19D2F-F730-4351-A7D7-E0F312DFD99E}"/>
              </a:ext>
            </a:extLst>
          </p:cNvPr>
          <p:cNvSpPr txBox="1"/>
          <p:nvPr/>
        </p:nvSpPr>
        <p:spPr>
          <a:xfrm>
            <a:off x="7889759" y="4600279"/>
            <a:ext cx="470640" cy="278879"/>
          </a:xfrm>
          <a:prstGeom prst="rect">
            <a:avLst/>
          </a:prstGeom>
          <a:noFill/>
        </p:spPr>
        <p:txBody>
          <a:bodyPr wrap="square" rtlCol="0">
            <a:spAutoFit/>
          </a:bodyPr>
          <a:lstStyle/>
          <a:p>
            <a:pPr algn="ctr"/>
            <a:r>
              <a:rPr lang="en-IN" sz="1200" b="1"/>
              <a:t>Low</a:t>
            </a:r>
          </a:p>
        </p:txBody>
      </p:sp>
      <p:sp>
        <p:nvSpPr>
          <p:cNvPr id="22" name="TextBox 21">
            <a:extLst>
              <a:ext uri="{FF2B5EF4-FFF2-40B4-BE49-F238E27FC236}">
                <a16:creationId xmlns:a16="http://schemas.microsoft.com/office/drawing/2014/main" id="{811D9036-A917-476A-A41B-9929C9D0C0BD}"/>
              </a:ext>
            </a:extLst>
          </p:cNvPr>
          <p:cNvSpPr txBox="1"/>
          <p:nvPr/>
        </p:nvSpPr>
        <p:spPr>
          <a:xfrm>
            <a:off x="11387662" y="4610552"/>
            <a:ext cx="501232" cy="278879"/>
          </a:xfrm>
          <a:prstGeom prst="rect">
            <a:avLst/>
          </a:prstGeom>
          <a:noFill/>
        </p:spPr>
        <p:txBody>
          <a:bodyPr wrap="square" rtlCol="0">
            <a:spAutoFit/>
          </a:bodyPr>
          <a:lstStyle/>
          <a:p>
            <a:pPr algn="ctr"/>
            <a:r>
              <a:rPr lang="en-IN" sz="1200" b="1"/>
              <a:t>High</a:t>
            </a:r>
          </a:p>
        </p:txBody>
      </p:sp>
      <p:sp>
        <p:nvSpPr>
          <p:cNvPr id="23" name="TextBox 22">
            <a:extLst>
              <a:ext uri="{FF2B5EF4-FFF2-40B4-BE49-F238E27FC236}">
                <a16:creationId xmlns:a16="http://schemas.microsoft.com/office/drawing/2014/main" id="{218FC759-BDFC-47B5-A9C9-F3B908162CD5}"/>
              </a:ext>
            </a:extLst>
          </p:cNvPr>
          <p:cNvSpPr txBox="1"/>
          <p:nvPr/>
        </p:nvSpPr>
        <p:spPr>
          <a:xfrm>
            <a:off x="7728086" y="1548250"/>
            <a:ext cx="501232" cy="278879"/>
          </a:xfrm>
          <a:prstGeom prst="rect">
            <a:avLst/>
          </a:prstGeom>
          <a:noFill/>
        </p:spPr>
        <p:txBody>
          <a:bodyPr wrap="square" rtlCol="0">
            <a:spAutoFit/>
          </a:bodyPr>
          <a:lstStyle/>
          <a:p>
            <a:pPr algn="ctr"/>
            <a:r>
              <a:rPr lang="en-IN" sz="1200" b="1"/>
              <a:t>High</a:t>
            </a:r>
          </a:p>
        </p:txBody>
      </p:sp>
      <p:cxnSp>
        <p:nvCxnSpPr>
          <p:cNvPr id="27" name="Straight Connector 26">
            <a:extLst>
              <a:ext uri="{FF2B5EF4-FFF2-40B4-BE49-F238E27FC236}">
                <a16:creationId xmlns:a16="http://schemas.microsoft.com/office/drawing/2014/main" id="{E997377D-0C2B-404F-8B9E-6FBE9F63CE4D}"/>
              </a:ext>
            </a:extLst>
          </p:cNvPr>
          <p:cNvCxnSpPr>
            <a:cxnSpLocks/>
          </p:cNvCxnSpPr>
          <p:nvPr/>
        </p:nvCxnSpPr>
        <p:spPr>
          <a:xfrm flipH="1" flipV="1">
            <a:off x="8238353" y="4610552"/>
            <a:ext cx="3650541" cy="1"/>
          </a:xfrm>
          <a:prstGeom prst="line">
            <a:avLst/>
          </a:prstGeom>
          <a:ln w="38100">
            <a:solidFill>
              <a:srgbClr val="402B7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2" name="Table 32">
            <a:extLst>
              <a:ext uri="{FF2B5EF4-FFF2-40B4-BE49-F238E27FC236}">
                <a16:creationId xmlns:a16="http://schemas.microsoft.com/office/drawing/2014/main" id="{134BF372-5820-4442-ABB4-C9DD0514C1EC}"/>
              </a:ext>
            </a:extLst>
          </p:cNvPr>
          <p:cNvGraphicFramePr>
            <a:graphicFrameLocks noGrp="1"/>
          </p:cNvGraphicFramePr>
          <p:nvPr>
            <p:extLst>
              <p:ext uri="{D42A27DB-BD31-4B8C-83A1-F6EECF244321}">
                <p14:modId xmlns:p14="http://schemas.microsoft.com/office/powerpoint/2010/main" val="161965449"/>
              </p:ext>
            </p:extLst>
          </p:nvPr>
        </p:nvGraphicFramePr>
        <p:xfrm>
          <a:off x="579267" y="1642921"/>
          <a:ext cx="7148818" cy="2980788"/>
        </p:xfrm>
        <a:graphic>
          <a:graphicData uri="http://schemas.openxmlformats.org/drawingml/2006/table">
            <a:tbl>
              <a:tblPr firstRow="1" bandRow="1">
                <a:tableStyleId>{5C22544A-7EE6-4342-B048-85BDC9FD1C3A}</a:tableStyleId>
              </a:tblPr>
              <a:tblGrid>
                <a:gridCol w="3674366">
                  <a:extLst>
                    <a:ext uri="{9D8B030D-6E8A-4147-A177-3AD203B41FA5}">
                      <a16:colId xmlns:a16="http://schemas.microsoft.com/office/drawing/2014/main" val="1248194691"/>
                    </a:ext>
                  </a:extLst>
                </a:gridCol>
                <a:gridCol w="3474452">
                  <a:extLst>
                    <a:ext uri="{9D8B030D-6E8A-4147-A177-3AD203B41FA5}">
                      <a16:colId xmlns:a16="http://schemas.microsoft.com/office/drawing/2014/main" val="1630117123"/>
                    </a:ext>
                  </a:extLst>
                </a:gridCol>
              </a:tblGrid>
              <a:tr h="345789">
                <a:tc>
                  <a:txBody>
                    <a:bodyPr/>
                    <a:lstStyle/>
                    <a:p>
                      <a:pPr algn="ctr"/>
                      <a:r>
                        <a:rPr lang="en-IN" sz="1200">
                          <a:solidFill>
                            <a:schemeClr val="tx1"/>
                          </a:solidFill>
                          <a:latin typeface="Arial" panose="020B0604020202020204" pitchFamily="34" charset="0"/>
                          <a:cs typeface="Arial" panose="020B0604020202020204" pitchFamily="34" charset="0"/>
                        </a:rPr>
                        <a:t>Potential Risks</a:t>
                      </a:r>
                    </a:p>
                  </a:txBody>
                  <a:tcPr>
                    <a:solidFill>
                      <a:srgbClr val="F4B183"/>
                    </a:solidFill>
                  </a:tcPr>
                </a:tc>
                <a:tc>
                  <a:txBody>
                    <a:bodyPr/>
                    <a:lstStyle/>
                    <a:p>
                      <a:pPr algn="ctr"/>
                      <a:r>
                        <a:rPr lang="en-IN" sz="1200">
                          <a:solidFill>
                            <a:schemeClr val="tx1"/>
                          </a:solidFill>
                          <a:latin typeface="Arial" panose="020B0604020202020204" pitchFamily="34" charset="0"/>
                          <a:cs typeface="Arial" panose="020B0604020202020204" pitchFamily="34" charset="0"/>
                        </a:rPr>
                        <a:t>Mitigation Strategies</a:t>
                      </a:r>
                    </a:p>
                  </a:txBody>
                  <a:tcPr>
                    <a:solidFill>
                      <a:srgbClr val="F4B183"/>
                    </a:solidFill>
                  </a:tcPr>
                </a:tc>
                <a:extLst>
                  <a:ext uri="{0D108BD9-81ED-4DB2-BD59-A6C34878D82A}">
                    <a16:rowId xmlns:a16="http://schemas.microsoft.com/office/drawing/2014/main" val="1271798625"/>
                  </a:ext>
                </a:extLst>
              </a:tr>
              <a:tr h="486207">
                <a:tc>
                  <a:txBody>
                    <a:bodyPr/>
                    <a:lstStyle/>
                    <a:p>
                      <a:r>
                        <a:rPr lang="en-IN" sz="1200" b="1">
                          <a:latin typeface="Arial" panose="020B0604020202020204" pitchFamily="34" charset="0"/>
                          <a:cs typeface="Arial" panose="020B0604020202020204" pitchFamily="34" charset="0"/>
                        </a:rPr>
                        <a:t>Increased regulation </a:t>
                      </a:r>
                      <a:r>
                        <a:rPr lang="en-IN" sz="1200">
                          <a:latin typeface="Arial" panose="020B0604020202020204" pitchFamily="34" charset="0"/>
                          <a:cs typeface="Arial" panose="020B0604020202020204" pitchFamily="34" charset="0"/>
                        </a:rPr>
                        <a:t>around online pharmacies and pushback from current retail pharmacies</a:t>
                      </a:r>
                    </a:p>
                  </a:txBody>
                  <a:tcPr>
                    <a:solidFill>
                      <a:schemeClr val="accent2">
                        <a:lumMod val="20000"/>
                        <a:lumOff val="80000"/>
                      </a:schemeClr>
                    </a:solidFill>
                  </a:tcPr>
                </a:tc>
                <a:tc>
                  <a:txBody>
                    <a:bodyPr/>
                    <a:lstStyle/>
                    <a:p>
                      <a:r>
                        <a:rPr lang="en-IN" sz="1200">
                          <a:latin typeface="Arial" panose="020B0604020202020204" pitchFamily="34" charset="0"/>
                          <a:cs typeface="Arial" panose="020B0604020202020204" pitchFamily="34" charset="0"/>
                        </a:rPr>
                        <a:t>Early entry and consolidation of market, focus on rural reach and business diversification</a:t>
                      </a:r>
                    </a:p>
                  </a:txBody>
                  <a:tcPr>
                    <a:solidFill>
                      <a:schemeClr val="accent2">
                        <a:lumMod val="20000"/>
                        <a:lumOff val="80000"/>
                      </a:schemeClr>
                    </a:solidFill>
                  </a:tcPr>
                </a:tc>
                <a:extLst>
                  <a:ext uri="{0D108BD9-81ED-4DB2-BD59-A6C34878D82A}">
                    <a16:rowId xmlns:a16="http://schemas.microsoft.com/office/drawing/2014/main" val="821904930"/>
                  </a:ext>
                </a:extLst>
              </a:tr>
              <a:tr h="537198">
                <a:tc>
                  <a:txBody>
                    <a:bodyPr/>
                    <a:lstStyle/>
                    <a:p>
                      <a:r>
                        <a:rPr lang="en-IN" sz="1200">
                          <a:latin typeface="Arial" panose="020B0604020202020204" pitchFamily="34" charset="0"/>
                          <a:cs typeface="Arial" panose="020B0604020202020204" pitchFamily="34" charset="0"/>
                        </a:rPr>
                        <a:t>Slow adoption of digitization in the supply chain and lack of coherence</a:t>
                      </a:r>
                    </a:p>
                  </a:txBody>
                  <a:tcPr>
                    <a:solidFill>
                      <a:schemeClr val="accent2">
                        <a:lumMod val="20000"/>
                        <a:lumOff val="80000"/>
                      </a:schemeClr>
                    </a:solidFill>
                  </a:tcPr>
                </a:tc>
                <a:tc>
                  <a:txBody>
                    <a:bodyPr/>
                    <a:lstStyle/>
                    <a:p>
                      <a:r>
                        <a:rPr lang="en-IN" sz="1200">
                          <a:latin typeface="Arial" panose="020B0604020202020204" pitchFamily="34" charset="0"/>
                          <a:cs typeface="Arial" panose="020B0604020202020204" pitchFamily="34" charset="0"/>
                        </a:rPr>
                        <a:t>Stress on values of development and team work pushing innovation driven culture</a:t>
                      </a:r>
                    </a:p>
                  </a:txBody>
                  <a:tcPr>
                    <a:solidFill>
                      <a:schemeClr val="accent2">
                        <a:lumMod val="20000"/>
                        <a:lumOff val="80000"/>
                      </a:schemeClr>
                    </a:solidFill>
                  </a:tcPr>
                </a:tc>
                <a:extLst>
                  <a:ext uri="{0D108BD9-81ED-4DB2-BD59-A6C34878D82A}">
                    <a16:rowId xmlns:a16="http://schemas.microsoft.com/office/drawing/2014/main" val="1836711015"/>
                  </a:ext>
                </a:extLst>
              </a:tr>
              <a:tr h="537198">
                <a:tc>
                  <a:txBody>
                    <a:bodyPr/>
                    <a:lstStyle/>
                    <a:p>
                      <a:r>
                        <a:rPr lang="en-IN" sz="1200">
                          <a:latin typeface="Arial" panose="020B0604020202020204" pitchFamily="34" charset="0"/>
                          <a:cs typeface="Arial" panose="020B0604020202020204" pitchFamily="34" charset="0"/>
                        </a:rPr>
                        <a:t>Hassle in adoption of digital platforms by doctors, may simply resort to use of common VC platforms</a:t>
                      </a:r>
                    </a:p>
                  </a:txBody>
                  <a:tcPr>
                    <a:solidFill>
                      <a:schemeClr val="accent2">
                        <a:lumMod val="20000"/>
                        <a:lumOff val="80000"/>
                      </a:schemeClr>
                    </a:solidFill>
                  </a:tcPr>
                </a:tc>
                <a:tc>
                  <a:txBody>
                    <a:bodyPr/>
                    <a:lstStyle/>
                    <a:p>
                      <a:r>
                        <a:rPr lang="en-IN" sz="1200">
                          <a:latin typeface="Arial" panose="020B0604020202020204" pitchFamily="34" charset="0"/>
                          <a:cs typeface="Arial" panose="020B0604020202020204" pitchFamily="34" charset="0"/>
                        </a:rPr>
                        <a:t> Rolling out incentives to use platform and personalized marketing</a:t>
                      </a:r>
                    </a:p>
                  </a:txBody>
                  <a:tcPr>
                    <a:solidFill>
                      <a:schemeClr val="accent2">
                        <a:lumMod val="20000"/>
                        <a:lumOff val="80000"/>
                      </a:schemeClr>
                    </a:solidFill>
                  </a:tcPr>
                </a:tc>
                <a:extLst>
                  <a:ext uri="{0D108BD9-81ED-4DB2-BD59-A6C34878D82A}">
                    <a16:rowId xmlns:a16="http://schemas.microsoft.com/office/drawing/2014/main" val="1688570451"/>
                  </a:ext>
                </a:extLst>
              </a:tr>
              <a:tr h="537198">
                <a:tc>
                  <a:txBody>
                    <a:bodyPr/>
                    <a:lstStyle/>
                    <a:p>
                      <a:r>
                        <a:rPr lang="en-IN" sz="1200">
                          <a:latin typeface="Arial" panose="020B0604020202020204" pitchFamily="34" charset="0"/>
                          <a:cs typeface="Arial" panose="020B0604020202020204" pitchFamily="34" charset="0"/>
                        </a:rPr>
                        <a:t>Leakage/Breach of confidential data of patients or doctors </a:t>
                      </a:r>
                    </a:p>
                  </a:txBody>
                  <a:tcPr>
                    <a:solidFill>
                      <a:schemeClr val="accent2">
                        <a:lumMod val="20000"/>
                        <a:lumOff val="80000"/>
                      </a:schemeClr>
                    </a:solidFill>
                  </a:tcPr>
                </a:tc>
                <a:tc>
                  <a:txBody>
                    <a:bodyPr/>
                    <a:lstStyle/>
                    <a:p>
                      <a:r>
                        <a:rPr lang="en-IN" sz="1200">
                          <a:latin typeface="Arial" panose="020B0604020202020204" pitchFamily="34" charset="0"/>
                          <a:cs typeface="Arial" panose="020B0604020202020204" pitchFamily="34" charset="0"/>
                        </a:rPr>
                        <a:t> Apart from data security, having a BCP for any data breach</a:t>
                      </a:r>
                    </a:p>
                  </a:txBody>
                  <a:tcPr>
                    <a:solidFill>
                      <a:schemeClr val="accent2">
                        <a:lumMod val="20000"/>
                        <a:lumOff val="80000"/>
                      </a:schemeClr>
                    </a:solidFill>
                  </a:tcPr>
                </a:tc>
                <a:extLst>
                  <a:ext uri="{0D108BD9-81ED-4DB2-BD59-A6C34878D82A}">
                    <a16:rowId xmlns:a16="http://schemas.microsoft.com/office/drawing/2014/main" val="151160113"/>
                  </a:ext>
                </a:extLst>
              </a:tr>
              <a:tr h="537198">
                <a:tc>
                  <a:txBody>
                    <a:bodyPr/>
                    <a:lstStyle/>
                    <a:p>
                      <a:r>
                        <a:rPr lang="en-IN" sz="1200">
                          <a:latin typeface="Arial" panose="020B0604020202020204" pitchFamily="34" charset="0"/>
                          <a:cs typeface="Arial" panose="020B0604020202020204" pitchFamily="34" charset="0"/>
                        </a:rPr>
                        <a:t>Increased workload for medical representatives with digital engagement</a:t>
                      </a:r>
                    </a:p>
                  </a:txBody>
                  <a:tcPr>
                    <a:solidFill>
                      <a:schemeClr val="accent2">
                        <a:lumMod val="20000"/>
                        <a:lumOff val="80000"/>
                      </a:schemeClr>
                    </a:solidFill>
                  </a:tcPr>
                </a:tc>
                <a:tc>
                  <a:txBody>
                    <a:bodyPr/>
                    <a:lstStyle/>
                    <a:p>
                      <a:r>
                        <a:rPr lang="en-IN" sz="1200">
                          <a:latin typeface="Arial" panose="020B0604020202020204" pitchFamily="34" charset="0"/>
                          <a:cs typeface="Arial" panose="020B0604020202020204" pitchFamily="34" charset="0"/>
                        </a:rPr>
                        <a:t> Provide training programs and digital empowerment to medical reps</a:t>
                      </a:r>
                    </a:p>
                  </a:txBody>
                  <a:tcPr>
                    <a:solidFill>
                      <a:schemeClr val="accent2">
                        <a:lumMod val="20000"/>
                        <a:lumOff val="80000"/>
                      </a:schemeClr>
                    </a:solidFill>
                  </a:tcPr>
                </a:tc>
                <a:extLst>
                  <a:ext uri="{0D108BD9-81ED-4DB2-BD59-A6C34878D82A}">
                    <a16:rowId xmlns:a16="http://schemas.microsoft.com/office/drawing/2014/main" val="1393770016"/>
                  </a:ext>
                </a:extLst>
              </a:tr>
            </a:tbl>
          </a:graphicData>
        </a:graphic>
      </p:graphicFrame>
      <p:sp>
        <p:nvSpPr>
          <p:cNvPr id="38" name="Rectangle 37">
            <a:extLst>
              <a:ext uri="{FF2B5EF4-FFF2-40B4-BE49-F238E27FC236}">
                <a16:creationId xmlns:a16="http://schemas.microsoft.com/office/drawing/2014/main" id="{C5C463C9-3101-4F35-BA17-0F4701ACD033}"/>
              </a:ext>
            </a:extLst>
          </p:cNvPr>
          <p:cNvSpPr/>
          <p:nvPr/>
        </p:nvSpPr>
        <p:spPr>
          <a:xfrm>
            <a:off x="579266" y="1297367"/>
            <a:ext cx="7148819" cy="278878"/>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Key risks and mitigation strategies</a:t>
            </a:r>
          </a:p>
        </p:txBody>
      </p:sp>
      <p:sp>
        <p:nvSpPr>
          <p:cNvPr id="39" name="Rectangle 38">
            <a:extLst>
              <a:ext uri="{FF2B5EF4-FFF2-40B4-BE49-F238E27FC236}">
                <a16:creationId xmlns:a16="http://schemas.microsoft.com/office/drawing/2014/main" id="{5BD9B767-2939-4604-BF23-AEC4448F9D51}"/>
              </a:ext>
            </a:extLst>
          </p:cNvPr>
          <p:cNvSpPr/>
          <p:nvPr/>
        </p:nvSpPr>
        <p:spPr>
          <a:xfrm>
            <a:off x="8165709" y="1277393"/>
            <a:ext cx="3795827" cy="278878"/>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a:solidFill>
                  <a:schemeClr val="tx1"/>
                </a:solidFill>
                <a:latin typeface="Arial" panose="020B0604020202020204" pitchFamily="34" charset="0"/>
                <a:cs typeface="Arial" panose="020B0604020202020204" pitchFamily="34" charset="0"/>
              </a:rPr>
              <a:t>Risk assessment</a:t>
            </a:r>
          </a:p>
        </p:txBody>
      </p:sp>
      <p:sp>
        <p:nvSpPr>
          <p:cNvPr id="40" name="Oval 39">
            <a:extLst>
              <a:ext uri="{FF2B5EF4-FFF2-40B4-BE49-F238E27FC236}">
                <a16:creationId xmlns:a16="http://schemas.microsoft.com/office/drawing/2014/main" id="{06761809-550F-4CBE-B894-5EE351C0E0F8}"/>
              </a:ext>
            </a:extLst>
          </p:cNvPr>
          <p:cNvSpPr/>
          <p:nvPr/>
        </p:nvSpPr>
        <p:spPr>
          <a:xfrm>
            <a:off x="322509" y="2145446"/>
            <a:ext cx="207508" cy="192664"/>
          </a:xfrm>
          <a:prstGeom prst="ellipse">
            <a:avLst/>
          </a:prstGeom>
          <a:solidFill>
            <a:srgbClr val="FF640A"/>
          </a:solidFill>
          <a:ln>
            <a:solidFill>
              <a:srgbClr val="FF6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1</a:t>
            </a:r>
          </a:p>
        </p:txBody>
      </p:sp>
      <p:sp>
        <p:nvSpPr>
          <p:cNvPr id="41" name="Oval 40">
            <a:extLst>
              <a:ext uri="{FF2B5EF4-FFF2-40B4-BE49-F238E27FC236}">
                <a16:creationId xmlns:a16="http://schemas.microsoft.com/office/drawing/2014/main" id="{39EC353F-BED0-4BB8-B12E-580FFA4338D9}"/>
              </a:ext>
            </a:extLst>
          </p:cNvPr>
          <p:cNvSpPr/>
          <p:nvPr/>
        </p:nvSpPr>
        <p:spPr>
          <a:xfrm>
            <a:off x="316277" y="2647571"/>
            <a:ext cx="207508" cy="192664"/>
          </a:xfrm>
          <a:prstGeom prst="ellipse">
            <a:avLst/>
          </a:prstGeom>
          <a:solidFill>
            <a:srgbClr val="FF640A"/>
          </a:solidFill>
          <a:ln>
            <a:solidFill>
              <a:srgbClr val="FF6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2</a:t>
            </a:r>
          </a:p>
        </p:txBody>
      </p:sp>
      <p:sp>
        <p:nvSpPr>
          <p:cNvPr id="42" name="Oval 41">
            <a:extLst>
              <a:ext uri="{FF2B5EF4-FFF2-40B4-BE49-F238E27FC236}">
                <a16:creationId xmlns:a16="http://schemas.microsoft.com/office/drawing/2014/main" id="{42E13AEF-A346-4913-B4B6-C84449DDE7E7}"/>
              </a:ext>
            </a:extLst>
          </p:cNvPr>
          <p:cNvSpPr/>
          <p:nvPr/>
        </p:nvSpPr>
        <p:spPr>
          <a:xfrm>
            <a:off x="316277" y="3149696"/>
            <a:ext cx="207508" cy="192664"/>
          </a:xfrm>
          <a:prstGeom prst="ellipse">
            <a:avLst/>
          </a:prstGeom>
          <a:solidFill>
            <a:srgbClr val="FF640A"/>
          </a:solidFill>
          <a:ln>
            <a:solidFill>
              <a:srgbClr val="FF6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3</a:t>
            </a:r>
          </a:p>
        </p:txBody>
      </p:sp>
      <p:sp>
        <p:nvSpPr>
          <p:cNvPr id="43" name="Oval 42">
            <a:extLst>
              <a:ext uri="{FF2B5EF4-FFF2-40B4-BE49-F238E27FC236}">
                <a16:creationId xmlns:a16="http://schemas.microsoft.com/office/drawing/2014/main" id="{8C70834D-9A56-4D7D-920C-B677E5230A18}"/>
              </a:ext>
            </a:extLst>
          </p:cNvPr>
          <p:cNvSpPr/>
          <p:nvPr/>
        </p:nvSpPr>
        <p:spPr>
          <a:xfrm>
            <a:off x="316277" y="3651821"/>
            <a:ext cx="207508" cy="192664"/>
          </a:xfrm>
          <a:prstGeom prst="ellipse">
            <a:avLst/>
          </a:prstGeom>
          <a:solidFill>
            <a:srgbClr val="FF640A"/>
          </a:solidFill>
          <a:ln>
            <a:solidFill>
              <a:srgbClr val="FF6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4</a:t>
            </a:r>
          </a:p>
        </p:txBody>
      </p:sp>
      <p:sp>
        <p:nvSpPr>
          <p:cNvPr id="44" name="Oval 43">
            <a:extLst>
              <a:ext uri="{FF2B5EF4-FFF2-40B4-BE49-F238E27FC236}">
                <a16:creationId xmlns:a16="http://schemas.microsoft.com/office/drawing/2014/main" id="{331790BE-AA91-48EE-BD2A-B760363E8A37}"/>
              </a:ext>
            </a:extLst>
          </p:cNvPr>
          <p:cNvSpPr/>
          <p:nvPr/>
        </p:nvSpPr>
        <p:spPr>
          <a:xfrm>
            <a:off x="316277" y="4153946"/>
            <a:ext cx="207508" cy="192664"/>
          </a:xfrm>
          <a:prstGeom prst="ellipse">
            <a:avLst/>
          </a:prstGeom>
          <a:solidFill>
            <a:srgbClr val="FF640A"/>
          </a:solidFill>
          <a:ln>
            <a:solidFill>
              <a:srgbClr val="FF6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5</a:t>
            </a:r>
          </a:p>
        </p:txBody>
      </p:sp>
      <p:sp>
        <p:nvSpPr>
          <p:cNvPr id="55" name="Oval 54">
            <a:extLst>
              <a:ext uri="{FF2B5EF4-FFF2-40B4-BE49-F238E27FC236}">
                <a16:creationId xmlns:a16="http://schemas.microsoft.com/office/drawing/2014/main" id="{49259571-9E50-4F2E-833B-76F30BA95387}"/>
              </a:ext>
            </a:extLst>
          </p:cNvPr>
          <p:cNvSpPr/>
          <p:nvPr/>
        </p:nvSpPr>
        <p:spPr>
          <a:xfrm rot="20948849">
            <a:off x="10584671" y="1708867"/>
            <a:ext cx="965478" cy="2529696"/>
          </a:xfrm>
          <a:prstGeom prst="ellipse">
            <a:avLst/>
          </a:prstGeom>
          <a:solidFill>
            <a:schemeClr val="bg1">
              <a:lumMod val="95000"/>
              <a:alpha val="39000"/>
            </a:schemeClr>
          </a:solid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900"/>
          </a:p>
        </p:txBody>
      </p:sp>
      <p:sp>
        <p:nvSpPr>
          <p:cNvPr id="50" name="Oval 49">
            <a:extLst>
              <a:ext uri="{FF2B5EF4-FFF2-40B4-BE49-F238E27FC236}">
                <a16:creationId xmlns:a16="http://schemas.microsoft.com/office/drawing/2014/main" id="{36BA5C18-65A7-4606-8490-DC16328FB2CC}"/>
              </a:ext>
            </a:extLst>
          </p:cNvPr>
          <p:cNvSpPr/>
          <p:nvPr/>
        </p:nvSpPr>
        <p:spPr>
          <a:xfrm>
            <a:off x="11092643" y="3651821"/>
            <a:ext cx="207508" cy="192664"/>
          </a:xfrm>
          <a:prstGeom prst="ellipse">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1</a:t>
            </a:r>
          </a:p>
        </p:txBody>
      </p:sp>
      <p:sp>
        <p:nvSpPr>
          <p:cNvPr id="51" name="Oval 50">
            <a:extLst>
              <a:ext uri="{FF2B5EF4-FFF2-40B4-BE49-F238E27FC236}">
                <a16:creationId xmlns:a16="http://schemas.microsoft.com/office/drawing/2014/main" id="{7DB1FC09-C728-4C9C-A2F0-50C773DC91A2}"/>
              </a:ext>
            </a:extLst>
          </p:cNvPr>
          <p:cNvSpPr/>
          <p:nvPr/>
        </p:nvSpPr>
        <p:spPr>
          <a:xfrm>
            <a:off x="9561744" y="2544008"/>
            <a:ext cx="207508" cy="192664"/>
          </a:xfrm>
          <a:prstGeom prst="ellipse">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2</a:t>
            </a:r>
          </a:p>
        </p:txBody>
      </p:sp>
      <p:sp>
        <p:nvSpPr>
          <p:cNvPr id="52" name="Oval 51">
            <a:extLst>
              <a:ext uri="{FF2B5EF4-FFF2-40B4-BE49-F238E27FC236}">
                <a16:creationId xmlns:a16="http://schemas.microsoft.com/office/drawing/2014/main" id="{924E9390-EC4F-45D5-ADE4-FB27BD120F35}"/>
              </a:ext>
            </a:extLst>
          </p:cNvPr>
          <p:cNvSpPr/>
          <p:nvPr/>
        </p:nvSpPr>
        <p:spPr>
          <a:xfrm>
            <a:off x="8474911" y="1906564"/>
            <a:ext cx="207508" cy="192664"/>
          </a:xfrm>
          <a:prstGeom prst="ellipse">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3</a:t>
            </a:r>
          </a:p>
        </p:txBody>
      </p:sp>
      <p:sp>
        <p:nvSpPr>
          <p:cNvPr id="53" name="Oval 52">
            <a:extLst>
              <a:ext uri="{FF2B5EF4-FFF2-40B4-BE49-F238E27FC236}">
                <a16:creationId xmlns:a16="http://schemas.microsoft.com/office/drawing/2014/main" id="{62777AE4-657D-4A38-ADAD-7FF369C18B8D}"/>
              </a:ext>
            </a:extLst>
          </p:cNvPr>
          <p:cNvSpPr/>
          <p:nvPr/>
        </p:nvSpPr>
        <p:spPr>
          <a:xfrm>
            <a:off x="10716720" y="1985811"/>
            <a:ext cx="207508" cy="192664"/>
          </a:xfrm>
          <a:prstGeom prst="ellipse">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4</a:t>
            </a:r>
          </a:p>
        </p:txBody>
      </p:sp>
      <p:sp>
        <p:nvSpPr>
          <p:cNvPr id="54" name="Oval 53">
            <a:extLst>
              <a:ext uri="{FF2B5EF4-FFF2-40B4-BE49-F238E27FC236}">
                <a16:creationId xmlns:a16="http://schemas.microsoft.com/office/drawing/2014/main" id="{616A8945-8E46-46BF-A7CA-1095E844627A}"/>
              </a:ext>
            </a:extLst>
          </p:cNvPr>
          <p:cNvSpPr/>
          <p:nvPr/>
        </p:nvSpPr>
        <p:spPr>
          <a:xfrm>
            <a:off x="8666871" y="2935299"/>
            <a:ext cx="207508" cy="192664"/>
          </a:xfrm>
          <a:prstGeom prst="ellipse">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5</a:t>
            </a:r>
          </a:p>
        </p:txBody>
      </p:sp>
      <p:sp>
        <p:nvSpPr>
          <p:cNvPr id="45" name="Oval 44">
            <a:extLst>
              <a:ext uri="{FF2B5EF4-FFF2-40B4-BE49-F238E27FC236}">
                <a16:creationId xmlns:a16="http://schemas.microsoft.com/office/drawing/2014/main" id="{68DC2787-E506-A742-BB78-3D27158511D6}"/>
              </a:ext>
            </a:extLst>
          </p:cNvPr>
          <p:cNvSpPr/>
          <p:nvPr/>
        </p:nvSpPr>
        <p:spPr>
          <a:xfrm>
            <a:off x="11763517" y="6513101"/>
            <a:ext cx="370687" cy="33633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00" b="1">
              <a:solidFill>
                <a:schemeClr val="bg1"/>
              </a:solidFill>
            </a:endParaRPr>
          </a:p>
        </p:txBody>
      </p:sp>
      <p:sp>
        <p:nvSpPr>
          <p:cNvPr id="3" name="TextBox 2">
            <a:extLst>
              <a:ext uri="{FF2B5EF4-FFF2-40B4-BE49-F238E27FC236}">
                <a16:creationId xmlns:a16="http://schemas.microsoft.com/office/drawing/2014/main" id="{5D31B382-7CBA-554D-A5B2-8CEEEDDA1313}"/>
              </a:ext>
            </a:extLst>
          </p:cNvPr>
          <p:cNvSpPr txBox="1"/>
          <p:nvPr/>
        </p:nvSpPr>
        <p:spPr>
          <a:xfrm>
            <a:off x="11763517" y="6513101"/>
            <a:ext cx="370687" cy="276999"/>
          </a:xfrm>
          <a:prstGeom prst="rect">
            <a:avLst/>
          </a:prstGeom>
          <a:noFill/>
        </p:spPr>
        <p:txBody>
          <a:bodyPr wrap="square" rtlCol="0">
            <a:spAutoFit/>
          </a:bodyPr>
          <a:lstStyle/>
          <a:p>
            <a:r>
              <a:rPr lang="en-US" sz="1200">
                <a:solidFill>
                  <a:schemeClr val="bg1"/>
                </a:solidFill>
              </a:rPr>
              <a:t>10</a:t>
            </a:r>
          </a:p>
        </p:txBody>
      </p:sp>
      <p:sp>
        <p:nvSpPr>
          <p:cNvPr id="56" name="TextBox 55">
            <a:extLst>
              <a:ext uri="{FF2B5EF4-FFF2-40B4-BE49-F238E27FC236}">
                <a16:creationId xmlns:a16="http://schemas.microsoft.com/office/drawing/2014/main" id="{A28E37E4-48BF-4629-B685-533EA5812805}"/>
              </a:ext>
            </a:extLst>
          </p:cNvPr>
          <p:cNvSpPr txBox="1"/>
          <p:nvPr/>
        </p:nvSpPr>
        <p:spPr>
          <a:xfrm>
            <a:off x="9727656" y="3187157"/>
            <a:ext cx="1221930" cy="523220"/>
          </a:xfrm>
          <a:prstGeom prst="rect">
            <a:avLst/>
          </a:prstGeom>
          <a:noFill/>
        </p:spPr>
        <p:txBody>
          <a:bodyPr wrap="square" rtlCol="0">
            <a:spAutoFit/>
          </a:bodyPr>
          <a:lstStyle/>
          <a:p>
            <a:r>
              <a:rPr lang="en-IN" sz="1400">
                <a:latin typeface="Arial" panose="020B0604020202020204" pitchFamily="34" charset="0"/>
                <a:cs typeface="Arial" panose="020B0604020202020204" pitchFamily="34" charset="0"/>
              </a:rPr>
              <a:t>Additional vigilance</a:t>
            </a:r>
          </a:p>
        </p:txBody>
      </p:sp>
      <p:sp>
        <p:nvSpPr>
          <p:cNvPr id="57" name="Rectangle: Top Corners Rounded 80">
            <a:extLst>
              <a:ext uri="{FF2B5EF4-FFF2-40B4-BE49-F238E27FC236}">
                <a16:creationId xmlns:a16="http://schemas.microsoft.com/office/drawing/2014/main" id="{F3E14AA3-E978-457D-89BF-A4BE9038C1EA}"/>
              </a:ext>
            </a:extLst>
          </p:cNvPr>
          <p:cNvSpPr/>
          <p:nvPr/>
        </p:nvSpPr>
        <p:spPr>
          <a:xfrm rot="5400000">
            <a:off x="6970950" y="-1084101"/>
            <a:ext cx="257818" cy="2583568"/>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Recommendations</a:t>
            </a:r>
          </a:p>
        </p:txBody>
      </p:sp>
      <p:sp>
        <p:nvSpPr>
          <p:cNvPr id="58" name="Rectangle: Top Corners Rounded 86">
            <a:extLst>
              <a:ext uri="{FF2B5EF4-FFF2-40B4-BE49-F238E27FC236}">
                <a16:creationId xmlns:a16="http://schemas.microsoft.com/office/drawing/2014/main" id="{327B17CE-9732-42F4-B19A-DBEE1B217697}"/>
              </a:ext>
            </a:extLst>
          </p:cNvPr>
          <p:cNvSpPr/>
          <p:nvPr/>
        </p:nvSpPr>
        <p:spPr>
          <a:xfrm rot="5400000">
            <a:off x="4314749" y="-1130079"/>
            <a:ext cx="259304" cy="2690651"/>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Trends </a:t>
            </a:r>
          </a:p>
        </p:txBody>
      </p:sp>
      <p:sp>
        <p:nvSpPr>
          <p:cNvPr id="59" name="Rectangle: Top Corners Rounded 87">
            <a:extLst>
              <a:ext uri="{FF2B5EF4-FFF2-40B4-BE49-F238E27FC236}">
                <a16:creationId xmlns:a16="http://schemas.microsoft.com/office/drawing/2014/main" id="{C38CCE72-2717-40E6-8566-8078B03CD09A}"/>
              </a:ext>
            </a:extLst>
          </p:cNvPr>
          <p:cNvSpPr/>
          <p:nvPr/>
        </p:nvSpPr>
        <p:spPr>
          <a:xfrm rot="5400000">
            <a:off x="1433933" y="-1301896"/>
            <a:ext cx="258681" cy="3034908"/>
          </a:xfrm>
          <a:prstGeom prst="round2SameRect">
            <a:avLst>
              <a:gd name="adj1" fmla="val 0"/>
              <a:gd name="adj2" fmla="val 0"/>
            </a:avLst>
          </a:prstGeom>
          <a:solidFill>
            <a:srgbClr val="F9560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Executive Summary</a:t>
            </a:r>
          </a:p>
        </p:txBody>
      </p:sp>
      <p:sp>
        <p:nvSpPr>
          <p:cNvPr id="60" name="Rectangle: Top Corners Rounded 88">
            <a:extLst>
              <a:ext uri="{FF2B5EF4-FFF2-40B4-BE49-F238E27FC236}">
                <a16:creationId xmlns:a16="http://schemas.microsoft.com/office/drawing/2014/main" id="{CF9A15BF-7218-450F-ABE0-BF438315E87E}"/>
              </a:ext>
            </a:extLst>
          </p:cNvPr>
          <p:cNvSpPr/>
          <p:nvPr/>
        </p:nvSpPr>
        <p:spPr>
          <a:xfrm rot="5400000">
            <a:off x="9511045" y="-1018245"/>
            <a:ext cx="281245" cy="2464501"/>
          </a:xfrm>
          <a:prstGeom prst="round2SameRect">
            <a:avLst>
              <a:gd name="adj1" fmla="val 50000"/>
              <a:gd name="adj2" fmla="val 0"/>
            </a:avLst>
          </a:prstGeom>
          <a:solidFill>
            <a:srgbClr val="843C0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en-GB" sz="1100" b="1"/>
              <a:t>Feasibility Analysis</a:t>
            </a:r>
          </a:p>
        </p:txBody>
      </p:sp>
    </p:spTree>
    <p:extLst>
      <p:ext uri="{BB962C8B-B14F-4D97-AF65-F5344CB8AC3E}">
        <p14:creationId xmlns:p14="http://schemas.microsoft.com/office/powerpoint/2010/main" val="213964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F2E4CD-5BE5-EF46-BA7C-93E936EA9A09}"/>
              </a:ext>
            </a:extLst>
          </p:cNvPr>
          <p:cNvSpPr>
            <a:spLocks noGrp="1"/>
          </p:cNvSpPr>
          <p:nvPr>
            <p:ph type="ctrTitle"/>
          </p:nvPr>
        </p:nvSpPr>
        <p:spPr>
          <a:xfrm>
            <a:off x="399060" y="3495912"/>
            <a:ext cx="4381995" cy="542450"/>
          </a:xfrm>
        </p:spPr>
        <p:txBody>
          <a:bodyPr>
            <a:noAutofit/>
          </a:bodyPr>
          <a:lstStyle/>
          <a:p>
            <a:r>
              <a:rPr lang="en-US" sz="6600" b="1" dirty="0"/>
              <a:t>Thank You</a:t>
            </a:r>
          </a:p>
        </p:txBody>
      </p:sp>
    </p:spTree>
    <p:extLst>
      <p:ext uri="{BB962C8B-B14F-4D97-AF65-F5344CB8AC3E}">
        <p14:creationId xmlns:p14="http://schemas.microsoft.com/office/powerpoint/2010/main" val="1438330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F2E4CD-5BE5-EF46-BA7C-93E936EA9A09}"/>
              </a:ext>
            </a:extLst>
          </p:cNvPr>
          <p:cNvSpPr>
            <a:spLocks noGrp="1"/>
          </p:cNvSpPr>
          <p:nvPr>
            <p:ph type="ctrTitle"/>
          </p:nvPr>
        </p:nvSpPr>
        <p:spPr>
          <a:xfrm>
            <a:off x="1075335" y="3619737"/>
            <a:ext cx="4381995" cy="542450"/>
          </a:xfrm>
        </p:spPr>
        <p:txBody>
          <a:bodyPr>
            <a:noAutofit/>
          </a:bodyPr>
          <a:lstStyle/>
          <a:p>
            <a:r>
              <a:rPr lang="en-US" sz="8000" b="1" dirty="0"/>
              <a:t>Q &amp; A</a:t>
            </a:r>
          </a:p>
        </p:txBody>
      </p:sp>
    </p:spTree>
    <p:extLst>
      <p:ext uri="{BB962C8B-B14F-4D97-AF65-F5344CB8AC3E}">
        <p14:creationId xmlns:p14="http://schemas.microsoft.com/office/powerpoint/2010/main" val="3811418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AD7B08361F2F5428CD898F8021321AA" ma:contentTypeVersion="7" ma:contentTypeDescription="Create a new document." ma:contentTypeScope="" ma:versionID="4ad78b3382f15304ead0d9a210ea5a14">
  <xsd:schema xmlns:xsd="http://www.w3.org/2001/XMLSchema" xmlns:xs="http://www.w3.org/2001/XMLSchema" xmlns:p="http://schemas.microsoft.com/office/2006/metadata/properties" xmlns:ns3="a30e4aa9-a173-4969-a0f3-5f92ab7c0b46" xmlns:ns4="5e085f01-71c1-4ad1-8594-8472d2d6ada2" targetNamespace="http://schemas.microsoft.com/office/2006/metadata/properties" ma:root="true" ma:fieldsID="65333f55960393f16313190ab23ebddf" ns3:_="" ns4:_="">
    <xsd:import namespace="a30e4aa9-a173-4969-a0f3-5f92ab7c0b46"/>
    <xsd:import namespace="5e085f01-71c1-4ad1-8594-8472d2d6ada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0e4aa9-a173-4969-a0f3-5f92ab7c0b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085f01-71c1-4ad1-8594-8472d2d6ada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97FF98-5AB0-46A1-B2F6-187BEF214688}">
  <ds:schemaRefs>
    <ds:schemaRef ds:uri="http://purl.org/dc/elements/1.1/"/>
    <ds:schemaRef ds:uri="http://schemas.openxmlformats.org/package/2006/metadata/core-properties"/>
    <ds:schemaRef ds:uri="http://schemas.microsoft.com/office/2006/documentManagement/types"/>
    <ds:schemaRef ds:uri="http://purl.org/dc/terms/"/>
    <ds:schemaRef ds:uri="5e085f01-71c1-4ad1-8594-8472d2d6ada2"/>
    <ds:schemaRef ds:uri="http://purl.org/dc/dcmitype/"/>
    <ds:schemaRef ds:uri="a30e4aa9-a173-4969-a0f3-5f92ab7c0b46"/>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BA798EA-D2E0-4AE4-AEDA-A07E2C0ADCEB}">
  <ds:schemaRefs>
    <ds:schemaRef ds:uri="http://schemas.microsoft.com/sharepoint/v3/contenttype/forms"/>
  </ds:schemaRefs>
</ds:datastoreItem>
</file>

<file path=customXml/itemProps3.xml><?xml version="1.0" encoding="utf-8"?>
<ds:datastoreItem xmlns:ds="http://schemas.openxmlformats.org/officeDocument/2006/customXml" ds:itemID="{131B7CFC-5A00-417B-A18E-4F1EF9898D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0e4aa9-a173-4969-a0f3-5f92ab7c0b46"/>
    <ds:schemaRef ds:uri="5e085f01-71c1-4ad1-8594-8472d2d6ad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5002</TotalTime>
  <Words>2272</Words>
  <Application>Microsoft Office PowerPoint</Application>
  <PresentationFormat>Widescreen</PresentationFormat>
  <Paragraphs>368</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Cooper Black</vt:lpstr>
      <vt:lpstr>Fira Sans</vt:lpstr>
      <vt:lpstr>Office Theme</vt:lpstr>
      <vt:lpstr>Team Vision</vt:lpstr>
      <vt:lpstr>Executive Summary</vt:lpstr>
      <vt:lpstr>PowerPoint Presentation</vt:lpstr>
      <vt:lpstr>Significant decline in patient visits to hospitals and out-patient clinics leading to decline in naïve and switch patients affecting the complete patient funnel </vt:lpstr>
      <vt:lpstr>PowerPoint Presentation</vt:lpstr>
      <vt:lpstr>PowerPoint Presentation</vt:lpstr>
      <vt:lpstr>PowerPoint Presentation</vt:lpstr>
      <vt:lpstr>PowerPoint Presentation</vt:lpstr>
      <vt:lpstr>Reinventing patient-pharmacy level interaction by expanding product portfolio, business diversification and development of D2C application</vt:lpstr>
      <vt:lpstr>Recommendation analysis and financial implications</vt:lpstr>
      <vt:lpstr>Key risks and financial implications</vt:lpstr>
      <vt:lpstr>Thank You</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Anirudh Agarwal</dc:creator>
  <cp:lastModifiedBy>ANANTA CHHAJER</cp:lastModifiedBy>
  <cp:revision>4</cp:revision>
  <dcterms:created xsi:type="dcterms:W3CDTF">2020-11-15T18:09:21Z</dcterms:created>
  <dcterms:modified xsi:type="dcterms:W3CDTF">2025-05-26T13:35:31Z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0x0101002AD7B08361F2F5428CD898F8021321AA</vt:lpwstr>
  </property>
</Properties>
</file>