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2"/>
  </p:notesMasterIdLst>
  <p:sldIdLst>
    <p:sldId id="383" r:id="rId5"/>
    <p:sldId id="360" r:id="rId6"/>
    <p:sldId id="264" r:id="rId7"/>
    <p:sldId id="377" r:id="rId8"/>
    <p:sldId id="388" r:id="rId9"/>
    <p:sldId id="384" r:id="rId10"/>
    <p:sldId id="357" r:id="rId11"/>
    <p:sldId id="379" r:id="rId12"/>
    <p:sldId id="366" r:id="rId13"/>
    <p:sldId id="389" r:id="rId14"/>
    <p:sldId id="385" r:id="rId15"/>
    <p:sldId id="353" r:id="rId16"/>
    <p:sldId id="374" r:id="rId17"/>
    <p:sldId id="364" r:id="rId18"/>
    <p:sldId id="391" r:id="rId19"/>
    <p:sldId id="362" r:id="rId20"/>
    <p:sldId id="390" r:id="rId21"/>
  </p:sldIdLst>
  <p:sldSz cx="12192000" cy="6858000"/>
  <p:notesSz cx="6858000" cy="9144000"/>
  <p:defaultTextStyle>
    <a:defPPr>
      <a:defRPr lang="en-US"/>
    </a:defPPr>
    <a:lvl1pPr marL="0" algn="l" defTabSz="914376" rtl="0" eaLnBrk="1" latinLnBrk="0" hangingPunct="1">
      <a:defRPr sz="1800" kern="1200">
        <a:solidFill>
          <a:schemeClr val="tx1"/>
        </a:solidFill>
        <a:latin typeface="+mn-lt"/>
        <a:ea typeface="+mn-ea"/>
        <a:cs typeface="+mn-cs"/>
      </a:defRPr>
    </a:lvl1pPr>
    <a:lvl2pPr marL="457187" algn="l" defTabSz="914376" rtl="0" eaLnBrk="1" latinLnBrk="0" hangingPunct="1">
      <a:defRPr sz="1800" kern="1200">
        <a:solidFill>
          <a:schemeClr val="tx1"/>
        </a:solidFill>
        <a:latin typeface="+mn-lt"/>
        <a:ea typeface="+mn-ea"/>
        <a:cs typeface="+mn-cs"/>
      </a:defRPr>
    </a:lvl2pPr>
    <a:lvl3pPr marL="914376" algn="l" defTabSz="914376" rtl="0" eaLnBrk="1" latinLnBrk="0" hangingPunct="1">
      <a:defRPr sz="1800" kern="1200">
        <a:solidFill>
          <a:schemeClr val="tx1"/>
        </a:solidFill>
        <a:latin typeface="+mn-lt"/>
        <a:ea typeface="+mn-ea"/>
        <a:cs typeface="+mn-cs"/>
      </a:defRPr>
    </a:lvl3pPr>
    <a:lvl4pPr marL="1371563" algn="l" defTabSz="914376" rtl="0" eaLnBrk="1" latinLnBrk="0" hangingPunct="1">
      <a:defRPr sz="1800" kern="1200">
        <a:solidFill>
          <a:schemeClr val="tx1"/>
        </a:solidFill>
        <a:latin typeface="+mn-lt"/>
        <a:ea typeface="+mn-ea"/>
        <a:cs typeface="+mn-cs"/>
      </a:defRPr>
    </a:lvl4pPr>
    <a:lvl5pPr marL="1828750" algn="l" defTabSz="914376" rtl="0" eaLnBrk="1" latinLnBrk="0" hangingPunct="1">
      <a:defRPr sz="1800" kern="1200">
        <a:solidFill>
          <a:schemeClr val="tx1"/>
        </a:solidFill>
        <a:latin typeface="+mn-lt"/>
        <a:ea typeface="+mn-ea"/>
        <a:cs typeface="+mn-cs"/>
      </a:defRPr>
    </a:lvl5pPr>
    <a:lvl6pPr marL="2285937" algn="l" defTabSz="914376" rtl="0" eaLnBrk="1" latinLnBrk="0" hangingPunct="1">
      <a:defRPr sz="1800" kern="1200">
        <a:solidFill>
          <a:schemeClr val="tx1"/>
        </a:solidFill>
        <a:latin typeface="+mn-lt"/>
        <a:ea typeface="+mn-ea"/>
        <a:cs typeface="+mn-cs"/>
      </a:defRPr>
    </a:lvl6pPr>
    <a:lvl7pPr marL="2743126" algn="l" defTabSz="914376" rtl="0" eaLnBrk="1" latinLnBrk="0" hangingPunct="1">
      <a:defRPr sz="1800" kern="1200">
        <a:solidFill>
          <a:schemeClr val="tx1"/>
        </a:solidFill>
        <a:latin typeface="+mn-lt"/>
        <a:ea typeface="+mn-ea"/>
        <a:cs typeface="+mn-cs"/>
      </a:defRPr>
    </a:lvl7pPr>
    <a:lvl8pPr marL="3200313" algn="l" defTabSz="914376" rtl="0" eaLnBrk="1" latinLnBrk="0" hangingPunct="1">
      <a:defRPr sz="1800" kern="1200">
        <a:solidFill>
          <a:schemeClr val="tx1"/>
        </a:solidFill>
        <a:latin typeface="+mn-lt"/>
        <a:ea typeface="+mn-ea"/>
        <a:cs typeface="+mn-cs"/>
      </a:defRPr>
    </a:lvl8pPr>
    <a:lvl9pPr marL="3657500" algn="l" defTabSz="91437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BF7"/>
    <a:srgbClr val="D6DCE5"/>
    <a:srgbClr val="D61D1D"/>
    <a:srgbClr val="00162F"/>
    <a:srgbClr val="BFBFBF"/>
    <a:srgbClr val="44546A"/>
    <a:srgbClr val="F2F2F2"/>
    <a:srgbClr val="A6A6A6"/>
    <a:srgbClr val="003066"/>
    <a:srgbClr val="D8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109" d="100"/>
          <a:sy n="109" d="100"/>
        </p:scale>
        <p:origin x="86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2FE0F-511D-4841-B147-E18E7E30394C}" type="datetimeFigureOut">
              <a:rPr lang="en-GB" smtClean="0"/>
              <a:t>26/05/2025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1552BC-1D9D-438E-A3E9-6E6248733AE2}" type="slidenum">
              <a:rPr lang="en-GB" smtClean="0"/>
              <a:t>‹#›</a:t>
            </a:fld>
            <a:endParaRPr lang="en-GB"/>
          </a:p>
        </p:txBody>
      </p:sp>
    </p:spTree>
    <p:extLst>
      <p:ext uri="{BB962C8B-B14F-4D97-AF65-F5344CB8AC3E}">
        <p14:creationId xmlns:p14="http://schemas.microsoft.com/office/powerpoint/2010/main" val="1717448856"/>
      </p:ext>
    </p:extLst>
  </p:cSld>
  <p:clrMap bg1="lt1" tx1="dk1" bg2="lt2" tx2="dk2" accent1="accent1" accent2="accent2" accent3="accent3" accent4="accent4" accent5="accent5" accent6="accent6" hlink="hlink" folHlink="folHlink"/>
  <p:notesStyle>
    <a:lvl1pPr marL="0" algn="l" defTabSz="914376" rtl="0" eaLnBrk="1" latinLnBrk="0" hangingPunct="1">
      <a:defRPr sz="1200" kern="1200">
        <a:solidFill>
          <a:schemeClr val="tx1"/>
        </a:solidFill>
        <a:latin typeface="+mn-lt"/>
        <a:ea typeface="+mn-ea"/>
        <a:cs typeface="+mn-cs"/>
      </a:defRPr>
    </a:lvl1pPr>
    <a:lvl2pPr marL="457187" algn="l" defTabSz="914376" rtl="0" eaLnBrk="1" latinLnBrk="0" hangingPunct="1">
      <a:defRPr sz="1200" kern="1200">
        <a:solidFill>
          <a:schemeClr val="tx1"/>
        </a:solidFill>
        <a:latin typeface="+mn-lt"/>
        <a:ea typeface="+mn-ea"/>
        <a:cs typeface="+mn-cs"/>
      </a:defRPr>
    </a:lvl2pPr>
    <a:lvl3pPr marL="914376" algn="l" defTabSz="914376" rtl="0" eaLnBrk="1" latinLnBrk="0" hangingPunct="1">
      <a:defRPr sz="1200" kern="1200">
        <a:solidFill>
          <a:schemeClr val="tx1"/>
        </a:solidFill>
        <a:latin typeface="+mn-lt"/>
        <a:ea typeface="+mn-ea"/>
        <a:cs typeface="+mn-cs"/>
      </a:defRPr>
    </a:lvl3pPr>
    <a:lvl4pPr marL="1371563" algn="l" defTabSz="914376" rtl="0" eaLnBrk="1" latinLnBrk="0" hangingPunct="1">
      <a:defRPr sz="1200" kern="1200">
        <a:solidFill>
          <a:schemeClr val="tx1"/>
        </a:solidFill>
        <a:latin typeface="+mn-lt"/>
        <a:ea typeface="+mn-ea"/>
        <a:cs typeface="+mn-cs"/>
      </a:defRPr>
    </a:lvl4pPr>
    <a:lvl5pPr marL="1828750" algn="l" defTabSz="914376" rtl="0" eaLnBrk="1" latinLnBrk="0" hangingPunct="1">
      <a:defRPr sz="1200" kern="1200">
        <a:solidFill>
          <a:schemeClr val="tx1"/>
        </a:solidFill>
        <a:latin typeface="+mn-lt"/>
        <a:ea typeface="+mn-ea"/>
        <a:cs typeface="+mn-cs"/>
      </a:defRPr>
    </a:lvl5pPr>
    <a:lvl6pPr marL="2285937" algn="l" defTabSz="914376" rtl="0" eaLnBrk="1" latinLnBrk="0" hangingPunct="1">
      <a:defRPr sz="1200" kern="1200">
        <a:solidFill>
          <a:schemeClr val="tx1"/>
        </a:solidFill>
        <a:latin typeface="+mn-lt"/>
        <a:ea typeface="+mn-ea"/>
        <a:cs typeface="+mn-cs"/>
      </a:defRPr>
    </a:lvl6pPr>
    <a:lvl7pPr marL="2743126" algn="l" defTabSz="914376" rtl="0" eaLnBrk="1" latinLnBrk="0" hangingPunct="1">
      <a:defRPr sz="1200" kern="1200">
        <a:solidFill>
          <a:schemeClr val="tx1"/>
        </a:solidFill>
        <a:latin typeface="+mn-lt"/>
        <a:ea typeface="+mn-ea"/>
        <a:cs typeface="+mn-cs"/>
      </a:defRPr>
    </a:lvl7pPr>
    <a:lvl8pPr marL="3200313" algn="l" defTabSz="914376" rtl="0" eaLnBrk="1" latinLnBrk="0" hangingPunct="1">
      <a:defRPr sz="1200" kern="1200">
        <a:solidFill>
          <a:schemeClr val="tx1"/>
        </a:solidFill>
        <a:latin typeface="+mn-lt"/>
        <a:ea typeface="+mn-ea"/>
        <a:cs typeface="+mn-cs"/>
      </a:defRPr>
    </a:lvl8pPr>
    <a:lvl9pPr marL="3657500" algn="l" defTabSz="91437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pitcrew.co.in/"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gomechanic.in/delhi"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pitcrew.co.in/"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gomechanic.in/delhi"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pitcrew.co.i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gomechanic.in/delhi"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2</a:t>
            </a:fld>
            <a:endParaRPr lang="en-GB"/>
          </a:p>
        </p:txBody>
      </p:sp>
    </p:spTree>
    <p:extLst>
      <p:ext uri="{BB962C8B-B14F-4D97-AF65-F5344CB8AC3E}">
        <p14:creationId xmlns:p14="http://schemas.microsoft.com/office/powerpoint/2010/main" val="468870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9ACCB40-71CB-444B-BA7B-8EBE4893A48E}" type="slidenum">
              <a:rPr lang="en-GB" smtClean="0"/>
              <a:t>3</a:t>
            </a:fld>
            <a:endParaRPr lang="en-GB"/>
          </a:p>
        </p:txBody>
      </p:sp>
    </p:spTree>
    <p:extLst>
      <p:ext uri="{BB962C8B-B14F-4D97-AF65-F5344CB8AC3E}">
        <p14:creationId xmlns:p14="http://schemas.microsoft.com/office/powerpoint/2010/main" val="196935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9ACCB40-71CB-444B-BA7B-8EBE4893A48E}" type="slidenum">
              <a:rPr lang="en-GB" smtClean="0"/>
              <a:t>4</a:t>
            </a:fld>
            <a:endParaRPr lang="en-GB"/>
          </a:p>
        </p:txBody>
      </p:sp>
    </p:spTree>
    <p:extLst>
      <p:ext uri="{BB962C8B-B14F-4D97-AF65-F5344CB8AC3E}">
        <p14:creationId xmlns:p14="http://schemas.microsoft.com/office/powerpoint/2010/main" val="1610008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9ACCB40-71CB-444B-BA7B-8EBE4893A48E}" type="slidenum">
              <a:rPr lang="en-GB" smtClean="0"/>
              <a:t>5</a:t>
            </a:fld>
            <a:endParaRPr lang="en-GB"/>
          </a:p>
        </p:txBody>
      </p:sp>
    </p:spTree>
    <p:extLst>
      <p:ext uri="{BB962C8B-B14F-4D97-AF65-F5344CB8AC3E}">
        <p14:creationId xmlns:p14="http://schemas.microsoft.com/office/powerpoint/2010/main" val="994468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1552BC-1D9D-438E-A3E9-6E6248733AE2}" type="slidenum">
              <a:rPr lang="en-GB" smtClean="0"/>
              <a:t>6</a:t>
            </a:fld>
            <a:endParaRPr lang="en-GB"/>
          </a:p>
        </p:txBody>
      </p:sp>
    </p:spTree>
    <p:extLst>
      <p:ext uri="{BB962C8B-B14F-4D97-AF65-F5344CB8AC3E}">
        <p14:creationId xmlns:p14="http://schemas.microsoft.com/office/powerpoint/2010/main" val="88786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7</a:t>
            </a:fld>
            <a:endParaRPr lang="en-GB"/>
          </a:p>
        </p:txBody>
      </p:sp>
    </p:spTree>
    <p:extLst>
      <p:ext uri="{BB962C8B-B14F-4D97-AF65-F5344CB8AC3E}">
        <p14:creationId xmlns:p14="http://schemas.microsoft.com/office/powerpoint/2010/main" val="2398788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1552BC-1D9D-438E-A3E9-6E6248733AE2}" type="slidenum">
              <a:rPr lang="en-GB" smtClean="0"/>
              <a:t>8</a:t>
            </a:fld>
            <a:endParaRPr lang="en-GB"/>
          </a:p>
        </p:txBody>
      </p:sp>
    </p:spTree>
    <p:extLst>
      <p:ext uri="{BB962C8B-B14F-4D97-AF65-F5344CB8AC3E}">
        <p14:creationId xmlns:p14="http://schemas.microsoft.com/office/powerpoint/2010/main" val="1158968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https://www.pitcrew.co.in/</a:t>
            </a:r>
            <a:endParaRPr lang="en-IN" dirty="0"/>
          </a:p>
          <a:p>
            <a:r>
              <a:rPr lang="en-IN" dirty="0">
                <a:hlinkClick r:id="rId4"/>
              </a:rPr>
              <a:t>https://gomechanic.in/delhi</a:t>
            </a:r>
            <a:endParaRPr lang="en-IN" dirty="0"/>
          </a:p>
          <a:p>
            <a:endParaRPr lang="en-GB" dirty="0"/>
          </a:p>
        </p:txBody>
      </p:sp>
      <p:sp>
        <p:nvSpPr>
          <p:cNvPr id="4" name="Slide Number Placeholder 3"/>
          <p:cNvSpPr>
            <a:spLocks noGrp="1"/>
          </p:cNvSpPr>
          <p:nvPr>
            <p:ph type="sldNum" sz="quarter" idx="5"/>
          </p:nvPr>
        </p:nvSpPr>
        <p:spPr/>
        <p:txBody>
          <a:bodyPr/>
          <a:lstStyle/>
          <a:p>
            <a:fld id="{691552BC-1D9D-438E-A3E9-6E6248733AE2}" type="slidenum">
              <a:rPr lang="en-GB" smtClean="0"/>
              <a:t>9</a:t>
            </a:fld>
            <a:endParaRPr lang="en-GB"/>
          </a:p>
        </p:txBody>
      </p:sp>
    </p:spTree>
    <p:extLst>
      <p:ext uri="{BB962C8B-B14F-4D97-AF65-F5344CB8AC3E}">
        <p14:creationId xmlns:p14="http://schemas.microsoft.com/office/powerpoint/2010/main" val="4233769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9ACCB40-71CB-444B-BA7B-8EBE4893A48E}" type="slidenum">
              <a:rPr lang="en-GB" smtClean="0"/>
              <a:t>10</a:t>
            </a:fld>
            <a:endParaRPr lang="en-GB"/>
          </a:p>
        </p:txBody>
      </p:sp>
    </p:spTree>
    <p:extLst>
      <p:ext uri="{BB962C8B-B14F-4D97-AF65-F5344CB8AC3E}">
        <p14:creationId xmlns:p14="http://schemas.microsoft.com/office/powerpoint/2010/main" val="757495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11</a:t>
            </a:fld>
            <a:endParaRPr lang="en-GB"/>
          </a:p>
        </p:txBody>
      </p:sp>
    </p:spTree>
    <p:extLst>
      <p:ext uri="{BB962C8B-B14F-4D97-AF65-F5344CB8AC3E}">
        <p14:creationId xmlns:p14="http://schemas.microsoft.com/office/powerpoint/2010/main" val="2537949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12</a:t>
            </a:fld>
            <a:endParaRPr lang="en-GB"/>
          </a:p>
        </p:txBody>
      </p:sp>
    </p:spTree>
    <p:extLst>
      <p:ext uri="{BB962C8B-B14F-4D97-AF65-F5344CB8AC3E}">
        <p14:creationId xmlns:p14="http://schemas.microsoft.com/office/powerpoint/2010/main" val="1709186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13</a:t>
            </a:fld>
            <a:endParaRPr lang="en-GB"/>
          </a:p>
        </p:txBody>
      </p:sp>
    </p:spTree>
    <p:extLst>
      <p:ext uri="{BB962C8B-B14F-4D97-AF65-F5344CB8AC3E}">
        <p14:creationId xmlns:p14="http://schemas.microsoft.com/office/powerpoint/2010/main" val="2910594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https://www.pitcrew.co.in/</a:t>
            </a:r>
            <a:endParaRPr lang="en-IN" dirty="0"/>
          </a:p>
          <a:p>
            <a:r>
              <a:rPr lang="en-IN" dirty="0">
                <a:hlinkClick r:id="rId4"/>
              </a:rPr>
              <a:t>https://gomechanic.in/delhi</a:t>
            </a:r>
            <a:endParaRPr lang="en-IN" dirty="0"/>
          </a:p>
          <a:p>
            <a:endParaRPr lang="en-GB" dirty="0"/>
          </a:p>
        </p:txBody>
      </p:sp>
      <p:sp>
        <p:nvSpPr>
          <p:cNvPr id="4" name="Slide Number Placeholder 3"/>
          <p:cNvSpPr>
            <a:spLocks noGrp="1"/>
          </p:cNvSpPr>
          <p:nvPr>
            <p:ph type="sldNum" sz="quarter" idx="5"/>
          </p:nvPr>
        </p:nvSpPr>
        <p:spPr/>
        <p:txBody>
          <a:bodyPr/>
          <a:lstStyle/>
          <a:p>
            <a:fld id="{691552BC-1D9D-438E-A3E9-6E6248733AE2}" type="slidenum">
              <a:rPr lang="en-GB" smtClean="0"/>
              <a:t>14</a:t>
            </a:fld>
            <a:endParaRPr lang="en-GB"/>
          </a:p>
        </p:txBody>
      </p:sp>
    </p:spTree>
    <p:extLst>
      <p:ext uri="{BB962C8B-B14F-4D97-AF65-F5344CB8AC3E}">
        <p14:creationId xmlns:p14="http://schemas.microsoft.com/office/powerpoint/2010/main" val="2037229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https://www.pitcrew.co.in/</a:t>
            </a:r>
            <a:endParaRPr lang="en-IN" dirty="0"/>
          </a:p>
          <a:p>
            <a:r>
              <a:rPr lang="en-IN" dirty="0">
                <a:hlinkClick r:id="rId4"/>
              </a:rPr>
              <a:t>https://gomechanic.in/delhi</a:t>
            </a:r>
            <a:endParaRPr lang="en-IN" dirty="0"/>
          </a:p>
          <a:p>
            <a:endParaRPr lang="en-GB" dirty="0"/>
          </a:p>
        </p:txBody>
      </p:sp>
      <p:sp>
        <p:nvSpPr>
          <p:cNvPr id="4" name="Slide Number Placeholder 3"/>
          <p:cNvSpPr>
            <a:spLocks noGrp="1"/>
          </p:cNvSpPr>
          <p:nvPr>
            <p:ph type="sldNum" sz="quarter" idx="5"/>
          </p:nvPr>
        </p:nvSpPr>
        <p:spPr/>
        <p:txBody>
          <a:bodyPr/>
          <a:lstStyle/>
          <a:p>
            <a:fld id="{691552BC-1D9D-438E-A3E9-6E6248733AE2}" type="slidenum">
              <a:rPr lang="en-GB" smtClean="0"/>
              <a:t>15</a:t>
            </a:fld>
            <a:endParaRPr lang="en-GB"/>
          </a:p>
        </p:txBody>
      </p:sp>
    </p:spTree>
    <p:extLst>
      <p:ext uri="{BB962C8B-B14F-4D97-AF65-F5344CB8AC3E}">
        <p14:creationId xmlns:p14="http://schemas.microsoft.com/office/powerpoint/2010/main" val="33384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91552BC-1D9D-438E-A3E9-6E6248733AE2}" type="slidenum">
              <a:rPr lang="en-GB" smtClean="0"/>
              <a:t>16</a:t>
            </a:fld>
            <a:endParaRPr lang="en-GB"/>
          </a:p>
        </p:txBody>
      </p:sp>
    </p:spTree>
    <p:extLst>
      <p:ext uri="{BB962C8B-B14F-4D97-AF65-F5344CB8AC3E}">
        <p14:creationId xmlns:p14="http://schemas.microsoft.com/office/powerpoint/2010/main" val="3278523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528A-F936-4EFA-B7FF-F19226B11857}"/>
              </a:ext>
            </a:extLst>
          </p:cNvPr>
          <p:cNvSpPr>
            <a:spLocks noGrp="1"/>
          </p:cNvSpPr>
          <p:nvPr>
            <p:ph type="ctrTitle"/>
          </p:nvPr>
        </p:nvSpPr>
        <p:spPr>
          <a:xfrm>
            <a:off x="1524000" y="1122364"/>
            <a:ext cx="9144000" cy="2387599"/>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2130F04-3A2B-4C4F-931D-F6103BD318CF}"/>
              </a:ext>
            </a:extLst>
          </p:cNvPr>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14E52EF-72AC-4D6A-9239-80D6F8C7ED19}"/>
              </a:ext>
            </a:extLst>
          </p:cNvPr>
          <p:cNvSpPr>
            <a:spLocks noGrp="1"/>
          </p:cNvSpPr>
          <p:nvPr>
            <p:ph type="dt" sz="half" idx="10"/>
          </p:nvPr>
        </p:nvSpPr>
        <p:spPr/>
        <p:txBody>
          <a:bodyPr/>
          <a:lstStyle/>
          <a:p>
            <a:fld id="{885C114A-ADD7-4E92-A8BB-B006C72473FA}" type="datetimeFigureOut">
              <a:rPr lang="en-GB" smtClean="0"/>
              <a:t>26/05/2025</a:t>
            </a:fld>
            <a:endParaRPr lang="en-GB"/>
          </a:p>
        </p:txBody>
      </p:sp>
      <p:sp>
        <p:nvSpPr>
          <p:cNvPr id="5" name="Footer Placeholder 4">
            <a:extLst>
              <a:ext uri="{FF2B5EF4-FFF2-40B4-BE49-F238E27FC236}">
                <a16:creationId xmlns:a16="http://schemas.microsoft.com/office/drawing/2014/main" id="{B9B1D137-83FF-4096-BB73-36B25CE318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2C2FCA-C352-4D07-AC3C-2EA610E406D6}"/>
              </a:ext>
            </a:extLst>
          </p:cNvPr>
          <p:cNvSpPr>
            <a:spLocks noGrp="1"/>
          </p:cNvSpPr>
          <p:nvPr>
            <p:ph type="sldNum" sz="quarter" idx="12"/>
          </p:nvPr>
        </p:nvSpPr>
        <p:spPr/>
        <p:txBody>
          <a:bodyPr/>
          <a:lstStyle/>
          <a:p>
            <a:fld id="{DEE77C8E-CA52-4337-9B99-9E429DE439EC}" type="slidenum">
              <a:rPr lang="en-GB" smtClean="0"/>
              <a:t>‹#›</a:t>
            </a:fld>
            <a:endParaRPr lang="en-GB"/>
          </a:p>
        </p:txBody>
      </p:sp>
    </p:spTree>
    <p:extLst>
      <p:ext uri="{BB962C8B-B14F-4D97-AF65-F5344CB8AC3E}">
        <p14:creationId xmlns:p14="http://schemas.microsoft.com/office/powerpoint/2010/main" val="403951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E39E-54F4-4E53-BA79-E1A8AE726F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C7A848-113E-449C-B3DC-91DFFB464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55A15B-61C0-4EA2-8042-B3E2F42394BC}"/>
              </a:ext>
            </a:extLst>
          </p:cNvPr>
          <p:cNvSpPr>
            <a:spLocks noGrp="1"/>
          </p:cNvSpPr>
          <p:nvPr>
            <p:ph type="dt" sz="half" idx="10"/>
          </p:nvPr>
        </p:nvSpPr>
        <p:spPr/>
        <p:txBody>
          <a:bodyPr/>
          <a:lstStyle/>
          <a:p>
            <a:fld id="{06A214FE-C20D-4007-8BED-A47EED41FCE3}" type="datetimeFigureOut">
              <a:rPr lang="en-GB" smtClean="0"/>
              <a:t>26/05/2025</a:t>
            </a:fld>
            <a:endParaRPr lang="en-GB"/>
          </a:p>
        </p:txBody>
      </p:sp>
      <p:sp>
        <p:nvSpPr>
          <p:cNvPr id="5" name="Footer Placeholder 4">
            <a:extLst>
              <a:ext uri="{FF2B5EF4-FFF2-40B4-BE49-F238E27FC236}">
                <a16:creationId xmlns:a16="http://schemas.microsoft.com/office/drawing/2014/main" id="{FA342855-CF92-4254-A7B9-E6EB40EA4D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F6B3A9-AD9E-4D58-B6B1-87448D784F70}"/>
              </a:ext>
            </a:extLst>
          </p:cNvPr>
          <p:cNvSpPr>
            <a:spLocks noGrp="1"/>
          </p:cNvSpPr>
          <p:nvPr>
            <p:ph type="sldNum" sz="quarter" idx="12"/>
          </p:nvPr>
        </p:nvSpPr>
        <p:spPr/>
        <p:txBody>
          <a:bodyPr/>
          <a:lstStyle/>
          <a:p>
            <a:fld id="{F3C167BF-9DCF-4F11-B5A3-BE3AE49919DE}" type="slidenum">
              <a:rPr lang="en-GB" smtClean="0"/>
              <a:t>‹#›</a:t>
            </a:fld>
            <a:endParaRPr lang="en-GB"/>
          </a:p>
        </p:txBody>
      </p:sp>
    </p:spTree>
    <p:extLst>
      <p:ext uri="{BB962C8B-B14F-4D97-AF65-F5344CB8AC3E}">
        <p14:creationId xmlns:p14="http://schemas.microsoft.com/office/powerpoint/2010/main" val="18161536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DDEB6D-1690-44F8-95C4-5543804598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10CC1C-C956-47BF-A5DB-60479536A8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7A9314-A914-4017-84C0-CD3231900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5C114A-ADD7-4E92-A8BB-B006C72473FA}" type="datetimeFigureOut">
              <a:rPr lang="en-GB" smtClean="0"/>
              <a:t>26/05/2025</a:t>
            </a:fld>
            <a:endParaRPr lang="en-GB"/>
          </a:p>
        </p:txBody>
      </p:sp>
      <p:sp>
        <p:nvSpPr>
          <p:cNvPr id="5" name="Footer Placeholder 4">
            <a:extLst>
              <a:ext uri="{FF2B5EF4-FFF2-40B4-BE49-F238E27FC236}">
                <a16:creationId xmlns:a16="http://schemas.microsoft.com/office/drawing/2014/main" id="{9BF0F819-7949-4AF0-9D1D-07D9B58091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A222EE0-5404-401C-B646-77D739ECA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E77C8E-CA52-4337-9B99-9E429DE439EC}" type="slidenum">
              <a:rPr lang="en-GB" smtClean="0"/>
              <a:t>‹#›</a:t>
            </a:fld>
            <a:endParaRPr lang="en-GB"/>
          </a:p>
        </p:txBody>
      </p:sp>
    </p:spTree>
    <p:extLst>
      <p:ext uri="{BB962C8B-B14F-4D97-AF65-F5344CB8AC3E}">
        <p14:creationId xmlns:p14="http://schemas.microsoft.com/office/powerpoint/2010/main" val="1634675906"/>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gi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3.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microsoft.com/office/2007/relationships/hdphoto" Target="../media/hdphoto6.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microsoft.com/office/2007/relationships/hdphoto" Target="../media/hdphoto5.wdp"/><Relationship Id="rId4" Type="http://schemas.openxmlformats.org/officeDocument/2006/relationships/image" Target="../media/image18.png"/><Relationship Id="rId9" Type="http://schemas.microsoft.com/office/2007/relationships/hdphoto" Target="../media/hdphoto7.wdp"/></Relationships>
</file>

<file path=ppt/slides/_rels/slide10.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10" Type="http://schemas.openxmlformats.org/officeDocument/2006/relationships/image" Target="../media/image28.jpeg"/><Relationship Id="rId4" Type="http://schemas.openxmlformats.org/officeDocument/2006/relationships/image" Target="../media/image22.jpeg"/><Relationship Id="rId9" Type="http://schemas.openxmlformats.org/officeDocument/2006/relationships/image" Target="../media/image27.jpeg"/></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jpeg"/><Relationship Id="rId26" Type="http://schemas.openxmlformats.org/officeDocument/2006/relationships/image" Target="../media/image52.png"/><Relationship Id="rId39" Type="http://schemas.openxmlformats.org/officeDocument/2006/relationships/image" Target="../media/image65.png"/><Relationship Id="rId21" Type="http://schemas.openxmlformats.org/officeDocument/2006/relationships/image" Target="../media/image48.png"/><Relationship Id="rId34" Type="http://schemas.openxmlformats.org/officeDocument/2006/relationships/image" Target="../media/image60.png"/><Relationship Id="rId7" Type="http://schemas.openxmlformats.org/officeDocument/2006/relationships/image" Target="../media/image36.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1.png"/><Relationship Id="rId33" Type="http://schemas.openxmlformats.org/officeDocument/2006/relationships/image" Target="../media/image59.png"/><Relationship Id="rId38" Type="http://schemas.openxmlformats.org/officeDocument/2006/relationships/image" Target="../media/image64.jpeg"/><Relationship Id="rId2" Type="http://schemas.openxmlformats.org/officeDocument/2006/relationships/notesSlide" Target="../notesSlides/notesSlide11.xml"/><Relationship Id="rId16" Type="http://schemas.openxmlformats.org/officeDocument/2006/relationships/image" Target="../media/image43.png"/><Relationship Id="rId20" Type="http://schemas.openxmlformats.org/officeDocument/2006/relationships/image" Target="../media/image47.jpeg"/><Relationship Id="rId29" Type="http://schemas.openxmlformats.org/officeDocument/2006/relationships/image" Target="../media/image55.png"/><Relationship Id="rId1" Type="http://schemas.openxmlformats.org/officeDocument/2006/relationships/slideLayout" Target="../slideLayouts/slideLayout1.xml"/><Relationship Id="rId6" Type="http://schemas.microsoft.com/office/2007/relationships/hdphoto" Target="../media/hdphoto9.wdp"/><Relationship Id="rId11" Type="http://schemas.openxmlformats.org/officeDocument/2006/relationships/image" Target="../media/image38.png"/><Relationship Id="rId24" Type="http://schemas.openxmlformats.org/officeDocument/2006/relationships/image" Target="../media/image50.png"/><Relationship Id="rId32" Type="http://schemas.openxmlformats.org/officeDocument/2006/relationships/image" Target="../media/image58.png"/><Relationship Id="rId37" Type="http://schemas.openxmlformats.org/officeDocument/2006/relationships/image" Target="../media/image63.png"/><Relationship Id="rId40" Type="http://schemas.openxmlformats.org/officeDocument/2006/relationships/image" Target="../media/image66.png"/><Relationship Id="rId5" Type="http://schemas.openxmlformats.org/officeDocument/2006/relationships/image" Target="../media/image35.png"/><Relationship Id="rId15" Type="http://schemas.openxmlformats.org/officeDocument/2006/relationships/image" Target="../media/image42.png"/><Relationship Id="rId23" Type="http://schemas.openxmlformats.org/officeDocument/2006/relationships/image" Target="../media/image49.png"/><Relationship Id="rId28" Type="http://schemas.openxmlformats.org/officeDocument/2006/relationships/image" Target="../media/image54.png"/><Relationship Id="rId36" Type="http://schemas.openxmlformats.org/officeDocument/2006/relationships/image" Target="../media/image62.png"/><Relationship Id="rId10" Type="http://schemas.microsoft.com/office/2007/relationships/hdphoto" Target="../media/hdphoto11.wdp"/><Relationship Id="rId19" Type="http://schemas.openxmlformats.org/officeDocument/2006/relationships/image" Target="../media/image46.png"/><Relationship Id="rId31" Type="http://schemas.openxmlformats.org/officeDocument/2006/relationships/image" Target="../media/image57.png"/><Relationship Id="rId4" Type="http://schemas.microsoft.com/office/2007/relationships/hdphoto" Target="../media/hdphoto8.wdp"/><Relationship Id="rId9" Type="http://schemas.openxmlformats.org/officeDocument/2006/relationships/image" Target="../media/image37.png"/><Relationship Id="rId14" Type="http://schemas.openxmlformats.org/officeDocument/2006/relationships/image" Target="../media/image41.jpeg"/><Relationship Id="rId22" Type="http://schemas.microsoft.com/office/2007/relationships/hdphoto" Target="../media/hdphoto12.wdp"/><Relationship Id="rId27" Type="http://schemas.openxmlformats.org/officeDocument/2006/relationships/image" Target="../media/image53.png"/><Relationship Id="rId30" Type="http://schemas.openxmlformats.org/officeDocument/2006/relationships/image" Target="../media/image56.png"/><Relationship Id="rId35" Type="http://schemas.openxmlformats.org/officeDocument/2006/relationships/image" Target="../media/image61.png"/><Relationship Id="rId8" Type="http://schemas.microsoft.com/office/2007/relationships/hdphoto" Target="../media/hdphoto10.wdp"/><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61.png"/><Relationship Id="rId18" Type="http://schemas.openxmlformats.org/officeDocument/2006/relationships/image" Target="../media/image44.png"/><Relationship Id="rId26" Type="http://schemas.openxmlformats.org/officeDocument/2006/relationships/image" Target="../media/image51.png"/><Relationship Id="rId3" Type="http://schemas.openxmlformats.org/officeDocument/2006/relationships/image" Target="../media/image38.png"/><Relationship Id="rId21" Type="http://schemas.openxmlformats.org/officeDocument/2006/relationships/image" Target="../media/image47.jpeg"/><Relationship Id="rId7" Type="http://schemas.openxmlformats.org/officeDocument/2006/relationships/image" Target="../media/image42.png"/><Relationship Id="rId12" Type="http://schemas.openxmlformats.org/officeDocument/2006/relationships/image" Target="../media/image60.png"/><Relationship Id="rId17" Type="http://schemas.openxmlformats.org/officeDocument/2006/relationships/image" Target="../media/image65.png"/><Relationship Id="rId25" Type="http://schemas.openxmlformats.org/officeDocument/2006/relationships/image" Target="../media/image50.png"/><Relationship Id="rId2" Type="http://schemas.openxmlformats.org/officeDocument/2006/relationships/notesSlide" Target="../notesSlides/notesSlide12.xml"/><Relationship Id="rId16" Type="http://schemas.openxmlformats.org/officeDocument/2006/relationships/image" Target="../media/image64.jpeg"/><Relationship Id="rId20"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41.jpeg"/><Relationship Id="rId11" Type="http://schemas.openxmlformats.org/officeDocument/2006/relationships/image" Target="../media/image57.png"/><Relationship Id="rId24" Type="http://schemas.openxmlformats.org/officeDocument/2006/relationships/image" Target="../media/image49.png"/><Relationship Id="rId5" Type="http://schemas.openxmlformats.org/officeDocument/2006/relationships/image" Target="../media/image40.png"/><Relationship Id="rId15" Type="http://schemas.openxmlformats.org/officeDocument/2006/relationships/image" Target="../media/image63.png"/><Relationship Id="rId23" Type="http://schemas.microsoft.com/office/2007/relationships/hdphoto" Target="../media/hdphoto12.wdp"/><Relationship Id="rId28" Type="http://schemas.openxmlformats.org/officeDocument/2006/relationships/image" Target="../media/image53.png"/><Relationship Id="rId10" Type="http://schemas.openxmlformats.org/officeDocument/2006/relationships/image" Target="../media/image56.png"/><Relationship Id="rId19" Type="http://schemas.openxmlformats.org/officeDocument/2006/relationships/image" Target="../media/image45.jpeg"/><Relationship Id="rId4" Type="http://schemas.openxmlformats.org/officeDocument/2006/relationships/image" Target="../media/image39.png"/><Relationship Id="rId9" Type="http://schemas.openxmlformats.org/officeDocument/2006/relationships/image" Target="../media/image55.png"/><Relationship Id="rId14" Type="http://schemas.openxmlformats.org/officeDocument/2006/relationships/image" Target="../media/image62.png"/><Relationship Id="rId22" Type="http://schemas.openxmlformats.org/officeDocument/2006/relationships/image" Target="../media/image48.png"/><Relationship Id="rId27" Type="http://schemas.openxmlformats.org/officeDocument/2006/relationships/image" Target="../media/image52.png"/></Relationships>
</file>

<file path=ppt/slides/_rels/slide14.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18" Type="http://schemas.microsoft.com/office/2007/relationships/hdphoto" Target="../media/hdphoto15.wdp"/><Relationship Id="rId26" Type="http://schemas.microsoft.com/office/2007/relationships/hdphoto" Target="../media/hdphoto19.wdp"/><Relationship Id="rId3" Type="http://schemas.openxmlformats.org/officeDocument/2006/relationships/image" Target="../media/image67.png"/><Relationship Id="rId21" Type="http://schemas.openxmlformats.org/officeDocument/2006/relationships/image" Target="../media/image81.png"/><Relationship Id="rId7" Type="http://schemas.openxmlformats.org/officeDocument/2006/relationships/image" Target="../media/image70.png"/><Relationship Id="rId12" Type="http://schemas.openxmlformats.org/officeDocument/2006/relationships/image" Target="../media/image75.svg"/><Relationship Id="rId17" Type="http://schemas.openxmlformats.org/officeDocument/2006/relationships/image" Target="../media/image79.png"/><Relationship Id="rId25" Type="http://schemas.openxmlformats.org/officeDocument/2006/relationships/image" Target="../media/image83.png"/><Relationship Id="rId2" Type="http://schemas.openxmlformats.org/officeDocument/2006/relationships/notesSlide" Target="../notesSlides/notesSlide13.xml"/><Relationship Id="rId16" Type="http://schemas.microsoft.com/office/2007/relationships/hdphoto" Target="../media/hdphoto14.wdp"/><Relationship Id="rId20" Type="http://schemas.microsoft.com/office/2007/relationships/hdphoto" Target="../media/hdphoto16.wdp"/><Relationship Id="rId1" Type="http://schemas.openxmlformats.org/officeDocument/2006/relationships/slideLayout" Target="../slideLayouts/slideLayout1.xml"/><Relationship Id="rId6" Type="http://schemas.openxmlformats.org/officeDocument/2006/relationships/image" Target="../media/image69.svg"/><Relationship Id="rId11" Type="http://schemas.openxmlformats.org/officeDocument/2006/relationships/image" Target="../media/image74.png"/><Relationship Id="rId24" Type="http://schemas.microsoft.com/office/2007/relationships/hdphoto" Target="../media/hdphoto18.wdp"/><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2.png"/><Relationship Id="rId10" Type="http://schemas.openxmlformats.org/officeDocument/2006/relationships/image" Target="../media/image73.svg"/><Relationship Id="rId19" Type="http://schemas.openxmlformats.org/officeDocument/2006/relationships/image" Target="../media/image80.png"/><Relationship Id="rId4" Type="http://schemas.microsoft.com/office/2007/relationships/hdphoto" Target="../media/hdphoto13.wdp"/><Relationship Id="rId9" Type="http://schemas.openxmlformats.org/officeDocument/2006/relationships/image" Target="../media/image72.png"/><Relationship Id="rId14" Type="http://schemas.openxmlformats.org/officeDocument/2006/relationships/image" Target="../media/image77.svg"/><Relationship Id="rId22" Type="http://schemas.microsoft.com/office/2007/relationships/hdphoto" Target="../media/hdphoto17.wdp"/><Relationship Id="rId27" Type="http://schemas.openxmlformats.org/officeDocument/2006/relationships/image" Target="../media/image84.png"/></Relationships>
</file>

<file path=ppt/slides/_rels/slide1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9.sv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Light Trails on City Street at Night">
            <a:extLst>
              <a:ext uri="{FF2B5EF4-FFF2-40B4-BE49-F238E27FC236}">
                <a16:creationId xmlns:a16="http://schemas.microsoft.com/office/drawing/2014/main" id="{260A0CEA-A3A1-4A74-8824-2F789C411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33A365D-9D11-48C1-BCC5-7638DA8808AC}"/>
              </a:ext>
            </a:extLst>
          </p:cNvPr>
          <p:cNvSpPr/>
          <p:nvPr/>
        </p:nvSpPr>
        <p:spPr>
          <a:xfrm>
            <a:off x="0" y="0"/>
            <a:ext cx="1219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DE35181B-8A76-466F-9B03-C3D06DA931C0}"/>
              </a:ext>
            </a:extLst>
          </p:cNvPr>
          <p:cNvSpPr/>
          <p:nvPr/>
        </p:nvSpPr>
        <p:spPr>
          <a:xfrm>
            <a:off x="8903" y="5405376"/>
            <a:ext cx="12174194" cy="1169043"/>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9" name="Straight Connector 8">
            <a:extLst>
              <a:ext uri="{FF2B5EF4-FFF2-40B4-BE49-F238E27FC236}">
                <a16:creationId xmlns:a16="http://schemas.microsoft.com/office/drawing/2014/main" id="{9E8DBBDE-6B95-40E5-83C1-5DA9EE4A5883}"/>
              </a:ext>
            </a:extLst>
          </p:cNvPr>
          <p:cNvCxnSpPr>
            <a:cxnSpLocks/>
          </p:cNvCxnSpPr>
          <p:nvPr/>
        </p:nvCxnSpPr>
        <p:spPr>
          <a:xfrm>
            <a:off x="5914372" y="5598257"/>
            <a:ext cx="0" cy="7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67D1FF-244D-423B-8101-081B8DB47076}"/>
              </a:ext>
            </a:extLst>
          </p:cNvPr>
          <p:cNvSpPr txBox="1"/>
          <p:nvPr/>
        </p:nvSpPr>
        <p:spPr>
          <a:xfrm>
            <a:off x="6166945" y="5574399"/>
            <a:ext cx="1796146" cy="907941"/>
          </a:xfrm>
          <a:prstGeom prst="rect">
            <a:avLst/>
          </a:prstGeom>
          <a:noFill/>
        </p:spPr>
        <p:txBody>
          <a:bodyPr wrap="square" rtlCol="0">
            <a:spAutoFit/>
          </a:bodyPr>
          <a:lstStyle/>
          <a:p>
            <a:pPr algn="ctr"/>
            <a:r>
              <a:rPr lang="en-GB" sz="1200" b="1" dirty="0">
                <a:solidFill>
                  <a:schemeClr val="bg1"/>
                </a:solidFill>
              </a:rPr>
              <a:t>Aayush Gupta</a:t>
            </a:r>
          </a:p>
          <a:p>
            <a:pPr algn="ctr"/>
            <a:r>
              <a:rPr lang="en-GB" sz="1200" dirty="0">
                <a:solidFill>
                  <a:schemeClr val="bg1"/>
                </a:solidFill>
              </a:rPr>
              <a:t>IIM Ahmedabad (MBA)</a:t>
            </a:r>
          </a:p>
          <a:p>
            <a:pPr algn="ctr"/>
            <a:endParaRPr lang="en-GB" sz="500" dirty="0">
              <a:solidFill>
                <a:schemeClr val="bg1"/>
              </a:solidFill>
            </a:endParaRPr>
          </a:p>
          <a:p>
            <a:pPr algn="ctr"/>
            <a:r>
              <a:rPr lang="en-GB" sz="1200" dirty="0">
                <a:solidFill>
                  <a:schemeClr val="bg1"/>
                </a:solidFill>
              </a:rPr>
              <a:t>Professional Associations: </a:t>
            </a:r>
          </a:p>
          <a:p>
            <a:pPr algn="ctr"/>
            <a:r>
              <a:rPr lang="en-GB" sz="1200" i="1" dirty="0">
                <a:solidFill>
                  <a:schemeClr val="bg1"/>
                </a:solidFill>
              </a:rPr>
              <a:t>Strategy&amp;; Deloitte</a:t>
            </a:r>
          </a:p>
        </p:txBody>
      </p:sp>
      <p:sp>
        <p:nvSpPr>
          <p:cNvPr id="11" name="TextBox 10">
            <a:extLst>
              <a:ext uri="{FF2B5EF4-FFF2-40B4-BE49-F238E27FC236}">
                <a16:creationId xmlns:a16="http://schemas.microsoft.com/office/drawing/2014/main" id="{C01F31AB-E68A-4216-9809-749471EC9629}"/>
              </a:ext>
            </a:extLst>
          </p:cNvPr>
          <p:cNvSpPr txBox="1"/>
          <p:nvPr/>
        </p:nvSpPr>
        <p:spPr>
          <a:xfrm>
            <a:off x="10113683" y="5528232"/>
            <a:ext cx="1958732" cy="923330"/>
          </a:xfrm>
          <a:prstGeom prst="rect">
            <a:avLst/>
          </a:prstGeom>
          <a:noFill/>
        </p:spPr>
        <p:txBody>
          <a:bodyPr wrap="square" rtlCol="0">
            <a:spAutoFit/>
          </a:bodyPr>
          <a:lstStyle/>
          <a:p>
            <a:pPr algn="ctr"/>
            <a:r>
              <a:rPr lang="en-GB" sz="1200" b="1" dirty="0">
                <a:solidFill>
                  <a:schemeClr val="bg1"/>
                </a:solidFill>
              </a:rPr>
              <a:t>Ananta Chhajer</a:t>
            </a:r>
          </a:p>
          <a:p>
            <a:pPr algn="ctr"/>
            <a:r>
              <a:rPr lang="en-GB" sz="1200" dirty="0">
                <a:solidFill>
                  <a:schemeClr val="bg1"/>
                </a:solidFill>
              </a:rPr>
              <a:t>IIM Ahmedabad (MBA)</a:t>
            </a:r>
          </a:p>
          <a:p>
            <a:pPr algn="ctr"/>
            <a:endParaRPr lang="en-GB" sz="500" dirty="0">
              <a:solidFill>
                <a:schemeClr val="bg1"/>
              </a:solidFill>
            </a:endParaRPr>
          </a:p>
          <a:p>
            <a:pPr algn="ctr"/>
            <a:r>
              <a:rPr lang="en-GB" sz="1200" dirty="0">
                <a:solidFill>
                  <a:schemeClr val="bg1"/>
                </a:solidFill>
              </a:rPr>
              <a:t>Professional Associations: </a:t>
            </a:r>
          </a:p>
          <a:p>
            <a:pPr algn="ctr"/>
            <a:r>
              <a:rPr lang="en-GB" sz="1200" i="1" dirty="0">
                <a:solidFill>
                  <a:schemeClr val="bg1"/>
                </a:solidFill>
              </a:rPr>
              <a:t>Aditya Birla Group; ZS</a:t>
            </a:r>
          </a:p>
        </p:txBody>
      </p:sp>
      <p:sp>
        <p:nvSpPr>
          <p:cNvPr id="12" name="TextBox 11">
            <a:extLst>
              <a:ext uri="{FF2B5EF4-FFF2-40B4-BE49-F238E27FC236}">
                <a16:creationId xmlns:a16="http://schemas.microsoft.com/office/drawing/2014/main" id="{6250F742-9C06-4BD4-97EF-82D7EA4A972D}"/>
              </a:ext>
            </a:extLst>
          </p:cNvPr>
          <p:cNvSpPr txBox="1"/>
          <p:nvPr/>
        </p:nvSpPr>
        <p:spPr>
          <a:xfrm>
            <a:off x="8013181" y="5574399"/>
            <a:ext cx="2143555" cy="907941"/>
          </a:xfrm>
          <a:prstGeom prst="rect">
            <a:avLst/>
          </a:prstGeom>
          <a:noFill/>
        </p:spPr>
        <p:txBody>
          <a:bodyPr wrap="square" rtlCol="0">
            <a:spAutoFit/>
          </a:bodyPr>
          <a:lstStyle/>
          <a:p>
            <a:pPr algn="ctr"/>
            <a:r>
              <a:rPr lang="en-GB" sz="1200" b="1" dirty="0">
                <a:solidFill>
                  <a:schemeClr val="bg1"/>
                </a:solidFill>
              </a:rPr>
              <a:t>Aarushi Agarwal</a:t>
            </a:r>
          </a:p>
          <a:p>
            <a:pPr algn="ctr"/>
            <a:r>
              <a:rPr lang="en-GB" sz="1200" dirty="0">
                <a:solidFill>
                  <a:schemeClr val="bg1"/>
                </a:solidFill>
              </a:rPr>
              <a:t>IIM Ahmedabad (MBA)</a:t>
            </a:r>
          </a:p>
          <a:p>
            <a:pPr algn="ctr"/>
            <a:endParaRPr lang="en-GB" sz="500" dirty="0">
              <a:solidFill>
                <a:schemeClr val="bg1"/>
              </a:solidFill>
            </a:endParaRPr>
          </a:p>
          <a:p>
            <a:pPr algn="ctr"/>
            <a:r>
              <a:rPr lang="en-GB" sz="1200" dirty="0">
                <a:solidFill>
                  <a:schemeClr val="bg1"/>
                </a:solidFill>
              </a:rPr>
              <a:t>Professional Associations: </a:t>
            </a:r>
          </a:p>
          <a:p>
            <a:pPr algn="ctr"/>
            <a:r>
              <a:rPr lang="en-GB" sz="1200" i="1" dirty="0">
                <a:solidFill>
                  <a:schemeClr val="bg1"/>
                </a:solidFill>
              </a:rPr>
              <a:t>Kearney, TATA Communications</a:t>
            </a:r>
          </a:p>
        </p:txBody>
      </p:sp>
      <p:sp>
        <p:nvSpPr>
          <p:cNvPr id="13" name="TextBox 12">
            <a:extLst>
              <a:ext uri="{FF2B5EF4-FFF2-40B4-BE49-F238E27FC236}">
                <a16:creationId xmlns:a16="http://schemas.microsoft.com/office/drawing/2014/main" id="{9E58A7F1-8BC1-4494-AE4B-77EB79BCA7EF}"/>
              </a:ext>
            </a:extLst>
          </p:cNvPr>
          <p:cNvSpPr txBox="1"/>
          <p:nvPr/>
        </p:nvSpPr>
        <p:spPr>
          <a:xfrm>
            <a:off x="938895" y="5589787"/>
            <a:ext cx="4043799" cy="707886"/>
          </a:xfrm>
          <a:prstGeom prst="rect">
            <a:avLst/>
          </a:prstGeom>
          <a:noFill/>
        </p:spPr>
        <p:txBody>
          <a:bodyPr wrap="none" rtlCol="0">
            <a:spAutoFit/>
          </a:bodyPr>
          <a:lstStyle/>
          <a:p>
            <a:pPr algn="ctr"/>
            <a:r>
              <a:rPr lang="en-GB" sz="2000" b="1" dirty="0">
                <a:solidFill>
                  <a:schemeClr val="bg1"/>
                </a:solidFill>
                <a:latin typeface="Trajanus Roman" panose="02020500000000000000" pitchFamily="18" charset="0"/>
              </a:rPr>
              <a:t>SPARK</a:t>
            </a:r>
            <a:r>
              <a:rPr lang="en-GB" sz="1400" b="1" dirty="0">
                <a:solidFill>
                  <a:schemeClr val="bg1"/>
                </a:solidFill>
                <a:latin typeface="Trajanus Roman" panose="02020500000000000000" pitchFamily="18" charset="0"/>
              </a:rPr>
              <a:t> </a:t>
            </a:r>
            <a:r>
              <a:rPr lang="en-GB" sz="2000" b="1" dirty="0">
                <a:solidFill>
                  <a:schemeClr val="bg1"/>
                </a:solidFill>
                <a:latin typeface="Trajanus Roman" panose="02020500000000000000" pitchFamily="18" charset="0"/>
              </a:rPr>
              <a:t>CASE</a:t>
            </a:r>
            <a:r>
              <a:rPr lang="en-GB" sz="1100" b="1" dirty="0">
                <a:solidFill>
                  <a:schemeClr val="bg1"/>
                </a:solidFill>
                <a:latin typeface="Trajanus Roman" panose="02020500000000000000" pitchFamily="18" charset="0"/>
              </a:rPr>
              <a:t> </a:t>
            </a:r>
            <a:r>
              <a:rPr lang="en-GB" sz="2000" b="1" dirty="0">
                <a:solidFill>
                  <a:schemeClr val="bg1"/>
                </a:solidFill>
                <a:latin typeface="Trajanus Roman" panose="02020500000000000000" pitchFamily="18" charset="0"/>
              </a:rPr>
              <a:t>COMPETITION</a:t>
            </a:r>
          </a:p>
          <a:p>
            <a:pPr algn="ctr"/>
            <a:r>
              <a:rPr lang="en-GB" sz="2000" b="1" dirty="0">
                <a:solidFill>
                  <a:schemeClr val="bg1"/>
                </a:solidFill>
                <a:latin typeface="Trajanus Roman" panose="02020500000000000000" pitchFamily="18" charset="0"/>
              </a:rPr>
              <a:t>Careasy \\ Season</a:t>
            </a:r>
            <a:r>
              <a:rPr lang="en-GB" sz="1400" b="1" dirty="0">
                <a:solidFill>
                  <a:schemeClr val="bg1"/>
                </a:solidFill>
                <a:latin typeface="Trajanus Roman" panose="02020500000000000000" pitchFamily="18" charset="0"/>
              </a:rPr>
              <a:t> </a:t>
            </a:r>
            <a:r>
              <a:rPr lang="en-GB" sz="2000" b="1" dirty="0">
                <a:solidFill>
                  <a:schemeClr val="bg1"/>
                </a:solidFill>
                <a:latin typeface="Trajanus Roman" panose="02020500000000000000" pitchFamily="18" charset="0"/>
              </a:rPr>
              <a:t>1</a:t>
            </a:r>
          </a:p>
        </p:txBody>
      </p:sp>
    </p:spTree>
    <p:extLst>
      <p:ext uri="{BB962C8B-B14F-4D97-AF65-F5344CB8AC3E}">
        <p14:creationId xmlns:p14="http://schemas.microsoft.com/office/powerpoint/2010/main" val="254229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Top Corners Rounded 117">
            <a:extLst>
              <a:ext uri="{FF2B5EF4-FFF2-40B4-BE49-F238E27FC236}">
                <a16:creationId xmlns:a16="http://schemas.microsoft.com/office/drawing/2014/main" id="{3F84BC9D-6A69-4674-B5E8-A68D601F730D}"/>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117" name="Rectangle: Top Corners Rounded 116">
            <a:extLst>
              <a:ext uri="{FF2B5EF4-FFF2-40B4-BE49-F238E27FC236}">
                <a16:creationId xmlns:a16="http://schemas.microsoft.com/office/drawing/2014/main" id="{5273925C-9D2F-4555-916F-968BD7731FEF}"/>
              </a:ext>
            </a:extLst>
          </p:cNvPr>
          <p:cNvSpPr/>
          <p:nvPr/>
        </p:nvSpPr>
        <p:spPr>
          <a:xfrm rot="5400000">
            <a:off x="3783504" y="-495289"/>
            <a:ext cx="180301"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a:t>
            </a:r>
            <a:r>
              <a:rPr lang="en-GB" sz="900" b="1"/>
              <a:t> strategy</a:t>
            </a:r>
            <a:endParaRPr lang="en-GB" sz="900" b="1" dirty="0"/>
          </a:p>
        </p:txBody>
      </p:sp>
      <p:sp>
        <p:nvSpPr>
          <p:cNvPr id="116" name="Rectangle: Top Corners Rounded 115">
            <a:extLst>
              <a:ext uri="{FF2B5EF4-FFF2-40B4-BE49-F238E27FC236}">
                <a16:creationId xmlns:a16="http://schemas.microsoft.com/office/drawing/2014/main" id="{81A4D1EA-155A-4141-A359-7CA111BBB4D8}"/>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Vision of </a:t>
            </a:r>
            <a:r>
              <a:rPr lang="en-IN" sz="2000" b="1">
                <a:latin typeface="Calibri" panose="020F0502020204030204" pitchFamily="34" charset="0"/>
              </a:rPr>
              <a:t>the company </a:t>
            </a:r>
            <a:r>
              <a:rPr lang="en-IN" sz="2000" b="1" dirty="0">
                <a:latin typeface="Calibri" panose="020F0502020204030204" pitchFamily="34" charset="0"/>
              </a:rPr>
              <a:t>sets the tone for the guiding principles of all strategies</a:t>
            </a:r>
          </a:p>
        </p:txBody>
      </p:sp>
      <p:grpSp>
        <p:nvGrpSpPr>
          <p:cNvPr id="106" name="Group 105">
            <a:extLst>
              <a:ext uri="{FF2B5EF4-FFF2-40B4-BE49-F238E27FC236}">
                <a16:creationId xmlns:a16="http://schemas.microsoft.com/office/drawing/2014/main" id="{D414DF5B-FD88-4182-AE7E-FE69C9454446}"/>
              </a:ext>
            </a:extLst>
          </p:cNvPr>
          <p:cNvGrpSpPr/>
          <p:nvPr/>
        </p:nvGrpSpPr>
        <p:grpSpPr>
          <a:xfrm>
            <a:off x="65515" y="52817"/>
            <a:ext cx="307865" cy="238659"/>
            <a:chOff x="12605240" y="-37073"/>
            <a:chExt cx="6681054" cy="5179185"/>
          </a:xfrm>
          <a:solidFill>
            <a:srgbClr val="00162F"/>
          </a:solidFill>
        </p:grpSpPr>
        <p:sp>
          <p:nvSpPr>
            <p:cNvPr id="107" name="Rectangle 106">
              <a:extLst>
                <a:ext uri="{FF2B5EF4-FFF2-40B4-BE49-F238E27FC236}">
                  <a16:creationId xmlns:a16="http://schemas.microsoft.com/office/drawing/2014/main" id="{5F8BF052-B169-4957-8008-9DD7A422AEC3}"/>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108" name="Rectangle 107">
              <a:extLst>
                <a:ext uri="{FF2B5EF4-FFF2-40B4-BE49-F238E27FC236}">
                  <a16:creationId xmlns:a16="http://schemas.microsoft.com/office/drawing/2014/main" id="{6706A46E-70DF-4107-9E36-986415CF23B0}"/>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109" name="Rectangle 108">
              <a:extLst>
                <a:ext uri="{FF2B5EF4-FFF2-40B4-BE49-F238E27FC236}">
                  <a16:creationId xmlns:a16="http://schemas.microsoft.com/office/drawing/2014/main" id="{A88BE08C-00B6-47DA-BD7C-6B2BC3B75A9E}"/>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110" name="Rectangle 109">
              <a:extLst>
                <a:ext uri="{FF2B5EF4-FFF2-40B4-BE49-F238E27FC236}">
                  <a16:creationId xmlns:a16="http://schemas.microsoft.com/office/drawing/2014/main" id="{9B9A1584-C058-4AD9-8C38-4EAEEE349D17}"/>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111" name="Rectangle 110">
              <a:extLst>
                <a:ext uri="{FF2B5EF4-FFF2-40B4-BE49-F238E27FC236}">
                  <a16:creationId xmlns:a16="http://schemas.microsoft.com/office/drawing/2014/main" id="{43E3DD4C-461A-436C-AE73-C710BA6CD544}"/>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12" name="Rectangle 111">
              <a:extLst>
                <a:ext uri="{FF2B5EF4-FFF2-40B4-BE49-F238E27FC236}">
                  <a16:creationId xmlns:a16="http://schemas.microsoft.com/office/drawing/2014/main" id="{71366C94-C208-4D46-A4E8-8B7B8BC128E8}"/>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13" name="Rectangle 112">
              <a:extLst>
                <a:ext uri="{FF2B5EF4-FFF2-40B4-BE49-F238E27FC236}">
                  <a16:creationId xmlns:a16="http://schemas.microsoft.com/office/drawing/2014/main" id="{D4180229-8189-44A6-BD6A-A86B6B01BE77}"/>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14" name="Isosceles Triangle 113">
              <a:extLst>
                <a:ext uri="{FF2B5EF4-FFF2-40B4-BE49-F238E27FC236}">
                  <a16:creationId xmlns:a16="http://schemas.microsoft.com/office/drawing/2014/main" id="{B414B6C1-1B03-457D-BD46-3F520CCA7631}"/>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37" name="Rectangle: Top Corners Rounded 36">
            <a:extLst>
              <a:ext uri="{FF2B5EF4-FFF2-40B4-BE49-F238E27FC236}">
                <a16:creationId xmlns:a16="http://schemas.microsoft.com/office/drawing/2014/main" id="{5A82B099-B3A0-46DB-A2DE-815C616E1A6D}"/>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38" name="Arrow: Chevron 37">
            <a:extLst>
              <a:ext uri="{FF2B5EF4-FFF2-40B4-BE49-F238E27FC236}">
                <a16:creationId xmlns:a16="http://schemas.microsoft.com/office/drawing/2014/main" id="{442399FE-78EF-4CA0-980B-98015F6B24AA}"/>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0" name="Arrow: Chevron 119">
            <a:extLst>
              <a:ext uri="{FF2B5EF4-FFF2-40B4-BE49-F238E27FC236}">
                <a16:creationId xmlns:a16="http://schemas.microsoft.com/office/drawing/2014/main" id="{A0783564-B30D-487F-893B-D7D20BDDCFC4}"/>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1" name="Arrow: Chevron 120">
            <a:extLst>
              <a:ext uri="{FF2B5EF4-FFF2-40B4-BE49-F238E27FC236}">
                <a16:creationId xmlns:a16="http://schemas.microsoft.com/office/drawing/2014/main" id="{222D8525-2633-42BE-BC57-A0023A66690A}"/>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 name="TextBox 27">
            <a:extLst>
              <a:ext uri="{FF2B5EF4-FFF2-40B4-BE49-F238E27FC236}">
                <a16:creationId xmlns:a16="http://schemas.microsoft.com/office/drawing/2014/main" id="{DA05A547-F5FF-415C-9B9C-BDA58211E74D}"/>
              </a:ext>
            </a:extLst>
          </p:cNvPr>
          <p:cNvSpPr txBox="1"/>
          <p:nvPr/>
        </p:nvSpPr>
        <p:spPr>
          <a:xfrm>
            <a:off x="11824981" y="6573307"/>
            <a:ext cx="242374" cy="230832"/>
          </a:xfrm>
          <a:prstGeom prst="rect">
            <a:avLst/>
          </a:prstGeom>
          <a:noFill/>
        </p:spPr>
        <p:txBody>
          <a:bodyPr wrap="none" rtlCol="0">
            <a:spAutoFit/>
          </a:bodyPr>
          <a:lstStyle/>
          <a:p>
            <a:r>
              <a:rPr lang="en-GB" sz="900" dirty="0"/>
              <a:t>1</a:t>
            </a:r>
            <a:endParaRPr lang="en-GB" dirty="0"/>
          </a:p>
        </p:txBody>
      </p:sp>
      <p:sp>
        <p:nvSpPr>
          <p:cNvPr id="7" name="Isosceles Triangle 6">
            <a:extLst>
              <a:ext uri="{FF2B5EF4-FFF2-40B4-BE49-F238E27FC236}">
                <a16:creationId xmlns:a16="http://schemas.microsoft.com/office/drawing/2014/main" id="{F5959648-4C93-4517-82F0-B7FF7F83A92A}"/>
              </a:ext>
            </a:extLst>
          </p:cNvPr>
          <p:cNvSpPr/>
          <p:nvPr/>
        </p:nvSpPr>
        <p:spPr>
          <a:xfrm>
            <a:off x="1189928" y="1156434"/>
            <a:ext cx="10817984" cy="73332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endParaRPr lang="en-GB" sz="1400" dirty="0"/>
          </a:p>
        </p:txBody>
      </p:sp>
      <p:sp>
        <p:nvSpPr>
          <p:cNvPr id="8" name="Rectangle 7">
            <a:extLst>
              <a:ext uri="{FF2B5EF4-FFF2-40B4-BE49-F238E27FC236}">
                <a16:creationId xmlns:a16="http://schemas.microsoft.com/office/drawing/2014/main" id="{38EA2181-0B00-47B0-8998-D0C92A83A77A}"/>
              </a:ext>
            </a:extLst>
          </p:cNvPr>
          <p:cNvSpPr/>
          <p:nvPr/>
        </p:nvSpPr>
        <p:spPr>
          <a:xfrm>
            <a:off x="1643594" y="2007303"/>
            <a:ext cx="9910651" cy="914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8695A757-177F-4079-BF14-834EAD543D48}"/>
              </a:ext>
            </a:extLst>
          </p:cNvPr>
          <p:cNvSpPr/>
          <p:nvPr/>
        </p:nvSpPr>
        <p:spPr>
          <a:xfrm>
            <a:off x="2084717" y="3077748"/>
            <a:ext cx="1551776" cy="1997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Cohesive </a:t>
            </a:r>
            <a:r>
              <a:rPr lang="en-GB" sz="1400" b="1" dirty="0">
                <a:solidFill>
                  <a:schemeClr val="tx1"/>
                </a:solidFill>
              </a:rPr>
              <a:t>branding strategy </a:t>
            </a:r>
            <a:r>
              <a:rPr lang="en-GB" sz="1400" dirty="0">
                <a:solidFill>
                  <a:schemeClr val="tx1"/>
                </a:solidFill>
              </a:rPr>
              <a:t>supported by hyperlocal and guerrilla tactics</a:t>
            </a:r>
          </a:p>
        </p:txBody>
      </p:sp>
      <p:sp>
        <p:nvSpPr>
          <p:cNvPr id="48" name="Rectangle 47">
            <a:extLst>
              <a:ext uri="{FF2B5EF4-FFF2-40B4-BE49-F238E27FC236}">
                <a16:creationId xmlns:a16="http://schemas.microsoft.com/office/drawing/2014/main" id="{41B07036-55C8-4E55-84C2-E49312CE537C}"/>
              </a:ext>
            </a:extLst>
          </p:cNvPr>
          <p:cNvSpPr/>
          <p:nvPr/>
        </p:nvSpPr>
        <p:spPr>
          <a:xfrm>
            <a:off x="3964980" y="3077748"/>
            <a:ext cx="1551776" cy="1997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Expansion of </a:t>
            </a:r>
            <a:r>
              <a:rPr lang="en-GB" sz="1400" b="1" dirty="0">
                <a:solidFill>
                  <a:schemeClr val="tx1"/>
                </a:solidFill>
              </a:rPr>
              <a:t>B2B partnerships </a:t>
            </a:r>
            <a:r>
              <a:rPr lang="en-GB" sz="1400" dirty="0">
                <a:solidFill>
                  <a:schemeClr val="tx1"/>
                </a:solidFill>
              </a:rPr>
              <a:t>across segments in different industries</a:t>
            </a:r>
          </a:p>
        </p:txBody>
      </p:sp>
      <p:sp>
        <p:nvSpPr>
          <p:cNvPr id="52" name="Rectangle 51">
            <a:extLst>
              <a:ext uri="{FF2B5EF4-FFF2-40B4-BE49-F238E27FC236}">
                <a16:creationId xmlns:a16="http://schemas.microsoft.com/office/drawing/2014/main" id="{462C04E5-3799-4BFE-98F5-803503383ED9}"/>
              </a:ext>
            </a:extLst>
          </p:cNvPr>
          <p:cNvSpPr/>
          <p:nvPr/>
        </p:nvSpPr>
        <p:spPr>
          <a:xfrm>
            <a:off x="5845243" y="3077748"/>
            <a:ext cx="1551776" cy="1997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Strengthened financial prospects via a steady stream of </a:t>
            </a:r>
            <a:r>
              <a:rPr lang="en-GB" sz="1400" b="1" dirty="0">
                <a:solidFill>
                  <a:schemeClr val="tx1"/>
                </a:solidFill>
              </a:rPr>
              <a:t>alternate revenue sources</a:t>
            </a:r>
          </a:p>
        </p:txBody>
      </p:sp>
      <p:sp>
        <p:nvSpPr>
          <p:cNvPr id="53" name="Rectangle 52">
            <a:extLst>
              <a:ext uri="{FF2B5EF4-FFF2-40B4-BE49-F238E27FC236}">
                <a16:creationId xmlns:a16="http://schemas.microsoft.com/office/drawing/2014/main" id="{36677255-43F7-4D7D-A363-212648D12F65}"/>
              </a:ext>
            </a:extLst>
          </p:cNvPr>
          <p:cNvSpPr/>
          <p:nvPr/>
        </p:nvSpPr>
        <p:spPr>
          <a:xfrm>
            <a:off x="7725506" y="3077748"/>
            <a:ext cx="1551776" cy="1997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400" dirty="0">
                <a:solidFill>
                  <a:schemeClr val="tx1"/>
                </a:solidFill>
              </a:rPr>
              <a:t>Self-reinforcing </a:t>
            </a:r>
            <a:r>
              <a:rPr lang="en-GB" sz="1400" b="1" dirty="0">
                <a:solidFill>
                  <a:schemeClr val="tx1"/>
                </a:solidFill>
              </a:rPr>
              <a:t>operations and delivery framework </a:t>
            </a:r>
            <a:r>
              <a:rPr lang="en-GB" sz="1400" dirty="0">
                <a:solidFill>
                  <a:schemeClr val="tx1"/>
                </a:solidFill>
              </a:rPr>
              <a:t>support by a coherent application strategy</a:t>
            </a:r>
          </a:p>
        </p:txBody>
      </p:sp>
      <p:sp>
        <p:nvSpPr>
          <p:cNvPr id="54" name="Rectangle 53">
            <a:extLst>
              <a:ext uri="{FF2B5EF4-FFF2-40B4-BE49-F238E27FC236}">
                <a16:creationId xmlns:a16="http://schemas.microsoft.com/office/drawing/2014/main" id="{26F6BD44-E87B-4C4E-ACC2-9E66797AD424}"/>
              </a:ext>
            </a:extLst>
          </p:cNvPr>
          <p:cNvSpPr/>
          <p:nvPr/>
        </p:nvSpPr>
        <p:spPr>
          <a:xfrm>
            <a:off x="9605769" y="3077748"/>
            <a:ext cx="1551776" cy="1997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Astute decision making </a:t>
            </a:r>
            <a:r>
              <a:rPr lang="en-GB" sz="1400" dirty="0">
                <a:solidFill>
                  <a:schemeClr val="tx1"/>
                </a:solidFill>
              </a:rPr>
              <a:t>based on a strong sense of numbers and step-wise cost-benefit analysis</a:t>
            </a:r>
          </a:p>
        </p:txBody>
      </p:sp>
      <p:sp>
        <p:nvSpPr>
          <p:cNvPr id="61" name="Rectangle 60">
            <a:extLst>
              <a:ext uri="{FF2B5EF4-FFF2-40B4-BE49-F238E27FC236}">
                <a16:creationId xmlns:a16="http://schemas.microsoft.com/office/drawing/2014/main" id="{30163595-3700-449C-BD3C-D0C5CAF2E964}"/>
              </a:ext>
            </a:extLst>
          </p:cNvPr>
          <p:cNvSpPr/>
          <p:nvPr/>
        </p:nvSpPr>
        <p:spPr>
          <a:xfrm>
            <a:off x="1943688" y="2195441"/>
            <a:ext cx="4490287" cy="5381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Capture 30% of Tier-1 and Tier-2 market in India</a:t>
            </a:r>
          </a:p>
        </p:txBody>
      </p:sp>
      <p:sp>
        <p:nvSpPr>
          <p:cNvPr id="62" name="Rectangle 61">
            <a:extLst>
              <a:ext uri="{FF2B5EF4-FFF2-40B4-BE49-F238E27FC236}">
                <a16:creationId xmlns:a16="http://schemas.microsoft.com/office/drawing/2014/main" id="{45C0F23F-08E8-4FA3-BE8E-33F0839F3916}"/>
              </a:ext>
            </a:extLst>
          </p:cNvPr>
          <p:cNvSpPr/>
          <p:nvPr/>
        </p:nvSpPr>
        <p:spPr>
          <a:xfrm>
            <a:off x="6763867" y="2195441"/>
            <a:ext cx="4490287" cy="5381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Boost demand and catalyze supply to keep pace with the expansion plans</a:t>
            </a:r>
          </a:p>
        </p:txBody>
      </p:sp>
      <p:grpSp>
        <p:nvGrpSpPr>
          <p:cNvPr id="10" name="Group 9">
            <a:extLst>
              <a:ext uri="{FF2B5EF4-FFF2-40B4-BE49-F238E27FC236}">
                <a16:creationId xmlns:a16="http://schemas.microsoft.com/office/drawing/2014/main" id="{5BB486D5-9673-4990-A7E9-941C0FB048DE}"/>
              </a:ext>
            </a:extLst>
          </p:cNvPr>
          <p:cNvGrpSpPr/>
          <p:nvPr/>
        </p:nvGrpSpPr>
        <p:grpSpPr>
          <a:xfrm>
            <a:off x="1633375" y="5230964"/>
            <a:ext cx="9920870" cy="1245109"/>
            <a:chOff x="1633375" y="5230964"/>
            <a:chExt cx="9920870" cy="1245109"/>
          </a:xfrm>
        </p:grpSpPr>
        <p:sp>
          <p:nvSpPr>
            <p:cNvPr id="56" name="Rectangle 55">
              <a:extLst>
                <a:ext uri="{FF2B5EF4-FFF2-40B4-BE49-F238E27FC236}">
                  <a16:creationId xmlns:a16="http://schemas.microsoft.com/office/drawing/2014/main" id="{69A90563-F4B4-4F9E-A26E-4F9C277A8595}"/>
                </a:ext>
              </a:extLst>
            </p:cNvPr>
            <p:cNvSpPr/>
            <p:nvPr/>
          </p:nvSpPr>
          <p:spPr>
            <a:xfrm>
              <a:off x="1633375" y="5230964"/>
              <a:ext cx="9920870" cy="37320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Behavioural modification </a:t>
              </a:r>
              <a:r>
                <a:rPr lang="en-GB" sz="1400" dirty="0">
                  <a:solidFill>
                    <a:schemeClr val="bg1"/>
                  </a:solidFill>
                </a:rPr>
                <a:t>through gamification techniques and habit-forming</a:t>
              </a:r>
            </a:p>
          </p:txBody>
        </p:sp>
        <p:sp>
          <p:nvSpPr>
            <p:cNvPr id="60" name="Rectangle 59">
              <a:extLst>
                <a:ext uri="{FF2B5EF4-FFF2-40B4-BE49-F238E27FC236}">
                  <a16:creationId xmlns:a16="http://schemas.microsoft.com/office/drawing/2014/main" id="{E2DF6A87-4771-40E9-97F6-784AEECB1630}"/>
                </a:ext>
              </a:extLst>
            </p:cNvPr>
            <p:cNvSpPr/>
            <p:nvPr/>
          </p:nvSpPr>
          <p:spPr>
            <a:xfrm>
              <a:off x="1633375" y="5666917"/>
              <a:ext cx="9920870" cy="37320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Long-lasting  partnerships </a:t>
              </a:r>
              <a:r>
                <a:rPr lang="en-GB" sz="1400" dirty="0">
                  <a:solidFill>
                    <a:schemeClr val="bg1"/>
                  </a:solidFill>
                </a:rPr>
                <a:t>through friendly relations and trust-building with all B2B partners</a:t>
              </a:r>
            </a:p>
          </p:txBody>
        </p:sp>
        <p:sp>
          <p:nvSpPr>
            <p:cNvPr id="63" name="Rectangle 62">
              <a:extLst>
                <a:ext uri="{FF2B5EF4-FFF2-40B4-BE49-F238E27FC236}">
                  <a16:creationId xmlns:a16="http://schemas.microsoft.com/office/drawing/2014/main" id="{437692BD-E2D9-406A-A574-D014EBF9209A}"/>
                </a:ext>
              </a:extLst>
            </p:cNvPr>
            <p:cNvSpPr/>
            <p:nvPr/>
          </p:nvSpPr>
          <p:spPr>
            <a:xfrm>
              <a:off x="1633375" y="6102870"/>
              <a:ext cx="9920870" cy="37320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Robust data analysis</a:t>
              </a:r>
              <a:r>
                <a:rPr lang="en-GB" sz="1400" dirty="0">
                  <a:solidFill>
                    <a:schemeClr val="bg1"/>
                  </a:solidFill>
                </a:rPr>
                <a:t> based on primary and secondary sources of input</a:t>
              </a:r>
            </a:p>
          </p:txBody>
        </p:sp>
      </p:grpSp>
      <p:sp>
        <p:nvSpPr>
          <p:cNvPr id="9" name="TextBox 8">
            <a:extLst>
              <a:ext uri="{FF2B5EF4-FFF2-40B4-BE49-F238E27FC236}">
                <a16:creationId xmlns:a16="http://schemas.microsoft.com/office/drawing/2014/main" id="{304B71F4-4CFB-43C5-93BE-92E2E1C51628}"/>
              </a:ext>
            </a:extLst>
          </p:cNvPr>
          <p:cNvSpPr txBox="1"/>
          <p:nvPr/>
        </p:nvSpPr>
        <p:spPr>
          <a:xfrm>
            <a:off x="374602" y="1339312"/>
            <a:ext cx="771365" cy="369332"/>
          </a:xfrm>
          <a:prstGeom prst="rect">
            <a:avLst/>
          </a:prstGeom>
          <a:noFill/>
        </p:spPr>
        <p:txBody>
          <a:bodyPr wrap="none" rtlCol="0">
            <a:spAutoFit/>
          </a:bodyPr>
          <a:lstStyle/>
          <a:p>
            <a:r>
              <a:rPr lang="en-GB" b="1" dirty="0"/>
              <a:t>Vision</a:t>
            </a:r>
          </a:p>
        </p:txBody>
      </p:sp>
      <p:sp>
        <p:nvSpPr>
          <p:cNvPr id="64" name="TextBox 63">
            <a:extLst>
              <a:ext uri="{FF2B5EF4-FFF2-40B4-BE49-F238E27FC236}">
                <a16:creationId xmlns:a16="http://schemas.microsoft.com/office/drawing/2014/main" id="{807B1A70-342F-4638-8816-A1E8585FD405}"/>
              </a:ext>
            </a:extLst>
          </p:cNvPr>
          <p:cNvSpPr txBox="1"/>
          <p:nvPr/>
        </p:nvSpPr>
        <p:spPr>
          <a:xfrm>
            <a:off x="168071" y="2243447"/>
            <a:ext cx="1184428" cy="369332"/>
          </a:xfrm>
          <a:prstGeom prst="rect">
            <a:avLst/>
          </a:prstGeom>
          <a:noFill/>
        </p:spPr>
        <p:txBody>
          <a:bodyPr wrap="none" rtlCol="0">
            <a:spAutoFit/>
          </a:bodyPr>
          <a:lstStyle/>
          <a:p>
            <a:pPr algn="ctr"/>
            <a:r>
              <a:rPr lang="en-GB" b="1" dirty="0"/>
              <a:t>Objectives</a:t>
            </a:r>
          </a:p>
        </p:txBody>
      </p:sp>
      <p:sp>
        <p:nvSpPr>
          <p:cNvPr id="65" name="TextBox 64">
            <a:extLst>
              <a:ext uri="{FF2B5EF4-FFF2-40B4-BE49-F238E27FC236}">
                <a16:creationId xmlns:a16="http://schemas.microsoft.com/office/drawing/2014/main" id="{3CC2CCE2-C9F8-464E-A71E-9D1258FAB062}"/>
              </a:ext>
            </a:extLst>
          </p:cNvPr>
          <p:cNvSpPr txBox="1"/>
          <p:nvPr/>
        </p:nvSpPr>
        <p:spPr>
          <a:xfrm>
            <a:off x="252166" y="3753168"/>
            <a:ext cx="1016239" cy="646331"/>
          </a:xfrm>
          <a:prstGeom prst="rect">
            <a:avLst/>
          </a:prstGeom>
          <a:noFill/>
        </p:spPr>
        <p:txBody>
          <a:bodyPr wrap="none" rtlCol="0">
            <a:spAutoFit/>
          </a:bodyPr>
          <a:lstStyle/>
          <a:p>
            <a:pPr algn="ctr"/>
            <a:r>
              <a:rPr lang="en-GB" b="1" dirty="0"/>
              <a:t>Strategic</a:t>
            </a:r>
          </a:p>
          <a:p>
            <a:pPr algn="ctr"/>
            <a:r>
              <a:rPr lang="en-GB" b="1" dirty="0"/>
              <a:t>Pillars</a:t>
            </a:r>
          </a:p>
        </p:txBody>
      </p:sp>
      <p:sp>
        <p:nvSpPr>
          <p:cNvPr id="66" name="TextBox 65">
            <a:extLst>
              <a:ext uri="{FF2B5EF4-FFF2-40B4-BE49-F238E27FC236}">
                <a16:creationId xmlns:a16="http://schemas.microsoft.com/office/drawing/2014/main" id="{38C45F82-E0D2-407C-8D36-AC8DD9786C71}"/>
              </a:ext>
            </a:extLst>
          </p:cNvPr>
          <p:cNvSpPr txBox="1"/>
          <p:nvPr/>
        </p:nvSpPr>
        <p:spPr>
          <a:xfrm>
            <a:off x="260599" y="5668852"/>
            <a:ext cx="999376" cy="369332"/>
          </a:xfrm>
          <a:prstGeom prst="rect">
            <a:avLst/>
          </a:prstGeom>
          <a:noFill/>
        </p:spPr>
        <p:txBody>
          <a:bodyPr wrap="none" rtlCol="0">
            <a:spAutoFit/>
          </a:bodyPr>
          <a:lstStyle/>
          <a:p>
            <a:pPr algn="ctr"/>
            <a:r>
              <a:rPr lang="en-GB" b="1" dirty="0"/>
              <a:t>Enablers</a:t>
            </a:r>
          </a:p>
        </p:txBody>
      </p:sp>
      <p:sp>
        <p:nvSpPr>
          <p:cNvPr id="11" name="Rectangle 10">
            <a:extLst>
              <a:ext uri="{FF2B5EF4-FFF2-40B4-BE49-F238E27FC236}">
                <a16:creationId xmlns:a16="http://schemas.microsoft.com/office/drawing/2014/main" id="{969AA21B-EAD7-445D-8389-C85B566AC3A5}"/>
              </a:ext>
            </a:extLst>
          </p:cNvPr>
          <p:cNvSpPr/>
          <p:nvPr/>
        </p:nvSpPr>
        <p:spPr>
          <a:xfrm>
            <a:off x="3509769" y="1357499"/>
            <a:ext cx="6096000" cy="461665"/>
          </a:xfrm>
          <a:prstGeom prst="rect">
            <a:avLst/>
          </a:prstGeom>
        </p:spPr>
        <p:txBody>
          <a:bodyPr>
            <a:spAutoFit/>
          </a:bodyPr>
          <a:lstStyle/>
          <a:p>
            <a:pPr algn="ctr"/>
            <a:r>
              <a:rPr lang="en-GB" sz="1200" dirty="0">
                <a:solidFill>
                  <a:schemeClr val="bg1"/>
                </a:solidFill>
              </a:rPr>
              <a:t>Establish Careasy as the </a:t>
            </a:r>
            <a:r>
              <a:rPr lang="en-GB" sz="1200" b="1" dirty="0">
                <a:solidFill>
                  <a:schemeClr val="bg1"/>
                </a:solidFill>
              </a:rPr>
              <a:t>go-to platform </a:t>
            </a:r>
          </a:p>
          <a:p>
            <a:pPr algn="ctr"/>
            <a:r>
              <a:rPr lang="en-GB" sz="1200" dirty="0">
                <a:solidFill>
                  <a:schemeClr val="bg1"/>
                </a:solidFill>
              </a:rPr>
              <a:t>for consumers seeking car services across India</a:t>
            </a:r>
          </a:p>
        </p:txBody>
      </p:sp>
      <p:sp>
        <p:nvSpPr>
          <p:cNvPr id="41" name="Rectangle: Top Corners Rounded 40">
            <a:extLst>
              <a:ext uri="{FF2B5EF4-FFF2-40B4-BE49-F238E27FC236}">
                <a16:creationId xmlns:a16="http://schemas.microsoft.com/office/drawing/2014/main" id="{61EE769A-CC2B-4FBF-AC1A-C45A158D2AC2}"/>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42" name="Arrow: Chevron 41">
            <a:extLst>
              <a:ext uri="{FF2B5EF4-FFF2-40B4-BE49-F238E27FC236}">
                <a16:creationId xmlns:a16="http://schemas.microsoft.com/office/drawing/2014/main" id="{7FFF7A09-CCB9-4C91-B10F-A8E4C4D02E7E}"/>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7FC97A30-D663-45DF-ACF5-5579FE343946}"/>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081756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652D94-6326-4A94-92E3-619F016F1955}"/>
              </a:ext>
            </a:extLst>
          </p:cNvPr>
          <p:cNvSpPr/>
          <p:nvPr/>
        </p:nvSpPr>
        <p:spPr>
          <a:xfrm>
            <a:off x="164009" y="1487381"/>
            <a:ext cx="3739896" cy="5027612"/>
          </a:xfrm>
          <a:prstGeom prst="rect">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Rectangle 221">
            <a:extLst>
              <a:ext uri="{FF2B5EF4-FFF2-40B4-BE49-F238E27FC236}">
                <a16:creationId xmlns:a16="http://schemas.microsoft.com/office/drawing/2014/main" id="{F1E114DC-6294-4878-BB39-8896D5FA7D7D}"/>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Rectangle 262">
            <a:extLst>
              <a:ext uri="{FF2B5EF4-FFF2-40B4-BE49-F238E27FC236}">
                <a16:creationId xmlns:a16="http://schemas.microsoft.com/office/drawing/2014/main" id="{60961931-D0F6-4D02-A41F-CA8E6F0C7F88}"/>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Executive Summary</a:t>
            </a:r>
          </a:p>
        </p:txBody>
      </p:sp>
      <p:grpSp>
        <p:nvGrpSpPr>
          <p:cNvPr id="269" name="Group 268">
            <a:extLst>
              <a:ext uri="{FF2B5EF4-FFF2-40B4-BE49-F238E27FC236}">
                <a16:creationId xmlns:a16="http://schemas.microsoft.com/office/drawing/2014/main" id="{668381E7-5F3A-4741-AF69-FF224A83504F}"/>
              </a:ext>
            </a:extLst>
          </p:cNvPr>
          <p:cNvGrpSpPr/>
          <p:nvPr/>
        </p:nvGrpSpPr>
        <p:grpSpPr>
          <a:xfrm>
            <a:off x="65515" y="52817"/>
            <a:ext cx="307865" cy="238659"/>
            <a:chOff x="12605240" y="-37073"/>
            <a:chExt cx="6681054" cy="5179185"/>
          </a:xfrm>
          <a:solidFill>
            <a:srgbClr val="00162F"/>
          </a:solidFill>
        </p:grpSpPr>
        <p:sp>
          <p:nvSpPr>
            <p:cNvPr id="274" name="Rectangle 273">
              <a:extLst>
                <a:ext uri="{FF2B5EF4-FFF2-40B4-BE49-F238E27FC236}">
                  <a16:creationId xmlns:a16="http://schemas.microsoft.com/office/drawing/2014/main" id="{A5B58F0C-BE6F-4ACC-B002-23A865F26338}"/>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5" name="Rectangle 274">
              <a:extLst>
                <a:ext uri="{FF2B5EF4-FFF2-40B4-BE49-F238E27FC236}">
                  <a16:creationId xmlns:a16="http://schemas.microsoft.com/office/drawing/2014/main" id="{C0743DE2-7111-4F29-BF2A-84D23D57B06B}"/>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6" name="Rectangle 275">
              <a:extLst>
                <a:ext uri="{FF2B5EF4-FFF2-40B4-BE49-F238E27FC236}">
                  <a16:creationId xmlns:a16="http://schemas.microsoft.com/office/drawing/2014/main" id="{6F47D75F-504A-4592-96A0-190CC0479113}"/>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7" name="Rectangle 276">
              <a:extLst>
                <a:ext uri="{FF2B5EF4-FFF2-40B4-BE49-F238E27FC236}">
                  <a16:creationId xmlns:a16="http://schemas.microsoft.com/office/drawing/2014/main" id="{B1DD397A-F063-47A8-A769-4155BB41638D}"/>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8" name="Rectangle 277">
              <a:extLst>
                <a:ext uri="{FF2B5EF4-FFF2-40B4-BE49-F238E27FC236}">
                  <a16:creationId xmlns:a16="http://schemas.microsoft.com/office/drawing/2014/main" id="{451BB493-F0FC-4E06-8889-CDC04E0E7DB6}"/>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79" name="Rectangle 278">
              <a:extLst>
                <a:ext uri="{FF2B5EF4-FFF2-40B4-BE49-F238E27FC236}">
                  <a16:creationId xmlns:a16="http://schemas.microsoft.com/office/drawing/2014/main" id="{75923D11-5B8E-45A0-B9EA-0130FCE09C3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0" name="Rectangle 279">
              <a:extLst>
                <a:ext uri="{FF2B5EF4-FFF2-40B4-BE49-F238E27FC236}">
                  <a16:creationId xmlns:a16="http://schemas.microsoft.com/office/drawing/2014/main" id="{E9DA3F44-E1A0-4EA2-B6C9-0B78D67CA9A0}"/>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1" name="Isosceles Triangle 280">
              <a:extLst>
                <a:ext uri="{FF2B5EF4-FFF2-40B4-BE49-F238E27FC236}">
                  <a16:creationId xmlns:a16="http://schemas.microsoft.com/office/drawing/2014/main" id="{7BF9A10C-BD3C-429F-A6D9-434332A131D6}"/>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295" name="TextBox 294">
            <a:extLst>
              <a:ext uri="{FF2B5EF4-FFF2-40B4-BE49-F238E27FC236}">
                <a16:creationId xmlns:a16="http://schemas.microsoft.com/office/drawing/2014/main" id="{2A96B037-7E2F-48CF-A256-A05F13825A91}"/>
              </a:ext>
            </a:extLst>
          </p:cNvPr>
          <p:cNvSpPr txBox="1"/>
          <p:nvPr/>
        </p:nvSpPr>
        <p:spPr>
          <a:xfrm>
            <a:off x="11824981" y="6573307"/>
            <a:ext cx="242374" cy="230832"/>
          </a:xfrm>
          <a:prstGeom prst="rect">
            <a:avLst/>
          </a:prstGeom>
          <a:noFill/>
        </p:spPr>
        <p:txBody>
          <a:bodyPr wrap="none" rtlCol="0">
            <a:spAutoFit/>
          </a:bodyPr>
          <a:lstStyle/>
          <a:p>
            <a:r>
              <a:rPr lang="en-GB" sz="900" dirty="0"/>
              <a:t>2</a:t>
            </a:r>
            <a:endParaRPr lang="en-GB" dirty="0"/>
          </a:p>
        </p:txBody>
      </p:sp>
      <p:sp>
        <p:nvSpPr>
          <p:cNvPr id="156" name="Rectangle 155">
            <a:extLst>
              <a:ext uri="{FF2B5EF4-FFF2-40B4-BE49-F238E27FC236}">
                <a16:creationId xmlns:a16="http://schemas.microsoft.com/office/drawing/2014/main" id="{5C83053D-4B5B-4656-8A2E-E9801F8261AD}"/>
              </a:ext>
            </a:extLst>
          </p:cNvPr>
          <p:cNvSpPr/>
          <p:nvPr/>
        </p:nvSpPr>
        <p:spPr>
          <a:xfrm>
            <a:off x="160200" y="1263264"/>
            <a:ext cx="3749040" cy="486878"/>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Research and Data Collection</a:t>
            </a:r>
          </a:p>
        </p:txBody>
      </p:sp>
      <p:sp>
        <p:nvSpPr>
          <p:cNvPr id="157" name="Rectangle 156">
            <a:extLst>
              <a:ext uri="{FF2B5EF4-FFF2-40B4-BE49-F238E27FC236}">
                <a16:creationId xmlns:a16="http://schemas.microsoft.com/office/drawing/2014/main" id="{E9A1EBEF-43DF-49AB-A7B0-5B2C9EFFE739}"/>
              </a:ext>
            </a:extLst>
          </p:cNvPr>
          <p:cNvSpPr/>
          <p:nvPr/>
        </p:nvSpPr>
        <p:spPr>
          <a:xfrm>
            <a:off x="4118070" y="1256920"/>
            <a:ext cx="3749040" cy="486878"/>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Strategy Formulation and Elements</a:t>
            </a:r>
          </a:p>
        </p:txBody>
      </p:sp>
      <p:sp>
        <p:nvSpPr>
          <p:cNvPr id="158" name="Rectangle 157">
            <a:extLst>
              <a:ext uri="{FF2B5EF4-FFF2-40B4-BE49-F238E27FC236}">
                <a16:creationId xmlns:a16="http://schemas.microsoft.com/office/drawing/2014/main" id="{2B62FE53-CEFB-442A-B8EE-411AA76B7283}"/>
              </a:ext>
            </a:extLst>
          </p:cNvPr>
          <p:cNvSpPr/>
          <p:nvPr/>
        </p:nvSpPr>
        <p:spPr>
          <a:xfrm>
            <a:off x="8075941" y="1256920"/>
            <a:ext cx="3749040" cy="486878"/>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Strategy Overview</a:t>
            </a:r>
          </a:p>
        </p:txBody>
      </p:sp>
      <p:sp>
        <p:nvSpPr>
          <p:cNvPr id="160" name="Rectangle 159">
            <a:extLst>
              <a:ext uri="{FF2B5EF4-FFF2-40B4-BE49-F238E27FC236}">
                <a16:creationId xmlns:a16="http://schemas.microsoft.com/office/drawing/2014/main" id="{3E32D30E-E527-4305-B3E5-6EC97CE46670}"/>
              </a:ext>
            </a:extLst>
          </p:cNvPr>
          <p:cNvSpPr/>
          <p:nvPr/>
        </p:nvSpPr>
        <p:spPr>
          <a:xfrm>
            <a:off x="325264" y="1856972"/>
            <a:ext cx="3417385" cy="3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solidFill>
                  <a:schemeClr val="tx1"/>
                </a:solidFill>
              </a:rPr>
              <a:t>Primary Research</a:t>
            </a:r>
          </a:p>
        </p:txBody>
      </p:sp>
      <p:sp>
        <p:nvSpPr>
          <p:cNvPr id="161" name="Rectangle 160">
            <a:extLst>
              <a:ext uri="{FF2B5EF4-FFF2-40B4-BE49-F238E27FC236}">
                <a16:creationId xmlns:a16="http://schemas.microsoft.com/office/drawing/2014/main" id="{3ADDB663-3D0A-430A-A14E-21E16AA0F8B1}"/>
              </a:ext>
            </a:extLst>
          </p:cNvPr>
          <p:cNvSpPr/>
          <p:nvPr/>
        </p:nvSpPr>
        <p:spPr>
          <a:xfrm>
            <a:off x="353789" y="4011108"/>
            <a:ext cx="3417385" cy="3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solidFill>
                  <a:schemeClr val="tx1"/>
                </a:solidFill>
              </a:rPr>
              <a:t>Secondary Research</a:t>
            </a:r>
          </a:p>
        </p:txBody>
      </p:sp>
      <p:sp>
        <p:nvSpPr>
          <p:cNvPr id="162" name="Rectangle 161">
            <a:extLst>
              <a:ext uri="{FF2B5EF4-FFF2-40B4-BE49-F238E27FC236}">
                <a16:creationId xmlns:a16="http://schemas.microsoft.com/office/drawing/2014/main" id="{45F6B724-AF6F-4435-BC0E-3B55D6B268DB}"/>
              </a:ext>
            </a:extLst>
          </p:cNvPr>
          <p:cNvSpPr/>
          <p:nvPr/>
        </p:nvSpPr>
        <p:spPr>
          <a:xfrm>
            <a:off x="325263" y="2284889"/>
            <a:ext cx="3417385" cy="3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a:solidFill>
                  <a:schemeClr val="tx1"/>
                </a:solidFill>
              </a:rPr>
              <a:t>Survey with 143 respondents</a:t>
            </a:r>
          </a:p>
        </p:txBody>
      </p:sp>
      <p:sp>
        <p:nvSpPr>
          <p:cNvPr id="163" name="Rectangle 162">
            <a:extLst>
              <a:ext uri="{FF2B5EF4-FFF2-40B4-BE49-F238E27FC236}">
                <a16:creationId xmlns:a16="http://schemas.microsoft.com/office/drawing/2014/main" id="{C039259E-D94A-47B1-A2E1-9FD492B5169B}"/>
              </a:ext>
            </a:extLst>
          </p:cNvPr>
          <p:cNvSpPr/>
          <p:nvPr/>
        </p:nvSpPr>
        <p:spPr>
          <a:xfrm>
            <a:off x="325262" y="2783938"/>
            <a:ext cx="3417385" cy="3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a:solidFill>
                  <a:schemeClr val="tx1"/>
                </a:solidFill>
              </a:rPr>
              <a:t>17 Customer Interviews</a:t>
            </a:r>
          </a:p>
        </p:txBody>
      </p:sp>
      <p:sp>
        <p:nvSpPr>
          <p:cNvPr id="3" name="Rectangle: Top Corners Rounded 2">
            <a:extLst>
              <a:ext uri="{FF2B5EF4-FFF2-40B4-BE49-F238E27FC236}">
                <a16:creationId xmlns:a16="http://schemas.microsoft.com/office/drawing/2014/main" id="{15ED01B0-06CB-4F7D-B5EC-1F47BE868FBD}"/>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4" name="Rectangle: Top Corners Rounded 3">
            <a:extLst>
              <a:ext uri="{FF2B5EF4-FFF2-40B4-BE49-F238E27FC236}">
                <a16:creationId xmlns:a16="http://schemas.microsoft.com/office/drawing/2014/main" id="{2E748DFD-0F0E-4B39-923F-FAF6AD02C738}"/>
              </a:ext>
            </a:extLst>
          </p:cNvPr>
          <p:cNvSpPr/>
          <p:nvPr/>
        </p:nvSpPr>
        <p:spPr>
          <a:xfrm rot="5400000">
            <a:off x="3783504" y="-495289"/>
            <a:ext cx="180301"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5" name="Rectangle: Top Corners Rounded 4">
            <a:extLst>
              <a:ext uri="{FF2B5EF4-FFF2-40B4-BE49-F238E27FC236}">
                <a16:creationId xmlns:a16="http://schemas.microsoft.com/office/drawing/2014/main" id="{E9DDB253-5AF6-4A6E-9308-B9A096169569}"/>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6" name="Rectangle: Top Corners Rounded 5">
            <a:extLst>
              <a:ext uri="{FF2B5EF4-FFF2-40B4-BE49-F238E27FC236}">
                <a16:creationId xmlns:a16="http://schemas.microsoft.com/office/drawing/2014/main" id="{63ECD318-6A15-4073-8005-5607F7995D97}"/>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9" name="Arrow: Chevron 8">
            <a:extLst>
              <a:ext uri="{FF2B5EF4-FFF2-40B4-BE49-F238E27FC236}">
                <a16:creationId xmlns:a16="http://schemas.microsoft.com/office/drawing/2014/main" id="{F897D609-854B-4DB3-970C-1EC0030AA79B}"/>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Arrow: Chevron 9">
            <a:extLst>
              <a:ext uri="{FF2B5EF4-FFF2-40B4-BE49-F238E27FC236}">
                <a16:creationId xmlns:a16="http://schemas.microsoft.com/office/drawing/2014/main" id="{7D60AFA8-0D62-42D6-93D4-03446E73B751}"/>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Arrow: Chevron 10">
            <a:extLst>
              <a:ext uri="{FF2B5EF4-FFF2-40B4-BE49-F238E27FC236}">
                <a16:creationId xmlns:a16="http://schemas.microsoft.com/office/drawing/2014/main" id="{9DAF69A9-4D48-4D36-94EA-6838572BF18C}"/>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Rectangle: Top Corners Rounded 11">
            <a:extLst>
              <a:ext uri="{FF2B5EF4-FFF2-40B4-BE49-F238E27FC236}">
                <a16:creationId xmlns:a16="http://schemas.microsoft.com/office/drawing/2014/main" id="{078A7600-A7FB-44C5-B9D4-FB78AE64316F}"/>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3" name="Arrow: Chevron 12">
            <a:extLst>
              <a:ext uri="{FF2B5EF4-FFF2-40B4-BE49-F238E27FC236}">
                <a16:creationId xmlns:a16="http://schemas.microsoft.com/office/drawing/2014/main" id="{91239113-5DA2-4FCE-955B-A8E8E2FF7C43}"/>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76" name="Rectangle 175">
            <a:extLst>
              <a:ext uri="{FF2B5EF4-FFF2-40B4-BE49-F238E27FC236}">
                <a16:creationId xmlns:a16="http://schemas.microsoft.com/office/drawing/2014/main" id="{A4617D4C-FA26-4073-8470-065E570611D8}"/>
              </a:ext>
            </a:extLst>
          </p:cNvPr>
          <p:cNvSpPr/>
          <p:nvPr/>
        </p:nvSpPr>
        <p:spPr>
          <a:xfrm>
            <a:off x="353790" y="3282987"/>
            <a:ext cx="3417385" cy="3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a:solidFill>
                  <a:schemeClr val="tx1"/>
                </a:solidFill>
              </a:rPr>
              <a:t>3 Expert Interviews</a:t>
            </a:r>
          </a:p>
        </p:txBody>
      </p:sp>
      <p:sp>
        <p:nvSpPr>
          <p:cNvPr id="178" name="Rectangle 177">
            <a:extLst>
              <a:ext uri="{FF2B5EF4-FFF2-40B4-BE49-F238E27FC236}">
                <a16:creationId xmlns:a16="http://schemas.microsoft.com/office/drawing/2014/main" id="{7F0FA338-B9FD-4E82-AA6C-C805BB8003B6}"/>
              </a:ext>
            </a:extLst>
          </p:cNvPr>
          <p:cNvSpPr/>
          <p:nvPr/>
        </p:nvSpPr>
        <p:spPr>
          <a:xfrm>
            <a:off x="329686" y="4108366"/>
            <a:ext cx="3417385" cy="23363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a:solidFill>
                  <a:schemeClr val="tx1"/>
                </a:solidFill>
              </a:rPr>
              <a:t>Industry Databases</a:t>
            </a:r>
          </a:p>
          <a:p>
            <a:pPr algn="ctr"/>
            <a:r>
              <a:rPr lang="en-GB" sz="1200" i="1" dirty="0">
                <a:solidFill>
                  <a:schemeClr val="tx1"/>
                </a:solidFill>
              </a:rPr>
              <a:t>(CRISIL Research, </a:t>
            </a:r>
            <a:r>
              <a:rPr lang="en-GB" sz="1200" i="1" dirty="0" err="1">
                <a:solidFill>
                  <a:schemeClr val="tx1"/>
                </a:solidFill>
              </a:rPr>
              <a:t>Tracxn</a:t>
            </a:r>
            <a:r>
              <a:rPr lang="en-GB" sz="1200" i="1" dirty="0">
                <a:solidFill>
                  <a:schemeClr val="tx1"/>
                </a:solidFill>
              </a:rPr>
              <a:t>, MICA Marketing Intelligence, World Advertising Research </a:t>
            </a:r>
            <a:r>
              <a:rPr lang="en-GB" sz="1200" i="1" dirty="0" err="1">
                <a:solidFill>
                  <a:schemeClr val="tx1"/>
                </a:solidFill>
              </a:rPr>
              <a:t>Center</a:t>
            </a:r>
            <a:r>
              <a:rPr lang="en-GB" sz="1200" i="1" dirty="0">
                <a:solidFill>
                  <a:schemeClr val="tx1"/>
                </a:solidFill>
              </a:rPr>
              <a:t> etc.)</a:t>
            </a:r>
          </a:p>
          <a:p>
            <a:pPr algn="ctr"/>
            <a:endParaRPr lang="en-GB" sz="1600" dirty="0">
              <a:solidFill>
                <a:schemeClr val="tx1"/>
              </a:solidFill>
            </a:endParaRPr>
          </a:p>
          <a:p>
            <a:pPr algn="ctr"/>
            <a:r>
              <a:rPr lang="en-GB" sz="2000" dirty="0">
                <a:solidFill>
                  <a:schemeClr val="tx1"/>
                </a:solidFill>
              </a:rPr>
              <a:t>Desktop research</a:t>
            </a:r>
          </a:p>
          <a:p>
            <a:pPr algn="ctr"/>
            <a:r>
              <a:rPr lang="en-GB" sz="1200" i="1" dirty="0">
                <a:solidFill>
                  <a:schemeClr val="tx1"/>
                </a:solidFill>
              </a:rPr>
              <a:t>(Company websites, competitor apps </a:t>
            </a:r>
          </a:p>
          <a:p>
            <a:pPr algn="ctr"/>
            <a:r>
              <a:rPr lang="en-GB" sz="1200" i="1" dirty="0">
                <a:solidFill>
                  <a:schemeClr val="tx1"/>
                </a:solidFill>
              </a:rPr>
              <a:t>from Google Play etc.)</a:t>
            </a:r>
          </a:p>
        </p:txBody>
      </p:sp>
      <p:sp>
        <p:nvSpPr>
          <p:cNvPr id="14" name="Arrow: Chevron 13">
            <a:extLst>
              <a:ext uri="{FF2B5EF4-FFF2-40B4-BE49-F238E27FC236}">
                <a16:creationId xmlns:a16="http://schemas.microsoft.com/office/drawing/2014/main" id="{14877976-BC0C-4361-BCB0-B41E739C0C6F}"/>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5" name="Straight Connector 14">
            <a:extLst>
              <a:ext uri="{FF2B5EF4-FFF2-40B4-BE49-F238E27FC236}">
                <a16:creationId xmlns:a16="http://schemas.microsoft.com/office/drawing/2014/main" id="{5F1B3AC7-8CEB-438B-B24C-BE6AA2B10CC3}"/>
              </a:ext>
            </a:extLst>
          </p:cNvPr>
          <p:cNvCxnSpPr>
            <a:cxnSpLocks/>
          </p:cNvCxnSpPr>
          <p:nvPr/>
        </p:nvCxnSpPr>
        <p:spPr>
          <a:xfrm>
            <a:off x="420074" y="3875319"/>
            <a:ext cx="310970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1" name="Rectangle 180">
            <a:extLst>
              <a:ext uri="{FF2B5EF4-FFF2-40B4-BE49-F238E27FC236}">
                <a16:creationId xmlns:a16="http://schemas.microsoft.com/office/drawing/2014/main" id="{49667CC8-0B6C-491B-97BD-14765850A02A}"/>
              </a:ext>
            </a:extLst>
          </p:cNvPr>
          <p:cNvSpPr/>
          <p:nvPr/>
        </p:nvSpPr>
        <p:spPr>
          <a:xfrm>
            <a:off x="4112734" y="1743799"/>
            <a:ext cx="3749039" cy="9387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Market Analysis</a:t>
            </a:r>
          </a:p>
          <a:p>
            <a:pPr algn="ctr"/>
            <a:r>
              <a:rPr lang="en-GB" sz="1600" dirty="0">
                <a:solidFill>
                  <a:schemeClr val="tx1"/>
                </a:solidFill>
              </a:rPr>
              <a:t>Customer perspective</a:t>
            </a:r>
          </a:p>
          <a:p>
            <a:pPr algn="ctr"/>
            <a:r>
              <a:rPr lang="en-GB" sz="1600" dirty="0">
                <a:solidFill>
                  <a:schemeClr val="tx1"/>
                </a:solidFill>
              </a:rPr>
              <a:t>Competitor benchmarking</a:t>
            </a:r>
          </a:p>
        </p:txBody>
      </p:sp>
      <p:sp>
        <p:nvSpPr>
          <p:cNvPr id="183" name="Rectangle 182">
            <a:extLst>
              <a:ext uri="{FF2B5EF4-FFF2-40B4-BE49-F238E27FC236}">
                <a16:creationId xmlns:a16="http://schemas.microsoft.com/office/drawing/2014/main" id="{8A7FA0C8-6D75-4391-93C9-39BD9CA932B3}"/>
              </a:ext>
            </a:extLst>
          </p:cNvPr>
          <p:cNvSpPr/>
          <p:nvPr/>
        </p:nvSpPr>
        <p:spPr>
          <a:xfrm>
            <a:off x="4112734" y="2795724"/>
            <a:ext cx="3749039" cy="6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Application Strategy</a:t>
            </a:r>
          </a:p>
        </p:txBody>
      </p:sp>
      <p:sp>
        <p:nvSpPr>
          <p:cNvPr id="184" name="Rectangle 183">
            <a:extLst>
              <a:ext uri="{FF2B5EF4-FFF2-40B4-BE49-F238E27FC236}">
                <a16:creationId xmlns:a16="http://schemas.microsoft.com/office/drawing/2014/main" id="{677559C3-D0AE-4618-A526-A249A543473B}"/>
              </a:ext>
            </a:extLst>
          </p:cNvPr>
          <p:cNvSpPr/>
          <p:nvPr/>
        </p:nvSpPr>
        <p:spPr>
          <a:xfrm>
            <a:off x="4112734" y="3524272"/>
            <a:ext cx="3749039" cy="11790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Branding Strategy</a:t>
            </a:r>
          </a:p>
          <a:p>
            <a:pPr algn="ctr"/>
            <a:r>
              <a:rPr lang="en-GB" sz="1600" dirty="0">
                <a:solidFill>
                  <a:schemeClr val="tx1"/>
                </a:solidFill>
              </a:rPr>
              <a:t>Partner Growth and Support</a:t>
            </a:r>
          </a:p>
          <a:p>
            <a:pPr algn="ctr"/>
            <a:r>
              <a:rPr lang="en-GB" sz="1600" dirty="0">
                <a:solidFill>
                  <a:schemeClr val="tx1"/>
                </a:solidFill>
              </a:rPr>
              <a:t>Sales and advertising model</a:t>
            </a:r>
          </a:p>
          <a:p>
            <a:pPr algn="ctr"/>
            <a:r>
              <a:rPr lang="en-GB" sz="1600" dirty="0">
                <a:solidFill>
                  <a:schemeClr val="tx1"/>
                </a:solidFill>
              </a:rPr>
              <a:t>Cost effective media plan</a:t>
            </a:r>
          </a:p>
        </p:txBody>
      </p:sp>
      <p:sp>
        <p:nvSpPr>
          <p:cNvPr id="185" name="Rectangle 184">
            <a:extLst>
              <a:ext uri="{FF2B5EF4-FFF2-40B4-BE49-F238E27FC236}">
                <a16:creationId xmlns:a16="http://schemas.microsoft.com/office/drawing/2014/main" id="{82A53F50-7C82-49F2-B4BC-FA815912BF82}"/>
              </a:ext>
            </a:extLst>
          </p:cNvPr>
          <p:cNvSpPr/>
          <p:nvPr/>
        </p:nvSpPr>
        <p:spPr>
          <a:xfrm>
            <a:off x="4112733" y="4816501"/>
            <a:ext cx="3749039" cy="6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B2B Partnerships</a:t>
            </a:r>
          </a:p>
        </p:txBody>
      </p:sp>
      <p:sp>
        <p:nvSpPr>
          <p:cNvPr id="186" name="Rectangle 185">
            <a:extLst>
              <a:ext uri="{FF2B5EF4-FFF2-40B4-BE49-F238E27FC236}">
                <a16:creationId xmlns:a16="http://schemas.microsoft.com/office/drawing/2014/main" id="{C3DBFE7B-5C40-4995-A49D-CDB384F016DB}"/>
              </a:ext>
            </a:extLst>
          </p:cNvPr>
          <p:cNvSpPr/>
          <p:nvPr/>
        </p:nvSpPr>
        <p:spPr>
          <a:xfrm>
            <a:off x="4112732" y="5545050"/>
            <a:ext cx="3749039" cy="969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Future Strategy</a:t>
            </a:r>
          </a:p>
          <a:p>
            <a:pPr algn="ctr"/>
            <a:r>
              <a:rPr lang="en-GB" sz="1600" dirty="0">
                <a:solidFill>
                  <a:schemeClr val="tx1"/>
                </a:solidFill>
              </a:rPr>
              <a:t>Alternate sources of revenues</a:t>
            </a:r>
          </a:p>
          <a:p>
            <a:pPr algn="ctr"/>
            <a:r>
              <a:rPr lang="en-GB" sz="1600" dirty="0">
                <a:solidFill>
                  <a:schemeClr val="tx1"/>
                </a:solidFill>
              </a:rPr>
              <a:t>Execution plan and cost-benefit analysis</a:t>
            </a:r>
          </a:p>
        </p:txBody>
      </p:sp>
      <p:grpSp>
        <p:nvGrpSpPr>
          <p:cNvPr id="23" name="Group 22">
            <a:extLst>
              <a:ext uri="{FF2B5EF4-FFF2-40B4-BE49-F238E27FC236}">
                <a16:creationId xmlns:a16="http://schemas.microsoft.com/office/drawing/2014/main" id="{3CA87FB2-11BB-4B2F-9FAB-FAEA208BA0EA}"/>
              </a:ext>
            </a:extLst>
          </p:cNvPr>
          <p:cNvGrpSpPr/>
          <p:nvPr/>
        </p:nvGrpSpPr>
        <p:grpSpPr>
          <a:xfrm>
            <a:off x="5850170" y="2607815"/>
            <a:ext cx="274163" cy="3015274"/>
            <a:chOff x="5811395" y="2607815"/>
            <a:chExt cx="274163" cy="3015274"/>
          </a:xfrm>
        </p:grpSpPr>
        <p:grpSp>
          <p:nvGrpSpPr>
            <p:cNvPr id="22" name="Group 21">
              <a:extLst>
                <a:ext uri="{FF2B5EF4-FFF2-40B4-BE49-F238E27FC236}">
                  <a16:creationId xmlns:a16="http://schemas.microsoft.com/office/drawing/2014/main" id="{DAFA995B-7941-4A90-9BD2-5B31F2455F07}"/>
                </a:ext>
              </a:extLst>
            </p:cNvPr>
            <p:cNvGrpSpPr/>
            <p:nvPr/>
          </p:nvGrpSpPr>
          <p:grpSpPr>
            <a:xfrm>
              <a:off x="5811395" y="2607815"/>
              <a:ext cx="269224" cy="269224"/>
              <a:chOff x="5811395" y="2607815"/>
              <a:chExt cx="269224" cy="269224"/>
            </a:xfrm>
          </p:grpSpPr>
          <p:sp>
            <p:nvSpPr>
              <p:cNvPr id="20" name="Oval 19">
                <a:extLst>
                  <a:ext uri="{FF2B5EF4-FFF2-40B4-BE49-F238E27FC236}">
                    <a16:creationId xmlns:a16="http://schemas.microsoft.com/office/drawing/2014/main" id="{2FC3666F-A2B3-4F82-A048-57552A3F0A3F}"/>
                  </a:ext>
                </a:extLst>
              </p:cNvPr>
              <p:cNvSpPr/>
              <p:nvPr/>
            </p:nvSpPr>
            <p:spPr>
              <a:xfrm>
                <a:off x="5811395" y="2607815"/>
                <a:ext cx="269224" cy="269224"/>
              </a:xfrm>
              <a:prstGeom prst="ellips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Chevron 20">
                <a:extLst>
                  <a:ext uri="{FF2B5EF4-FFF2-40B4-BE49-F238E27FC236}">
                    <a16:creationId xmlns:a16="http://schemas.microsoft.com/office/drawing/2014/main" id="{BE3E6EE8-67D6-4063-9A0A-6DE79A108924}"/>
                  </a:ext>
                </a:extLst>
              </p:cNvPr>
              <p:cNvSpPr/>
              <p:nvPr/>
            </p:nvSpPr>
            <p:spPr>
              <a:xfrm rot="5400000">
                <a:off x="5886190" y="2682077"/>
                <a:ext cx="119634" cy="119634"/>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90" name="Group 189">
              <a:extLst>
                <a:ext uri="{FF2B5EF4-FFF2-40B4-BE49-F238E27FC236}">
                  <a16:creationId xmlns:a16="http://schemas.microsoft.com/office/drawing/2014/main" id="{1744F3CC-D7FF-4EC8-859A-BD4B9931CC1F}"/>
                </a:ext>
              </a:extLst>
            </p:cNvPr>
            <p:cNvGrpSpPr/>
            <p:nvPr/>
          </p:nvGrpSpPr>
          <p:grpSpPr>
            <a:xfrm>
              <a:off x="5816334" y="3333087"/>
              <a:ext cx="269224" cy="269224"/>
              <a:chOff x="5811395" y="2607815"/>
              <a:chExt cx="269224" cy="269224"/>
            </a:xfrm>
          </p:grpSpPr>
          <p:sp>
            <p:nvSpPr>
              <p:cNvPr id="191" name="Oval 190">
                <a:extLst>
                  <a:ext uri="{FF2B5EF4-FFF2-40B4-BE49-F238E27FC236}">
                    <a16:creationId xmlns:a16="http://schemas.microsoft.com/office/drawing/2014/main" id="{40E6FD8C-1806-4AB8-B65D-69770E3590C5}"/>
                  </a:ext>
                </a:extLst>
              </p:cNvPr>
              <p:cNvSpPr/>
              <p:nvPr/>
            </p:nvSpPr>
            <p:spPr>
              <a:xfrm>
                <a:off x="5811395" y="2607815"/>
                <a:ext cx="269224" cy="269224"/>
              </a:xfrm>
              <a:prstGeom prst="ellips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Arrow: Chevron 191">
                <a:extLst>
                  <a:ext uri="{FF2B5EF4-FFF2-40B4-BE49-F238E27FC236}">
                    <a16:creationId xmlns:a16="http://schemas.microsoft.com/office/drawing/2014/main" id="{165C9F86-608C-4E20-B208-44D67275978E}"/>
                  </a:ext>
                </a:extLst>
              </p:cNvPr>
              <p:cNvSpPr/>
              <p:nvPr/>
            </p:nvSpPr>
            <p:spPr>
              <a:xfrm rot="5400000">
                <a:off x="5886190" y="2682077"/>
                <a:ext cx="119634" cy="119634"/>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93" name="Group 192">
              <a:extLst>
                <a:ext uri="{FF2B5EF4-FFF2-40B4-BE49-F238E27FC236}">
                  <a16:creationId xmlns:a16="http://schemas.microsoft.com/office/drawing/2014/main" id="{A3D888A8-4F28-46C4-A756-9923858CF07A}"/>
                </a:ext>
              </a:extLst>
            </p:cNvPr>
            <p:cNvGrpSpPr/>
            <p:nvPr/>
          </p:nvGrpSpPr>
          <p:grpSpPr>
            <a:xfrm>
              <a:off x="5811395" y="4619132"/>
              <a:ext cx="269224" cy="269224"/>
              <a:chOff x="5811395" y="2607815"/>
              <a:chExt cx="269224" cy="269224"/>
            </a:xfrm>
          </p:grpSpPr>
          <p:sp>
            <p:nvSpPr>
              <p:cNvPr id="194" name="Oval 193">
                <a:extLst>
                  <a:ext uri="{FF2B5EF4-FFF2-40B4-BE49-F238E27FC236}">
                    <a16:creationId xmlns:a16="http://schemas.microsoft.com/office/drawing/2014/main" id="{FA7D4227-ACEE-474B-87AE-D01DD9FB76C9}"/>
                  </a:ext>
                </a:extLst>
              </p:cNvPr>
              <p:cNvSpPr/>
              <p:nvPr/>
            </p:nvSpPr>
            <p:spPr>
              <a:xfrm>
                <a:off x="5811395" y="2607815"/>
                <a:ext cx="269224" cy="269224"/>
              </a:xfrm>
              <a:prstGeom prst="ellips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Arrow: Chevron 194">
                <a:extLst>
                  <a:ext uri="{FF2B5EF4-FFF2-40B4-BE49-F238E27FC236}">
                    <a16:creationId xmlns:a16="http://schemas.microsoft.com/office/drawing/2014/main" id="{9607AEB0-E298-46EB-B510-3A09B88218DB}"/>
                  </a:ext>
                </a:extLst>
              </p:cNvPr>
              <p:cNvSpPr/>
              <p:nvPr/>
            </p:nvSpPr>
            <p:spPr>
              <a:xfrm rot="5400000">
                <a:off x="5886190" y="2682077"/>
                <a:ext cx="119634" cy="119634"/>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96" name="Group 195">
              <a:extLst>
                <a:ext uri="{FF2B5EF4-FFF2-40B4-BE49-F238E27FC236}">
                  <a16:creationId xmlns:a16="http://schemas.microsoft.com/office/drawing/2014/main" id="{88F00162-A037-4677-9E0A-70A42D21FC7C}"/>
                </a:ext>
              </a:extLst>
            </p:cNvPr>
            <p:cNvGrpSpPr/>
            <p:nvPr/>
          </p:nvGrpSpPr>
          <p:grpSpPr>
            <a:xfrm>
              <a:off x="5811395" y="5353865"/>
              <a:ext cx="269224" cy="269224"/>
              <a:chOff x="5811395" y="2607815"/>
              <a:chExt cx="269224" cy="269224"/>
            </a:xfrm>
          </p:grpSpPr>
          <p:sp>
            <p:nvSpPr>
              <p:cNvPr id="197" name="Oval 196">
                <a:extLst>
                  <a:ext uri="{FF2B5EF4-FFF2-40B4-BE49-F238E27FC236}">
                    <a16:creationId xmlns:a16="http://schemas.microsoft.com/office/drawing/2014/main" id="{4FE3F792-95C5-41F4-BB40-17D45FE60EFA}"/>
                  </a:ext>
                </a:extLst>
              </p:cNvPr>
              <p:cNvSpPr/>
              <p:nvPr/>
            </p:nvSpPr>
            <p:spPr>
              <a:xfrm>
                <a:off x="5811395" y="2607815"/>
                <a:ext cx="269224" cy="269224"/>
              </a:xfrm>
              <a:prstGeom prst="ellips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Arrow: Chevron 197">
                <a:extLst>
                  <a:ext uri="{FF2B5EF4-FFF2-40B4-BE49-F238E27FC236}">
                    <a16:creationId xmlns:a16="http://schemas.microsoft.com/office/drawing/2014/main" id="{E76F4CA3-33DD-4D3C-A076-05FE15D9F4FF}"/>
                  </a:ext>
                </a:extLst>
              </p:cNvPr>
              <p:cNvSpPr/>
              <p:nvPr/>
            </p:nvSpPr>
            <p:spPr>
              <a:xfrm rot="5400000">
                <a:off x="5886190" y="2682077"/>
                <a:ext cx="119634" cy="119634"/>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grpSp>
        <p:nvGrpSpPr>
          <p:cNvPr id="199" name="Group 198">
            <a:extLst>
              <a:ext uri="{FF2B5EF4-FFF2-40B4-BE49-F238E27FC236}">
                <a16:creationId xmlns:a16="http://schemas.microsoft.com/office/drawing/2014/main" id="{6320B112-8F38-4388-A2FB-08ABBCF0D9E9}"/>
              </a:ext>
            </a:extLst>
          </p:cNvPr>
          <p:cNvGrpSpPr/>
          <p:nvPr/>
        </p:nvGrpSpPr>
        <p:grpSpPr>
          <a:xfrm>
            <a:off x="7584200" y="1089272"/>
            <a:ext cx="763978" cy="763978"/>
            <a:chOff x="3021277" y="1068953"/>
            <a:chExt cx="533773" cy="533773"/>
          </a:xfrm>
        </p:grpSpPr>
        <p:sp>
          <p:nvSpPr>
            <p:cNvPr id="200" name="Diamond 199">
              <a:extLst>
                <a:ext uri="{FF2B5EF4-FFF2-40B4-BE49-F238E27FC236}">
                  <a16:creationId xmlns:a16="http://schemas.microsoft.com/office/drawing/2014/main" id="{589097DB-9702-40F4-A1E3-E0D0A5006317}"/>
                </a:ext>
              </a:extLst>
            </p:cNvPr>
            <p:cNvSpPr/>
            <p:nvPr/>
          </p:nvSpPr>
          <p:spPr>
            <a:xfrm>
              <a:off x="3021277" y="1068953"/>
              <a:ext cx="533773" cy="533773"/>
            </a:xfrm>
            <a:prstGeom prst="diamond">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1" name="Group 200">
              <a:extLst>
                <a:ext uri="{FF2B5EF4-FFF2-40B4-BE49-F238E27FC236}">
                  <a16:creationId xmlns:a16="http://schemas.microsoft.com/office/drawing/2014/main" id="{AEA55BDA-E047-42B1-94D2-FCDFB65E7A9E}"/>
                </a:ext>
              </a:extLst>
            </p:cNvPr>
            <p:cNvGrpSpPr/>
            <p:nvPr/>
          </p:nvGrpSpPr>
          <p:grpSpPr>
            <a:xfrm>
              <a:off x="3149885" y="1244052"/>
              <a:ext cx="246994" cy="195030"/>
              <a:chOff x="-1413802" y="5785486"/>
              <a:chExt cx="375577" cy="299926"/>
            </a:xfrm>
          </p:grpSpPr>
          <p:grpSp>
            <p:nvGrpSpPr>
              <p:cNvPr id="202" name="Group 201">
                <a:extLst>
                  <a:ext uri="{FF2B5EF4-FFF2-40B4-BE49-F238E27FC236}">
                    <a16:creationId xmlns:a16="http://schemas.microsoft.com/office/drawing/2014/main" id="{D56D5448-877E-4C3D-9C01-D06EE4E7CC4A}"/>
                  </a:ext>
                </a:extLst>
              </p:cNvPr>
              <p:cNvGrpSpPr/>
              <p:nvPr/>
            </p:nvGrpSpPr>
            <p:grpSpPr>
              <a:xfrm>
                <a:off x="-1413802" y="5785486"/>
                <a:ext cx="375577" cy="117487"/>
                <a:chOff x="-1413802" y="5785486"/>
                <a:chExt cx="375577" cy="117487"/>
              </a:xfrm>
            </p:grpSpPr>
            <p:cxnSp>
              <p:nvCxnSpPr>
                <p:cNvPr id="208" name="Straight Connector 207">
                  <a:extLst>
                    <a:ext uri="{FF2B5EF4-FFF2-40B4-BE49-F238E27FC236}">
                      <a16:creationId xmlns:a16="http://schemas.microsoft.com/office/drawing/2014/main" id="{934768AD-F770-4AB7-9A76-AFB23731CB1D}"/>
                    </a:ext>
                  </a:extLst>
                </p:cNvPr>
                <p:cNvCxnSpPr>
                  <a:cxnSpLocks/>
                </p:cNvCxnSpPr>
                <p:nvPr/>
              </p:nvCxnSpPr>
              <p:spPr>
                <a:xfrm>
                  <a:off x="-1413802" y="5902973"/>
                  <a:ext cx="375577" cy="0"/>
                </a:xfrm>
                <a:prstGeom prst="line">
                  <a:avLst/>
                </a:prstGeom>
                <a:ln w="28575">
                  <a:solidFill>
                    <a:schemeClr val="bg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890C6106-996C-49D0-8818-CD9BC1C2B737}"/>
                    </a:ext>
                  </a:extLst>
                </p:cNvPr>
                <p:cNvCxnSpPr>
                  <a:cxnSpLocks/>
                </p:cNvCxnSpPr>
                <p:nvPr/>
              </p:nvCxnSpPr>
              <p:spPr>
                <a:xfrm flipV="1">
                  <a:off x="-1413802" y="5785486"/>
                  <a:ext cx="156502" cy="117487"/>
                </a:xfrm>
                <a:prstGeom prst="line">
                  <a:avLst/>
                </a:prstGeom>
                <a:ln w="28575">
                  <a:solidFill>
                    <a:schemeClr val="bg1"/>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204" name="Group 203">
                <a:extLst>
                  <a:ext uri="{FF2B5EF4-FFF2-40B4-BE49-F238E27FC236}">
                    <a16:creationId xmlns:a16="http://schemas.microsoft.com/office/drawing/2014/main" id="{390AB855-9D43-45BB-A295-60551C5E0F97}"/>
                  </a:ext>
                </a:extLst>
              </p:cNvPr>
              <p:cNvGrpSpPr/>
              <p:nvPr/>
            </p:nvGrpSpPr>
            <p:grpSpPr>
              <a:xfrm rot="10800000">
                <a:off x="-1413802" y="5967925"/>
                <a:ext cx="375577" cy="117487"/>
                <a:chOff x="-1261402" y="5937886"/>
                <a:chExt cx="375577" cy="117487"/>
              </a:xfrm>
            </p:grpSpPr>
            <p:cxnSp>
              <p:nvCxnSpPr>
                <p:cNvPr id="206" name="Straight Connector 205">
                  <a:extLst>
                    <a:ext uri="{FF2B5EF4-FFF2-40B4-BE49-F238E27FC236}">
                      <a16:creationId xmlns:a16="http://schemas.microsoft.com/office/drawing/2014/main" id="{0601A9D0-A046-4329-8E3A-5D3D57DBF098}"/>
                    </a:ext>
                  </a:extLst>
                </p:cNvPr>
                <p:cNvCxnSpPr>
                  <a:cxnSpLocks/>
                </p:cNvCxnSpPr>
                <p:nvPr/>
              </p:nvCxnSpPr>
              <p:spPr>
                <a:xfrm rot="10800000">
                  <a:off x="-1261402" y="6055373"/>
                  <a:ext cx="375577" cy="0"/>
                </a:xfrm>
                <a:prstGeom prst="line">
                  <a:avLst/>
                </a:prstGeom>
                <a:ln w="28575">
                  <a:solidFill>
                    <a:schemeClr val="bg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7" name="Straight Connector 206">
                  <a:extLst>
                    <a:ext uri="{FF2B5EF4-FFF2-40B4-BE49-F238E27FC236}">
                      <a16:creationId xmlns:a16="http://schemas.microsoft.com/office/drawing/2014/main" id="{E1936909-F7B5-4DDC-992F-999B49015FC5}"/>
                    </a:ext>
                  </a:extLst>
                </p:cNvPr>
                <p:cNvCxnSpPr>
                  <a:cxnSpLocks/>
                </p:cNvCxnSpPr>
                <p:nvPr/>
              </p:nvCxnSpPr>
              <p:spPr>
                <a:xfrm rot="10800000" flipV="1">
                  <a:off x="-1261402" y="5937886"/>
                  <a:ext cx="156502" cy="117487"/>
                </a:xfrm>
                <a:prstGeom prst="line">
                  <a:avLst/>
                </a:prstGeom>
                <a:ln w="28575">
                  <a:solidFill>
                    <a:schemeClr val="bg1"/>
                  </a:solidFill>
                  <a:prstDash val="solid"/>
                </a:ln>
                <a:effectLst/>
              </p:spPr>
              <p:style>
                <a:lnRef idx="2">
                  <a:schemeClr val="accent1"/>
                </a:lnRef>
                <a:fillRef idx="0">
                  <a:schemeClr val="accent1"/>
                </a:fillRef>
                <a:effectRef idx="1">
                  <a:schemeClr val="accent1"/>
                </a:effectRef>
                <a:fontRef idx="minor">
                  <a:schemeClr val="tx1"/>
                </a:fontRef>
              </p:style>
            </p:cxnSp>
          </p:grpSp>
        </p:grpSp>
      </p:grpSp>
      <p:sp>
        <p:nvSpPr>
          <p:cNvPr id="210" name="Rectangle 209">
            <a:extLst>
              <a:ext uri="{FF2B5EF4-FFF2-40B4-BE49-F238E27FC236}">
                <a16:creationId xmlns:a16="http://schemas.microsoft.com/office/drawing/2014/main" id="{49218EB5-9830-44F8-BE63-0502E5CD1F11}"/>
              </a:ext>
            </a:extLst>
          </p:cNvPr>
          <p:cNvSpPr/>
          <p:nvPr/>
        </p:nvSpPr>
        <p:spPr>
          <a:xfrm>
            <a:off x="8075942" y="1737849"/>
            <a:ext cx="3749039" cy="47771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1600" dirty="0">
                <a:solidFill>
                  <a:schemeClr val="tx1"/>
                </a:solidFill>
              </a:rPr>
              <a:t>Building on the customer pain-points and opportunities, we propose initiatives to </a:t>
            </a:r>
            <a:r>
              <a:rPr lang="en-GB" sz="1600" b="1" dirty="0">
                <a:solidFill>
                  <a:schemeClr val="tx1"/>
                </a:solidFill>
              </a:rPr>
              <a:t>capitalize on the consumer sentiment</a:t>
            </a:r>
          </a:p>
          <a:p>
            <a:pPr marL="285750" indent="-285750">
              <a:buFont typeface="Arial" panose="020B0604020202020204" pitchFamily="34" charset="0"/>
              <a:buChar char="•"/>
            </a:pPr>
            <a:r>
              <a:rPr lang="en-GB" sz="1600" dirty="0">
                <a:solidFill>
                  <a:schemeClr val="tx1"/>
                </a:solidFill>
              </a:rPr>
              <a:t>While </a:t>
            </a:r>
            <a:r>
              <a:rPr lang="en-GB" sz="1600" b="1" dirty="0">
                <a:solidFill>
                  <a:schemeClr val="tx1"/>
                </a:solidFill>
              </a:rPr>
              <a:t>few competitors exist </a:t>
            </a:r>
            <a:r>
              <a:rPr lang="en-GB" sz="1600" dirty="0">
                <a:solidFill>
                  <a:schemeClr val="tx1"/>
                </a:solidFill>
              </a:rPr>
              <a:t>in the market, most outperform Careasy on multiple metrics – requiring complete overhaul of the company’s application(s) and branding strategy</a:t>
            </a:r>
          </a:p>
          <a:p>
            <a:pPr marL="285750" indent="-285750">
              <a:buFont typeface="Arial" panose="020B0604020202020204" pitchFamily="34" charset="0"/>
              <a:buChar char="•"/>
            </a:pPr>
            <a:r>
              <a:rPr lang="en-GB" sz="1600" dirty="0">
                <a:solidFill>
                  <a:schemeClr val="tx1"/>
                </a:solidFill>
              </a:rPr>
              <a:t>Leveraging academic literature, we propose a </a:t>
            </a:r>
            <a:r>
              <a:rPr lang="en-GB" sz="1600" b="1" dirty="0">
                <a:solidFill>
                  <a:schemeClr val="tx1"/>
                </a:solidFill>
              </a:rPr>
              <a:t>5-click-service app strategy </a:t>
            </a:r>
            <a:r>
              <a:rPr lang="en-GB" sz="1600" dirty="0">
                <a:solidFill>
                  <a:schemeClr val="tx1"/>
                </a:solidFill>
              </a:rPr>
              <a:t>in line with industry best practices</a:t>
            </a:r>
          </a:p>
          <a:p>
            <a:pPr marL="285750" indent="-285750">
              <a:buFont typeface="Arial" panose="020B0604020202020204" pitchFamily="34" charset="0"/>
              <a:buChar char="•"/>
            </a:pPr>
            <a:r>
              <a:rPr lang="en-GB" sz="1600" dirty="0">
                <a:solidFill>
                  <a:schemeClr val="tx1"/>
                </a:solidFill>
              </a:rPr>
              <a:t>Branding strategy is customised to meet to </a:t>
            </a:r>
            <a:r>
              <a:rPr lang="en-GB" sz="1600" b="1" dirty="0">
                <a:solidFill>
                  <a:schemeClr val="tx1"/>
                </a:solidFill>
              </a:rPr>
              <a:t>catalyse supply and boost demand </a:t>
            </a:r>
            <a:r>
              <a:rPr lang="en-GB" sz="1600" dirty="0">
                <a:solidFill>
                  <a:schemeClr val="tx1"/>
                </a:solidFill>
              </a:rPr>
              <a:t>per the company’s need as a growing start-up, in turn with the realities of the pandemic</a:t>
            </a:r>
          </a:p>
          <a:p>
            <a:pPr marL="285750" indent="-285750">
              <a:buFont typeface="Arial" panose="020B0604020202020204" pitchFamily="34" charset="0"/>
              <a:buChar char="•"/>
            </a:pPr>
            <a:endParaRPr lang="en-GB" sz="1600" dirty="0">
              <a:solidFill>
                <a:schemeClr val="tx1"/>
              </a:solidFill>
            </a:endParaRPr>
          </a:p>
        </p:txBody>
      </p:sp>
    </p:spTree>
    <p:extLst>
      <p:ext uri="{BB962C8B-B14F-4D97-AF65-F5344CB8AC3E}">
        <p14:creationId xmlns:p14="http://schemas.microsoft.com/office/powerpoint/2010/main" val="1795679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Rectangle 308">
            <a:extLst>
              <a:ext uri="{FF2B5EF4-FFF2-40B4-BE49-F238E27FC236}">
                <a16:creationId xmlns:a16="http://schemas.microsoft.com/office/drawing/2014/main" id="{E5BADDED-26E9-473A-8E52-74DEE2274365}"/>
              </a:ext>
            </a:extLst>
          </p:cNvPr>
          <p:cNvSpPr/>
          <p:nvPr/>
        </p:nvSpPr>
        <p:spPr>
          <a:xfrm>
            <a:off x="9912064" y="1821905"/>
            <a:ext cx="1973580" cy="1493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Timeline customer feedback surveys and polls via app</a:t>
            </a:r>
          </a:p>
          <a:p>
            <a:pPr marL="115888" indent="-115888">
              <a:buFont typeface="Arial" panose="020B0604020202020204" pitchFamily="34" charset="0"/>
              <a:buChar char="•"/>
            </a:pPr>
            <a:r>
              <a:rPr lang="en-GB" sz="1100" dirty="0">
                <a:solidFill>
                  <a:schemeClr val="tx1"/>
                </a:solidFill>
              </a:rPr>
              <a:t>Average clicks to book a service</a:t>
            </a:r>
          </a:p>
          <a:p>
            <a:pPr marL="115888" indent="-115888">
              <a:buFont typeface="Arial" panose="020B0604020202020204" pitchFamily="34" charset="0"/>
              <a:buChar char="•"/>
            </a:pPr>
            <a:r>
              <a:rPr lang="en-GB" sz="1100" dirty="0">
                <a:solidFill>
                  <a:schemeClr val="tx1"/>
                </a:solidFill>
              </a:rPr>
              <a:t>Screen time on individual app screens </a:t>
            </a:r>
          </a:p>
          <a:p>
            <a:pPr marL="115888" indent="-115888">
              <a:buFont typeface="Arial" panose="020B0604020202020204" pitchFamily="34" charset="0"/>
              <a:buChar char="•"/>
            </a:pPr>
            <a:r>
              <a:rPr lang="en-GB" sz="1100" dirty="0">
                <a:solidFill>
                  <a:schemeClr val="tx1"/>
                </a:solidFill>
              </a:rPr>
              <a:t>Amount spent on damage protection</a:t>
            </a:r>
          </a:p>
        </p:txBody>
      </p:sp>
      <p:sp>
        <p:nvSpPr>
          <p:cNvPr id="314" name="Rectangle 313">
            <a:extLst>
              <a:ext uri="{FF2B5EF4-FFF2-40B4-BE49-F238E27FC236}">
                <a16:creationId xmlns:a16="http://schemas.microsoft.com/office/drawing/2014/main" id="{892F0F00-828F-4385-A77C-E3A2707ABA12}"/>
              </a:ext>
            </a:extLst>
          </p:cNvPr>
          <p:cNvSpPr/>
          <p:nvPr/>
        </p:nvSpPr>
        <p:spPr>
          <a:xfrm>
            <a:off x="9912064" y="3431263"/>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Mobile app downloads and 4/5-star reviews</a:t>
            </a:r>
          </a:p>
          <a:p>
            <a:pPr marL="115888" indent="-115888">
              <a:buFont typeface="Arial" panose="020B0604020202020204" pitchFamily="34" charset="0"/>
              <a:buChar char="•"/>
            </a:pPr>
            <a:r>
              <a:rPr lang="en-GB" sz="1100" dirty="0">
                <a:solidFill>
                  <a:schemeClr val="tx1"/>
                </a:solidFill>
              </a:rPr>
              <a:t>Feedback on away mode</a:t>
            </a:r>
          </a:p>
          <a:p>
            <a:pPr marL="115888" indent="-115888">
              <a:buFont typeface="Arial" panose="020B0604020202020204" pitchFamily="34" charset="0"/>
              <a:buChar char="•"/>
            </a:pPr>
            <a:r>
              <a:rPr lang="en-GB" sz="1100" dirty="0">
                <a:solidFill>
                  <a:schemeClr val="tx1"/>
                </a:solidFill>
              </a:rPr>
              <a:t>Number of calls serviced over a time period</a:t>
            </a:r>
          </a:p>
          <a:p>
            <a:pPr marL="115888" indent="-115888">
              <a:buFont typeface="Arial" panose="020B0604020202020204" pitchFamily="34" charset="0"/>
              <a:buChar char="•"/>
            </a:pPr>
            <a:r>
              <a:rPr lang="en-GB" sz="1100" dirty="0">
                <a:solidFill>
                  <a:schemeClr val="tx1"/>
                </a:solidFill>
              </a:rPr>
              <a:t>Average time to service a hotline call</a:t>
            </a:r>
          </a:p>
        </p:txBody>
      </p:sp>
      <p:sp>
        <p:nvSpPr>
          <p:cNvPr id="315" name="Rectangle 314">
            <a:extLst>
              <a:ext uri="{FF2B5EF4-FFF2-40B4-BE49-F238E27FC236}">
                <a16:creationId xmlns:a16="http://schemas.microsoft.com/office/drawing/2014/main" id="{33869F16-9842-48DA-80D7-B43D7C3A4654}"/>
              </a:ext>
            </a:extLst>
          </p:cNvPr>
          <p:cNvSpPr/>
          <p:nvPr/>
        </p:nvSpPr>
        <p:spPr>
          <a:xfrm>
            <a:off x="9912064" y="4985309"/>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Number of partnerships over time</a:t>
            </a:r>
          </a:p>
          <a:p>
            <a:pPr marL="115888" indent="-115888">
              <a:buFont typeface="Arial" panose="020B0604020202020204" pitchFamily="34" charset="0"/>
              <a:buChar char="•"/>
            </a:pPr>
            <a:r>
              <a:rPr lang="en-GB" sz="1100" dirty="0">
                <a:solidFill>
                  <a:schemeClr val="tx1"/>
                </a:solidFill>
              </a:rPr>
              <a:t>Transactions facilitated through different partners (e.g., Google Pay)</a:t>
            </a:r>
          </a:p>
          <a:p>
            <a:pPr marL="115888" indent="-115888">
              <a:buFont typeface="Arial" panose="020B0604020202020204" pitchFamily="34" charset="0"/>
              <a:buChar char="•"/>
            </a:pPr>
            <a:r>
              <a:rPr lang="en-GB" sz="1100" dirty="0">
                <a:solidFill>
                  <a:schemeClr val="tx1"/>
                </a:solidFill>
              </a:rPr>
              <a:t>Average rating of customers and the workshops</a:t>
            </a:r>
          </a:p>
        </p:txBody>
      </p:sp>
      <p:cxnSp>
        <p:nvCxnSpPr>
          <p:cNvPr id="208" name="Straight Connector 207">
            <a:extLst>
              <a:ext uri="{FF2B5EF4-FFF2-40B4-BE49-F238E27FC236}">
                <a16:creationId xmlns:a16="http://schemas.microsoft.com/office/drawing/2014/main" id="{882C6534-403B-48ED-BEB9-947D6AC2BC1D}"/>
              </a:ext>
            </a:extLst>
          </p:cNvPr>
          <p:cNvCxnSpPr>
            <a:cxnSpLocks/>
            <a:endCxn id="207" idx="0"/>
          </p:cNvCxnSpPr>
          <p:nvPr/>
        </p:nvCxnSpPr>
        <p:spPr>
          <a:xfrm>
            <a:off x="10019860" y="2029776"/>
            <a:ext cx="4308" cy="394607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04" name="Rectangle 303">
            <a:extLst>
              <a:ext uri="{FF2B5EF4-FFF2-40B4-BE49-F238E27FC236}">
                <a16:creationId xmlns:a16="http://schemas.microsoft.com/office/drawing/2014/main" id="{A0097C8C-A105-4C4B-A2EC-3E0E3C4E9B78}"/>
              </a:ext>
            </a:extLst>
          </p:cNvPr>
          <p:cNvSpPr/>
          <p:nvPr/>
        </p:nvSpPr>
        <p:spPr>
          <a:xfrm>
            <a:off x="7845528" y="1821905"/>
            <a:ext cx="1973580" cy="1493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Night time servicing for sanitization and cleaning to save customer time</a:t>
            </a:r>
          </a:p>
          <a:p>
            <a:pPr marL="115888" indent="-115888">
              <a:buFont typeface="Arial" panose="020B0604020202020204" pitchFamily="34" charset="0"/>
              <a:buChar char="•"/>
            </a:pPr>
            <a:r>
              <a:rPr lang="en-GB" sz="1100" dirty="0">
                <a:solidFill>
                  <a:schemeClr val="tx1"/>
                </a:solidFill>
              </a:rPr>
              <a:t>5-click app interface for booking a car service </a:t>
            </a:r>
          </a:p>
          <a:p>
            <a:pPr marL="115888" indent="-115888">
              <a:buFont typeface="Arial" panose="020B0604020202020204" pitchFamily="34" charset="0"/>
              <a:buChar char="•"/>
            </a:pPr>
            <a:r>
              <a:rPr lang="en-GB" sz="1100" dirty="0">
                <a:solidFill>
                  <a:schemeClr val="tx1"/>
                </a:solidFill>
              </a:rPr>
              <a:t>Damage guarantee and warranty protection</a:t>
            </a:r>
          </a:p>
        </p:txBody>
      </p:sp>
      <p:sp>
        <p:nvSpPr>
          <p:cNvPr id="305" name="Rectangle 304">
            <a:extLst>
              <a:ext uri="{FF2B5EF4-FFF2-40B4-BE49-F238E27FC236}">
                <a16:creationId xmlns:a16="http://schemas.microsoft.com/office/drawing/2014/main" id="{873DC730-000B-4F6E-A345-06DA13724DD5}"/>
              </a:ext>
            </a:extLst>
          </p:cNvPr>
          <p:cNvSpPr/>
          <p:nvPr/>
        </p:nvSpPr>
        <p:spPr>
          <a:xfrm>
            <a:off x="7845528" y="3431263"/>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One-stop solution for all customer services via the mobile application</a:t>
            </a:r>
          </a:p>
          <a:p>
            <a:pPr marL="115888" indent="-115888">
              <a:buFont typeface="Arial" panose="020B0604020202020204" pitchFamily="34" charset="0"/>
              <a:buChar char="•"/>
            </a:pPr>
            <a:r>
              <a:rPr lang="en-GB" sz="1100" dirty="0">
                <a:solidFill>
                  <a:schemeClr val="tx1"/>
                </a:solidFill>
              </a:rPr>
              <a:t>“Away” mode services without physical presence</a:t>
            </a:r>
          </a:p>
          <a:p>
            <a:pPr marL="115888" indent="-115888">
              <a:buFont typeface="Arial" panose="020B0604020202020204" pitchFamily="34" charset="0"/>
              <a:buChar char="•"/>
            </a:pPr>
            <a:r>
              <a:rPr lang="en-GB" sz="1100" dirty="0">
                <a:solidFill>
                  <a:schemeClr val="tx1"/>
                </a:solidFill>
              </a:rPr>
              <a:t>Customer hotline for those being serviced</a:t>
            </a:r>
          </a:p>
        </p:txBody>
      </p:sp>
      <p:sp>
        <p:nvSpPr>
          <p:cNvPr id="306" name="Rectangle 305">
            <a:extLst>
              <a:ext uri="{FF2B5EF4-FFF2-40B4-BE49-F238E27FC236}">
                <a16:creationId xmlns:a16="http://schemas.microsoft.com/office/drawing/2014/main" id="{18574D0C-B414-43E7-975A-9BB38E86FBAD}"/>
              </a:ext>
            </a:extLst>
          </p:cNvPr>
          <p:cNvSpPr/>
          <p:nvPr/>
        </p:nvSpPr>
        <p:spPr>
          <a:xfrm>
            <a:off x="7845528" y="4985309"/>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Partnership with insurance providers and other B2B players such as payment platforms</a:t>
            </a:r>
          </a:p>
          <a:p>
            <a:pPr marL="115888" indent="-115888">
              <a:buFont typeface="Arial" panose="020B0604020202020204" pitchFamily="34" charset="0"/>
              <a:buChar char="•"/>
            </a:pPr>
            <a:r>
              <a:rPr lang="en-GB" sz="1100" dirty="0">
                <a:solidFill>
                  <a:schemeClr val="tx1"/>
                </a:solidFill>
              </a:rPr>
              <a:t>Feedback mechanism for providing ratings of both – customers and workshops</a:t>
            </a:r>
          </a:p>
        </p:txBody>
      </p:sp>
      <p:cxnSp>
        <p:nvCxnSpPr>
          <p:cNvPr id="194" name="Straight Connector 193">
            <a:extLst>
              <a:ext uri="{FF2B5EF4-FFF2-40B4-BE49-F238E27FC236}">
                <a16:creationId xmlns:a16="http://schemas.microsoft.com/office/drawing/2014/main" id="{33D49F66-ED47-44DD-BEB6-E9F8812E9837}"/>
              </a:ext>
            </a:extLst>
          </p:cNvPr>
          <p:cNvCxnSpPr>
            <a:cxnSpLocks/>
          </p:cNvCxnSpPr>
          <p:nvPr/>
        </p:nvCxnSpPr>
        <p:spPr>
          <a:xfrm>
            <a:off x="7947624" y="2104114"/>
            <a:ext cx="0" cy="37582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01" name="Rectangle 300">
            <a:extLst>
              <a:ext uri="{FF2B5EF4-FFF2-40B4-BE49-F238E27FC236}">
                <a16:creationId xmlns:a16="http://schemas.microsoft.com/office/drawing/2014/main" id="{60F29E08-7F02-492E-B937-8A6A8AFAA2AE}"/>
              </a:ext>
            </a:extLst>
          </p:cNvPr>
          <p:cNvSpPr/>
          <p:nvPr/>
        </p:nvSpPr>
        <p:spPr>
          <a:xfrm>
            <a:off x="5778992" y="1821905"/>
            <a:ext cx="1973580" cy="1493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Less time with car owner and irregularity of domestic helpers tasked with car-care</a:t>
            </a:r>
          </a:p>
          <a:p>
            <a:pPr marL="115888" indent="-115888">
              <a:buFont typeface="Arial" panose="020B0604020202020204" pitchFamily="34" charset="0"/>
              <a:buChar char="•"/>
            </a:pPr>
            <a:r>
              <a:rPr lang="en-GB" sz="1100" dirty="0">
                <a:solidFill>
                  <a:schemeClr val="tx1"/>
                </a:solidFill>
              </a:rPr>
              <a:t>P – Lack of professionalism displayed by local garages in arranging for timely servicing and sanitization of cars</a:t>
            </a:r>
          </a:p>
        </p:txBody>
      </p:sp>
      <p:sp>
        <p:nvSpPr>
          <p:cNvPr id="302" name="Rectangle 301">
            <a:extLst>
              <a:ext uri="{FF2B5EF4-FFF2-40B4-BE49-F238E27FC236}">
                <a16:creationId xmlns:a16="http://schemas.microsoft.com/office/drawing/2014/main" id="{57F28AC4-2637-4A0F-AE13-885DC25FB3B0}"/>
              </a:ext>
            </a:extLst>
          </p:cNvPr>
          <p:cNvSpPr/>
          <p:nvPr/>
        </p:nvSpPr>
        <p:spPr>
          <a:xfrm>
            <a:off x="5778992" y="3431263"/>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Low presence of car service providers online</a:t>
            </a:r>
          </a:p>
          <a:p>
            <a:pPr marL="115888" indent="-115888">
              <a:buFont typeface="Arial" panose="020B0604020202020204" pitchFamily="34" charset="0"/>
              <a:buChar char="•"/>
            </a:pPr>
            <a:r>
              <a:rPr lang="en-GB" sz="1100" dirty="0">
                <a:solidFill>
                  <a:schemeClr val="tx1"/>
                </a:solidFill>
              </a:rPr>
              <a:t>Getting car services requires half or full day off work to budget adequate time</a:t>
            </a:r>
          </a:p>
          <a:p>
            <a:pPr marL="115888" indent="-115888">
              <a:buFont typeface="Arial" panose="020B0604020202020204" pitchFamily="34" charset="0"/>
              <a:buChar char="•"/>
            </a:pPr>
            <a:r>
              <a:rPr lang="en-GB" sz="1100" dirty="0">
                <a:solidFill>
                  <a:schemeClr val="tx1"/>
                </a:solidFill>
              </a:rPr>
              <a:t>Lack of trust due to low branding in the workshops</a:t>
            </a:r>
          </a:p>
        </p:txBody>
      </p:sp>
      <p:sp>
        <p:nvSpPr>
          <p:cNvPr id="303" name="Rectangle 302">
            <a:extLst>
              <a:ext uri="{FF2B5EF4-FFF2-40B4-BE49-F238E27FC236}">
                <a16:creationId xmlns:a16="http://schemas.microsoft.com/office/drawing/2014/main" id="{F435DFD6-2996-474B-A2FD-D7D3F20EBCD0}"/>
              </a:ext>
            </a:extLst>
          </p:cNvPr>
          <p:cNvSpPr/>
          <p:nvPr/>
        </p:nvSpPr>
        <p:spPr>
          <a:xfrm>
            <a:off x="5778992" y="4985309"/>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All workshops do not accept all insurance providers</a:t>
            </a:r>
          </a:p>
          <a:p>
            <a:pPr marL="115888" indent="-115888">
              <a:buFont typeface="Arial" panose="020B0604020202020204" pitchFamily="34" charset="0"/>
              <a:buChar char="•"/>
            </a:pPr>
            <a:r>
              <a:rPr lang="en-GB" sz="1100" dirty="0">
                <a:solidFill>
                  <a:schemeClr val="tx1"/>
                </a:solidFill>
              </a:rPr>
              <a:t>Negligible transparency in matters related to costing of services/ components</a:t>
            </a:r>
          </a:p>
          <a:p>
            <a:pPr marL="115888" indent="-115888">
              <a:buFont typeface="Arial" panose="020B0604020202020204" pitchFamily="34" charset="0"/>
              <a:buChar char="•"/>
            </a:pPr>
            <a:r>
              <a:rPr lang="en-GB" sz="1100" dirty="0">
                <a:solidFill>
                  <a:schemeClr val="tx1"/>
                </a:solidFill>
              </a:rPr>
              <a:t>Convenience of online payment platforms/ schemes</a:t>
            </a:r>
          </a:p>
        </p:txBody>
      </p:sp>
      <p:cxnSp>
        <p:nvCxnSpPr>
          <p:cNvPr id="15" name="Straight Connector 14">
            <a:extLst>
              <a:ext uri="{FF2B5EF4-FFF2-40B4-BE49-F238E27FC236}">
                <a16:creationId xmlns:a16="http://schemas.microsoft.com/office/drawing/2014/main" id="{17F32E20-4483-456D-AE20-A78066E3EBBE}"/>
              </a:ext>
            </a:extLst>
          </p:cNvPr>
          <p:cNvCxnSpPr>
            <a:stCxn id="176" idx="4"/>
            <a:endCxn id="179" idx="0"/>
          </p:cNvCxnSpPr>
          <p:nvPr/>
        </p:nvCxnSpPr>
        <p:spPr>
          <a:xfrm>
            <a:off x="5885821" y="2114644"/>
            <a:ext cx="7620" cy="389118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0CAEFB2D-58C3-422A-AFA2-042243DA36AC}"/>
              </a:ext>
            </a:extLst>
          </p:cNvPr>
          <p:cNvSpPr/>
          <p:nvPr/>
        </p:nvSpPr>
        <p:spPr>
          <a:xfrm>
            <a:off x="330565" y="1875629"/>
            <a:ext cx="1222399" cy="144019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bject 4">
            <a:extLst>
              <a:ext uri="{FF2B5EF4-FFF2-40B4-BE49-F238E27FC236}">
                <a16:creationId xmlns:a16="http://schemas.microsoft.com/office/drawing/2014/main" id="{A25779B6-6118-4B97-A56E-B93461A561D8}"/>
              </a:ext>
            </a:extLst>
          </p:cNvPr>
          <p:cNvSpPr txBox="1"/>
          <p:nvPr/>
        </p:nvSpPr>
        <p:spPr>
          <a:xfrm>
            <a:off x="330564" y="2803547"/>
            <a:ext cx="1222399" cy="369332"/>
          </a:xfrm>
          <a:prstGeom prst="rect">
            <a:avLst/>
          </a:prstGeom>
        </p:spPr>
        <p:txBody>
          <a:bodyPr vert="horz" wrap="square" lIns="0" tIns="0" rIns="0" bIns="0" rtlCol="0">
            <a:spAutoFit/>
          </a:bodyPr>
          <a:lstStyle/>
          <a:p>
            <a:pPr marL="12700" algn="ctr"/>
            <a:r>
              <a:rPr lang="en-IN" sz="1200" b="1">
                <a:solidFill>
                  <a:schemeClr val="bg1"/>
                </a:solidFill>
                <a:latin typeface="Tw Cen MT"/>
                <a:cs typeface="Tw Cen MT"/>
              </a:rPr>
              <a:t>NEED AND DISCOVERY</a:t>
            </a:r>
            <a:endParaRPr sz="1200" b="1">
              <a:solidFill>
                <a:schemeClr val="bg1"/>
              </a:solidFill>
              <a:latin typeface="Tw Cen MT"/>
              <a:cs typeface="Tw Cen MT"/>
            </a:endParaRPr>
          </a:p>
        </p:txBody>
      </p:sp>
      <p:sp>
        <p:nvSpPr>
          <p:cNvPr id="180" name="Rectangle 179">
            <a:extLst>
              <a:ext uri="{FF2B5EF4-FFF2-40B4-BE49-F238E27FC236}">
                <a16:creationId xmlns:a16="http://schemas.microsoft.com/office/drawing/2014/main" id="{CC128C6A-AF52-4C20-A397-698BD87D4B28}"/>
              </a:ext>
            </a:extLst>
          </p:cNvPr>
          <p:cNvSpPr/>
          <p:nvPr/>
        </p:nvSpPr>
        <p:spPr>
          <a:xfrm>
            <a:off x="329983" y="3438709"/>
            <a:ext cx="1222399" cy="144019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2" name="object 4">
            <a:extLst>
              <a:ext uri="{FF2B5EF4-FFF2-40B4-BE49-F238E27FC236}">
                <a16:creationId xmlns:a16="http://schemas.microsoft.com/office/drawing/2014/main" id="{2191EAF1-BEA8-4969-9DDD-50CFEF2BEBEE}"/>
              </a:ext>
            </a:extLst>
          </p:cNvPr>
          <p:cNvSpPr txBox="1"/>
          <p:nvPr/>
        </p:nvSpPr>
        <p:spPr>
          <a:xfrm>
            <a:off x="329982" y="4363771"/>
            <a:ext cx="1222399" cy="369332"/>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SERVICE</a:t>
            </a:r>
          </a:p>
          <a:p>
            <a:pPr marL="12700" algn="ctr"/>
            <a:r>
              <a:rPr lang="en-IN" sz="1200" b="1" dirty="0">
                <a:solidFill>
                  <a:schemeClr val="bg1"/>
                </a:solidFill>
                <a:latin typeface="Tw Cen MT"/>
                <a:cs typeface="Tw Cen MT"/>
              </a:rPr>
              <a:t>FULFILLMENT</a:t>
            </a:r>
            <a:endParaRPr sz="1200" b="1" dirty="0">
              <a:solidFill>
                <a:schemeClr val="bg1"/>
              </a:solidFill>
              <a:latin typeface="Tw Cen MT"/>
              <a:cs typeface="Tw Cen MT"/>
            </a:endParaRPr>
          </a:p>
        </p:txBody>
      </p:sp>
      <p:sp>
        <p:nvSpPr>
          <p:cNvPr id="203" name="Rectangle 202">
            <a:extLst>
              <a:ext uri="{FF2B5EF4-FFF2-40B4-BE49-F238E27FC236}">
                <a16:creationId xmlns:a16="http://schemas.microsoft.com/office/drawing/2014/main" id="{1B17F8BE-4147-4749-87F2-662C9137F493}"/>
              </a:ext>
            </a:extLst>
          </p:cNvPr>
          <p:cNvSpPr/>
          <p:nvPr/>
        </p:nvSpPr>
        <p:spPr>
          <a:xfrm>
            <a:off x="329401" y="4992755"/>
            <a:ext cx="1222399" cy="144019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object 4">
            <a:extLst>
              <a:ext uri="{FF2B5EF4-FFF2-40B4-BE49-F238E27FC236}">
                <a16:creationId xmlns:a16="http://schemas.microsoft.com/office/drawing/2014/main" id="{6CAD7E03-094D-46EF-96F7-887B7DC4EB4F}"/>
              </a:ext>
            </a:extLst>
          </p:cNvPr>
          <p:cNvSpPr txBox="1"/>
          <p:nvPr/>
        </p:nvSpPr>
        <p:spPr>
          <a:xfrm>
            <a:off x="329400" y="5923995"/>
            <a:ext cx="1222399" cy="369332"/>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PAYMENT AND FEEDBACK</a:t>
            </a:r>
            <a:endParaRPr sz="1200" b="1" dirty="0">
              <a:solidFill>
                <a:schemeClr val="bg1"/>
              </a:solidFill>
              <a:latin typeface="Tw Cen MT"/>
              <a:cs typeface="Tw Cen MT"/>
            </a:endParaRPr>
          </a:p>
        </p:txBody>
      </p:sp>
      <p:grpSp>
        <p:nvGrpSpPr>
          <p:cNvPr id="234" name="Group 233">
            <a:extLst>
              <a:ext uri="{FF2B5EF4-FFF2-40B4-BE49-F238E27FC236}">
                <a16:creationId xmlns:a16="http://schemas.microsoft.com/office/drawing/2014/main" id="{BB43A6CA-E3FB-459A-BDA3-288DD2D399F0}"/>
              </a:ext>
            </a:extLst>
          </p:cNvPr>
          <p:cNvGrpSpPr>
            <a:grpSpLocks noChangeAspect="1"/>
          </p:cNvGrpSpPr>
          <p:nvPr/>
        </p:nvGrpSpPr>
        <p:grpSpPr>
          <a:xfrm>
            <a:off x="570511" y="5292570"/>
            <a:ext cx="731520" cy="496392"/>
            <a:chOff x="3260407" y="2926080"/>
            <a:chExt cx="336882" cy="228600"/>
          </a:xfrm>
        </p:grpSpPr>
        <p:sp>
          <p:nvSpPr>
            <p:cNvPr id="235" name="Freeform: Shape 234">
              <a:extLst>
                <a:ext uri="{FF2B5EF4-FFF2-40B4-BE49-F238E27FC236}">
                  <a16:creationId xmlns:a16="http://schemas.microsoft.com/office/drawing/2014/main" id="{952EB08F-A956-400E-8C95-1BA6FDB9F0E3}"/>
                </a:ext>
              </a:extLst>
            </p:cNvPr>
            <p:cNvSpPr/>
            <p:nvPr/>
          </p:nvSpPr>
          <p:spPr>
            <a:xfrm>
              <a:off x="3481149" y="2927151"/>
              <a:ext cx="55721" cy="38576"/>
            </a:xfrm>
            <a:custGeom>
              <a:avLst/>
              <a:gdLst>
                <a:gd name="connsiteX0" fmla="*/ 17145 w 55721"/>
                <a:gd name="connsiteY0" fmla="*/ 0 h 38576"/>
                <a:gd name="connsiteX1" fmla="*/ 55721 w 55721"/>
                <a:gd name="connsiteY1" fmla="*/ 38576 h 38576"/>
                <a:gd name="connsiteX2" fmla="*/ 0 w 55721"/>
                <a:gd name="connsiteY2" fmla="*/ 38576 h 38576"/>
              </a:gdLst>
              <a:ahLst/>
              <a:cxnLst>
                <a:cxn ang="0">
                  <a:pos x="connsiteX0" y="connsiteY0"/>
                </a:cxn>
                <a:cxn ang="0">
                  <a:pos x="connsiteX1" y="connsiteY1"/>
                </a:cxn>
                <a:cxn ang="0">
                  <a:pos x="connsiteX2" y="connsiteY2"/>
                </a:cxn>
              </a:cxnLst>
              <a:rect l="l" t="t" r="r" b="b"/>
              <a:pathLst>
                <a:path w="55721" h="38576">
                  <a:moveTo>
                    <a:pt x="17145" y="0"/>
                  </a:moveTo>
                  <a:lnTo>
                    <a:pt x="55721" y="38576"/>
                  </a:lnTo>
                  <a:lnTo>
                    <a:pt x="0" y="38576"/>
                  </a:lnTo>
                  <a:close/>
                </a:path>
              </a:pathLst>
            </a:custGeom>
            <a:solidFill>
              <a:schemeClr val="tx2"/>
            </a:solidFill>
            <a:ln w="3572" cap="flat">
              <a:noFill/>
              <a:prstDash val="solid"/>
              <a:miter/>
            </a:ln>
          </p:spPr>
          <p:txBody>
            <a:bodyPr rtlCol="0" anchor="ctr"/>
            <a:lstStyle/>
            <a:p>
              <a:endParaRPr lang="en-GB"/>
            </a:p>
          </p:txBody>
        </p:sp>
        <p:sp>
          <p:nvSpPr>
            <p:cNvPr id="236" name="Freeform: Shape 235">
              <a:extLst>
                <a:ext uri="{FF2B5EF4-FFF2-40B4-BE49-F238E27FC236}">
                  <a16:creationId xmlns:a16="http://schemas.microsoft.com/office/drawing/2014/main" id="{8D84D1A1-86FC-41C9-9F63-61B708EF8A96}"/>
                </a:ext>
              </a:extLst>
            </p:cNvPr>
            <p:cNvSpPr/>
            <p:nvPr/>
          </p:nvSpPr>
          <p:spPr>
            <a:xfrm>
              <a:off x="3368992" y="2926080"/>
              <a:ext cx="228297" cy="228600"/>
            </a:xfrm>
            <a:custGeom>
              <a:avLst/>
              <a:gdLst>
                <a:gd name="connsiteX0" fmla="*/ 225028 w 228297"/>
                <a:gd name="connsiteY0" fmla="*/ 97869 h 228600"/>
                <a:gd name="connsiteX1" fmla="*/ 211812 w 228297"/>
                <a:gd name="connsiteY1" fmla="*/ 96083 h 228600"/>
                <a:gd name="connsiteX2" fmla="*/ 208240 w 228297"/>
                <a:gd name="connsiteY2" fmla="*/ 92869 h 228600"/>
                <a:gd name="connsiteX3" fmla="*/ 195739 w 228297"/>
                <a:gd name="connsiteY3" fmla="*/ 62508 h 228600"/>
                <a:gd name="connsiteX4" fmla="*/ 196096 w 228297"/>
                <a:gd name="connsiteY4" fmla="*/ 57864 h 228600"/>
                <a:gd name="connsiteX5" fmla="*/ 203954 w 228297"/>
                <a:gd name="connsiteY5" fmla="*/ 47506 h 228600"/>
                <a:gd name="connsiteX6" fmla="*/ 203597 w 228297"/>
                <a:gd name="connsiteY6" fmla="*/ 42148 h 228600"/>
                <a:gd name="connsiteX7" fmla="*/ 186452 w 228297"/>
                <a:gd name="connsiteY7" fmla="*/ 25003 h 228600"/>
                <a:gd name="connsiteX8" fmla="*/ 181094 w 228297"/>
                <a:gd name="connsiteY8" fmla="*/ 24646 h 228600"/>
                <a:gd name="connsiteX9" fmla="*/ 170736 w 228297"/>
                <a:gd name="connsiteY9" fmla="*/ 32504 h 228600"/>
                <a:gd name="connsiteX10" fmla="*/ 166092 w 228297"/>
                <a:gd name="connsiteY10" fmla="*/ 32861 h 228600"/>
                <a:gd name="connsiteX11" fmla="*/ 135731 w 228297"/>
                <a:gd name="connsiteY11" fmla="*/ 20360 h 228600"/>
                <a:gd name="connsiteX12" fmla="*/ 132517 w 228297"/>
                <a:gd name="connsiteY12" fmla="*/ 16788 h 228600"/>
                <a:gd name="connsiteX13" fmla="*/ 130731 w 228297"/>
                <a:gd name="connsiteY13" fmla="*/ 3572 h 228600"/>
                <a:gd name="connsiteX14" fmla="*/ 126444 w 228297"/>
                <a:gd name="connsiteY14" fmla="*/ 0 h 228600"/>
                <a:gd name="connsiteX15" fmla="*/ 102156 w 228297"/>
                <a:gd name="connsiteY15" fmla="*/ 0 h 228600"/>
                <a:gd name="connsiteX16" fmla="*/ 97869 w 228297"/>
                <a:gd name="connsiteY16" fmla="*/ 3572 h 228600"/>
                <a:gd name="connsiteX17" fmla="*/ 96083 w 228297"/>
                <a:gd name="connsiteY17" fmla="*/ 16788 h 228600"/>
                <a:gd name="connsiteX18" fmla="*/ 92869 w 228297"/>
                <a:gd name="connsiteY18" fmla="*/ 20360 h 228600"/>
                <a:gd name="connsiteX19" fmla="*/ 62508 w 228297"/>
                <a:gd name="connsiteY19" fmla="*/ 32861 h 228600"/>
                <a:gd name="connsiteX20" fmla="*/ 57864 w 228297"/>
                <a:gd name="connsiteY20" fmla="*/ 32504 h 228600"/>
                <a:gd name="connsiteX21" fmla="*/ 47506 w 228297"/>
                <a:gd name="connsiteY21" fmla="*/ 24646 h 228600"/>
                <a:gd name="connsiteX22" fmla="*/ 42148 w 228297"/>
                <a:gd name="connsiteY22" fmla="*/ 25003 h 228600"/>
                <a:gd name="connsiteX23" fmla="*/ 25003 w 228297"/>
                <a:gd name="connsiteY23" fmla="*/ 42148 h 228600"/>
                <a:gd name="connsiteX24" fmla="*/ 24646 w 228297"/>
                <a:gd name="connsiteY24" fmla="*/ 47506 h 228600"/>
                <a:gd name="connsiteX25" fmla="*/ 32504 w 228297"/>
                <a:gd name="connsiteY25" fmla="*/ 57864 h 228600"/>
                <a:gd name="connsiteX26" fmla="*/ 32861 w 228297"/>
                <a:gd name="connsiteY26" fmla="*/ 62508 h 228600"/>
                <a:gd name="connsiteX27" fmla="*/ 20360 w 228297"/>
                <a:gd name="connsiteY27" fmla="*/ 92869 h 228600"/>
                <a:gd name="connsiteX28" fmla="*/ 16788 w 228297"/>
                <a:gd name="connsiteY28" fmla="*/ 96083 h 228600"/>
                <a:gd name="connsiteX29" fmla="*/ 3572 w 228297"/>
                <a:gd name="connsiteY29" fmla="*/ 97869 h 228600"/>
                <a:gd name="connsiteX30" fmla="*/ 0 w 228297"/>
                <a:gd name="connsiteY30" fmla="*/ 102156 h 228600"/>
                <a:gd name="connsiteX31" fmla="*/ 0 w 228297"/>
                <a:gd name="connsiteY31" fmla="*/ 126444 h 228600"/>
                <a:gd name="connsiteX32" fmla="*/ 3572 w 228297"/>
                <a:gd name="connsiteY32" fmla="*/ 130731 h 228600"/>
                <a:gd name="connsiteX33" fmla="*/ 16788 w 228297"/>
                <a:gd name="connsiteY33" fmla="*/ 132517 h 228600"/>
                <a:gd name="connsiteX34" fmla="*/ 20360 w 228297"/>
                <a:gd name="connsiteY34" fmla="*/ 135731 h 228600"/>
                <a:gd name="connsiteX35" fmla="*/ 32861 w 228297"/>
                <a:gd name="connsiteY35" fmla="*/ 166092 h 228600"/>
                <a:gd name="connsiteX36" fmla="*/ 32504 w 228297"/>
                <a:gd name="connsiteY36" fmla="*/ 170736 h 228600"/>
                <a:gd name="connsiteX37" fmla="*/ 24289 w 228297"/>
                <a:gd name="connsiteY37" fmla="*/ 181094 h 228600"/>
                <a:gd name="connsiteX38" fmla="*/ 24646 w 228297"/>
                <a:gd name="connsiteY38" fmla="*/ 186452 h 228600"/>
                <a:gd name="connsiteX39" fmla="*/ 41791 w 228297"/>
                <a:gd name="connsiteY39" fmla="*/ 203597 h 228600"/>
                <a:gd name="connsiteX40" fmla="*/ 47149 w 228297"/>
                <a:gd name="connsiteY40" fmla="*/ 203954 h 228600"/>
                <a:gd name="connsiteX41" fmla="*/ 57507 w 228297"/>
                <a:gd name="connsiteY41" fmla="*/ 196096 h 228600"/>
                <a:gd name="connsiteX42" fmla="*/ 62151 w 228297"/>
                <a:gd name="connsiteY42" fmla="*/ 195739 h 228600"/>
                <a:gd name="connsiteX43" fmla="*/ 92512 w 228297"/>
                <a:gd name="connsiteY43" fmla="*/ 208240 h 228600"/>
                <a:gd name="connsiteX44" fmla="*/ 95726 w 228297"/>
                <a:gd name="connsiteY44" fmla="*/ 211812 h 228600"/>
                <a:gd name="connsiteX45" fmla="*/ 97512 w 228297"/>
                <a:gd name="connsiteY45" fmla="*/ 225028 h 228600"/>
                <a:gd name="connsiteX46" fmla="*/ 101798 w 228297"/>
                <a:gd name="connsiteY46" fmla="*/ 228600 h 228600"/>
                <a:gd name="connsiteX47" fmla="*/ 126087 w 228297"/>
                <a:gd name="connsiteY47" fmla="*/ 228600 h 228600"/>
                <a:gd name="connsiteX48" fmla="*/ 130373 w 228297"/>
                <a:gd name="connsiteY48" fmla="*/ 225028 h 228600"/>
                <a:gd name="connsiteX49" fmla="*/ 132159 w 228297"/>
                <a:gd name="connsiteY49" fmla="*/ 211812 h 228600"/>
                <a:gd name="connsiteX50" fmla="*/ 135374 w 228297"/>
                <a:gd name="connsiteY50" fmla="*/ 208240 h 228600"/>
                <a:gd name="connsiteX51" fmla="*/ 165735 w 228297"/>
                <a:gd name="connsiteY51" fmla="*/ 195739 h 228600"/>
                <a:gd name="connsiteX52" fmla="*/ 170378 w 228297"/>
                <a:gd name="connsiteY52" fmla="*/ 196096 h 228600"/>
                <a:gd name="connsiteX53" fmla="*/ 180737 w 228297"/>
                <a:gd name="connsiteY53" fmla="*/ 203954 h 228600"/>
                <a:gd name="connsiteX54" fmla="*/ 186095 w 228297"/>
                <a:gd name="connsiteY54" fmla="*/ 203597 h 228600"/>
                <a:gd name="connsiteX55" fmla="*/ 203240 w 228297"/>
                <a:gd name="connsiteY55" fmla="*/ 186452 h 228600"/>
                <a:gd name="connsiteX56" fmla="*/ 203597 w 228297"/>
                <a:gd name="connsiteY56" fmla="*/ 181094 h 228600"/>
                <a:gd name="connsiteX57" fmla="*/ 195739 w 228297"/>
                <a:gd name="connsiteY57" fmla="*/ 170736 h 228600"/>
                <a:gd name="connsiteX58" fmla="*/ 195382 w 228297"/>
                <a:gd name="connsiteY58" fmla="*/ 166092 h 228600"/>
                <a:gd name="connsiteX59" fmla="*/ 207883 w 228297"/>
                <a:gd name="connsiteY59" fmla="*/ 135731 h 228600"/>
                <a:gd name="connsiteX60" fmla="*/ 211455 w 228297"/>
                <a:gd name="connsiteY60" fmla="*/ 132517 h 228600"/>
                <a:gd name="connsiteX61" fmla="*/ 224671 w 228297"/>
                <a:gd name="connsiteY61" fmla="*/ 130731 h 228600"/>
                <a:gd name="connsiteX62" fmla="*/ 228243 w 228297"/>
                <a:gd name="connsiteY62" fmla="*/ 126444 h 228600"/>
                <a:gd name="connsiteX63" fmla="*/ 228243 w 228297"/>
                <a:gd name="connsiteY63" fmla="*/ 102156 h 228600"/>
                <a:gd name="connsiteX64" fmla="*/ 225028 w 228297"/>
                <a:gd name="connsiteY64" fmla="*/ 97869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28297" h="228600">
                  <a:moveTo>
                    <a:pt x="225028" y="97869"/>
                  </a:moveTo>
                  <a:lnTo>
                    <a:pt x="211812" y="96083"/>
                  </a:lnTo>
                  <a:cubicBezTo>
                    <a:pt x="210026" y="95726"/>
                    <a:pt x="208597" y="94655"/>
                    <a:pt x="208240" y="92869"/>
                  </a:cubicBezTo>
                  <a:cubicBezTo>
                    <a:pt x="205740" y="81796"/>
                    <a:pt x="201454" y="71795"/>
                    <a:pt x="195739" y="62508"/>
                  </a:cubicBezTo>
                  <a:cubicBezTo>
                    <a:pt x="194667" y="61079"/>
                    <a:pt x="195024" y="59293"/>
                    <a:pt x="196096" y="57864"/>
                  </a:cubicBezTo>
                  <a:lnTo>
                    <a:pt x="203954" y="47506"/>
                  </a:lnTo>
                  <a:cubicBezTo>
                    <a:pt x="205383" y="45720"/>
                    <a:pt x="205026" y="43577"/>
                    <a:pt x="203597" y="42148"/>
                  </a:cubicBezTo>
                  <a:lnTo>
                    <a:pt x="186452" y="25003"/>
                  </a:lnTo>
                  <a:cubicBezTo>
                    <a:pt x="185023" y="23574"/>
                    <a:pt x="182523" y="23217"/>
                    <a:pt x="181094" y="24646"/>
                  </a:cubicBezTo>
                  <a:lnTo>
                    <a:pt x="170736" y="32504"/>
                  </a:lnTo>
                  <a:cubicBezTo>
                    <a:pt x="169307" y="33576"/>
                    <a:pt x="167521" y="33576"/>
                    <a:pt x="166092" y="32861"/>
                  </a:cubicBezTo>
                  <a:cubicBezTo>
                    <a:pt x="156805" y="27146"/>
                    <a:pt x="146804" y="22860"/>
                    <a:pt x="135731" y="20360"/>
                  </a:cubicBezTo>
                  <a:cubicBezTo>
                    <a:pt x="133945" y="20002"/>
                    <a:pt x="132874" y="18574"/>
                    <a:pt x="132517" y="16788"/>
                  </a:cubicBezTo>
                  <a:lnTo>
                    <a:pt x="130731" y="3572"/>
                  </a:lnTo>
                  <a:cubicBezTo>
                    <a:pt x="130373" y="1429"/>
                    <a:pt x="128587" y="0"/>
                    <a:pt x="126444" y="0"/>
                  </a:cubicBezTo>
                  <a:lnTo>
                    <a:pt x="102156" y="0"/>
                  </a:lnTo>
                  <a:cubicBezTo>
                    <a:pt x="100012" y="0"/>
                    <a:pt x="98227" y="1429"/>
                    <a:pt x="97869" y="3572"/>
                  </a:cubicBezTo>
                  <a:lnTo>
                    <a:pt x="96083" y="16788"/>
                  </a:lnTo>
                  <a:cubicBezTo>
                    <a:pt x="95726" y="18574"/>
                    <a:pt x="94655" y="20002"/>
                    <a:pt x="92869" y="20360"/>
                  </a:cubicBezTo>
                  <a:cubicBezTo>
                    <a:pt x="81796" y="22860"/>
                    <a:pt x="71795" y="27146"/>
                    <a:pt x="62508" y="32861"/>
                  </a:cubicBezTo>
                  <a:cubicBezTo>
                    <a:pt x="61079" y="33933"/>
                    <a:pt x="59293" y="33576"/>
                    <a:pt x="57864" y="32504"/>
                  </a:cubicBezTo>
                  <a:lnTo>
                    <a:pt x="47506" y="24646"/>
                  </a:lnTo>
                  <a:cubicBezTo>
                    <a:pt x="45720" y="23217"/>
                    <a:pt x="43577" y="23574"/>
                    <a:pt x="42148" y="25003"/>
                  </a:cubicBezTo>
                  <a:lnTo>
                    <a:pt x="25003" y="42148"/>
                  </a:lnTo>
                  <a:cubicBezTo>
                    <a:pt x="23574" y="43577"/>
                    <a:pt x="23217" y="46077"/>
                    <a:pt x="24646" y="47506"/>
                  </a:cubicBezTo>
                  <a:lnTo>
                    <a:pt x="32504" y="57864"/>
                  </a:lnTo>
                  <a:cubicBezTo>
                    <a:pt x="33576" y="59293"/>
                    <a:pt x="33576" y="61079"/>
                    <a:pt x="32861" y="62508"/>
                  </a:cubicBezTo>
                  <a:cubicBezTo>
                    <a:pt x="27146" y="71795"/>
                    <a:pt x="22860" y="81796"/>
                    <a:pt x="20360" y="92869"/>
                  </a:cubicBezTo>
                  <a:cubicBezTo>
                    <a:pt x="20002" y="94655"/>
                    <a:pt x="18574" y="95726"/>
                    <a:pt x="16788" y="96083"/>
                  </a:cubicBezTo>
                  <a:lnTo>
                    <a:pt x="3572" y="97869"/>
                  </a:lnTo>
                  <a:cubicBezTo>
                    <a:pt x="1429" y="98227"/>
                    <a:pt x="0" y="100013"/>
                    <a:pt x="0" y="102156"/>
                  </a:cubicBezTo>
                  <a:lnTo>
                    <a:pt x="0" y="126444"/>
                  </a:lnTo>
                  <a:cubicBezTo>
                    <a:pt x="0" y="128588"/>
                    <a:pt x="1429" y="130373"/>
                    <a:pt x="3572" y="130731"/>
                  </a:cubicBezTo>
                  <a:lnTo>
                    <a:pt x="16788" y="132517"/>
                  </a:lnTo>
                  <a:cubicBezTo>
                    <a:pt x="18574" y="132874"/>
                    <a:pt x="20002" y="133945"/>
                    <a:pt x="20360" y="135731"/>
                  </a:cubicBezTo>
                  <a:cubicBezTo>
                    <a:pt x="22860" y="146804"/>
                    <a:pt x="27146" y="156805"/>
                    <a:pt x="32861" y="166092"/>
                  </a:cubicBezTo>
                  <a:cubicBezTo>
                    <a:pt x="33933" y="167521"/>
                    <a:pt x="33576" y="169307"/>
                    <a:pt x="32504" y="170736"/>
                  </a:cubicBezTo>
                  <a:lnTo>
                    <a:pt x="24289" y="181094"/>
                  </a:lnTo>
                  <a:cubicBezTo>
                    <a:pt x="22860" y="182880"/>
                    <a:pt x="23217" y="185023"/>
                    <a:pt x="24646" y="186452"/>
                  </a:cubicBezTo>
                  <a:lnTo>
                    <a:pt x="41791" y="203597"/>
                  </a:lnTo>
                  <a:cubicBezTo>
                    <a:pt x="43220" y="205026"/>
                    <a:pt x="45720" y="205383"/>
                    <a:pt x="47149" y="203954"/>
                  </a:cubicBezTo>
                  <a:lnTo>
                    <a:pt x="57507" y="196096"/>
                  </a:lnTo>
                  <a:cubicBezTo>
                    <a:pt x="58936" y="195024"/>
                    <a:pt x="60722" y="195024"/>
                    <a:pt x="62151" y="195739"/>
                  </a:cubicBezTo>
                  <a:cubicBezTo>
                    <a:pt x="71437" y="201454"/>
                    <a:pt x="81439" y="205740"/>
                    <a:pt x="92512" y="208240"/>
                  </a:cubicBezTo>
                  <a:cubicBezTo>
                    <a:pt x="94297" y="208598"/>
                    <a:pt x="95369" y="210026"/>
                    <a:pt x="95726" y="211812"/>
                  </a:cubicBezTo>
                  <a:lnTo>
                    <a:pt x="97512" y="225028"/>
                  </a:lnTo>
                  <a:cubicBezTo>
                    <a:pt x="97869" y="227171"/>
                    <a:pt x="99655" y="228600"/>
                    <a:pt x="101798" y="228600"/>
                  </a:cubicBezTo>
                  <a:lnTo>
                    <a:pt x="126087" y="228600"/>
                  </a:lnTo>
                  <a:cubicBezTo>
                    <a:pt x="128230" y="228600"/>
                    <a:pt x="130016" y="227171"/>
                    <a:pt x="130373" y="225028"/>
                  </a:cubicBezTo>
                  <a:lnTo>
                    <a:pt x="132159" y="211812"/>
                  </a:lnTo>
                  <a:cubicBezTo>
                    <a:pt x="132517" y="210026"/>
                    <a:pt x="133588" y="208598"/>
                    <a:pt x="135374" y="208240"/>
                  </a:cubicBezTo>
                  <a:cubicBezTo>
                    <a:pt x="146447" y="205740"/>
                    <a:pt x="156448" y="201454"/>
                    <a:pt x="165735" y="195739"/>
                  </a:cubicBezTo>
                  <a:cubicBezTo>
                    <a:pt x="167164" y="194667"/>
                    <a:pt x="168950" y="195024"/>
                    <a:pt x="170378" y="196096"/>
                  </a:cubicBezTo>
                  <a:lnTo>
                    <a:pt x="180737" y="203954"/>
                  </a:lnTo>
                  <a:cubicBezTo>
                    <a:pt x="182523" y="205383"/>
                    <a:pt x="184666" y="205026"/>
                    <a:pt x="186095" y="203597"/>
                  </a:cubicBezTo>
                  <a:lnTo>
                    <a:pt x="203240" y="186452"/>
                  </a:lnTo>
                  <a:cubicBezTo>
                    <a:pt x="204668" y="185023"/>
                    <a:pt x="205026" y="182523"/>
                    <a:pt x="203597" y="181094"/>
                  </a:cubicBezTo>
                  <a:lnTo>
                    <a:pt x="195739" y="170736"/>
                  </a:lnTo>
                  <a:cubicBezTo>
                    <a:pt x="194667" y="169307"/>
                    <a:pt x="194667" y="167521"/>
                    <a:pt x="195382" y="166092"/>
                  </a:cubicBezTo>
                  <a:cubicBezTo>
                    <a:pt x="201097" y="156805"/>
                    <a:pt x="205383" y="146804"/>
                    <a:pt x="207883" y="135731"/>
                  </a:cubicBezTo>
                  <a:cubicBezTo>
                    <a:pt x="208240" y="133945"/>
                    <a:pt x="209669" y="132874"/>
                    <a:pt x="211455" y="132517"/>
                  </a:cubicBezTo>
                  <a:lnTo>
                    <a:pt x="224671" y="130731"/>
                  </a:lnTo>
                  <a:cubicBezTo>
                    <a:pt x="226814" y="130373"/>
                    <a:pt x="228243" y="128588"/>
                    <a:pt x="228243" y="126444"/>
                  </a:cubicBezTo>
                  <a:lnTo>
                    <a:pt x="228243" y="102156"/>
                  </a:lnTo>
                  <a:cubicBezTo>
                    <a:pt x="228600" y="100013"/>
                    <a:pt x="227171" y="98227"/>
                    <a:pt x="225028" y="97869"/>
                  </a:cubicBezTo>
                  <a:close/>
                </a:path>
              </a:pathLst>
            </a:custGeom>
            <a:solidFill>
              <a:srgbClr val="535E6F"/>
            </a:solidFill>
            <a:ln w="3572" cap="flat">
              <a:noFill/>
              <a:prstDash val="solid"/>
              <a:miter/>
            </a:ln>
          </p:spPr>
          <p:txBody>
            <a:bodyPr rtlCol="0" anchor="ctr"/>
            <a:lstStyle/>
            <a:p>
              <a:endParaRPr lang="en-GB"/>
            </a:p>
          </p:txBody>
        </p:sp>
        <p:sp>
          <p:nvSpPr>
            <p:cNvPr id="237" name="Freeform: Shape 236">
              <a:extLst>
                <a:ext uri="{FF2B5EF4-FFF2-40B4-BE49-F238E27FC236}">
                  <a16:creationId xmlns:a16="http://schemas.microsoft.com/office/drawing/2014/main" id="{B9AC7C6D-8F31-426E-8B02-A559A7190E33}"/>
                </a:ext>
              </a:extLst>
            </p:cNvPr>
            <p:cNvSpPr/>
            <p:nvPr/>
          </p:nvSpPr>
          <p:spPr>
            <a:xfrm>
              <a:off x="3421499" y="2978586"/>
              <a:ext cx="123586" cy="123586"/>
            </a:xfrm>
            <a:custGeom>
              <a:avLst/>
              <a:gdLst>
                <a:gd name="connsiteX0" fmla="*/ 123587 w 123586"/>
                <a:gd name="connsiteY0" fmla="*/ 61793 h 123586"/>
                <a:gd name="connsiteX1" fmla="*/ 61793 w 123586"/>
                <a:gd name="connsiteY1" fmla="*/ 123587 h 123586"/>
                <a:gd name="connsiteX2" fmla="*/ 0 w 123586"/>
                <a:gd name="connsiteY2" fmla="*/ 61793 h 123586"/>
                <a:gd name="connsiteX3" fmla="*/ 61793 w 123586"/>
                <a:gd name="connsiteY3" fmla="*/ 0 h 123586"/>
                <a:gd name="connsiteX4" fmla="*/ 123587 w 123586"/>
                <a:gd name="connsiteY4" fmla="*/ 61793 h 123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586" h="123586">
                  <a:moveTo>
                    <a:pt x="123587" y="61793"/>
                  </a:moveTo>
                  <a:cubicBezTo>
                    <a:pt x="123587" y="95921"/>
                    <a:pt x="95921" y="123587"/>
                    <a:pt x="61793" y="123587"/>
                  </a:cubicBezTo>
                  <a:cubicBezTo>
                    <a:pt x="27666" y="123587"/>
                    <a:pt x="0" y="95921"/>
                    <a:pt x="0" y="61793"/>
                  </a:cubicBezTo>
                  <a:cubicBezTo>
                    <a:pt x="0" y="27666"/>
                    <a:pt x="27666" y="0"/>
                    <a:pt x="61793" y="0"/>
                  </a:cubicBezTo>
                  <a:cubicBezTo>
                    <a:pt x="95921" y="0"/>
                    <a:pt x="123587" y="27666"/>
                    <a:pt x="123587" y="61793"/>
                  </a:cubicBezTo>
                  <a:close/>
                </a:path>
              </a:pathLst>
            </a:custGeom>
            <a:solidFill>
              <a:srgbClr val="444D5B"/>
            </a:solidFill>
            <a:ln w="3572" cap="flat">
              <a:noFill/>
              <a:prstDash val="solid"/>
              <a:miter/>
            </a:ln>
          </p:spPr>
          <p:txBody>
            <a:bodyPr rtlCol="0" anchor="ctr"/>
            <a:lstStyle/>
            <a:p>
              <a:endParaRPr lang="en-GB"/>
            </a:p>
          </p:txBody>
        </p:sp>
        <p:sp>
          <p:nvSpPr>
            <p:cNvPr id="238" name="Freeform: Shape 237">
              <a:extLst>
                <a:ext uri="{FF2B5EF4-FFF2-40B4-BE49-F238E27FC236}">
                  <a16:creationId xmlns:a16="http://schemas.microsoft.com/office/drawing/2014/main" id="{49348D56-9051-4685-B896-B85A273D0F45}"/>
                </a:ext>
              </a:extLst>
            </p:cNvPr>
            <p:cNvSpPr/>
            <p:nvPr/>
          </p:nvSpPr>
          <p:spPr>
            <a:xfrm>
              <a:off x="3439715" y="2996803"/>
              <a:ext cx="87153" cy="87153"/>
            </a:xfrm>
            <a:custGeom>
              <a:avLst/>
              <a:gdLst>
                <a:gd name="connsiteX0" fmla="*/ 87154 w 87153"/>
                <a:gd name="connsiteY0" fmla="*/ 43577 h 87153"/>
                <a:gd name="connsiteX1" fmla="*/ 43577 w 87153"/>
                <a:gd name="connsiteY1" fmla="*/ 87154 h 87153"/>
                <a:gd name="connsiteX2" fmla="*/ 0 w 87153"/>
                <a:gd name="connsiteY2" fmla="*/ 43577 h 87153"/>
                <a:gd name="connsiteX3" fmla="*/ 43577 w 87153"/>
                <a:gd name="connsiteY3" fmla="*/ 0 h 87153"/>
                <a:gd name="connsiteX4" fmla="*/ 87154 w 87153"/>
                <a:gd name="connsiteY4" fmla="*/ 43577 h 87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53" h="87153">
                  <a:moveTo>
                    <a:pt x="87154" y="43577"/>
                  </a:moveTo>
                  <a:cubicBezTo>
                    <a:pt x="87154" y="67644"/>
                    <a:pt x="67644" y="87154"/>
                    <a:pt x="43577" y="87154"/>
                  </a:cubicBezTo>
                  <a:cubicBezTo>
                    <a:pt x="19510" y="87154"/>
                    <a:pt x="0" y="67644"/>
                    <a:pt x="0" y="43577"/>
                  </a:cubicBezTo>
                  <a:cubicBezTo>
                    <a:pt x="0" y="19510"/>
                    <a:pt x="19510" y="0"/>
                    <a:pt x="43577" y="0"/>
                  </a:cubicBezTo>
                  <a:cubicBezTo>
                    <a:pt x="67644" y="0"/>
                    <a:pt x="87154" y="19510"/>
                    <a:pt x="87154" y="43577"/>
                  </a:cubicBezTo>
                  <a:close/>
                </a:path>
              </a:pathLst>
            </a:custGeom>
            <a:solidFill>
              <a:schemeClr val="tx2">
                <a:lumMod val="40000"/>
                <a:lumOff val="60000"/>
              </a:schemeClr>
            </a:solidFill>
            <a:ln w="3572" cap="flat">
              <a:noFill/>
              <a:prstDash val="solid"/>
              <a:miter/>
            </a:ln>
          </p:spPr>
          <p:txBody>
            <a:bodyPr rtlCol="0" anchor="ctr"/>
            <a:lstStyle/>
            <a:p>
              <a:endParaRPr lang="en-GB"/>
            </a:p>
          </p:txBody>
        </p:sp>
        <p:sp>
          <p:nvSpPr>
            <p:cNvPr id="239" name="Freeform: Shape 238">
              <a:extLst>
                <a:ext uri="{FF2B5EF4-FFF2-40B4-BE49-F238E27FC236}">
                  <a16:creationId xmlns:a16="http://schemas.microsoft.com/office/drawing/2014/main" id="{A819B376-8547-45BF-A4E4-F03ABEF51837}"/>
                </a:ext>
              </a:extLst>
            </p:cNvPr>
            <p:cNvSpPr/>
            <p:nvPr/>
          </p:nvSpPr>
          <p:spPr>
            <a:xfrm>
              <a:off x="3260407" y="2926080"/>
              <a:ext cx="228600" cy="228600"/>
            </a:xfrm>
            <a:custGeom>
              <a:avLst/>
              <a:gdLst>
                <a:gd name="connsiteX0" fmla="*/ 228600 w 228600"/>
                <a:gd name="connsiteY0" fmla="*/ 114300 h 228600"/>
                <a:gd name="connsiteX1" fmla="*/ 114300 w 228600"/>
                <a:gd name="connsiteY1" fmla="*/ 228600 h 228600"/>
                <a:gd name="connsiteX2" fmla="*/ 0 w 228600"/>
                <a:gd name="connsiteY2" fmla="*/ 114300 h 228600"/>
                <a:gd name="connsiteX3" fmla="*/ 114300 w 228600"/>
                <a:gd name="connsiteY3" fmla="*/ 0 h 228600"/>
                <a:gd name="connsiteX4" fmla="*/ 228600 w 228600"/>
                <a:gd name="connsiteY4" fmla="*/ 11430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rgbClr val="FFFFFF"/>
            </a:solidFill>
            <a:ln w="3572" cap="flat">
              <a:noFill/>
              <a:prstDash val="solid"/>
              <a:miter/>
            </a:ln>
          </p:spPr>
          <p:txBody>
            <a:bodyPr rtlCol="0" anchor="ctr"/>
            <a:lstStyle/>
            <a:p>
              <a:endParaRPr lang="en-GB"/>
            </a:p>
          </p:txBody>
        </p:sp>
        <p:sp>
          <p:nvSpPr>
            <p:cNvPr id="240" name="Freeform: Shape 239">
              <a:extLst>
                <a:ext uri="{FF2B5EF4-FFF2-40B4-BE49-F238E27FC236}">
                  <a16:creationId xmlns:a16="http://schemas.microsoft.com/office/drawing/2014/main" id="{0E702DDE-8FDD-485A-86B0-A8713C9EFC08}"/>
                </a:ext>
              </a:extLst>
            </p:cNvPr>
            <p:cNvSpPr/>
            <p:nvPr/>
          </p:nvSpPr>
          <p:spPr>
            <a:xfrm>
              <a:off x="3289696" y="2955369"/>
              <a:ext cx="170021" cy="170021"/>
            </a:xfrm>
            <a:custGeom>
              <a:avLst/>
              <a:gdLst>
                <a:gd name="connsiteX0" fmla="*/ 170021 w 170021"/>
                <a:gd name="connsiteY0" fmla="*/ 85011 h 170021"/>
                <a:gd name="connsiteX1" fmla="*/ 85011 w 170021"/>
                <a:gd name="connsiteY1" fmla="*/ 170021 h 170021"/>
                <a:gd name="connsiteX2" fmla="*/ 0 w 170021"/>
                <a:gd name="connsiteY2" fmla="*/ 85011 h 170021"/>
                <a:gd name="connsiteX3" fmla="*/ 85011 w 170021"/>
                <a:gd name="connsiteY3" fmla="*/ 0 h 170021"/>
                <a:gd name="connsiteX4" fmla="*/ 170021 w 170021"/>
                <a:gd name="connsiteY4" fmla="*/ 85011 h 170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021" h="170021">
                  <a:moveTo>
                    <a:pt x="170021" y="85011"/>
                  </a:moveTo>
                  <a:cubicBezTo>
                    <a:pt x="170021" y="131961"/>
                    <a:pt x="131961" y="170021"/>
                    <a:pt x="85011" y="170021"/>
                  </a:cubicBezTo>
                  <a:cubicBezTo>
                    <a:pt x="38061" y="170021"/>
                    <a:pt x="0" y="131961"/>
                    <a:pt x="0" y="85011"/>
                  </a:cubicBezTo>
                  <a:cubicBezTo>
                    <a:pt x="0" y="38061"/>
                    <a:pt x="38061" y="0"/>
                    <a:pt x="85011" y="0"/>
                  </a:cubicBezTo>
                  <a:cubicBezTo>
                    <a:pt x="131961" y="0"/>
                    <a:pt x="170021" y="38061"/>
                    <a:pt x="170021" y="85011"/>
                  </a:cubicBezTo>
                  <a:close/>
                </a:path>
              </a:pathLst>
            </a:custGeom>
            <a:solidFill>
              <a:schemeClr val="tx2"/>
            </a:solidFill>
            <a:ln w="3572" cap="flat">
              <a:noFill/>
              <a:prstDash val="solid"/>
              <a:miter/>
            </a:ln>
          </p:spPr>
          <p:txBody>
            <a:bodyPr rtlCol="0" anchor="ctr"/>
            <a:lstStyle/>
            <a:p>
              <a:endParaRPr lang="en-GB"/>
            </a:p>
          </p:txBody>
        </p:sp>
        <p:sp>
          <p:nvSpPr>
            <p:cNvPr id="242" name="Freeform: Shape 241">
              <a:extLst>
                <a:ext uri="{FF2B5EF4-FFF2-40B4-BE49-F238E27FC236}">
                  <a16:creationId xmlns:a16="http://schemas.microsoft.com/office/drawing/2014/main" id="{1203C60F-BF6F-4DC4-8057-967476F89CA3}"/>
                </a:ext>
              </a:extLst>
            </p:cNvPr>
            <p:cNvSpPr/>
            <p:nvPr/>
          </p:nvSpPr>
          <p:spPr>
            <a:xfrm>
              <a:off x="3338988" y="2984301"/>
              <a:ext cx="71437" cy="111442"/>
            </a:xfrm>
            <a:custGeom>
              <a:avLst/>
              <a:gdLst>
                <a:gd name="connsiteX0" fmla="*/ 32861 w 71437"/>
                <a:gd name="connsiteY0" fmla="*/ 111443 h 111442"/>
                <a:gd name="connsiteX1" fmla="*/ 32861 w 71437"/>
                <a:gd name="connsiteY1" fmla="*/ 101798 h 111442"/>
                <a:gd name="connsiteX2" fmla="*/ 0 w 71437"/>
                <a:gd name="connsiteY2" fmla="*/ 87154 h 111442"/>
                <a:gd name="connsiteX3" fmla="*/ 9644 w 71437"/>
                <a:gd name="connsiteY3" fmla="*/ 75367 h 111442"/>
                <a:gd name="connsiteX4" fmla="*/ 32861 w 71437"/>
                <a:gd name="connsiteY4" fmla="*/ 87154 h 111442"/>
                <a:gd name="connsiteX5" fmla="*/ 32861 w 71437"/>
                <a:gd name="connsiteY5" fmla="*/ 61079 h 111442"/>
                <a:gd name="connsiteX6" fmla="*/ 10716 w 71437"/>
                <a:gd name="connsiteY6" fmla="*/ 51435 h 111442"/>
                <a:gd name="connsiteX7" fmla="*/ 3572 w 71437"/>
                <a:gd name="connsiteY7" fmla="*/ 33933 h 111442"/>
                <a:gd name="connsiteX8" fmla="*/ 11787 w 71437"/>
                <a:gd name="connsiteY8" fmla="*/ 15002 h 111442"/>
                <a:gd name="connsiteX9" fmla="*/ 32861 w 71437"/>
                <a:gd name="connsiteY9" fmla="*/ 6787 h 111442"/>
                <a:gd name="connsiteX10" fmla="*/ 32861 w 71437"/>
                <a:gd name="connsiteY10" fmla="*/ 0 h 111442"/>
                <a:gd name="connsiteX11" fmla="*/ 41434 w 71437"/>
                <a:gd name="connsiteY11" fmla="*/ 0 h 111442"/>
                <a:gd name="connsiteX12" fmla="*/ 41434 w 71437"/>
                <a:gd name="connsiteY12" fmla="*/ 6787 h 111442"/>
                <a:gd name="connsiteX13" fmla="*/ 69294 w 71437"/>
                <a:gd name="connsiteY13" fmla="*/ 16788 h 111442"/>
                <a:gd name="connsiteX14" fmla="*/ 60722 w 71437"/>
                <a:gd name="connsiteY14" fmla="*/ 29289 h 111442"/>
                <a:gd name="connsiteX15" fmla="*/ 41434 w 71437"/>
                <a:gd name="connsiteY15" fmla="*/ 21431 h 111442"/>
                <a:gd name="connsiteX16" fmla="*/ 41434 w 71437"/>
                <a:gd name="connsiteY16" fmla="*/ 46792 h 111442"/>
                <a:gd name="connsiteX17" fmla="*/ 41791 w 71437"/>
                <a:gd name="connsiteY17" fmla="*/ 46792 h 111442"/>
                <a:gd name="connsiteX18" fmla="*/ 64294 w 71437"/>
                <a:gd name="connsiteY18" fmla="*/ 56436 h 111442"/>
                <a:gd name="connsiteX19" fmla="*/ 71438 w 71437"/>
                <a:gd name="connsiteY19" fmla="*/ 74295 h 111442"/>
                <a:gd name="connsiteX20" fmla="*/ 63222 w 71437"/>
                <a:gd name="connsiteY20" fmla="*/ 93226 h 111442"/>
                <a:gd name="connsiteX21" fmla="*/ 41077 w 71437"/>
                <a:gd name="connsiteY21" fmla="*/ 101441 h 111442"/>
                <a:gd name="connsiteX22" fmla="*/ 41077 w 71437"/>
                <a:gd name="connsiteY22" fmla="*/ 111085 h 111442"/>
                <a:gd name="connsiteX23" fmla="*/ 32861 w 71437"/>
                <a:gd name="connsiteY23" fmla="*/ 111085 h 111442"/>
                <a:gd name="connsiteX24" fmla="*/ 23217 w 71437"/>
                <a:gd name="connsiteY24" fmla="*/ 25003 h 111442"/>
                <a:gd name="connsiteX25" fmla="*/ 19645 w 71437"/>
                <a:gd name="connsiteY25" fmla="*/ 32504 h 111442"/>
                <a:gd name="connsiteX26" fmla="*/ 22503 w 71437"/>
                <a:gd name="connsiteY26" fmla="*/ 39648 h 111442"/>
                <a:gd name="connsiteX27" fmla="*/ 32861 w 71437"/>
                <a:gd name="connsiteY27" fmla="*/ 44648 h 111442"/>
                <a:gd name="connsiteX28" fmla="*/ 32861 w 71437"/>
                <a:gd name="connsiteY28" fmla="*/ 21431 h 111442"/>
                <a:gd name="connsiteX29" fmla="*/ 23217 w 71437"/>
                <a:gd name="connsiteY29" fmla="*/ 25003 h 111442"/>
                <a:gd name="connsiteX30" fmla="*/ 51435 w 71437"/>
                <a:gd name="connsiteY30" fmla="*/ 83939 h 111442"/>
                <a:gd name="connsiteX31" fmla="*/ 55364 w 71437"/>
                <a:gd name="connsiteY31" fmla="*/ 76081 h 111442"/>
                <a:gd name="connsiteX32" fmla="*/ 52507 w 71437"/>
                <a:gd name="connsiteY32" fmla="*/ 68580 h 111442"/>
                <a:gd name="connsiteX33" fmla="*/ 41434 w 71437"/>
                <a:gd name="connsiteY33" fmla="*/ 63579 h 111442"/>
                <a:gd name="connsiteX34" fmla="*/ 41434 w 71437"/>
                <a:gd name="connsiteY34" fmla="*/ 87868 h 111442"/>
                <a:gd name="connsiteX35" fmla="*/ 51435 w 71437"/>
                <a:gd name="connsiteY35" fmla="*/ 83939 h 11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437" h="111442">
                  <a:moveTo>
                    <a:pt x="32861" y="111443"/>
                  </a:moveTo>
                  <a:lnTo>
                    <a:pt x="32861" y="101798"/>
                  </a:lnTo>
                  <a:cubicBezTo>
                    <a:pt x="20717" y="100727"/>
                    <a:pt x="9644" y="95726"/>
                    <a:pt x="0" y="87154"/>
                  </a:cubicBezTo>
                  <a:lnTo>
                    <a:pt x="9644" y="75367"/>
                  </a:lnTo>
                  <a:cubicBezTo>
                    <a:pt x="17145" y="81796"/>
                    <a:pt x="25003" y="85725"/>
                    <a:pt x="32861" y="87154"/>
                  </a:cubicBezTo>
                  <a:lnTo>
                    <a:pt x="32861" y="61079"/>
                  </a:lnTo>
                  <a:cubicBezTo>
                    <a:pt x="22860" y="58579"/>
                    <a:pt x="15359" y="55364"/>
                    <a:pt x="10716" y="51435"/>
                  </a:cubicBezTo>
                  <a:cubicBezTo>
                    <a:pt x="6072" y="47506"/>
                    <a:pt x="3572" y="41791"/>
                    <a:pt x="3572" y="33933"/>
                  </a:cubicBezTo>
                  <a:cubicBezTo>
                    <a:pt x="3572" y="26075"/>
                    <a:pt x="6429" y="20003"/>
                    <a:pt x="11787" y="15002"/>
                  </a:cubicBezTo>
                  <a:cubicBezTo>
                    <a:pt x="17145" y="10001"/>
                    <a:pt x="24289" y="7501"/>
                    <a:pt x="32861" y="6787"/>
                  </a:cubicBezTo>
                  <a:lnTo>
                    <a:pt x="32861" y="0"/>
                  </a:lnTo>
                  <a:lnTo>
                    <a:pt x="41434" y="0"/>
                  </a:lnTo>
                  <a:lnTo>
                    <a:pt x="41434" y="6787"/>
                  </a:lnTo>
                  <a:cubicBezTo>
                    <a:pt x="51435" y="7501"/>
                    <a:pt x="60722" y="10716"/>
                    <a:pt x="69294" y="16788"/>
                  </a:cubicBezTo>
                  <a:lnTo>
                    <a:pt x="60722" y="29289"/>
                  </a:lnTo>
                  <a:cubicBezTo>
                    <a:pt x="54650" y="25003"/>
                    <a:pt x="48578" y="22503"/>
                    <a:pt x="41434" y="21431"/>
                  </a:cubicBezTo>
                  <a:lnTo>
                    <a:pt x="41434" y="46792"/>
                  </a:lnTo>
                  <a:lnTo>
                    <a:pt x="41791" y="46792"/>
                  </a:lnTo>
                  <a:cubicBezTo>
                    <a:pt x="52149" y="49292"/>
                    <a:pt x="59650" y="52507"/>
                    <a:pt x="64294" y="56436"/>
                  </a:cubicBezTo>
                  <a:cubicBezTo>
                    <a:pt x="69294" y="60722"/>
                    <a:pt x="71438" y="66437"/>
                    <a:pt x="71438" y="74295"/>
                  </a:cubicBezTo>
                  <a:cubicBezTo>
                    <a:pt x="71438" y="82153"/>
                    <a:pt x="68580" y="88583"/>
                    <a:pt x="63222" y="93226"/>
                  </a:cubicBezTo>
                  <a:cubicBezTo>
                    <a:pt x="57507" y="98227"/>
                    <a:pt x="50363" y="100727"/>
                    <a:pt x="41077" y="101441"/>
                  </a:cubicBezTo>
                  <a:lnTo>
                    <a:pt x="41077" y="111085"/>
                  </a:lnTo>
                  <a:lnTo>
                    <a:pt x="32861" y="111085"/>
                  </a:lnTo>
                  <a:close/>
                  <a:moveTo>
                    <a:pt x="23217" y="25003"/>
                  </a:moveTo>
                  <a:cubicBezTo>
                    <a:pt x="21074" y="27146"/>
                    <a:pt x="19645" y="29647"/>
                    <a:pt x="19645" y="32504"/>
                  </a:cubicBezTo>
                  <a:cubicBezTo>
                    <a:pt x="19645" y="35362"/>
                    <a:pt x="20717" y="37862"/>
                    <a:pt x="22503" y="39648"/>
                  </a:cubicBezTo>
                  <a:cubicBezTo>
                    <a:pt x="24289" y="41434"/>
                    <a:pt x="27861" y="43220"/>
                    <a:pt x="32861" y="44648"/>
                  </a:cubicBezTo>
                  <a:lnTo>
                    <a:pt x="32861" y="21431"/>
                  </a:lnTo>
                  <a:cubicBezTo>
                    <a:pt x="28932" y="21788"/>
                    <a:pt x="25718" y="23217"/>
                    <a:pt x="23217" y="25003"/>
                  </a:cubicBezTo>
                  <a:close/>
                  <a:moveTo>
                    <a:pt x="51435" y="83939"/>
                  </a:moveTo>
                  <a:cubicBezTo>
                    <a:pt x="53935" y="81796"/>
                    <a:pt x="55364" y="79296"/>
                    <a:pt x="55364" y="76081"/>
                  </a:cubicBezTo>
                  <a:cubicBezTo>
                    <a:pt x="55364" y="72866"/>
                    <a:pt x="54293" y="70366"/>
                    <a:pt x="52507" y="68580"/>
                  </a:cubicBezTo>
                  <a:cubicBezTo>
                    <a:pt x="50363" y="66794"/>
                    <a:pt x="46792" y="65008"/>
                    <a:pt x="41434" y="63579"/>
                  </a:cubicBezTo>
                  <a:lnTo>
                    <a:pt x="41434" y="87868"/>
                  </a:lnTo>
                  <a:cubicBezTo>
                    <a:pt x="45720" y="87154"/>
                    <a:pt x="48935" y="86082"/>
                    <a:pt x="51435" y="83939"/>
                  </a:cubicBezTo>
                  <a:close/>
                </a:path>
              </a:pathLst>
            </a:custGeom>
            <a:solidFill>
              <a:srgbClr val="FFFFFF"/>
            </a:solidFill>
            <a:ln w="3572" cap="flat">
              <a:noFill/>
              <a:prstDash val="solid"/>
              <a:miter/>
            </a:ln>
          </p:spPr>
          <p:txBody>
            <a:bodyPr rtlCol="0" anchor="ctr"/>
            <a:lstStyle/>
            <a:p>
              <a:endParaRPr lang="en-GB"/>
            </a:p>
          </p:txBody>
        </p:sp>
      </p:grpSp>
      <p:sp>
        <p:nvSpPr>
          <p:cNvPr id="135" name="Rectangle 134">
            <a:extLst>
              <a:ext uri="{FF2B5EF4-FFF2-40B4-BE49-F238E27FC236}">
                <a16:creationId xmlns:a16="http://schemas.microsoft.com/office/drawing/2014/main" id="{AB29F173-A5BC-4B22-B323-B8F82F481DC9}"/>
              </a:ext>
            </a:extLst>
          </p:cNvPr>
          <p:cNvSpPr/>
          <p:nvPr/>
        </p:nvSpPr>
        <p:spPr>
          <a:xfrm>
            <a:off x="1637953" y="1821905"/>
            <a:ext cx="1973580" cy="1493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US" sz="1100" dirty="0">
                <a:solidFill>
                  <a:schemeClr val="tx1"/>
                </a:solidFill>
              </a:rPr>
              <a:t>Creation of need/ want (i.e., car damage, performance loss, routine checkup)</a:t>
            </a:r>
          </a:p>
          <a:p>
            <a:pPr marL="115888" indent="-115888">
              <a:buFont typeface="Arial" panose="020B0604020202020204" pitchFamily="34" charset="0"/>
              <a:buChar char="•"/>
            </a:pPr>
            <a:r>
              <a:rPr lang="en-US" sz="1100" dirty="0">
                <a:solidFill>
                  <a:schemeClr val="tx1"/>
                </a:solidFill>
              </a:rPr>
              <a:t>Deciding to hire professional services vs doing it own self</a:t>
            </a:r>
          </a:p>
          <a:p>
            <a:pPr marL="115888" indent="-115888">
              <a:buFont typeface="Arial" panose="020B0604020202020204" pitchFamily="34" charset="0"/>
              <a:buChar char="•"/>
            </a:pPr>
            <a:r>
              <a:rPr lang="en-US" sz="1100" dirty="0">
                <a:solidFill>
                  <a:schemeClr val="tx1"/>
                </a:solidFill>
              </a:rPr>
              <a:t>Selecting the “best” car-care service in vicinity which takes their insurance scheme</a:t>
            </a:r>
          </a:p>
        </p:txBody>
      </p:sp>
      <p:sp>
        <p:nvSpPr>
          <p:cNvPr id="7" name="Rectangle 6">
            <a:extLst>
              <a:ext uri="{FF2B5EF4-FFF2-40B4-BE49-F238E27FC236}">
                <a16:creationId xmlns:a16="http://schemas.microsoft.com/office/drawing/2014/main" id="{C9DCC84F-E00C-4714-8839-161ABED1F147}"/>
              </a:ext>
            </a:extLst>
          </p:cNvPr>
          <p:cNvSpPr/>
          <p:nvPr/>
        </p:nvSpPr>
        <p:spPr>
          <a:xfrm>
            <a:off x="1637953" y="1241872"/>
            <a:ext cx="1973580" cy="56926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bject 4">
            <a:extLst>
              <a:ext uri="{FF2B5EF4-FFF2-40B4-BE49-F238E27FC236}">
                <a16:creationId xmlns:a16="http://schemas.microsoft.com/office/drawing/2014/main" id="{F4A32BA9-5340-4133-A1E8-0FA05E7E732D}"/>
              </a:ext>
            </a:extLst>
          </p:cNvPr>
          <p:cNvSpPr txBox="1"/>
          <p:nvPr/>
        </p:nvSpPr>
        <p:spPr>
          <a:xfrm>
            <a:off x="2346962" y="1299478"/>
            <a:ext cx="1209557" cy="430887"/>
          </a:xfrm>
          <a:prstGeom prst="rect">
            <a:avLst/>
          </a:prstGeom>
        </p:spPr>
        <p:txBody>
          <a:bodyPr vert="horz" wrap="square" lIns="0" tIns="0" rIns="0" bIns="0" rtlCol="0">
            <a:spAutoFit/>
          </a:bodyPr>
          <a:lstStyle/>
          <a:p>
            <a:pPr marL="12700" algn="ctr"/>
            <a:r>
              <a:rPr lang="en-IN" sz="1400" b="1" dirty="0">
                <a:solidFill>
                  <a:schemeClr val="bg1"/>
                </a:solidFill>
                <a:latin typeface="Tw Cen MT"/>
                <a:cs typeface="Tw Cen MT"/>
              </a:rPr>
              <a:t>ACTIVITIES PERFORMED</a:t>
            </a:r>
          </a:p>
        </p:txBody>
      </p:sp>
      <p:grpSp>
        <p:nvGrpSpPr>
          <p:cNvPr id="164" name="Graphic 5529">
            <a:extLst>
              <a:ext uri="{FF2B5EF4-FFF2-40B4-BE49-F238E27FC236}">
                <a16:creationId xmlns:a16="http://schemas.microsoft.com/office/drawing/2014/main" id="{96A47C16-819D-441C-8390-96366FEC39AE}"/>
              </a:ext>
            </a:extLst>
          </p:cNvPr>
          <p:cNvGrpSpPr>
            <a:grpSpLocks noChangeAspect="1"/>
          </p:cNvGrpSpPr>
          <p:nvPr/>
        </p:nvGrpSpPr>
        <p:grpSpPr>
          <a:xfrm>
            <a:off x="1806059" y="1292773"/>
            <a:ext cx="540903" cy="457200"/>
            <a:chOff x="504705" y="4769811"/>
            <a:chExt cx="331918" cy="280555"/>
          </a:xfrm>
          <a:solidFill>
            <a:srgbClr val="000000"/>
          </a:solidFill>
        </p:grpSpPr>
        <p:grpSp>
          <p:nvGrpSpPr>
            <p:cNvPr id="165" name="Graphic 5529">
              <a:extLst>
                <a:ext uri="{FF2B5EF4-FFF2-40B4-BE49-F238E27FC236}">
                  <a16:creationId xmlns:a16="http://schemas.microsoft.com/office/drawing/2014/main" id="{8FAF56BA-A6A6-4828-BD96-D6F06A917EAF}"/>
                </a:ext>
              </a:extLst>
            </p:cNvPr>
            <p:cNvGrpSpPr/>
            <p:nvPr/>
          </p:nvGrpSpPr>
          <p:grpSpPr>
            <a:xfrm>
              <a:off x="682872" y="4769811"/>
              <a:ext cx="153751" cy="154087"/>
              <a:chOff x="682872" y="4769811"/>
              <a:chExt cx="153751" cy="154087"/>
            </a:xfrm>
            <a:solidFill>
              <a:srgbClr val="000000"/>
            </a:solidFill>
          </p:grpSpPr>
          <p:sp>
            <p:nvSpPr>
              <p:cNvPr id="173" name="Freeform: Shape 172">
                <a:extLst>
                  <a:ext uri="{FF2B5EF4-FFF2-40B4-BE49-F238E27FC236}">
                    <a16:creationId xmlns:a16="http://schemas.microsoft.com/office/drawing/2014/main" id="{2BDD5DA4-F682-4157-A4BC-CC70778ABFAE}"/>
                  </a:ext>
                </a:extLst>
              </p:cNvPr>
              <p:cNvSpPr/>
              <p:nvPr/>
            </p:nvSpPr>
            <p:spPr>
              <a:xfrm>
                <a:off x="682872" y="4769811"/>
                <a:ext cx="153751" cy="154087"/>
              </a:xfrm>
              <a:custGeom>
                <a:avLst/>
                <a:gdLst>
                  <a:gd name="connsiteX0" fmla="*/ 151875 w 153751"/>
                  <a:gd name="connsiteY0" fmla="*/ 78294 h 154087"/>
                  <a:gd name="connsiteX1" fmla="*/ 143302 w 153751"/>
                  <a:gd name="connsiteY1" fmla="*/ 75794 h 154087"/>
                  <a:gd name="connsiteX2" fmla="*/ 141159 w 153751"/>
                  <a:gd name="connsiteY2" fmla="*/ 73294 h 154087"/>
                  <a:gd name="connsiteX3" fmla="*/ 136159 w 153751"/>
                  <a:gd name="connsiteY3" fmla="*/ 51862 h 154087"/>
                  <a:gd name="connsiteX4" fmla="*/ 136873 w 153751"/>
                  <a:gd name="connsiteY4" fmla="*/ 48648 h 154087"/>
                  <a:gd name="connsiteX5" fmla="*/ 143302 w 153751"/>
                  <a:gd name="connsiteY5" fmla="*/ 42575 h 154087"/>
                  <a:gd name="connsiteX6" fmla="*/ 143659 w 153751"/>
                  <a:gd name="connsiteY6" fmla="*/ 39004 h 154087"/>
                  <a:gd name="connsiteX7" fmla="*/ 134373 w 153751"/>
                  <a:gd name="connsiteY7" fmla="*/ 25788 h 154087"/>
                  <a:gd name="connsiteX8" fmla="*/ 130801 w 153751"/>
                  <a:gd name="connsiteY8" fmla="*/ 25073 h 154087"/>
                  <a:gd name="connsiteX9" fmla="*/ 122943 w 153751"/>
                  <a:gd name="connsiteY9" fmla="*/ 29359 h 154087"/>
                  <a:gd name="connsiteX10" fmla="*/ 119728 w 153751"/>
                  <a:gd name="connsiteY10" fmla="*/ 29002 h 154087"/>
                  <a:gd name="connsiteX11" fmla="*/ 101154 w 153751"/>
                  <a:gd name="connsiteY11" fmla="*/ 17215 h 154087"/>
                  <a:gd name="connsiteX12" fmla="*/ 99368 w 153751"/>
                  <a:gd name="connsiteY12" fmla="*/ 14715 h 154087"/>
                  <a:gd name="connsiteX13" fmla="*/ 99725 w 153751"/>
                  <a:gd name="connsiteY13" fmla="*/ 5785 h 154087"/>
                  <a:gd name="connsiteX14" fmla="*/ 97225 w 153751"/>
                  <a:gd name="connsiteY14" fmla="*/ 2928 h 154087"/>
                  <a:gd name="connsiteX15" fmla="*/ 81509 w 153751"/>
                  <a:gd name="connsiteY15" fmla="*/ 70 h 154087"/>
                  <a:gd name="connsiteX16" fmla="*/ 78294 w 153751"/>
                  <a:gd name="connsiteY16" fmla="*/ 1856 h 154087"/>
                  <a:gd name="connsiteX17" fmla="*/ 75794 w 153751"/>
                  <a:gd name="connsiteY17" fmla="*/ 10429 h 154087"/>
                  <a:gd name="connsiteX18" fmla="*/ 73293 w 153751"/>
                  <a:gd name="connsiteY18" fmla="*/ 12572 h 154087"/>
                  <a:gd name="connsiteX19" fmla="*/ 51862 w 153751"/>
                  <a:gd name="connsiteY19" fmla="*/ 17572 h 154087"/>
                  <a:gd name="connsiteX20" fmla="*/ 48648 w 153751"/>
                  <a:gd name="connsiteY20" fmla="*/ 16858 h 154087"/>
                  <a:gd name="connsiteX21" fmla="*/ 42575 w 153751"/>
                  <a:gd name="connsiteY21" fmla="*/ 10429 h 154087"/>
                  <a:gd name="connsiteX22" fmla="*/ 39003 w 153751"/>
                  <a:gd name="connsiteY22" fmla="*/ 10071 h 154087"/>
                  <a:gd name="connsiteX23" fmla="*/ 25788 w 153751"/>
                  <a:gd name="connsiteY23" fmla="*/ 19358 h 154087"/>
                  <a:gd name="connsiteX24" fmla="*/ 25073 w 153751"/>
                  <a:gd name="connsiteY24" fmla="*/ 22930 h 154087"/>
                  <a:gd name="connsiteX25" fmla="*/ 29359 w 153751"/>
                  <a:gd name="connsiteY25" fmla="*/ 30788 h 154087"/>
                  <a:gd name="connsiteX26" fmla="*/ 29002 w 153751"/>
                  <a:gd name="connsiteY26" fmla="*/ 34003 h 154087"/>
                  <a:gd name="connsiteX27" fmla="*/ 17215 w 153751"/>
                  <a:gd name="connsiteY27" fmla="*/ 52577 h 154087"/>
                  <a:gd name="connsiteX28" fmla="*/ 14715 w 153751"/>
                  <a:gd name="connsiteY28" fmla="*/ 54363 h 154087"/>
                  <a:gd name="connsiteX29" fmla="*/ 5785 w 153751"/>
                  <a:gd name="connsiteY29" fmla="*/ 54005 h 154087"/>
                  <a:gd name="connsiteX30" fmla="*/ 2928 w 153751"/>
                  <a:gd name="connsiteY30" fmla="*/ 56506 h 154087"/>
                  <a:gd name="connsiteX31" fmla="*/ 70 w 153751"/>
                  <a:gd name="connsiteY31" fmla="*/ 72579 h 154087"/>
                  <a:gd name="connsiteX32" fmla="*/ 1856 w 153751"/>
                  <a:gd name="connsiteY32" fmla="*/ 75794 h 154087"/>
                  <a:gd name="connsiteX33" fmla="*/ 10428 w 153751"/>
                  <a:gd name="connsiteY33" fmla="*/ 78294 h 154087"/>
                  <a:gd name="connsiteX34" fmla="*/ 12572 w 153751"/>
                  <a:gd name="connsiteY34" fmla="*/ 80794 h 154087"/>
                  <a:gd name="connsiteX35" fmla="*/ 17572 w 153751"/>
                  <a:gd name="connsiteY35" fmla="*/ 102226 h 154087"/>
                  <a:gd name="connsiteX36" fmla="*/ 16858 w 153751"/>
                  <a:gd name="connsiteY36" fmla="*/ 105440 h 154087"/>
                  <a:gd name="connsiteX37" fmla="*/ 10428 w 153751"/>
                  <a:gd name="connsiteY37" fmla="*/ 111513 h 154087"/>
                  <a:gd name="connsiteX38" fmla="*/ 10071 w 153751"/>
                  <a:gd name="connsiteY38" fmla="*/ 115084 h 154087"/>
                  <a:gd name="connsiteX39" fmla="*/ 19358 w 153751"/>
                  <a:gd name="connsiteY39" fmla="*/ 128300 h 154087"/>
                  <a:gd name="connsiteX40" fmla="*/ 22930 w 153751"/>
                  <a:gd name="connsiteY40" fmla="*/ 129015 h 154087"/>
                  <a:gd name="connsiteX41" fmla="*/ 30788 w 153751"/>
                  <a:gd name="connsiteY41" fmla="*/ 124729 h 154087"/>
                  <a:gd name="connsiteX42" fmla="*/ 34003 w 153751"/>
                  <a:gd name="connsiteY42" fmla="*/ 125086 h 154087"/>
                  <a:gd name="connsiteX43" fmla="*/ 52577 w 153751"/>
                  <a:gd name="connsiteY43" fmla="*/ 136873 h 154087"/>
                  <a:gd name="connsiteX44" fmla="*/ 54363 w 153751"/>
                  <a:gd name="connsiteY44" fmla="*/ 139373 h 154087"/>
                  <a:gd name="connsiteX45" fmla="*/ 54005 w 153751"/>
                  <a:gd name="connsiteY45" fmla="*/ 148303 h 154087"/>
                  <a:gd name="connsiteX46" fmla="*/ 56506 w 153751"/>
                  <a:gd name="connsiteY46" fmla="*/ 151160 h 154087"/>
                  <a:gd name="connsiteX47" fmla="*/ 72579 w 153751"/>
                  <a:gd name="connsiteY47" fmla="*/ 154018 h 154087"/>
                  <a:gd name="connsiteX48" fmla="*/ 75794 w 153751"/>
                  <a:gd name="connsiteY48" fmla="*/ 152232 h 154087"/>
                  <a:gd name="connsiteX49" fmla="*/ 78294 w 153751"/>
                  <a:gd name="connsiteY49" fmla="*/ 143659 h 154087"/>
                  <a:gd name="connsiteX50" fmla="*/ 80794 w 153751"/>
                  <a:gd name="connsiteY50" fmla="*/ 141516 h 154087"/>
                  <a:gd name="connsiteX51" fmla="*/ 102226 w 153751"/>
                  <a:gd name="connsiteY51" fmla="*/ 136516 h 154087"/>
                  <a:gd name="connsiteX52" fmla="*/ 105440 w 153751"/>
                  <a:gd name="connsiteY52" fmla="*/ 137230 h 154087"/>
                  <a:gd name="connsiteX53" fmla="*/ 111513 w 153751"/>
                  <a:gd name="connsiteY53" fmla="*/ 143659 h 154087"/>
                  <a:gd name="connsiteX54" fmla="*/ 115084 w 153751"/>
                  <a:gd name="connsiteY54" fmla="*/ 144017 h 154087"/>
                  <a:gd name="connsiteX55" fmla="*/ 127943 w 153751"/>
                  <a:gd name="connsiteY55" fmla="*/ 134373 h 154087"/>
                  <a:gd name="connsiteX56" fmla="*/ 128658 w 153751"/>
                  <a:gd name="connsiteY56" fmla="*/ 130801 h 154087"/>
                  <a:gd name="connsiteX57" fmla="*/ 124371 w 153751"/>
                  <a:gd name="connsiteY57" fmla="*/ 122943 h 154087"/>
                  <a:gd name="connsiteX58" fmla="*/ 124728 w 153751"/>
                  <a:gd name="connsiteY58" fmla="*/ 119728 h 154087"/>
                  <a:gd name="connsiteX59" fmla="*/ 136516 w 153751"/>
                  <a:gd name="connsiteY59" fmla="*/ 101154 h 154087"/>
                  <a:gd name="connsiteX60" fmla="*/ 139016 w 153751"/>
                  <a:gd name="connsiteY60" fmla="*/ 99368 h 154087"/>
                  <a:gd name="connsiteX61" fmla="*/ 147946 w 153751"/>
                  <a:gd name="connsiteY61" fmla="*/ 99725 h 154087"/>
                  <a:gd name="connsiteX62" fmla="*/ 150803 w 153751"/>
                  <a:gd name="connsiteY62" fmla="*/ 97225 h 154087"/>
                  <a:gd name="connsiteX63" fmla="*/ 153661 w 153751"/>
                  <a:gd name="connsiteY63" fmla="*/ 81152 h 154087"/>
                  <a:gd name="connsiteX64" fmla="*/ 151875 w 153751"/>
                  <a:gd name="connsiteY64" fmla="*/ 78294 h 154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3751" h="154087">
                    <a:moveTo>
                      <a:pt x="151875" y="78294"/>
                    </a:moveTo>
                    <a:lnTo>
                      <a:pt x="143302" y="75794"/>
                    </a:lnTo>
                    <a:cubicBezTo>
                      <a:pt x="142231" y="75437"/>
                      <a:pt x="141516" y="74365"/>
                      <a:pt x="141159" y="73294"/>
                    </a:cubicBezTo>
                    <a:cubicBezTo>
                      <a:pt x="140802" y="65793"/>
                      <a:pt x="139016" y="58649"/>
                      <a:pt x="136159" y="51862"/>
                    </a:cubicBezTo>
                    <a:cubicBezTo>
                      <a:pt x="135801" y="50791"/>
                      <a:pt x="136159" y="49719"/>
                      <a:pt x="136873" y="48648"/>
                    </a:cubicBezTo>
                    <a:lnTo>
                      <a:pt x="143302" y="42575"/>
                    </a:lnTo>
                    <a:cubicBezTo>
                      <a:pt x="144374" y="41504"/>
                      <a:pt x="144374" y="40075"/>
                      <a:pt x="143659" y="39004"/>
                    </a:cubicBezTo>
                    <a:lnTo>
                      <a:pt x="134373" y="25788"/>
                    </a:lnTo>
                    <a:cubicBezTo>
                      <a:pt x="133658" y="24716"/>
                      <a:pt x="131872" y="24359"/>
                      <a:pt x="130801" y="25073"/>
                    </a:cubicBezTo>
                    <a:lnTo>
                      <a:pt x="122943" y="29359"/>
                    </a:lnTo>
                    <a:cubicBezTo>
                      <a:pt x="121871" y="30074"/>
                      <a:pt x="120799" y="29717"/>
                      <a:pt x="119728" y="29002"/>
                    </a:cubicBezTo>
                    <a:cubicBezTo>
                      <a:pt x="114370" y="24002"/>
                      <a:pt x="107941" y="20073"/>
                      <a:pt x="101154" y="17215"/>
                    </a:cubicBezTo>
                    <a:cubicBezTo>
                      <a:pt x="100083" y="16858"/>
                      <a:pt x="99368" y="15786"/>
                      <a:pt x="99368" y="14715"/>
                    </a:cubicBezTo>
                    <a:lnTo>
                      <a:pt x="99725" y="5785"/>
                    </a:lnTo>
                    <a:cubicBezTo>
                      <a:pt x="99725" y="4356"/>
                      <a:pt x="98654" y="3285"/>
                      <a:pt x="97225" y="2928"/>
                    </a:cubicBezTo>
                    <a:lnTo>
                      <a:pt x="81509" y="70"/>
                    </a:lnTo>
                    <a:cubicBezTo>
                      <a:pt x="80080" y="-287"/>
                      <a:pt x="78651" y="784"/>
                      <a:pt x="78294" y="1856"/>
                    </a:cubicBezTo>
                    <a:lnTo>
                      <a:pt x="75794" y="10429"/>
                    </a:lnTo>
                    <a:cubicBezTo>
                      <a:pt x="75437" y="11500"/>
                      <a:pt x="74365" y="12214"/>
                      <a:pt x="73293" y="12572"/>
                    </a:cubicBezTo>
                    <a:cubicBezTo>
                      <a:pt x="65793" y="12929"/>
                      <a:pt x="58649" y="14715"/>
                      <a:pt x="51862" y="17572"/>
                    </a:cubicBezTo>
                    <a:cubicBezTo>
                      <a:pt x="50791" y="17929"/>
                      <a:pt x="49719" y="17572"/>
                      <a:pt x="48648" y="16858"/>
                    </a:cubicBezTo>
                    <a:lnTo>
                      <a:pt x="42575" y="10429"/>
                    </a:lnTo>
                    <a:cubicBezTo>
                      <a:pt x="41504" y="9357"/>
                      <a:pt x="40075" y="9357"/>
                      <a:pt x="39003" y="10071"/>
                    </a:cubicBezTo>
                    <a:lnTo>
                      <a:pt x="25788" y="19358"/>
                    </a:lnTo>
                    <a:cubicBezTo>
                      <a:pt x="24716" y="20073"/>
                      <a:pt x="24359" y="21859"/>
                      <a:pt x="25073" y="22930"/>
                    </a:cubicBezTo>
                    <a:lnTo>
                      <a:pt x="29359" y="30788"/>
                    </a:lnTo>
                    <a:cubicBezTo>
                      <a:pt x="30074" y="31860"/>
                      <a:pt x="29717" y="32931"/>
                      <a:pt x="29002" y="34003"/>
                    </a:cubicBezTo>
                    <a:cubicBezTo>
                      <a:pt x="24002" y="39361"/>
                      <a:pt x="20073" y="45790"/>
                      <a:pt x="17215" y="52577"/>
                    </a:cubicBezTo>
                    <a:cubicBezTo>
                      <a:pt x="16858" y="53648"/>
                      <a:pt x="15786" y="54363"/>
                      <a:pt x="14715" y="54363"/>
                    </a:cubicBezTo>
                    <a:lnTo>
                      <a:pt x="5785" y="54005"/>
                    </a:lnTo>
                    <a:cubicBezTo>
                      <a:pt x="4356" y="54005"/>
                      <a:pt x="3285" y="55077"/>
                      <a:pt x="2928" y="56506"/>
                    </a:cubicBezTo>
                    <a:lnTo>
                      <a:pt x="70" y="72579"/>
                    </a:lnTo>
                    <a:cubicBezTo>
                      <a:pt x="-287" y="74008"/>
                      <a:pt x="784" y="75437"/>
                      <a:pt x="1856" y="75794"/>
                    </a:cubicBezTo>
                    <a:lnTo>
                      <a:pt x="10428" y="78294"/>
                    </a:lnTo>
                    <a:cubicBezTo>
                      <a:pt x="11500" y="78651"/>
                      <a:pt x="12214" y="79723"/>
                      <a:pt x="12572" y="80794"/>
                    </a:cubicBezTo>
                    <a:cubicBezTo>
                      <a:pt x="12929" y="88295"/>
                      <a:pt x="14715" y="95439"/>
                      <a:pt x="17572" y="102226"/>
                    </a:cubicBezTo>
                    <a:cubicBezTo>
                      <a:pt x="17929" y="103297"/>
                      <a:pt x="17572" y="104369"/>
                      <a:pt x="16858" y="105440"/>
                    </a:cubicBezTo>
                    <a:lnTo>
                      <a:pt x="10428" y="111513"/>
                    </a:lnTo>
                    <a:cubicBezTo>
                      <a:pt x="9357" y="112584"/>
                      <a:pt x="9357" y="114013"/>
                      <a:pt x="10071" y="115084"/>
                    </a:cubicBezTo>
                    <a:lnTo>
                      <a:pt x="19358" y="128300"/>
                    </a:lnTo>
                    <a:cubicBezTo>
                      <a:pt x="20073" y="129372"/>
                      <a:pt x="21859" y="129729"/>
                      <a:pt x="22930" y="129015"/>
                    </a:cubicBezTo>
                    <a:lnTo>
                      <a:pt x="30788" y="124729"/>
                    </a:lnTo>
                    <a:cubicBezTo>
                      <a:pt x="31860" y="124014"/>
                      <a:pt x="32931" y="124371"/>
                      <a:pt x="34003" y="125086"/>
                    </a:cubicBezTo>
                    <a:cubicBezTo>
                      <a:pt x="39361" y="130086"/>
                      <a:pt x="45790" y="134015"/>
                      <a:pt x="52577" y="136873"/>
                    </a:cubicBezTo>
                    <a:cubicBezTo>
                      <a:pt x="53648" y="137230"/>
                      <a:pt x="54363" y="138302"/>
                      <a:pt x="54363" y="139373"/>
                    </a:cubicBezTo>
                    <a:lnTo>
                      <a:pt x="54005" y="148303"/>
                    </a:lnTo>
                    <a:cubicBezTo>
                      <a:pt x="54005" y="149732"/>
                      <a:pt x="55077" y="150803"/>
                      <a:pt x="56506" y="151160"/>
                    </a:cubicBezTo>
                    <a:lnTo>
                      <a:pt x="72579" y="154018"/>
                    </a:lnTo>
                    <a:cubicBezTo>
                      <a:pt x="74008" y="154375"/>
                      <a:pt x="75437" y="153304"/>
                      <a:pt x="75794" y="152232"/>
                    </a:cubicBezTo>
                    <a:lnTo>
                      <a:pt x="78294" y="143659"/>
                    </a:lnTo>
                    <a:cubicBezTo>
                      <a:pt x="78651" y="142588"/>
                      <a:pt x="79723" y="141874"/>
                      <a:pt x="80794" y="141516"/>
                    </a:cubicBezTo>
                    <a:cubicBezTo>
                      <a:pt x="88295" y="141159"/>
                      <a:pt x="95439" y="139373"/>
                      <a:pt x="102226" y="136516"/>
                    </a:cubicBezTo>
                    <a:cubicBezTo>
                      <a:pt x="103297" y="136159"/>
                      <a:pt x="104369" y="136516"/>
                      <a:pt x="105440" y="137230"/>
                    </a:cubicBezTo>
                    <a:lnTo>
                      <a:pt x="111513" y="143659"/>
                    </a:lnTo>
                    <a:cubicBezTo>
                      <a:pt x="112584" y="144731"/>
                      <a:pt x="114013" y="144731"/>
                      <a:pt x="115084" y="144017"/>
                    </a:cubicBezTo>
                    <a:lnTo>
                      <a:pt x="127943" y="134373"/>
                    </a:lnTo>
                    <a:cubicBezTo>
                      <a:pt x="129015" y="133658"/>
                      <a:pt x="129372" y="131872"/>
                      <a:pt x="128658" y="130801"/>
                    </a:cubicBezTo>
                    <a:lnTo>
                      <a:pt x="124371" y="122943"/>
                    </a:lnTo>
                    <a:cubicBezTo>
                      <a:pt x="123657" y="121871"/>
                      <a:pt x="124014" y="120799"/>
                      <a:pt x="124728" y="119728"/>
                    </a:cubicBezTo>
                    <a:cubicBezTo>
                      <a:pt x="129729" y="114370"/>
                      <a:pt x="133658" y="107941"/>
                      <a:pt x="136516" y="101154"/>
                    </a:cubicBezTo>
                    <a:cubicBezTo>
                      <a:pt x="136873" y="100083"/>
                      <a:pt x="137944" y="99368"/>
                      <a:pt x="139016" y="99368"/>
                    </a:cubicBezTo>
                    <a:lnTo>
                      <a:pt x="147946" y="99725"/>
                    </a:lnTo>
                    <a:cubicBezTo>
                      <a:pt x="149374" y="99725"/>
                      <a:pt x="150446" y="98654"/>
                      <a:pt x="150803" y="97225"/>
                    </a:cubicBezTo>
                    <a:lnTo>
                      <a:pt x="153661" y="81152"/>
                    </a:lnTo>
                    <a:cubicBezTo>
                      <a:pt x="154018" y="80080"/>
                      <a:pt x="153304" y="78651"/>
                      <a:pt x="151875" y="78294"/>
                    </a:cubicBezTo>
                    <a:close/>
                  </a:path>
                </a:pathLst>
              </a:custGeom>
              <a:solidFill>
                <a:srgbClr val="535E6F"/>
              </a:solidFill>
              <a:ln w="3572" cap="flat">
                <a:noFill/>
                <a:prstDash val="solid"/>
                <a:miter/>
              </a:ln>
            </p:spPr>
            <p:txBody>
              <a:bodyPr rtlCol="0" anchor="ctr"/>
              <a:lstStyle/>
              <a:p>
                <a:endParaRPr lang="en-GB"/>
              </a:p>
            </p:txBody>
          </p:sp>
          <p:sp>
            <p:nvSpPr>
              <p:cNvPr id="174" name="Freeform: Shape 173">
                <a:extLst>
                  <a:ext uri="{FF2B5EF4-FFF2-40B4-BE49-F238E27FC236}">
                    <a16:creationId xmlns:a16="http://schemas.microsoft.com/office/drawing/2014/main" id="{EAB06F3D-49FF-44FE-94D9-F34D71C563D9}"/>
                  </a:ext>
                </a:extLst>
              </p:cNvPr>
              <p:cNvSpPr/>
              <p:nvPr/>
            </p:nvSpPr>
            <p:spPr>
              <a:xfrm>
                <a:off x="718661" y="4805600"/>
                <a:ext cx="82153" cy="82153"/>
              </a:xfrm>
              <a:custGeom>
                <a:avLst/>
                <a:gdLst>
                  <a:gd name="connsiteX0" fmla="*/ 82153 w 82153"/>
                  <a:gd name="connsiteY0" fmla="*/ 41077 h 82153"/>
                  <a:gd name="connsiteX1" fmla="*/ 41077 w 82153"/>
                  <a:gd name="connsiteY1" fmla="*/ 82153 h 82153"/>
                  <a:gd name="connsiteX2" fmla="*/ 0 w 82153"/>
                  <a:gd name="connsiteY2" fmla="*/ 41077 h 82153"/>
                  <a:gd name="connsiteX3" fmla="*/ 41077 w 82153"/>
                  <a:gd name="connsiteY3" fmla="*/ 0 h 82153"/>
                  <a:gd name="connsiteX4" fmla="*/ 82153 w 82153"/>
                  <a:gd name="connsiteY4" fmla="*/ 41077 h 8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3" h="82153">
                    <a:moveTo>
                      <a:pt x="82153" y="41077"/>
                    </a:moveTo>
                    <a:cubicBezTo>
                      <a:pt x="82153" y="63763"/>
                      <a:pt x="63763" y="82153"/>
                      <a:pt x="41077" y="82153"/>
                    </a:cubicBezTo>
                    <a:cubicBezTo>
                      <a:pt x="18391" y="82153"/>
                      <a:pt x="0" y="63763"/>
                      <a:pt x="0" y="41077"/>
                    </a:cubicBezTo>
                    <a:cubicBezTo>
                      <a:pt x="0" y="18391"/>
                      <a:pt x="18391" y="0"/>
                      <a:pt x="41077" y="0"/>
                    </a:cubicBezTo>
                    <a:cubicBezTo>
                      <a:pt x="63763" y="0"/>
                      <a:pt x="82153" y="18391"/>
                      <a:pt x="82153" y="41077"/>
                    </a:cubicBezTo>
                    <a:close/>
                  </a:path>
                </a:pathLst>
              </a:custGeom>
              <a:solidFill>
                <a:srgbClr val="444D5B"/>
              </a:solidFill>
              <a:ln w="3572" cap="flat">
                <a:noFill/>
                <a:prstDash val="solid"/>
                <a:miter/>
              </a:ln>
            </p:spPr>
            <p:txBody>
              <a:bodyPr rtlCol="0" anchor="ctr"/>
              <a:lstStyle/>
              <a:p>
                <a:endParaRPr lang="en-GB"/>
              </a:p>
            </p:txBody>
          </p:sp>
          <p:sp>
            <p:nvSpPr>
              <p:cNvPr id="175" name="Freeform: Shape 174">
                <a:extLst>
                  <a:ext uri="{FF2B5EF4-FFF2-40B4-BE49-F238E27FC236}">
                    <a16:creationId xmlns:a16="http://schemas.microsoft.com/office/drawing/2014/main" id="{AC538C5F-2B40-4F80-BD19-6E296AF57856}"/>
                  </a:ext>
                </a:extLst>
              </p:cNvPr>
              <p:cNvSpPr/>
              <p:nvPr/>
            </p:nvSpPr>
            <p:spPr>
              <a:xfrm>
                <a:off x="730805" y="4817745"/>
                <a:ext cx="57864" cy="57864"/>
              </a:xfrm>
              <a:custGeom>
                <a:avLst/>
                <a:gdLst>
                  <a:gd name="connsiteX0" fmla="*/ 57864 w 57864"/>
                  <a:gd name="connsiteY0" fmla="*/ 28932 h 57864"/>
                  <a:gd name="connsiteX1" fmla="*/ 28932 w 57864"/>
                  <a:gd name="connsiteY1" fmla="*/ 57864 h 57864"/>
                  <a:gd name="connsiteX2" fmla="*/ 0 w 57864"/>
                  <a:gd name="connsiteY2" fmla="*/ 28932 h 57864"/>
                  <a:gd name="connsiteX3" fmla="*/ 28932 w 57864"/>
                  <a:gd name="connsiteY3" fmla="*/ 0 h 57864"/>
                  <a:gd name="connsiteX4" fmla="*/ 57864 w 57864"/>
                  <a:gd name="connsiteY4" fmla="*/ 28932 h 57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64" h="57864">
                    <a:moveTo>
                      <a:pt x="57864" y="28932"/>
                    </a:moveTo>
                    <a:cubicBezTo>
                      <a:pt x="57864" y="44911"/>
                      <a:pt x="44911" y="57864"/>
                      <a:pt x="28932" y="57864"/>
                    </a:cubicBezTo>
                    <a:cubicBezTo>
                      <a:pt x="12953" y="57864"/>
                      <a:pt x="0" y="44911"/>
                      <a:pt x="0" y="28932"/>
                    </a:cubicBezTo>
                    <a:cubicBezTo>
                      <a:pt x="0" y="12953"/>
                      <a:pt x="12953" y="0"/>
                      <a:pt x="28932" y="0"/>
                    </a:cubicBezTo>
                    <a:cubicBezTo>
                      <a:pt x="44911" y="0"/>
                      <a:pt x="57864" y="12953"/>
                      <a:pt x="57864" y="28932"/>
                    </a:cubicBezTo>
                    <a:close/>
                  </a:path>
                </a:pathLst>
              </a:custGeom>
              <a:solidFill>
                <a:srgbClr val="C5DFDC"/>
              </a:solidFill>
              <a:ln w="3572" cap="flat">
                <a:noFill/>
                <a:prstDash val="solid"/>
                <a:miter/>
              </a:ln>
            </p:spPr>
            <p:txBody>
              <a:bodyPr rtlCol="0" anchor="ctr"/>
              <a:lstStyle/>
              <a:p>
                <a:endParaRPr lang="en-GB"/>
              </a:p>
            </p:txBody>
          </p:sp>
        </p:grpSp>
        <p:grpSp>
          <p:nvGrpSpPr>
            <p:cNvPr id="166" name="Graphic 5529">
              <a:extLst>
                <a:ext uri="{FF2B5EF4-FFF2-40B4-BE49-F238E27FC236}">
                  <a16:creationId xmlns:a16="http://schemas.microsoft.com/office/drawing/2014/main" id="{0C8CB80B-7B70-4D69-B073-F44963399B49}"/>
                </a:ext>
              </a:extLst>
            </p:cNvPr>
            <p:cNvGrpSpPr/>
            <p:nvPr/>
          </p:nvGrpSpPr>
          <p:grpSpPr>
            <a:xfrm>
              <a:off x="504705" y="4829532"/>
              <a:ext cx="198953" cy="198953"/>
              <a:chOff x="504705" y="4829532"/>
              <a:chExt cx="198953" cy="198953"/>
            </a:xfrm>
            <a:solidFill>
              <a:srgbClr val="000000"/>
            </a:solidFill>
          </p:grpSpPr>
          <p:sp>
            <p:nvSpPr>
              <p:cNvPr id="170" name="Freeform: Shape 169">
                <a:extLst>
                  <a:ext uri="{FF2B5EF4-FFF2-40B4-BE49-F238E27FC236}">
                    <a16:creationId xmlns:a16="http://schemas.microsoft.com/office/drawing/2014/main" id="{8B1491CB-A832-4DF3-8E67-EF5CB54F01FA}"/>
                  </a:ext>
                </a:extLst>
              </p:cNvPr>
              <p:cNvSpPr/>
              <p:nvPr/>
            </p:nvSpPr>
            <p:spPr>
              <a:xfrm>
                <a:off x="504705" y="4829532"/>
                <a:ext cx="198953" cy="198953"/>
              </a:xfrm>
              <a:custGeom>
                <a:avLst/>
                <a:gdLst>
                  <a:gd name="connsiteX0" fmla="*/ 195024 w 198953"/>
                  <a:gd name="connsiteY0" fmla="*/ 84653 h 198953"/>
                  <a:gd name="connsiteX1" fmla="*/ 183594 w 198953"/>
                  <a:gd name="connsiteY1" fmla="*/ 83225 h 198953"/>
                  <a:gd name="connsiteX2" fmla="*/ 180380 w 198953"/>
                  <a:gd name="connsiteY2" fmla="*/ 80367 h 198953"/>
                  <a:gd name="connsiteX3" fmla="*/ 169664 w 198953"/>
                  <a:gd name="connsiteY3" fmla="*/ 54293 h 198953"/>
                  <a:gd name="connsiteX4" fmla="*/ 169664 w 198953"/>
                  <a:gd name="connsiteY4" fmla="*/ 50006 h 198953"/>
                  <a:gd name="connsiteX5" fmla="*/ 176451 w 198953"/>
                  <a:gd name="connsiteY5" fmla="*/ 41077 h 198953"/>
                  <a:gd name="connsiteX6" fmla="*/ 176093 w 198953"/>
                  <a:gd name="connsiteY6" fmla="*/ 36433 h 198953"/>
                  <a:gd name="connsiteX7" fmla="*/ 161092 w 198953"/>
                  <a:gd name="connsiteY7" fmla="*/ 21431 h 198953"/>
                  <a:gd name="connsiteX8" fmla="*/ 156448 w 198953"/>
                  <a:gd name="connsiteY8" fmla="*/ 21074 h 198953"/>
                  <a:gd name="connsiteX9" fmla="*/ 148233 w 198953"/>
                  <a:gd name="connsiteY9" fmla="*/ 28218 h 198953"/>
                  <a:gd name="connsiteX10" fmla="*/ 143947 w 198953"/>
                  <a:gd name="connsiteY10" fmla="*/ 28218 h 198953"/>
                  <a:gd name="connsiteX11" fmla="*/ 117872 w 198953"/>
                  <a:gd name="connsiteY11" fmla="*/ 17502 h 198953"/>
                  <a:gd name="connsiteX12" fmla="*/ 115014 w 198953"/>
                  <a:gd name="connsiteY12" fmla="*/ 14288 h 198953"/>
                  <a:gd name="connsiteX13" fmla="*/ 113586 w 198953"/>
                  <a:gd name="connsiteY13" fmla="*/ 3215 h 198953"/>
                  <a:gd name="connsiteX14" fmla="*/ 110014 w 198953"/>
                  <a:gd name="connsiteY14" fmla="*/ 0 h 198953"/>
                  <a:gd name="connsiteX15" fmla="*/ 88940 w 198953"/>
                  <a:gd name="connsiteY15" fmla="*/ 0 h 198953"/>
                  <a:gd name="connsiteX16" fmla="*/ 85368 w 198953"/>
                  <a:gd name="connsiteY16" fmla="*/ 3215 h 198953"/>
                  <a:gd name="connsiteX17" fmla="*/ 83939 w 198953"/>
                  <a:gd name="connsiteY17" fmla="*/ 14645 h 198953"/>
                  <a:gd name="connsiteX18" fmla="*/ 81082 w 198953"/>
                  <a:gd name="connsiteY18" fmla="*/ 17859 h 198953"/>
                  <a:gd name="connsiteX19" fmla="*/ 55007 w 198953"/>
                  <a:gd name="connsiteY19" fmla="*/ 28575 h 198953"/>
                  <a:gd name="connsiteX20" fmla="*/ 50721 w 198953"/>
                  <a:gd name="connsiteY20" fmla="*/ 28575 h 198953"/>
                  <a:gd name="connsiteX21" fmla="*/ 41791 w 198953"/>
                  <a:gd name="connsiteY21" fmla="*/ 21788 h 198953"/>
                  <a:gd name="connsiteX22" fmla="*/ 37148 w 198953"/>
                  <a:gd name="connsiteY22" fmla="*/ 22146 h 198953"/>
                  <a:gd name="connsiteX23" fmla="*/ 22146 w 198953"/>
                  <a:gd name="connsiteY23" fmla="*/ 37148 h 198953"/>
                  <a:gd name="connsiteX24" fmla="*/ 21788 w 198953"/>
                  <a:gd name="connsiteY24" fmla="*/ 41791 h 198953"/>
                  <a:gd name="connsiteX25" fmla="*/ 28575 w 198953"/>
                  <a:gd name="connsiteY25" fmla="*/ 50721 h 198953"/>
                  <a:gd name="connsiteX26" fmla="*/ 28575 w 198953"/>
                  <a:gd name="connsiteY26" fmla="*/ 55007 h 198953"/>
                  <a:gd name="connsiteX27" fmla="*/ 17859 w 198953"/>
                  <a:gd name="connsiteY27" fmla="*/ 81082 h 198953"/>
                  <a:gd name="connsiteX28" fmla="*/ 14645 w 198953"/>
                  <a:gd name="connsiteY28" fmla="*/ 83939 h 198953"/>
                  <a:gd name="connsiteX29" fmla="*/ 3215 w 198953"/>
                  <a:gd name="connsiteY29" fmla="*/ 85368 h 198953"/>
                  <a:gd name="connsiteX30" fmla="*/ 0 w 198953"/>
                  <a:gd name="connsiteY30" fmla="*/ 88940 h 198953"/>
                  <a:gd name="connsiteX31" fmla="*/ 0 w 198953"/>
                  <a:gd name="connsiteY31" fmla="*/ 110014 h 198953"/>
                  <a:gd name="connsiteX32" fmla="*/ 3215 w 198953"/>
                  <a:gd name="connsiteY32" fmla="*/ 113586 h 198953"/>
                  <a:gd name="connsiteX33" fmla="*/ 14645 w 198953"/>
                  <a:gd name="connsiteY33" fmla="*/ 115014 h 198953"/>
                  <a:gd name="connsiteX34" fmla="*/ 17859 w 198953"/>
                  <a:gd name="connsiteY34" fmla="*/ 117872 h 198953"/>
                  <a:gd name="connsiteX35" fmla="*/ 28575 w 198953"/>
                  <a:gd name="connsiteY35" fmla="*/ 143947 h 198953"/>
                  <a:gd name="connsiteX36" fmla="*/ 28575 w 198953"/>
                  <a:gd name="connsiteY36" fmla="*/ 148233 h 198953"/>
                  <a:gd name="connsiteX37" fmla="*/ 21788 w 198953"/>
                  <a:gd name="connsiteY37" fmla="*/ 157163 h 198953"/>
                  <a:gd name="connsiteX38" fmla="*/ 22146 w 198953"/>
                  <a:gd name="connsiteY38" fmla="*/ 161806 h 198953"/>
                  <a:gd name="connsiteX39" fmla="*/ 37148 w 198953"/>
                  <a:gd name="connsiteY39" fmla="*/ 176808 h 198953"/>
                  <a:gd name="connsiteX40" fmla="*/ 41791 w 198953"/>
                  <a:gd name="connsiteY40" fmla="*/ 177165 h 198953"/>
                  <a:gd name="connsiteX41" fmla="*/ 50721 w 198953"/>
                  <a:gd name="connsiteY41" fmla="*/ 170378 h 198953"/>
                  <a:gd name="connsiteX42" fmla="*/ 55007 w 198953"/>
                  <a:gd name="connsiteY42" fmla="*/ 170378 h 198953"/>
                  <a:gd name="connsiteX43" fmla="*/ 81082 w 198953"/>
                  <a:gd name="connsiteY43" fmla="*/ 181094 h 198953"/>
                  <a:gd name="connsiteX44" fmla="*/ 83939 w 198953"/>
                  <a:gd name="connsiteY44" fmla="*/ 184309 h 198953"/>
                  <a:gd name="connsiteX45" fmla="*/ 85368 w 198953"/>
                  <a:gd name="connsiteY45" fmla="*/ 195739 h 198953"/>
                  <a:gd name="connsiteX46" fmla="*/ 88940 w 198953"/>
                  <a:gd name="connsiteY46" fmla="*/ 198953 h 198953"/>
                  <a:gd name="connsiteX47" fmla="*/ 110014 w 198953"/>
                  <a:gd name="connsiteY47" fmla="*/ 198953 h 198953"/>
                  <a:gd name="connsiteX48" fmla="*/ 113586 w 198953"/>
                  <a:gd name="connsiteY48" fmla="*/ 195739 h 198953"/>
                  <a:gd name="connsiteX49" fmla="*/ 115014 w 198953"/>
                  <a:gd name="connsiteY49" fmla="*/ 184309 h 198953"/>
                  <a:gd name="connsiteX50" fmla="*/ 117872 w 198953"/>
                  <a:gd name="connsiteY50" fmla="*/ 181094 h 198953"/>
                  <a:gd name="connsiteX51" fmla="*/ 143947 w 198953"/>
                  <a:gd name="connsiteY51" fmla="*/ 170378 h 198953"/>
                  <a:gd name="connsiteX52" fmla="*/ 148233 w 198953"/>
                  <a:gd name="connsiteY52" fmla="*/ 170378 h 198953"/>
                  <a:gd name="connsiteX53" fmla="*/ 157163 w 198953"/>
                  <a:gd name="connsiteY53" fmla="*/ 177165 h 198953"/>
                  <a:gd name="connsiteX54" fmla="*/ 161806 w 198953"/>
                  <a:gd name="connsiteY54" fmla="*/ 176808 h 198953"/>
                  <a:gd name="connsiteX55" fmla="*/ 176808 w 198953"/>
                  <a:gd name="connsiteY55" fmla="*/ 161806 h 198953"/>
                  <a:gd name="connsiteX56" fmla="*/ 177165 w 198953"/>
                  <a:gd name="connsiteY56" fmla="*/ 157163 h 198953"/>
                  <a:gd name="connsiteX57" fmla="*/ 170378 w 198953"/>
                  <a:gd name="connsiteY57" fmla="*/ 147518 h 198953"/>
                  <a:gd name="connsiteX58" fmla="*/ 170378 w 198953"/>
                  <a:gd name="connsiteY58" fmla="*/ 143232 h 198953"/>
                  <a:gd name="connsiteX59" fmla="*/ 181094 w 198953"/>
                  <a:gd name="connsiteY59" fmla="*/ 117158 h 198953"/>
                  <a:gd name="connsiteX60" fmla="*/ 184309 w 198953"/>
                  <a:gd name="connsiteY60" fmla="*/ 114300 h 198953"/>
                  <a:gd name="connsiteX61" fmla="*/ 195739 w 198953"/>
                  <a:gd name="connsiteY61" fmla="*/ 112871 h 198953"/>
                  <a:gd name="connsiteX62" fmla="*/ 198953 w 198953"/>
                  <a:gd name="connsiteY62" fmla="*/ 109299 h 198953"/>
                  <a:gd name="connsiteX63" fmla="*/ 198953 w 198953"/>
                  <a:gd name="connsiteY63" fmla="*/ 88225 h 198953"/>
                  <a:gd name="connsiteX64" fmla="*/ 195024 w 198953"/>
                  <a:gd name="connsiteY64" fmla="*/ 84653 h 19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98953" h="198953">
                    <a:moveTo>
                      <a:pt x="195024" y="84653"/>
                    </a:moveTo>
                    <a:lnTo>
                      <a:pt x="183594" y="83225"/>
                    </a:lnTo>
                    <a:cubicBezTo>
                      <a:pt x="182166" y="82868"/>
                      <a:pt x="180737" y="81796"/>
                      <a:pt x="180380" y="80367"/>
                    </a:cubicBezTo>
                    <a:cubicBezTo>
                      <a:pt x="178237" y="71080"/>
                      <a:pt x="174665" y="62151"/>
                      <a:pt x="169664" y="54293"/>
                    </a:cubicBezTo>
                    <a:cubicBezTo>
                      <a:pt x="168950" y="52864"/>
                      <a:pt x="168950" y="51435"/>
                      <a:pt x="169664" y="50006"/>
                    </a:cubicBezTo>
                    <a:lnTo>
                      <a:pt x="176451" y="41077"/>
                    </a:lnTo>
                    <a:cubicBezTo>
                      <a:pt x="177522" y="39648"/>
                      <a:pt x="177522" y="37505"/>
                      <a:pt x="176093" y="36433"/>
                    </a:cubicBezTo>
                    <a:lnTo>
                      <a:pt x="161092" y="21431"/>
                    </a:lnTo>
                    <a:cubicBezTo>
                      <a:pt x="159663" y="20003"/>
                      <a:pt x="157877" y="20003"/>
                      <a:pt x="156448" y="21074"/>
                    </a:cubicBezTo>
                    <a:lnTo>
                      <a:pt x="148233" y="28218"/>
                    </a:lnTo>
                    <a:cubicBezTo>
                      <a:pt x="147161" y="29289"/>
                      <a:pt x="145375" y="29289"/>
                      <a:pt x="143947" y="28218"/>
                    </a:cubicBezTo>
                    <a:cubicBezTo>
                      <a:pt x="136088" y="23217"/>
                      <a:pt x="127516" y="19645"/>
                      <a:pt x="117872" y="17502"/>
                    </a:cubicBezTo>
                    <a:cubicBezTo>
                      <a:pt x="116443" y="17145"/>
                      <a:pt x="115372" y="16073"/>
                      <a:pt x="115014" y="14288"/>
                    </a:cubicBezTo>
                    <a:lnTo>
                      <a:pt x="113586" y="3215"/>
                    </a:lnTo>
                    <a:cubicBezTo>
                      <a:pt x="113228" y="1429"/>
                      <a:pt x="111800" y="0"/>
                      <a:pt x="110014" y="0"/>
                    </a:cubicBezTo>
                    <a:lnTo>
                      <a:pt x="88940" y="0"/>
                    </a:lnTo>
                    <a:cubicBezTo>
                      <a:pt x="87154" y="0"/>
                      <a:pt x="85725" y="1429"/>
                      <a:pt x="85368" y="3215"/>
                    </a:cubicBezTo>
                    <a:lnTo>
                      <a:pt x="83939" y="14645"/>
                    </a:lnTo>
                    <a:cubicBezTo>
                      <a:pt x="83582" y="16073"/>
                      <a:pt x="82510" y="17502"/>
                      <a:pt x="81082" y="17859"/>
                    </a:cubicBezTo>
                    <a:cubicBezTo>
                      <a:pt x="71795" y="20003"/>
                      <a:pt x="62865" y="23574"/>
                      <a:pt x="55007" y="28575"/>
                    </a:cubicBezTo>
                    <a:cubicBezTo>
                      <a:pt x="53578" y="29289"/>
                      <a:pt x="52149" y="29289"/>
                      <a:pt x="50721" y="28575"/>
                    </a:cubicBezTo>
                    <a:lnTo>
                      <a:pt x="41791" y="21788"/>
                    </a:lnTo>
                    <a:cubicBezTo>
                      <a:pt x="40362" y="20717"/>
                      <a:pt x="38219" y="20717"/>
                      <a:pt x="37148" y="22146"/>
                    </a:cubicBezTo>
                    <a:lnTo>
                      <a:pt x="22146" y="37148"/>
                    </a:lnTo>
                    <a:cubicBezTo>
                      <a:pt x="20717" y="38576"/>
                      <a:pt x="20717" y="40362"/>
                      <a:pt x="21788" y="41791"/>
                    </a:cubicBezTo>
                    <a:lnTo>
                      <a:pt x="28575" y="50721"/>
                    </a:lnTo>
                    <a:cubicBezTo>
                      <a:pt x="29647" y="51792"/>
                      <a:pt x="29647" y="53578"/>
                      <a:pt x="28575" y="55007"/>
                    </a:cubicBezTo>
                    <a:cubicBezTo>
                      <a:pt x="23574" y="62865"/>
                      <a:pt x="20002" y="71438"/>
                      <a:pt x="17859" y="81082"/>
                    </a:cubicBezTo>
                    <a:cubicBezTo>
                      <a:pt x="17502" y="82510"/>
                      <a:pt x="16431" y="83582"/>
                      <a:pt x="14645" y="83939"/>
                    </a:cubicBezTo>
                    <a:lnTo>
                      <a:pt x="3215" y="85368"/>
                    </a:lnTo>
                    <a:cubicBezTo>
                      <a:pt x="1429" y="85725"/>
                      <a:pt x="0" y="87154"/>
                      <a:pt x="0" y="88940"/>
                    </a:cubicBezTo>
                    <a:lnTo>
                      <a:pt x="0" y="110014"/>
                    </a:lnTo>
                    <a:cubicBezTo>
                      <a:pt x="0" y="111800"/>
                      <a:pt x="1429" y="113228"/>
                      <a:pt x="3215" y="113586"/>
                    </a:cubicBezTo>
                    <a:lnTo>
                      <a:pt x="14645" y="115014"/>
                    </a:lnTo>
                    <a:cubicBezTo>
                      <a:pt x="16073" y="115372"/>
                      <a:pt x="17502" y="116443"/>
                      <a:pt x="17859" y="117872"/>
                    </a:cubicBezTo>
                    <a:cubicBezTo>
                      <a:pt x="20002" y="127159"/>
                      <a:pt x="23574" y="136088"/>
                      <a:pt x="28575" y="143947"/>
                    </a:cubicBezTo>
                    <a:cubicBezTo>
                      <a:pt x="29289" y="145375"/>
                      <a:pt x="29289" y="146804"/>
                      <a:pt x="28575" y="148233"/>
                    </a:cubicBezTo>
                    <a:lnTo>
                      <a:pt x="21788" y="157163"/>
                    </a:lnTo>
                    <a:cubicBezTo>
                      <a:pt x="20717" y="158591"/>
                      <a:pt x="20717" y="160734"/>
                      <a:pt x="22146" y="161806"/>
                    </a:cubicBezTo>
                    <a:lnTo>
                      <a:pt x="37148" y="176808"/>
                    </a:lnTo>
                    <a:cubicBezTo>
                      <a:pt x="38576" y="178237"/>
                      <a:pt x="40362" y="178237"/>
                      <a:pt x="41791" y="177165"/>
                    </a:cubicBezTo>
                    <a:lnTo>
                      <a:pt x="50721" y="170378"/>
                    </a:lnTo>
                    <a:cubicBezTo>
                      <a:pt x="51792" y="169307"/>
                      <a:pt x="53578" y="169307"/>
                      <a:pt x="55007" y="170378"/>
                    </a:cubicBezTo>
                    <a:cubicBezTo>
                      <a:pt x="62865" y="175379"/>
                      <a:pt x="71438" y="178951"/>
                      <a:pt x="81082" y="181094"/>
                    </a:cubicBezTo>
                    <a:cubicBezTo>
                      <a:pt x="82510" y="181451"/>
                      <a:pt x="83582" y="182523"/>
                      <a:pt x="83939" y="184309"/>
                    </a:cubicBezTo>
                    <a:lnTo>
                      <a:pt x="85368" y="195739"/>
                    </a:lnTo>
                    <a:cubicBezTo>
                      <a:pt x="85725" y="197525"/>
                      <a:pt x="87154" y="198953"/>
                      <a:pt x="88940" y="198953"/>
                    </a:cubicBezTo>
                    <a:lnTo>
                      <a:pt x="110014" y="198953"/>
                    </a:lnTo>
                    <a:cubicBezTo>
                      <a:pt x="111800" y="198953"/>
                      <a:pt x="113228" y="197525"/>
                      <a:pt x="113586" y="195739"/>
                    </a:cubicBezTo>
                    <a:lnTo>
                      <a:pt x="115014" y="184309"/>
                    </a:lnTo>
                    <a:cubicBezTo>
                      <a:pt x="115372" y="182880"/>
                      <a:pt x="116443" y="181451"/>
                      <a:pt x="117872" y="181094"/>
                    </a:cubicBezTo>
                    <a:cubicBezTo>
                      <a:pt x="127159" y="178951"/>
                      <a:pt x="136088" y="175379"/>
                      <a:pt x="143947" y="170378"/>
                    </a:cubicBezTo>
                    <a:cubicBezTo>
                      <a:pt x="145375" y="169664"/>
                      <a:pt x="146804" y="169664"/>
                      <a:pt x="148233" y="170378"/>
                    </a:cubicBezTo>
                    <a:lnTo>
                      <a:pt x="157163" y="177165"/>
                    </a:lnTo>
                    <a:cubicBezTo>
                      <a:pt x="158591" y="178237"/>
                      <a:pt x="160734" y="178237"/>
                      <a:pt x="161806" y="176808"/>
                    </a:cubicBezTo>
                    <a:lnTo>
                      <a:pt x="176808" y="161806"/>
                    </a:lnTo>
                    <a:cubicBezTo>
                      <a:pt x="178237" y="160377"/>
                      <a:pt x="178237" y="158591"/>
                      <a:pt x="177165" y="157163"/>
                    </a:cubicBezTo>
                    <a:lnTo>
                      <a:pt x="170378" y="147518"/>
                    </a:lnTo>
                    <a:cubicBezTo>
                      <a:pt x="169307" y="146447"/>
                      <a:pt x="169307" y="144661"/>
                      <a:pt x="170378" y="143232"/>
                    </a:cubicBezTo>
                    <a:cubicBezTo>
                      <a:pt x="175379" y="135374"/>
                      <a:pt x="178951" y="126802"/>
                      <a:pt x="181094" y="117158"/>
                    </a:cubicBezTo>
                    <a:cubicBezTo>
                      <a:pt x="181451" y="115729"/>
                      <a:pt x="182523" y="114657"/>
                      <a:pt x="184309" y="114300"/>
                    </a:cubicBezTo>
                    <a:lnTo>
                      <a:pt x="195739" y="112871"/>
                    </a:lnTo>
                    <a:cubicBezTo>
                      <a:pt x="197525" y="112514"/>
                      <a:pt x="198953" y="111085"/>
                      <a:pt x="198953" y="109299"/>
                    </a:cubicBezTo>
                    <a:lnTo>
                      <a:pt x="198953" y="88225"/>
                    </a:lnTo>
                    <a:cubicBezTo>
                      <a:pt x="198239" y="86439"/>
                      <a:pt x="196810" y="85011"/>
                      <a:pt x="195024" y="84653"/>
                    </a:cubicBezTo>
                    <a:close/>
                  </a:path>
                </a:pathLst>
              </a:custGeom>
              <a:solidFill>
                <a:srgbClr val="0BB6EA"/>
              </a:solidFill>
              <a:ln w="3572" cap="flat">
                <a:noFill/>
                <a:prstDash val="solid"/>
                <a:miter/>
              </a:ln>
            </p:spPr>
            <p:txBody>
              <a:bodyPr rtlCol="0" anchor="ctr"/>
              <a:lstStyle/>
              <a:p>
                <a:endParaRPr lang="en-GB"/>
              </a:p>
            </p:txBody>
          </p:sp>
          <p:sp>
            <p:nvSpPr>
              <p:cNvPr id="171" name="Freeform: Shape 170">
                <a:extLst>
                  <a:ext uri="{FF2B5EF4-FFF2-40B4-BE49-F238E27FC236}">
                    <a16:creationId xmlns:a16="http://schemas.microsoft.com/office/drawing/2014/main" id="{3A42F24B-A21D-4F7E-B0BF-3BF64A26A216}"/>
                  </a:ext>
                </a:extLst>
              </p:cNvPr>
              <p:cNvSpPr/>
              <p:nvPr/>
            </p:nvSpPr>
            <p:spPr>
              <a:xfrm>
                <a:off x="551436" y="4875191"/>
                <a:ext cx="106206" cy="106206"/>
              </a:xfrm>
              <a:custGeom>
                <a:avLst/>
                <a:gdLst>
                  <a:gd name="connsiteX0" fmla="*/ 105788 w 106206"/>
                  <a:gd name="connsiteY0" fmla="*/ 46138 h 106206"/>
                  <a:gd name="connsiteX1" fmla="*/ 46138 w 106206"/>
                  <a:gd name="connsiteY1" fmla="*/ 105788 h 106206"/>
                  <a:gd name="connsiteX2" fmla="*/ 418 w 106206"/>
                  <a:gd name="connsiteY2" fmla="*/ 60068 h 106206"/>
                  <a:gd name="connsiteX3" fmla="*/ 60068 w 106206"/>
                  <a:gd name="connsiteY3" fmla="*/ 418 h 106206"/>
                  <a:gd name="connsiteX4" fmla="*/ 105788 w 106206"/>
                  <a:gd name="connsiteY4" fmla="*/ 46138 h 106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06" h="106206">
                    <a:moveTo>
                      <a:pt x="105788" y="46138"/>
                    </a:moveTo>
                    <a:cubicBezTo>
                      <a:pt x="110075" y="80785"/>
                      <a:pt x="80785" y="110075"/>
                      <a:pt x="46138" y="105788"/>
                    </a:cubicBezTo>
                    <a:cubicBezTo>
                      <a:pt x="22564" y="102931"/>
                      <a:pt x="3276" y="83643"/>
                      <a:pt x="418" y="60068"/>
                    </a:cubicBezTo>
                    <a:cubicBezTo>
                      <a:pt x="-3868" y="25421"/>
                      <a:pt x="25421" y="-3868"/>
                      <a:pt x="60068" y="418"/>
                    </a:cubicBezTo>
                    <a:cubicBezTo>
                      <a:pt x="83643" y="3276"/>
                      <a:pt x="102574" y="22564"/>
                      <a:pt x="105788" y="46138"/>
                    </a:cubicBezTo>
                    <a:close/>
                  </a:path>
                </a:pathLst>
              </a:custGeom>
              <a:solidFill>
                <a:srgbClr val="0095CF"/>
              </a:solidFill>
              <a:ln w="3572" cap="flat">
                <a:noFill/>
                <a:prstDash val="solid"/>
                <a:miter/>
              </a:ln>
            </p:spPr>
            <p:txBody>
              <a:bodyPr rtlCol="0" anchor="ctr"/>
              <a:lstStyle/>
              <a:p>
                <a:endParaRPr lang="en-GB"/>
              </a:p>
            </p:txBody>
          </p:sp>
          <p:sp>
            <p:nvSpPr>
              <p:cNvPr id="172" name="Freeform: Shape 171">
                <a:extLst>
                  <a:ext uri="{FF2B5EF4-FFF2-40B4-BE49-F238E27FC236}">
                    <a16:creationId xmlns:a16="http://schemas.microsoft.com/office/drawing/2014/main" id="{FFD5D15E-A83D-4D26-A2BD-D07FA3DE72BE}"/>
                  </a:ext>
                </a:extLst>
              </p:cNvPr>
              <p:cNvSpPr/>
              <p:nvPr/>
            </p:nvSpPr>
            <p:spPr>
              <a:xfrm>
                <a:off x="566672" y="4890784"/>
                <a:ext cx="75020" cy="75020"/>
              </a:xfrm>
              <a:custGeom>
                <a:avLst/>
                <a:gdLst>
                  <a:gd name="connsiteX0" fmla="*/ 74479 w 75020"/>
                  <a:gd name="connsiteY0" fmla="*/ 31260 h 75020"/>
                  <a:gd name="connsiteX1" fmla="*/ 31260 w 75020"/>
                  <a:gd name="connsiteY1" fmla="*/ 74479 h 75020"/>
                  <a:gd name="connsiteX2" fmla="*/ 541 w 75020"/>
                  <a:gd name="connsiteY2" fmla="*/ 43761 h 75020"/>
                  <a:gd name="connsiteX3" fmla="*/ 43761 w 75020"/>
                  <a:gd name="connsiteY3" fmla="*/ 541 h 75020"/>
                  <a:gd name="connsiteX4" fmla="*/ 74479 w 75020"/>
                  <a:gd name="connsiteY4" fmla="*/ 31260 h 75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0" h="75020">
                    <a:moveTo>
                      <a:pt x="74479" y="31260"/>
                    </a:moveTo>
                    <a:cubicBezTo>
                      <a:pt x="78766" y="56977"/>
                      <a:pt x="56977" y="78766"/>
                      <a:pt x="31260" y="74479"/>
                    </a:cubicBezTo>
                    <a:cubicBezTo>
                      <a:pt x="15543" y="71979"/>
                      <a:pt x="3042" y="59477"/>
                      <a:pt x="541" y="43761"/>
                    </a:cubicBezTo>
                    <a:cubicBezTo>
                      <a:pt x="-3745" y="18044"/>
                      <a:pt x="18044" y="-3745"/>
                      <a:pt x="43761" y="541"/>
                    </a:cubicBezTo>
                    <a:cubicBezTo>
                      <a:pt x="59477" y="3042"/>
                      <a:pt x="71979" y="15900"/>
                      <a:pt x="74479" y="31260"/>
                    </a:cubicBezTo>
                    <a:close/>
                  </a:path>
                </a:pathLst>
              </a:custGeom>
              <a:solidFill>
                <a:srgbClr val="C5DFDC"/>
              </a:solidFill>
              <a:ln w="3572" cap="flat">
                <a:noFill/>
                <a:prstDash val="solid"/>
                <a:miter/>
              </a:ln>
            </p:spPr>
            <p:txBody>
              <a:bodyPr rtlCol="0" anchor="ctr"/>
              <a:lstStyle/>
              <a:p>
                <a:endParaRPr lang="en-GB"/>
              </a:p>
            </p:txBody>
          </p:sp>
        </p:grpSp>
        <p:sp>
          <p:nvSpPr>
            <p:cNvPr id="167" name="Freeform: Shape 166">
              <a:extLst>
                <a:ext uri="{FF2B5EF4-FFF2-40B4-BE49-F238E27FC236}">
                  <a16:creationId xmlns:a16="http://schemas.microsoft.com/office/drawing/2014/main" id="{766AA499-11B3-4EBB-8258-416A700C55E9}"/>
                </a:ext>
              </a:extLst>
            </p:cNvPr>
            <p:cNvSpPr/>
            <p:nvPr/>
          </p:nvSpPr>
          <p:spPr>
            <a:xfrm>
              <a:off x="699994" y="4930880"/>
              <a:ext cx="119393" cy="119486"/>
            </a:xfrm>
            <a:custGeom>
              <a:avLst/>
              <a:gdLst>
                <a:gd name="connsiteX0" fmla="*/ 117965 w 119393"/>
                <a:gd name="connsiteY0" fmla="*/ 60815 h 119486"/>
                <a:gd name="connsiteX1" fmla="*/ 111535 w 119393"/>
                <a:gd name="connsiteY1" fmla="*/ 58672 h 119486"/>
                <a:gd name="connsiteX2" fmla="*/ 110107 w 119393"/>
                <a:gd name="connsiteY2" fmla="*/ 56886 h 119486"/>
                <a:gd name="connsiteX3" fmla="*/ 106178 w 119393"/>
                <a:gd name="connsiteY3" fmla="*/ 40455 h 119486"/>
                <a:gd name="connsiteX4" fmla="*/ 106535 w 119393"/>
                <a:gd name="connsiteY4" fmla="*/ 37955 h 119486"/>
                <a:gd name="connsiteX5" fmla="*/ 111535 w 119393"/>
                <a:gd name="connsiteY5" fmla="*/ 33311 h 119486"/>
                <a:gd name="connsiteX6" fmla="*/ 111893 w 119393"/>
                <a:gd name="connsiteY6" fmla="*/ 30454 h 119486"/>
                <a:gd name="connsiteX7" fmla="*/ 104392 w 119393"/>
                <a:gd name="connsiteY7" fmla="*/ 20095 h 119486"/>
                <a:gd name="connsiteX8" fmla="*/ 101534 w 119393"/>
                <a:gd name="connsiteY8" fmla="*/ 19381 h 119486"/>
                <a:gd name="connsiteX9" fmla="*/ 95462 w 119393"/>
                <a:gd name="connsiteY9" fmla="*/ 22596 h 119486"/>
                <a:gd name="connsiteX10" fmla="*/ 92962 w 119393"/>
                <a:gd name="connsiteY10" fmla="*/ 22239 h 119486"/>
                <a:gd name="connsiteX11" fmla="*/ 78674 w 119393"/>
                <a:gd name="connsiteY11" fmla="*/ 13309 h 119486"/>
                <a:gd name="connsiteX12" fmla="*/ 77245 w 119393"/>
                <a:gd name="connsiteY12" fmla="*/ 11166 h 119486"/>
                <a:gd name="connsiteX13" fmla="*/ 77603 w 119393"/>
                <a:gd name="connsiteY13" fmla="*/ 4379 h 119486"/>
                <a:gd name="connsiteX14" fmla="*/ 75817 w 119393"/>
                <a:gd name="connsiteY14" fmla="*/ 2236 h 119486"/>
                <a:gd name="connsiteX15" fmla="*/ 63315 w 119393"/>
                <a:gd name="connsiteY15" fmla="*/ 93 h 119486"/>
                <a:gd name="connsiteX16" fmla="*/ 60815 w 119393"/>
                <a:gd name="connsiteY16" fmla="*/ 1522 h 119486"/>
                <a:gd name="connsiteX17" fmla="*/ 58672 w 119393"/>
                <a:gd name="connsiteY17" fmla="*/ 7951 h 119486"/>
                <a:gd name="connsiteX18" fmla="*/ 56886 w 119393"/>
                <a:gd name="connsiteY18" fmla="*/ 9380 h 119486"/>
                <a:gd name="connsiteX19" fmla="*/ 40455 w 119393"/>
                <a:gd name="connsiteY19" fmla="*/ 13309 h 119486"/>
                <a:gd name="connsiteX20" fmla="*/ 37955 w 119393"/>
                <a:gd name="connsiteY20" fmla="*/ 12952 h 119486"/>
                <a:gd name="connsiteX21" fmla="*/ 33311 w 119393"/>
                <a:gd name="connsiteY21" fmla="*/ 7951 h 119486"/>
                <a:gd name="connsiteX22" fmla="*/ 30454 w 119393"/>
                <a:gd name="connsiteY22" fmla="*/ 7594 h 119486"/>
                <a:gd name="connsiteX23" fmla="*/ 20095 w 119393"/>
                <a:gd name="connsiteY23" fmla="*/ 15095 h 119486"/>
                <a:gd name="connsiteX24" fmla="*/ 19381 w 119393"/>
                <a:gd name="connsiteY24" fmla="*/ 17952 h 119486"/>
                <a:gd name="connsiteX25" fmla="*/ 22596 w 119393"/>
                <a:gd name="connsiteY25" fmla="*/ 24024 h 119486"/>
                <a:gd name="connsiteX26" fmla="*/ 22239 w 119393"/>
                <a:gd name="connsiteY26" fmla="*/ 26525 h 119486"/>
                <a:gd name="connsiteX27" fmla="*/ 13309 w 119393"/>
                <a:gd name="connsiteY27" fmla="*/ 40812 h 119486"/>
                <a:gd name="connsiteX28" fmla="*/ 11166 w 119393"/>
                <a:gd name="connsiteY28" fmla="*/ 42241 h 119486"/>
                <a:gd name="connsiteX29" fmla="*/ 4379 w 119393"/>
                <a:gd name="connsiteY29" fmla="*/ 41884 h 119486"/>
                <a:gd name="connsiteX30" fmla="*/ 2236 w 119393"/>
                <a:gd name="connsiteY30" fmla="*/ 43670 h 119486"/>
                <a:gd name="connsiteX31" fmla="*/ 93 w 119393"/>
                <a:gd name="connsiteY31" fmla="*/ 56171 h 119486"/>
                <a:gd name="connsiteX32" fmla="*/ 1522 w 119393"/>
                <a:gd name="connsiteY32" fmla="*/ 58672 h 119486"/>
                <a:gd name="connsiteX33" fmla="*/ 7951 w 119393"/>
                <a:gd name="connsiteY33" fmla="*/ 60815 h 119486"/>
                <a:gd name="connsiteX34" fmla="*/ 9380 w 119393"/>
                <a:gd name="connsiteY34" fmla="*/ 62601 h 119486"/>
                <a:gd name="connsiteX35" fmla="*/ 13309 w 119393"/>
                <a:gd name="connsiteY35" fmla="*/ 79031 h 119486"/>
                <a:gd name="connsiteX36" fmla="*/ 12952 w 119393"/>
                <a:gd name="connsiteY36" fmla="*/ 81532 h 119486"/>
                <a:gd name="connsiteX37" fmla="*/ 7951 w 119393"/>
                <a:gd name="connsiteY37" fmla="*/ 86175 h 119486"/>
                <a:gd name="connsiteX38" fmla="*/ 7594 w 119393"/>
                <a:gd name="connsiteY38" fmla="*/ 89033 h 119486"/>
                <a:gd name="connsiteX39" fmla="*/ 15095 w 119393"/>
                <a:gd name="connsiteY39" fmla="*/ 99391 h 119486"/>
                <a:gd name="connsiteX40" fmla="*/ 17952 w 119393"/>
                <a:gd name="connsiteY40" fmla="*/ 100105 h 119486"/>
                <a:gd name="connsiteX41" fmla="*/ 24024 w 119393"/>
                <a:gd name="connsiteY41" fmla="*/ 96891 h 119486"/>
                <a:gd name="connsiteX42" fmla="*/ 26525 w 119393"/>
                <a:gd name="connsiteY42" fmla="*/ 97248 h 119486"/>
                <a:gd name="connsiteX43" fmla="*/ 40812 w 119393"/>
                <a:gd name="connsiteY43" fmla="*/ 106178 h 119486"/>
                <a:gd name="connsiteX44" fmla="*/ 42241 w 119393"/>
                <a:gd name="connsiteY44" fmla="*/ 108321 h 119486"/>
                <a:gd name="connsiteX45" fmla="*/ 41884 w 119393"/>
                <a:gd name="connsiteY45" fmla="*/ 115107 h 119486"/>
                <a:gd name="connsiteX46" fmla="*/ 43670 w 119393"/>
                <a:gd name="connsiteY46" fmla="*/ 117250 h 119486"/>
                <a:gd name="connsiteX47" fmla="*/ 56171 w 119393"/>
                <a:gd name="connsiteY47" fmla="*/ 119394 h 119486"/>
                <a:gd name="connsiteX48" fmla="*/ 58672 w 119393"/>
                <a:gd name="connsiteY48" fmla="*/ 117965 h 119486"/>
                <a:gd name="connsiteX49" fmla="*/ 60815 w 119393"/>
                <a:gd name="connsiteY49" fmla="*/ 111535 h 119486"/>
                <a:gd name="connsiteX50" fmla="*/ 62601 w 119393"/>
                <a:gd name="connsiteY50" fmla="*/ 110107 h 119486"/>
                <a:gd name="connsiteX51" fmla="*/ 79031 w 119393"/>
                <a:gd name="connsiteY51" fmla="*/ 106178 h 119486"/>
                <a:gd name="connsiteX52" fmla="*/ 81532 w 119393"/>
                <a:gd name="connsiteY52" fmla="*/ 106535 h 119486"/>
                <a:gd name="connsiteX53" fmla="*/ 86175 w 119393"/>
                <a:gd name="connsiteY53" fmla="*/ 111535 h 119486"/>
                <a:gd name="connsiteX54" fmla="*/ 89033 w 119393"/>
                <a:gd name="connsiteY54" fmla="*/ 111893 h 119486"/>
                <a:gd name="connsiteX55" fmla="*/ 99391 w 119393"/>
                <a:gd name="connsiteY55" fmla="*/ 104392 h 119486"/>
                <a:gd name="connsiteX56" fmla="*/ 100105 w 119393"/>
                <a:gd name="connsiteY56" fmla="*/ 101534 h 119486"/>
                <a:gd name="connsiteX57" fmla="*/ 96891 w 119393"/>
                <a:gd name="connsiteY57" fmla="*/ 95462 h 119486"/>
                <a:gd name="connsiteX58" fmla="*/ 97248 w 119393"/>
                <a:gd name="connsiteY58" fmla="*/ 92962 h 119486"/>
                <a:gd name="connsiteX59" fmla="*/ 106178 w 119393"/>
                <a:gd name="connsiteY59" fmla="*/ 78674 h 119486"/>
                <a:gd name="connsiteX60" fmla="*/ 108321 w 119393"/>
                <a:gd name="connsiteY60" fmla="*/ 77245 h 119486"/>
                <a:gd name="connsiteX61" fmla="*/ 115107 w 119393"/>
                <a:gd name="connsiteY61" fmla="*/ 77603 h 119486"/>
                <a:gd name="connsiteX62" fmla="*/ 117250 w 119393"/>
                <a:gd name="connsiteY62" fmla="*/ 75817 h 119486"/>
                <a:gd name="connsiteX63" fmla="*/ 119394 w 119393"/>
                <a:gd name="connsiteY63" fmla="*/ 63315 h 119486"/>
                <a:gd name="connsiteX64" fmla="*/ 117965 w 119393"/>
                <a:gd name="connsiteY64" fmla="*/ 60815 h 119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9393" h="119486">
                  <a:moveTo>
                    <a:pt x="117965" y="60815"/>
                  </a:moveTo>
                  <a:lnTo>
                    <a:pt x="111535" y="58672"/>
                  </a:lnTo>
                  <a:cubicBezTo>
                    <a:pt x="110821" y="58314"/>
                    <a:pt x="110107" y="57600"/>
                    <a:pt x="110107" y="56886"/>
                  </a:cubicBezTo>
                  <a:cubicBezTo>
                    <a:pt x="109749" y="51171"/>
                    <a:pt x="108321" y="45456"/>
                    <a:pt x="106178" y="40455"/>
                  </a:cubicBezTo>
                  <a:cubicBezTo>
                    <a:pt x="105820" y="39741"/>
                    <a:pt x="106178" y="38669"/>
                    <a:pt x="106535" y="37955"/>
                  </a:cubicBezTo>
                  <a:lnTo>
                    <a:pt x="111535" y="33311"/>
                  </a:lnTo>
                  <a:cubicBezTo>
                    <a:pt x="112250" y="32597"/>
                    <a:pt x="112607" y="31525"/>
                    <a:pt x="111893" y="30454"/>
                  </a:cubicBezTo>
                  <a:lnTo>
                    <a:pt x="104392" y="20095"/>
                  </a:lnTo>
                  <a:cubicBezTo>
                    <a:pt x="103677" y="19381"/>
                    <a:pt x="102606" y="19024"/>
                    <a:pt x="101534" y="19381"/>
                  </a:cubicBezTo>
                  <a:lnTo>
                    <a:pt x="95462" y="22596"/>
                  </a:lnTo>
                  <a:cubicBezTo>
                    <a:pt x="94748" y="22953"/>
                    <a:pt x="93676" y="22953"/>
                    <a:pt x="92962" y="22239"/>
                  </a:cubicBezTo>
                  <a:cubicBezTo>
                    <a:pt x="88675" y="18667"/>
                    <a:pt x="84032" y="15452"/>
                    <a:pt x="78674" y="13309"/>
                  </a:cubicBezTo>
                  <a:cubicBezTo>
                    <a:pt x="77960" y="12952"/>
                    <a:pt x="77245" y="12237"/>
                    <a:pt x="77245" y="11166"/>
                  </a:cubicBezTo>
                  <a:lnTo>
                    <a:pt x="77603" y="4379"/>
                  </a:lnTo>
                  <a:cubicBezTo>
                    <a:pt x="77603" y="3308"/>
                    <a:pt x="76888" y="2236"/>
                    <a:pt x="75817" y="2236"/>
                  </a:cubicBezTo>
                  <a:lnTo>
                    <a:pt x="63315" y="93"/>
                  </a:lnTo>
                  <a:cubicBezTo>
                    <a:pt x="62244" y="-264"/>
                    <a:pt x="61172" y="450"/>
                    <a:pt x="60815" y="1522"/>
                  </a:cubicBezTo>
                  <a:lnTo>
                    <a:pt x="58672" y="7951"/>
                  </a:lnTo>
                  <a:cubicBezTo>
                    <a:pt x="58314" y="8665"/>
                    <a:pt x="57600" y="9380"/>
                    <a:pt x="56886" y="9380"/>
                  </a:cubicBezTo>
                  <a:cubicBezTo>
                    <a:pt x="51171" y="9737"/>
                    <a:pt x="45456" y="11166"/>
                    <a:pt x="40455" y="13309"/>
                  </a:cubicBezTo>
                  <a:cubicBezTo>
                    <a:pt x="39741" y="13666"/>
                    <a:pt x="38669" y="13309"/>
                    <a:pt x="37955" y="12952"/>
                  </a:cubicBezTo>
                  <a:lnTo>
                    <a:pt x="33311" y="7951"/>
                  </a:lnTo>
                  <a:cubicBezTo>
                    <a:pt x="32597" y="7237"/>
                    <a:pt x="31525" y="6879"/>
                    <a:pt x="30454" y="7594"/>
                  </a:cubicBezTo>
                  <a:lnTo>
                    <a:pt x="20095" y="15095"/>
                  </a:lnTo>
                  <a:cubicBezTo>
                    <a:pt x="19381" y="15809"/>
                    <a:pt x="19024" y="16881"/>
                    <a:pt x="19381" y="17952"/>
                  </a:cubicBezTo>
                  <a:lnTo>
                    <a:pt x="22596" y="24024"/>
                  </a:lnTo>
                  <a:cubicBezTo>
                    <a:pt x="22953" y="24739"/>
                    <a:pt x="22953" y="25810"/>
                    <a:pt x="22239" y="26525"/>
                  </a:cubicBezTo>
                  <a:cubicBezTo>
                    <a:pt x="18667" y="30811"/>
                    <a:pt x="15452" y="35454"/>
                    <a:pt x="13309" y="40812"/>
                  </a:cubicBezTo>
                  <a:cubicBezTo>
                    <a:pt x="12952" y="41527"/>
                    <a:pt x="12237" y="42241"/>
                    <a:pt x="11166" y="42241"/>
                  </a:cubicBezTo>
                  <a:lnTo>
                    <a:pt x="4379" y="41884"/>
                  </a:lnTo>
                  <a:cubicBezTo>
                    <a:pt x="3308" y="41884"/>
                    <a:pt x="2236" y="42598"/>
                    <a:pt x="2236" y="43670"/>
                  </a:cubicBezTo>
                  <a:lnTo>
                    <a:pt x="93" y="56171"/>
                  </a:lnTo>
                  <a:cubicBezTo>
                    <a:pt x="-264" y="57243"/>
                    <a:pt x="450" y="58314"/>
                    <a:pt x="1522" y="58672"/>
                  </a:cubicBezTo>
                  <a:lnTo>
                    <a:pt x="7951" y="60815"/>
                  </a:lnTo>
                  <a:cubicBezTo>
                    <a:pt x="8665" y="61172"/>
                    <a:pt x="9380" y="61886"/>
                    <a:pt x="9380" y="62601"/>
                  </a:cubicBezTo>
                  <a:cubicBezTo>
                    <a:pt x="9737" y="68316"/>
                    <a:pt x="11166" y="74031"/>
                    <a:pt x="13309" y="79031"/>
                  </a:cubicBezTo>
                  <a:cubicBezTo>
                    <a:pt x="13666" y="79746"/>
                    <a:pt x="13309" y="80817"/>
                    <a:pt x="12952" y="81532"/>
                  </a:cubicBezTo>
                  <a:lnTo>
                    <a:pt x="7951" y="86175"/>
                  </a:lnTo>
                  <a:cubicBezTo>
                    <a:pt x="7237" y="86889"/>
                    <a:pt x="6879" y="87961"/>
                    <a:pt x="7594" y="89033"/>
                  </a:cubicBezTo>
                  <a:lnTo>
                    <a:pt x="15095" y="99391"/>
                  </a:lnTo>
                  <a:cubicBezTo>
                    <a:pt x="15809" y="100105"/>
                    <a:pt x="16881" y="100463"/>
                    <a:pt x="17952" y="100105"/>
                  </a:cubicBezTo>
                  <a:lnTo>
                    <a:pt x="24024" y="96891"/>
                  </a:lnTo>
                  <a:cubicBezTo>
                    <a:pt x="24739" y="96534"/>
                    <a:pt x="25810" y="96534"/>
                    <a:pt x="26525" y="97248"/>
                  </a:cubicBezTo>
                  <a:cubicBezTo>
                    <a:pt x="30811" y="100820"/>
                    <a:pt x="35454" y="104034"/>
                    <a:pt x="40812" y="106178"/>
                  </a:cubicBezTo>
                  <a:cubicBezTo>
                    <a:pt x="41527" y="106535"/>
                    <a:pt x="42241" y="107249"/>
                    <a:pt x="42241" y="108321"/>
                  </a:cubicBezTo>
                  <a:lnTo>
                    <a:pt x="41884" y="115107"/>
                  </a:lnTo>
                  <a:cubicBezTo>
                    <a:pt x="41884" y="116179"/>
                    <a:pt x="42598" y="117250"/>
                    <a:pt x="43670" y="117250"/>
                  </a:cubicBezTo>
                  <a:lnTo>
                    <a:pt x="56171" y="119394"/>
                  </a:lnTo>
                  <a:cubicBezTo>
                    <a:pt x="57243" y="119751"/>
                    <a:pt x="58314" y="119036"/>
                    <a:pt x="58672" y="117965"/>
                  </a:cubicBezTo>
                  <a:lnTo>
                    <a:pt x="60815" y="111535"/>
                  </a:lnTo>
                  <a:cubicBezTo>
                    <a:pt x="61172" y="110821"/>
                    <a:pt x="61886" y="110107"/>
                    <a:pt x="62601" y="110107"/>
                  </a:cubicBezTo>
                  <a:cubicBezTo>
                    <a:pt x="68316" y="109749"/>
                    <a:pt x="74031" y="108321"/>
                    <a:pt x="79031" y="106178"/>
                  </a:cubicBezTo>
                  <a:cubicBezTo>
                    <a:pt x="79746" y="105820"/>
                    <a:pt x="80817" y="106178"/>
                    <a:pt x="81532" y="106535"/>
                  </a:cubicBezTo>
                  <a:lnTo>
                    <a:pt x="86175" y="111535"/>
                  </a:lnTo>
                  <a:cubicBezTo>
                    <a:pt x="86889" y="112250"/>
                    <a:pt x="87961" y="112607"/>
                    <a:pt x="89033" y="111893"/>
                  </a:cubicBezTo>
                  <a:lnTo>
                    <a:pt x="99391" y="104392"/>
                  </a:lnTo>
                  <a:cubicBezTo>
                    <a:pt x="100105" y="103677"/>
                    <a:pt x="100463" y="102606"/>
                    <a:pt x="100105" y="101534"/>
                  </a:cubicBezTo>
                  <a:lnTo>
                    <a:pt x="96891" y="95462"/>
                  </a:lnTo>
                  <a:cubicBezTo>
                    <a:pt x="96534" y="94748"/>
                    <a:pt x="96534" y="93676"/>
                    <a:pt x="97248" y="92962"/>
                  </a:cubicBezTo>
                  <a:cubicBezTo>
                    <a:pt x="100820" y="88675"/>
                    <a:pt x="104034" y="84032"/>
                    <a:pt x="106178" y="78674"/>
                  </a:cubicBezTo>
                  <a:cubicBezTo>
                    <a:pt x="106535" y="77960"/>
                    <a:pt x="107249" y="77245"/>
                    <a:pt x="108321" y="77245"/>
                  </a:cubicBezTo>
                  <a:lnTo>
                    <a:pt x="115107" y="77603"/>
                  </a:lnTo>
                  <a:cubicBezTo>
                    <a:pt x="116179" y="77603"/>
                    <a:pt x="117250" y="76888"/>
                    <a:pt x="117250" y="75817"/>
                  </a:cubicBezTo>
                  <a:lnTo>
                    <a:pt x="119394" y="63315"/>
                  </a:lnTo>
                  <a:cubicBezTo>
                    <a:pt x="119394" y="61886"/>
                    <a:pt x="118679" y="61172"/>
                    <a:pt x="117965" y="60815"/>
                  </a:cubicBezTo>
                  <a:close/>
                </a:path>
              </a:pathLst>
            </a:custGeom>
            <a:solidFill>
              <a:srgbClr val="FFFFFF"/>
            </a:solidFill>
            <a:ln w="3572" cap="flat">
              <a:noFill/>
              <a:prstDash val="solid"/>
              <a:miter/>
            </a:ln>
          </p:spPr>
          <p:txBody>
            <a:bodyPr rtlCol="0" anchor="ctr"/>
            <a:lstStyle/>
            <a:p>
              <a:endParaRPr lang="en-GB"/>
            </a:p>
          </p:txBody>
        </p:sp>
        <p:sp>
          <p:nvSpPr>
            <p:cNvPr id="168" name="Freeform: Shape 167">
              <a:extLst>
                <a:ext uri="{FF2B5EF4-FFF2-40B4-BE49-F238E27FC236}">
                  <a16:creationId xmlns:a16="http://schemas.microsoft.com/office/drawing/2014/main" id="{CE29CE4B-6D14-43A1-AE8F-E9FE517D4B45}"/>
                </a:ext>
              </a:extLst>
            </p:cNvPr>
            <p:cNvSpPr/>
            <p:nvPr/>
          </p:nvSpPr>
          <p:spPr>
            <a:xfrm>
              <a:off x="727948" y="4958476"/>
              <a:ext cx="63579" cy="63579"/>
            </a:xfrm>
            <a:custGeom>
              <a:avLst/>
              <a:gdLst>
                <a:gd name="connsiteX0" fmla="*/ 63579 w 63579"/>
                <a:gd name="connsiteY0" fmla="*/ 31790 h 63579"/>
                <a:gd name="connsiteX1" fmla="*/ 31790 w 63579"/>
                <a:gd name="connsiteY1" fmla="*/ 63579 h 63579"/>
                <a:gd name="connsiteX2" fmla="*/ 0 w 63579"/>
                <a:gd name="connsiteY2" fmla="*/ 31790 h 63579"/>
                <a:gd name="connsiteX3" fmla="*/ 31790 w 63579"/>
                <a:gd name="connsiteY3" fmla="*/ 0 h 63579"/>
                <a:gd name="connsiteX4" fmla="*/ 63579 w 63579"/>
                <a:gd name="connsiteY4" fmla="*/ 31790 h 63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9" h="63579">
                  <a:moveTo>
                    <a:pt x="63579" y="31790"/>
                  </a:moveTo>
                  <a:cubicBezTo>
                    <a:pt x="63579" y="49347"/>
                    <a:pt x="49347" y="63579"/>
                    <a:pt x="31790" y="63579"/>
                  </a:cubicBezTo>
                  <a:cubicBezTo>
                    <a:pt x="14233" y="63579"/>
                    <a:pt x="0" y="49347"/>
                    <a:pt x="0" y="31790"/>
                  </a:cubicBezTo>
                  <a:cubicBezTo>
                    <a:pt x="0" y="14233"/>
                    <a:pt x="14233" y="0"/>
                    <a:pt x="31790" y="0"/>
                  </a:cubicBezTo>
                  <a:cubicBezTo>
                    <a:pt x="49347" y="0"/>
                    <a:pt x="63579" y="14233"/>
                    <a:pt x="63579" y="31790"/>
                  </a:cubicBezTo>
                  <a:close/>
                </a:path>
              </a:pathLst>
            </a:custGeom>
            <a:solidFill>
              <a:srgbClr val="E5E8EC"/>
            </a:solidFill>
            <a:ln w="3572" cap="flat">
              <a:noFill/>
              <a:prstDash val="solid"/>
              <a:miter/>
            </a:ln>
          </p:spPr>
          <p:txBody>
            <a:bodyPr rtlCol="0" anchor="ctr"/>
            <a:lstStyle/>
            <a:p>
              <a:endParaRPr lang="en-GB"/>
            </a:p>
          </p:txBody>
        </p:sp>
        <p:sp>
          <p:nvSpPr>
            <p:cNvPr id="169" name="Freeform: Shape 168">
              <a:extLst>
                <a:ext uri="{FF2B5EF4-FFF2-40B4-BE49-F238E27FC236}">
                  <a16:creationId xmlns:a16="http://schemas.microsoft.com/office/drawing/2014/main" id="{F6D443E6-1E98-4C22-A9B8-A9EB476B5229}"/>
                </a:ext>
              </a:extLst>
            </p:cNvPr>
            <p:cNvSpPr/>
            <p:nvPr/>
          </p:nvSpPr>
          <p:spPr>
            <a:xfrm>
              <a:off x="737235" y="4967763"/>
              <a:ext cx="45005" cy="45005"/>
            </a:xfrm>
            <a:custGeom>
              <a:avLst/>
              <a:gdLst>
                <a:gd name="connsiteX0" fmla="*/ 45006 w 45005"/>
                <a:gd name="connsiteY0" fmla="*/ 22503 h 45005"/>
                <a:gd name="connsiteX1" fmla="*/ 22503 w 45005"/>
                <a:gd name="connsiteY1" fmla="*/ 45006 h 45005"/>
                <a:gd name="connsiteX2" fmla="*/ 0 w 45005"/>
                <a:gd name="connsiteY2" fmla="*/ 22503 h 45005"/>
                <a:gd name="connsiteX3" fmla="*/ 22503 w 45005"/>
                <a:gd name="connsiteY3" fmla="*/ 0 h 45005"/>
                <a:gd name="connsiteX4" fmla="*/ 45006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6" y="22503"/>
                  </a:moveTo>
                  <a:cubicBezTo>
                    <a:pt x="45006" y="34931"/>
                    <a:pt x="34931" y="45006"/>
                    <a:pt x="22503" y="45006"/>
                  </a:cubicBezTo>
                  <a:cubicBezTo>
                    <a:pt x="10075" y="45006"/>
                    <a:pt x="0" y="34931"/>
                    <a:pt x="0" y="22503"/>
                  </a:cubicBezTo>
                  <a:cubicBezTo>
                    <a:pt x="0" y="10075"/>
                    <a:pt x="10075" y="0"/>
                    <a:pt x="22503" y="0"/>
                  </a:cubicBezTo>
                  <a:cubicBezTo>
                    <a:pt x="34931" y="0"/>
                    <a:pt x="45006" y="10075"/>
                    <a:pt x="45006" y="22503"/>
                  </a:cubicBezTo>
                  <a:close/>
                </a:path>
              </a:pathLst>
            </a:custGeom>
            <a:solidFill>
              <a:srgbClr val="C5DFDC"/>
            </a:solidFill>
            <a:ln w="3572" cap="flat">
              <a:noFill/>
              <a:prstDash val="solid"/>
              <a:miter/>
            </a:ln>
          </p:spPr>
          <p:txBody>
            <a:bodyPr rtlCol="0" anchor="ctr"/>
            <a:lstStyle/>
            <a:p>
              <a:endParaRPr lang="en-GB"/>
            </a:p>
          </p:txBody>
        </p:sp>
      </p:grpSp>
      <p:sp>
        <p:nvSpPr>
          <p:cNvPr id="252" name="Rectangle 251">
            <a:extLst>
              <a:ext uri="{FF2B5EF4-FFF2-40B4-BE49-F238E27FC236}">
                <a16:creationId xmlns:a16="http://schemas.microsoft.com/office/drawing/2014/main" id="{B7E6B6ED-4B5B-432A-8968-8781FA09FF1A}"/>
              </a:ext>
            </a:extLst>
          </p:cNvPr>
          <p:cNvSpPr/>
          <p:nvPr/>
        </p:nvSpPr>
        <p:spPr>
          <a:xfrm>
            <a:off x="3712456" y="1243653"/>
            <a:ext cx="1973580" cy="56926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object 4">
            <a:extLst>
              <a:ext uri="{FF2B5EF4-FFF2-40B4-BE49-F238E27FC236}">
                <a16:creationId xmlns:a16="http://schemas.microsoft.com/office/drawing/2014/main" id="{17134AE0-9E06-47D1-AF5A-CC7440C2D1FF}"/>
              </a:ext>
            </a:extLst>
          </p:cNvPr>
          <p:cNvSpPr txBox="1"/>
          <p:nvPr/>
        </p:nvSpPr>
        <p:spPr>
          <a:xfrm>
            <a:off x="4413498" y="1301259"/>
            <a:ext cx="1209557" cy="430887"/>
          </a:xfrm>
          <a:prstGeom prst="rect">
            <a:avLst/>
          </a:prstGeom>
        </p:spPr>
        <p:txBody>
          <a:bodyPr vert="horz" wrap="square" lIns="0" tIns="0" rIns="0" bIns="0" rtlCol="0">
            <a:spAutoFit/>
          </a:bodyPr>
          <a:lstStyle/>
          <a:p>
            <a:pPr marL="12700" algn="ctr"/>
            <a:r>
              <a:rPr lang="en-IN" sz="1400" b="1">
                <a:solidFill>
                  <a:schemeClr val="bg1"/>
                </a:solidFill>
                <a:latin typeface="Tw Cen MT"/>
                <a:cs typeface="Tw Cen MT"/>
              </a:rPr>
              <a:t>THOUGHTS &amp; FEELINGS</a:t>
            </a:r>
          </a:p>
        </p:txBody>
      </p:sp>
      <p:sp>
        <p:nvSpPr>
          <p:cNvPr id="272" name="Rectangle 271">
            <a:extLst>
              <a:ext uri="{FF2B5EF4-FFF2-40B4-BE49-F238E27FC236}">
                <a16:creationId xmlns:a16="http://schemas.microsoft.com/office/drawing/2014/main" id="{534E5B79-A41D-406E-B351-088EC42803DC}"/>
              </a:ext>
            </a:extLst>
          </p:cNvPr>
          <p:cNvSpPr/>
          <p:nvPr/>
        </p:nvSpPr>
        <p:spPr>
          <a:xfrm>
            <a:off x="5778992" y="1245434"/>
            <a:ext cx="1973580" cy="56926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object 4">
            <a:extLst>
              <a:ext uri="{FF2B5EF4-FFF2-40B4-BE49-F238E27FC236}">
                <a16:creationId xmlns:a16="http://schemas.microsoft.com/office/drawing/2014/main" id="{C0B1A2B4-DB3C-4C76-850B-2873B71A4752}"/>
              </a:ext>
            </a:extLst>
          </p:cNvPr>
          <p:cNvSpPr txBox="1"/>
          <p:nvPr/>
        </p:nvSpPr>
        <p:spPr>
          <a:xfrm>
            <a:off x="6406228" y="1303040"/>
            <a:ext cx="1283363" cy="430887"/>
          </a:xfrm>
          <a:prstGeom prst="rect">
            <a:avLst/>
          </a:prstGeom>
        </p:spPr>
        <p:txBody>
          <a:bodyPr vert="horz" wrap="square" lIns="0" tIns="0" rIns="0" bIns="0" rtlCol="0">
            <a:spAutoFit/>
          </a:bodyPr>
          <a:lstStyle/>
          <a:p>
            <a:pPr marL="12700" algn="ctr"/>
            <a:r>
              <a:rPr lang="en-IN" sz="1400" b="1" dirty="0">
                <a:solidFill>
                  <a:schemeClr val="bg1"/>
                </a:solidFill>
                <a:latin typeface="Tw Cen MT"/>
                <a:cs typeface="Tw Cen MT"/>
              </a:rPr>
              <a:t>PAINPOINTS &amp; OPPORTUNITIES</a:t>
            </a:r>
          </a:p>
        </p:txBody>
      </p:sp>
      <p:sp>
        <p:nvSpPr>
          <p:cNvPr id="292" name="Rectangle 291">
            <a:extLst>
              <a:ext uri="{FF2B5EF4-FFF2-40B4-BE49-F238E27FC236}">
                <a16:creationId xmlns:a16="http://schemas.microsoft.com/office/drawing/2014/main" id="{E19AE116-EB84-40F0-8FB2-44015E06948E}"/>
              </a:ext>
            </a:extLst>
          </p:cNvPr>
          <p:cNvSpPr/>
          <p:nvPr/>
        </p:nvSpPr>
        <p:spPr>
          <a:xfrm>
            <a:off x="7845528" y="1247215"/>
            <a:ext cx="1973580" cy="56926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3" name="object 4">
            <a:extLst>
              <a:ext uri="{FF2B5EF4-FFF2-40B4-BE49-F238E27FC236}">
                <a16:creationId xmlns:a16="http://schemas.microsoft.com/office/drawing/2014/main" id="{FA1BBB1E-6769-4D1D-A7DB-41871F09CA6B}"/>
              </a:ext>
            </a:extLst>
          </p:cNvPr>
          <p:cNvSpPr txBox="1"/>
          <p:nvPr/>
        </p:nvSpPr>
        <p:spPr>
          <a:xfrm>
            <a:off x="8546570" y="1304821"/>
            <a:ext cx="1209557" cy="430887"/>
          </a:xfrm>
          <a:prstGeom prst="rect">
            <a:avLst/>
          </a:prstGeom>
        </p:spPr>
        <p:txBody>
          <a:bodyPr vert="horz" wrap="square" lIns="0" tIns="0" rIns="0" bIns="0" rtlCol="0">
            <a:spAutoFit/>
          </a:bodyPr>
          <a:lstStyle/>
          <a:p>
            <a:pPr marL="12700" algn="ctr"/>
            <a:r>
              <a:rPr lang="en-US" sz="1400" b="1" dirty="0">
                <a:solidFill>
                  <a:schemeClr val="bg1"/>
                </a:solidFill>
                <a:latin typeface="Tw Cen MT"/>
                <a:cs typeface="Tw Cen MT"/>
              </a:rPr>
              <a:t>PROPOSED INITIATIVES</a:t>
            </a:r>
            <a:endParaRPr lang="en-IN" sz="1400" b="1" dirty="0">
              <a:solidFill>
                <a:schemeClr val="bg1"/>
              </a:solidFill>
              <a:latin typeface="Tw Cen MT"/>
              <a:cs typeface="Tw Cen MT"/>
            </a:endParaRPr>
          </a:p>
        </p:txBody>
      </p:sp>
      <p:sp>
        <p:nvSpPr>
          <p:cNvPr id="312" name="Rectangle 311">
            <a:extLst>
              <a:ext uri="{FF2B5EF4-FFF2-40B4-BE49-F238E27FC236}">
                <a16:creationId xmlns:a16="http://schemas.microsoft.com/office/drawing/2014/main" id="{84E55415-2217-47FA-AFEC-758AAE8F7527}"/>
              </a:ext>
            </a:extLst>
          </p:cNvPr>
          <p:cNvSpPr/>
          <p:nvPr/>
        </p:nvSpPr>
        <p:spPr>
          <a:xfrm>
            <a:off x="9912064" y="1248996"/>
            <a:ext cx="1973580" cy="56926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object 4">
            <a:extLst>
              <a:ext uri="{FF2B5EF4-FFF2-40B4-BE49-F238E27FC236}">
                <a16:creationId xmlns:a16="http://schemas.microsoft.com/office/drawing/2014/main" id="{8C8CAD79-1F88-4CB0-AF47-05CE1B80D3D6}"/>
              </a:ext>
            </a:extLst>
          </p:cNvPr>
          <p:cNvSpPr txBox="1"/>
          <p:nvPr/>
        </p:nvSpPr>
        <p:spPr>
          <a:xfrm>
            <a:off x="10316345" y="1306601"/>
            <a:ext cx="1607758" cy="430887"/>
          </a:xfrm>
          <a:prstGeom prst="rect">
            <a:avLst/>
          </a:prstGeom>
        </p:spPr>
        <p:txBody>
          <a:bodyPr vert="horz" wrap="square" lIns="0" tIns="0" rIns="0" bIns="0" rtlCol="0">
            <a:spAutoFit/>
          </a:bodyPr>
          <a:lstStyle/>
          <a:p>
            <a:pPr marL="12700" algn="ctr"/>
            <a:r>
              <a:rPr lang="en-IN" sz="1400" b="1" dirty="0">
                <a:solidFill>
                  <a:schemeClr val="bg1"/>
                </a:solidFill>
                <a:latin typeface="Tw Cen MT"/>
                <a:cs typeface="Tw Cen MT"/>
              </a:rPr>
              <a:t>MONITORING MECHANISM (KPI)</a:t>
            </a:r>
          </a:p>
        </p:txBody>
      </p:sp>
      <p:grpSp>
        <p:nvGrpSpPr>
          <p:cNvPr id="326" name="Graphic 40">
            <a:extLst>
              <a:ext uri="{FF2B5EF4-FFF2-40B4-BE49-F238E27FC236}">
                <a16:creationId xmlns:a16="http://schemas.microsoft.com/office/drawing/2014/main" id="{AAE2C8B3-965A-48D7-AED4-385ADC341005}"/>
              </a:ext>
            </a:extLst>
          </p:cNvPr>
          <p:cNvGrpSpPr>
            <a:grpSpLocks noChangeAspect="1"/>
          </p:cNvGrpSpPr>
          <p:nvPr/>
        </p:nvGrpSpPr>
        <p:grpSpPr>
          <a:xfrm>
            <a:off x="3931471" y="1289428"/>
            <a:ext cx="470148" cy="457200"/>
            <a:chOff x="8746807" y="64650"/>
            <a:chExt cx="337184" cy="327898"/>
          </a:xfrm>
          <a:solidFill>
            <a:srgbClr val="000000"/>
          </a:solidFill>
        </p:grpSpPr>
        <p:sp>
          <p:nvSpPr>
            <p:cNvPr id="327" name="Freeform: Shape 326">
              <a:extLst>
                <a:ext uri="{FF2B5EF4-FFF2-40B4-BE49-F238E27FC236}">
                  <a16:creationId xmlns:a16="http://schemas.microsoft.com/office/drawing/2014/main" id="{56EA377E-051A-429E-876D-B55B93F1B393}"/>
                </a:ext>
              </a:extLst>
            </p:cNvPr>
            <p:cNvSpPr/>
            <p:nvPr/>
          </p:nvSpPr>
          <p:spPr>
            <a:xfrm>
              <a:off x="8752522" y="70365"/>
              <a:ext cx="325762" cy="316825"/>
            </a:xfrm>
            <a:custGeom>
              <a:avLst/>
              <a:gdLst>
                <a:gd name="connsiteX0" fmla="*/ 294680 w 325762"/>
                <a:gd name="connsiteY0" fmla="*/ 195739 h 316825"/>
                <a:gd name="connsiteX1" fmla="*/ 305753 w 325762"/>
                <a:gd name="connsiteY1" fmla="*/ 225385 h 316825"/>
                <a:gd name="connsiteX2" fmla="*/ 260032 w 325762"/>
                <a:gd name="connsiteY2" fmla="*/ 271105 h 316825"/>
                <a:gd name="connsiteX3" fmla="*/ 239673 w 325762"/>
                <a:gd name="connsiteY3" fmla="*/ 266105 h 316825"/>
                <a:gd name="connsiteX4" fmla="*/ 240030 w 325762"/>
                <a:gd name="connsiteY4" fmla="*/ 271105 h 316825"/>
                <a:gd name="connsiteX5" fmla="*/ 194310 w 325762"/>
                <a:gd name="connsiteY5" fmla="*/ 316825 h 316825"/>
                <a:gd name="connsiteX6" fmla="*/ 163235 w 325762"/>
                <a:gd name="connsiteY6" fmla="*/ 304681 h 316825"/>
                <a:gd name="connsiteX7" fmla="*/ 132159 w 325762"/>
                <a:gd name="connsiteY7" fmla="*/ 316825 h 316825"/>
                <a:gd name="connsiteX8" fmla="*/ 86439 w 325762"/>
                <a:gd name="connsiteY8" fmla="*/ 271105 h 316825"/>
                <a:gd name="connsiteX9" fmla="*/ 86797 w 325762"/>
                <a:gd name="connsiteY9" fmla="*/ 266105 h 316825"/>
                <a:gd name="connsiteX10" fmla="*/ 66437 w 325762"/>
                <a:gd name="connsiteY10" fmla="*/ 271105 h 316825"/>
                <a:gd name="connsiteX11" fmla="*/ 20717 w 325762"/>
                <a:gd name="connsiteY11" fmla="*/ 225385 h 316825"/>
                <a:gd name="connsiteX12" fmla="*/ 31790 w 325762"/>
                <a:gd name="connsiteY12" fmla="*/ 195739 h 316825"/>
                <a:gd name="connsiteX13" fmla="*/ 0 w 325762"/>
                <a:gd name="connsiteY13" fmla="*/ 152162 h 316825"/>
                <a:gd name="connsiteX14" fmla="*/ 35362 w 325762"/>
                <a:gd name="connsiteY14" fmla="*/ 107871 h 316825"/>
                <a:gd name="connsiteX15" fmla="*/ 27861 w 325762"/>
                <a:gd name="connsiteY15" fmla="*/ 82510 h 316825"/>
                <a:gd name="connsiteX16" fmla="*/ 72866 w 325762"/>
                <a:gd name="connsiteY16" fmla="*/ 36790 h 316825"/>
                <a:gd name="connsiteX17" fmla="*/ 86439 w 325762"/>
                <a:gd name="connsiteY17" fmla="*/ 38933 h 316825"/>
                <a:gd name="connsiteX18" fmla="*/ 131445 w 325762"/>
                <a:gd name="connsiteY18" fmla="*/ 0 h 316825"/>
                <a:gd name="connsiteX19" fmla="*/ 162520 w 325762"/>
                <a:gd name="connsiteY19" fmla="*/ 12144 h 316825"/>
                <a:gd name="connsiteX20" fmla="*/ 193596 w 325762"/>
                <a:gd name="connsiteY20" fmla="*/ 0 h 316825"/>
                <a:gd name="connsiteX21" fmla="*/ 238601 w 325762"/>
                <a:gd name="connsiteY21" fmla="*/ 38933 h 316825"/>
                <a:gd name="connsiteX22" fmla="*/ 252174 w 325762"/>
                <a:gd name="connsiteY22" fmla="*/ 36790 h 316825"/>
                <a:gd name="connsiteX23" fmla="*/ 297894 w 325762"/>
                <a:gd name="connsiteY23" fmla="*/ 82510 h 316825"/>
                <a:gd name="connsiteX24" fmla="*/ 290393 w 325762"/>
                <a:gd name="connsiteY24" fmla="*/ 107871 h 316825"/>
                <a:gd name="connsiteX25" fmla="*/ 325755 w 325762"/>
                <a:gd name="connsiteY25" fmla="*/ 152162 h 316825"/>
                <a:gd name="connsiteX26" fmla="*/ 294680 w 325762"/>
                <a:gd name="connsiteY26" fmla="*/ 195739 h 31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5762" h="316825">
                  <a:moveTo>
                    <a:pt x="294680" y="195739"/>
                  </a:moveTo>
                  <a:cubicBezTo>
                    <a:pt x="301466" y="203597"/>
                    <a:pt x="305753" y="213955"/>
                    <a:pt x="305753" y="225385"/>
                  </a:cubicBezTo>
                  <a:cubicBezTo>
                    <a:pt x="305753" y="250746"/>
                    <a:pt x="285393" y="271105"/>
                    <a:pt x="260032" y="271105"/>
                  </a:cubicBezTo>
                  <a:cubicBezTo>
                    <a:pt x="252532" y="271105"/>
                    <a:pt x="245745" y="269319"/>
                    <a:pt x="239673" y="266105"/>
                  </a:cubicBezTo>
                  <a:cubicBezTo>
                    <a:pt x="239673" y="267891"/>
                    <a:pt x="240030" y="269319"/>
                    <a:pt x="240030" y="271105"/>
                  </a:cubicBezTo>
                  <a:cubicBezTo>
                    <a:pt x="240030" y="296466"/>
                    <a:pt x="219670" y="316825"/>
                    <a:pt x="194310" y="316825"/>
                  </a:cubicBezTo>
                  <a:cubicBezTo>
                    <a:pt x="182166" y="316825"/>
                    <a:pt x="171450" y="312182"/>
                    <a:pt x="163235" y="304681"/>
                  </a:cubicBezTo>
                  <a:cubicBezTo>
                    <a:pt x="155019" y="312182"/>
                    <a:pt x="144304" y="316825"/>
                    <a:pt x="132159" y="316825"/>
                  </a:cubicBezTo>
                  <a:cubicBezTo>
                    <a:pt x="106799" y="316825"/>
                    <a:pt x="86439" y="296466"/>
                    <a:pt x="86439" y="271105"/>
                  </a:cubicBezTo>
                  <a:cubicBezTo>
                    <a:pt x="86439" y="269319"/>
                    <a:pt x="86439" y="267891"/>
                    <a:pt x="86797" y="266105"/>
                  </a:cubicBezTo>
                  <a:cubicBezTo>
                    <a:pt x="80724" y="269319"/>
                    <a:pt x="73581" y="271105"/>
                    <a:pt x="66437" y="271105"/>
                  </a:cubicBezTo>
                  <a:cubicBezTo>
                    <a:pt x="41077" y="271105"/>
                    <a:pt x="20717" y="250746"/>
                    <a:pt x="20717" y="225385"/>
                  </a:cubicBezTo>
                  <a:cubicBezTo>
                    <a:pt x="20717" y="213955"/>
                    <a:pt x="25003" y="203597"/>
                    <a:pt x="31790" y="195739"/>
                  </a:cubicBezTo>
                  <a:cubicBezTo>
                    <a:pt x="13573" y="189667"/>
                    <a:pt x="0" y="172522"/>
                    <a:pt x="0" y="152162"/>
                  </a:cubicBezTo>
                  <a:cubicBezTo>
                    <a:pt x="0" y="130373"/>
                    <a:pt x="15002" y="112514"/>
                    <a:pt x="35362" y="107871"/>
                  </a:cubicBezTo>
                  <a:cubicBezTo>
                    <a:pt x="30361" y="100727"/>
                    <a:pt x="27861" y="91797"/>
                    <a:pt x="27861" y="82510"/>
                  </a:cubicBezTo>
                  <a:cubicBezTo>
                    <a:pt x="27146" y="57150"/>
                    <a:pt x="47863" y="36790"/>
                    <a:pt x="72866" y="36790"/>
                  </a:cubicBezTo>
                  <a:cubicBezTo>
                    <a:pt x="77510" y="36790"/>
                    <a:pt x="82153" y="37505"/>
                    <a:pt x="86439" y="38933"/>
                  </a:cubicBezTo>
                  <a:cubicBezTo>
                    <a:pt x="89654" y="16788"/>
                    <a:pt x="108585" y="0"/>
                    <a:pt x="131445" y="0"/>
                  </a:cubicBezTo>
                  <a:cubicBezTo>
                    <a:pt x="143589" y="0"/>
                    <a:pt x="154305" y="4643"/>
                    <a:pt x="162520" y="12144"/>
                  </a:cubicBezTo>
                  <a:cubicBezTo>
                    <a:pt x="170736" y="4643"/>
                    <a:pt x="181451" y="0"/>
                    <a:pt x="193596" y="0"/>
                  </a:cubicBezTo>
                  <a:cubicBezTo>
                    <a:pt x="216456" y="0"/>
                    <a:pt x="235387" y="17145"/>
                    <a:pt x="238601" y="38933"/>
                  </a:cubicBezTo>
                  <a:cubicBezTo>
                    <a:pt x="242888" y="37505"/>
                    <a:pt x="247531" y="36790"/>
                    <a:pt x="252174" y="36790"/>
                  </a:cubicBezTo>
                  <a:cubicBezTo>
                    <a:pt x="277535" y="36790"/>
                    <a:pt x="297894" y="57150"/>
                    <a:pt x="297894" y="82510"/>
                  </a:cubicBezTo>
                  <a:cubicBezTo>
                    <a:pt x="297894" y="91797"/>
                    <a:pt x="295037" y="100727"/>
                    <a:pt x="290393" y="107871"/>
                  </a:cubicBezTo>
                  <a:cubicBezTo>
                    <a:pt x="310753" y="112514"/>
                    <a:pt x="325755" y="130731"/>
                    <a:pt x="325755" y="152162"/>
                  </a:cubicBezTo>
                  <a:cubicBezTo>
                    <a:pt x="326112" y="172522"/>
                    <a:pt x="312896" y="189667"/>
                    <a:pt x="294680" y="195739"/>
                  </a:cubicBezTo>
                  <a:close/>
                </a:path>
              </a:pathLst>
            </a:custGeom>
            <a:solidFill>
              <a:srgbClr val="0BB6EA"/>
            </a:solidFill>
            <a:ln w="3572"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E6D19564-B67C-4EEC-9DB5-D74C2CD02AB4}"/>
                </a:ext>
              </a:extLst>
            </p:cNvPr>
            <p:cNvSpPr/>
            <p:nvPr/>
          </p:nvSpPr>
          <p:spPr>
            <a:xfrm>
              <a:off x="8839676" y="107156"/>
              <a:ext cx="239315" cy="280035"/>
            </a:xfrm>
            <a:custGeom>
              <a:avLst/>
              <a:gdLst>
                <a:gd name="connsiteX0" fmla="*/ 207526 w 239315"/>
                <a:gd name="connsiteY0" fmla="*/ 158948 h 280035"/>
                <a:gd name="connsiteX1" fmla="*/ 218599 w 239315"/>
                <a:gd name="connsiteY1" fmla="*/ 188595 h 280035"/>
                <a:gd name="connsiteX2" fmla="*/ 172879 w 239315"/>
                <a:gd name="connsiteY2" fmla="*/ 234315 h 280035"/>
                <a:gd name="connsiteX3" fmla="*/ 152519 w 239315"/>
                <a:gd name="connsiteY3" fmla="*/ 229314 h 280035"/>
                <a:gd name="connsiteX4" fmla="*/ 152876 w 239315"/>
                <a:gd name="connsiteY4" fmla="*/ 234315 h 280035"/>
                <a:gd name="connsiteX5" fmla="*/ 107156 w 239315"/>
                <a:gd name="connsiteY5" fmla="*/ 280035 h 280035"/>
                <a:gd name="connsiteX6" fmla="*/ 76081 w 239315"/>
                <a:gd name="connsiteY6" fmla="*/ 267891 h 280035"/>
                <a:gd name="connsiteX7" fmla="*/ 45006 w 239315"/>
                <a:gd name="connsiteY7" fmla="*/ 280035 h 280035"/>
                <a:gd name="connsiteX8" fmla="*/ 0 w 239315"/>
                <a:gd name="connsiteY8" fmla="*/ 242888 h 280035"/>
                <a:gd name="connsiteX9" fmla="*/ 176093 w 239315"/>
                <a:gd name="connsiteY9" fmla="*/ 65008 h 280035"/>
                <a:gd name="connsiteX10" fmla="*/ 163949 w 239315"/>
                <a:gd name="connsiteY10" fmla="*/ 0 h 280035"/>
                <a:gd name="connsiteX11" fmla="*/ 165735 w 239315"/>
                <a:gd name="connsiteY11" fmla="*/ 0 h 280035"/>
                <a:gd name="connsiteX12" fmla="*/ 211455 w 239315"/>
                <a:gd name="connsiteY12" fmla="*/ 45720 h 280035"/>
                <a:gd name="connsiteX13" fmla="*/ 203954 w 239315"/>
                <a:gd name="connsiteY13" fmla="*/ 71080 h 280035"/>
                <a:gd name="connsiteX14" fmla="*/ 239316 w 239315"/>
                <a:gd name="connsiteY14" fmla="*/ 115372 h 280035"/>
                <a:gd name="connsiteX15" fmla="*/ 207526 w 239315"/>
                <a:gd name="connsiteY15" fmla="*/ 158948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9315" h="280035">
                  <a:moveTo>
                    <a:pt x="207526" y="158948"/>
                  </a:moveTo>
                  <a:cubicBezTo>
                    <a:pt x="214313" y="166807"/>
                    <a:pt x="218599" y="177165"/>
                    <a:pt x="218599" y="188595"/>
                  </a:cubicBezTo>
                  <a:cubicBezTo>
                    <a:pt x="218599" y="213955"/>
                    <a:pt x="198239" y="234315"/>
                    <a:pt x="172879" y="234315"/>
                  </a:cubicBezTo>
                  <a:cubicBezTo>
                    <a:pt x="165378" y="234315"/>
                    <a:pt x="158591" y="232529"/>
                    <a:pt x="152519" y="229314"/>
                  </a:cubicBezTo>
                  <a:cubicBezTo>
                    <a:pt x="152519" y="231100"/>
                    <a:pt x="152876" y="232529"/>
                    <a:pt x="152876" y="234315"/>
                  </a:cubicBezTo>
                  <a:cubicBezTo>
                    <a:pt x="152876" y="259675"/>
                    <a:pt x="132517" y="280035"/>
                    <a:pt x="107156" y="280035"/>
                  </a:cubicBezTo>
                  <a:cubicBezTo>
                    <a:pt x="95012" y="280035"/>
                    <a:pt x="84296" y="275392"/>
                    <a:pt x="76081" y="267891"/>
                  </a:cubicBezTo>
                  <a:cubicBezTo>
                    <a:pt x="67866" y="275392"/>
                    <a:pt x="57150" y="280035"/>
                    <a:pt x="45006" y="280035"/>
                  </a:cubicBezTo>
                  <a:cubicBezTo>
                    <a:pt x="22860" y="280035"/>
                    <a:pt x="3929" y="263962"/>
                    <a:pt x="0" y="242888"/>
                  </a:cubicBezTo>
                  <a:cubicBezTo>
                    <a:pt x="97155" y="241816"/>
                    <a:pt x="176093" y="162878"/>
                    <a:pt x="176093" y="65008"/>
                  </a:cubicBezTo>
                  <a:cubicBezTo>
                    <a:pt x="176093" y="42148"/>
                    <a:pt x="171807" y="20002"/>
                    <a:pt x="163949" y="0"/>
                  </a:cubicBezTo>
                  <a:cubicBezTo>
                    <a:pt x="164663" y="0"/>
                    <a:pt x="165378" y="0"/>
                    <a:pt x="165735" y="0"/>
                  </a:cubicBezTo>
                  <a:cubicBezTo>
                    <a:pt x="191095" y="0"/>
                    <a:pt x="211455" y="20360"/>
                    <a:pt x="211455" y="45720"/>
                  </a:cubicBezTo>
                  <a:cubicBezTo>
                    <a:pt x="211455" y="55007"/>
                    <a:pt x="208597" y="63937"/>
                    <a:pt x="203954" y="71080"/>
                  </a:cubicBezTo>
                  <a:cubicBezTo>
                    <a:pt x="224314" y="75724"/>
                    <a:pt x="239316" y="93940"/>
                    <a:pt x="239316" y="115372"/>
                  </a:cubicBezTo>
                  <a:cubicBezTo>
                    <a:pt x="238958" y="135731"/>
                    <a:pt x="225743" y="152876"/>
                    <a:pt x="207526" y="158948"/>
                  </a:cubicBezTo>
                  <a:close/>
                </a:path>
              </a:pathLst>
            </a:custGeom>
            <a:solidFill>
              <a:srgbClr val="0095CF"/>
            </a:solidFill>
            <a:ln w="3572"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79274432-49AA-4F51-A630-3A3B01143116}"/>
                </a:ext>
              </a:extLst>
            </p:cNvPr>
            <p:cNvSpPr/>
            <p:nvPr/>
          </p:nvSpPr>
          <p:spPr>
            <a:xfrm>
              <a:off x="8955047" y="296822"/>
              <a:ext cx="40362" cy="40719"/>
            </a:xfrm>
            <a:custGeom>
              <a:avLst/>
              <a:gdLst>
                <a:gd name="connsiteX0" fmla="*/ 5358 w 40362"/>
                <a:gd name="connsiteY0" fmla="*/ 40719 h 40719"/>
                <a:gd name="connsiteX1" fmla="*/ 5358 w 40362"/>
                <a:gd name="connsiteY1" fmla="*/ 40719 h 40719"/>
                <a:gd name="connsiteX2" fmla="*/ 0 w 40362"/>
                <a:gd name="connsiteY2" fmla="*/ 35004 h 40719"/>
                <a:gd name="connsiteX3" fmla="*/ 35004 w 40362"/>
                <a:gd name="connsiteY3" fmla="*/ 0 h 40719"/>
                <a:gd name="connsiteX4" fmla="*/ 40362 w 40362"/>
                <a:gd name="connsiteY4" fmla="*/ 5358 h 40719"/>
                <a:gd name="connsiteX5" fmla="*/ 35004 w 40362"/>
                <a:gd name="connsiteY5" fmla="*/ 11073 h 40719"/>
                <a:gd name="connsiteX6" fmla="*/ 11073 w 40362"/>
                <a:gd name="connsiteY6" fmla="*/ 35004 h 40719"/>
                <a:gd name="connsiteX7" fmla="*/ 5358 w 40362"/>
                <a:gd name="connsiteY7" fmla="*/ 40719 h 4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362" h="40719">
                  <a:moveTo>
                    <a:pt x="5358" y="40719"/>
                  </a:moveTo>
                  <a:lnTo>
                    <a:pt x="5358" y="40719"/>
                  </a:lnTo>
                  <a:cubicBezTo>
                    <a:pt x="2143" y="40719"/>
                    <a:pt x="0" y="38219"/>
                    <a:pt x="0" y="35004"/>
                  </a:cubicBezTo>
                  <a:cubicBezTo>
                    <a:pt x="0" y="15716"/>
                    <a:pt x="15716" y="0"/>
                    <a:pt x="35004" y="0"/>
                  </a:cubicBezTo>
                  <a:cubicBezTo>
                    <a:pt x="38219" y="0"/>
                    <a:pt x="40362" y="2500"/>
                    <a:pt x="40362" y="5358"/>
                  </a:cubicBezTo>
                  <a:cubicBezTo>
                    <a:pt x="40362" y="8573"/>
                    <a:pt x="37862" y="11073"/>
                    <a:pt x="35004" y="11073"/>
                  </a:cubicBezTo>
                  <a:cubicBezTo>
                    <a:pt x="21788" y="11073"/>
                    <a:pt x="11073" y="21788"/>
                    <a:pt x="11073" y="35004"/>
                  </a:cubicBezTo>
                  <a:cubicBezTo>
                    <a:pt x="10716" y="38219"/>
                    <a:pt x="8573" y="40719"/>
                    <a:pt x="5358" y="40719"/>
                  </a:cubicBezTo>
                  <a:close/>
                </a:path>
              </a:pathLst>
            </a:custGeom>
            <a:solidFill>
              <a:srgbClr val="FFFFFF"/>
            </a:solidFill>
            <a:ln w="3572" cap="flat">
              <a:noFill/>
              <a:prstDash val="solid"/>
              <a:miter/>
            </a:ln>
          </p:spPr>
          <p:txBody>
            <a:bodyPr rtlCol="0" anchor="ctr"/>
            <a:lstStyle/>
            <a:p>
              <a:endParaRPr lang="en-GB"/>
            </a:p>
          </p:txBody>
        </p:sp>
        <p:sp>
          <p:nvSpPr>
            <p:cNvPr id="330" name="Freeform: Shape 329">
              <a:extLst>
                <a:ext uri="{FF2B5EF4-FFF2-40B4-BE49-F238E27FC236}">
                  <a16:creationId xmlns:a16="http://schemas.microsoft.com/office/drawing/2014/main" id="{D0B65F6A-BEAC-4E4D-ABB4-0402D6AAB072}"/>
                </a:ext>
              </a:extLst>
            </p:cNvPr>
            <p:cNvSpPr/>
            <p:nvPr/>
          </p:nvSpPr>
          <p:spPr>
            <a:xfrm>
              <a:off x="9010730" y="234276"/>
              <a:ext cx="43615" cy="37070"/>
            </a:xfrm>
            <a:custGeom>
              <a:avLst/>
              <a:gdLst>
                <a:gd name="connsiteX0" fmla="*/ 40758 w 43615"/>
                <a:gd name="connsiteY0" fmla="*/ 36115 h 37070"/>
                <a:gd name="connsiteX1" fmla="*/ 38615 w 43615"/>
                <a:gd name="connsiteY1" fmla="*/ 36829 h 37070"/>
                <a:gd name="connsiteX2" fmla="*/ 12898 w 43615"/>
                <a:gd name="connsiteY2" fmla="*/ 29328 h 37070"/>
                <a:gd name="connsiteX3" fmla="*/ 39 w 43615"/>
                <a:gd name="connsiteY3" fmla="*/ 6111 h 37070"/>
                <a:gd name="connsiteX4" fmla="*/ 5039 w 43615"/>
                <a:gd name="connsiteY4" fmla="*/ 39 h 37070"/>
                <a:gd name="connsiteX5" fmla="*/ 11112 w 43615"/>
                <a:gd name="connsiteY5" fmla="*/ 5039 h 37070"/>
                <a:gd name="connsiteX6" fmla="*/ 20041 w 43615"/>
                <a:gd name="connsiteY6" fmla="*/ 21113 h 37070"/>
                <a:gd name="connsiteX7" fmla="*/ 37543 w 43615"/>
                <a:gd name="connsiteY7" fmla="*/ 26114 h 37070"/>
                <a:gd name="connsiteX8" fmla="*/ 43616 w 43615"/>
                <a:gd name="connsiteY8" fmla="*/ 31114 h 37070"/>
                <a:gd name="connsiteX9" fmla="*/ 40758 w 43615"/>
                <a:gd name="connsiteY9" fmla="*/ 36115 h 3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615" h="37070">
                  <a:moveTo>
                    <a:pt x="40758" y="36115"/>
                  </a:moveTo>
                  <a:cubicBezTo>
                    <a:pt x="40044" y="36472"/>
                    <a:pt x="39329" y="36829"/>
                    <a:pt x="38615" y="36829"/>
                  </a:cubicBezTo>
                  <a:cubicBezTo>
                    <a:pt x="29328" y="37901"/>
                    <a:pt x="20399" y="35400"/>
                    <a:pt x="12898" y="29328"/>
                  </a:cubicBezTo>
                  <a:cubicBezTo>
                    <a:pt x="5754" y="23613"/>
                    <a:pt x="1110" y="15398"/>
                    <a:pt x="39" y="6111"/>
                  </a:cubicBezTo>
                  <a:cubicBezTo>
                    <a:pt x="-318" y="2896"/>
                    <a:pt x="1825" y="396"/>
                    <a:pt x="5039" y="39"/>
                  </a:cubicBezTo>
                  <a:cubicBezTo>
                    <a:pt x="8254" y="-318"/>
                    <a:pt x="10754" y="1825"/>
                    <a:pt x="11112" y="5039"/>
                  </a:cubicBezTo>
                  <a:cubicBezTo>
                    <a:pt x="11826" y="11469"/>
                    <a:pt x="15041" y="16827"/>
                    <a:pt x="20041" y="21113"/>
                  </a:cubicBezTo>
                  <a:cubicBezTo>
                    <a:pt x="25042" y="25042"/>
                    <a:pt x="31114" y="26828"/>
                    <a:pt x="37543" y="26114"/>
                  </a:cubicBezTo>
                  <a:cubicBezTo>
                    <a:pt x="40758" y="25756"/>
                    <a:pt x="43259" y="27899"/>
                    <a:pt x="43616" y="31114"/>
                  </a:cubicBezTo>
                  <a:cubicBezTo>
                    <a:pt x="43616" y="32900"/>
                    <a:pt x="42544" y="35043"/>
                    <a:pt x="40758" y="36115"/>
                  </a:cubicBezTo>
                  <a:close/>
                </a:path>
              </a:pathLst>
            </a:custGeom>
            <a:solidFill>
              <a:srgbClr val="FFFFFF"/>
            </a:solidFill>
            <a:ln w="3572" cap="flat">
              <a:noFill/>
              <a:prstDash val="solid"/>
              <a:miter/>
            </a:ln>
          </p:spPr>
          <p:txBody>
            <a:bodyPr rtlCol="0" anchor="ctr"/>
            <a:lstStyle/>
            <a:p>
              <a:endParaRPr lang="en-GB"/>
            </a:p>
          </p:txBody>
        </p:sp>
        <p:sp>
          <p:nvSpPr>
            <p:cNvPr id="331" name="Freeform: Shape 330">
              <a:extLst>
                <a:ext uri="{FF2B5EF4-FFF2-40B4-BE49-F238E27FC236}">
                  <a16:creationId xmlns:a16="http://schemas.microsoft.com/office/drawing/2014/main" id="{64B9C935-7035-4DF0-AC72-8823B0EDC715}"/>
                </a:ext>
              </a:extLst>
            </p:cNvPr>
            <p:cNvSpPr/>
            <p:nvPr/>
          </p:nvSpPr>
          <p:spPr>
            <a:xfrm>
              <a:off x="8932902" y="120729"/>
              <a:ext cx="41790" cy="39290"/>
            </a:xfrm>
            <a:custGeom>
              <a:avLst/>
              <a:gdLst>
                <a:gd name="connsiteX0" fmla="*/ 6787 w 41790"/>
                <a:gd name="connsiteY0" fmla="*/ 39291 h 39290"/>
                <a:gd name="connsiteX1" fmla="*/ 5358 w 41790"/>
                <a:gd name="connsiteY1" fmla="*/ 39291 h 39290"/>
                <a:gd name="connsiteX2" fmla="*/ 0 w 41790"/>
                <a:gd name="connsiteY2" fmla="*/ 33576 h 39290"/>
                <a:gd name="connsiteX3" fmla="*/ 5715 w 41790"/>
                <a:gd name="connsiteY3" fmla="*/ 28218 h 39290"/>
                <a:gd name="connsiteX4" fmla="*/ 30718 w 41790"/>
                <a:gd name="connsiteY4" fmla="*/ 5358 h 39290"/>
                <a:gd name="connsiteX5" fmla="*/ 36433 w 41790"/>
                <a:gd name="connsiteY5" fmla="*/ 0 h 39290"/>
                <a:gd name="connsiteX6" fmla="*/ 41791 w 41790"/>
                <a:gd name="connsiteY6" fmla="*/ 5715 h 39290"/>
                <a:gd name="connsiteX7" fmla="*/ 6787 w 41790"/>
                <a:gd name="connsiteY7" fmla="*/ 39291 h 3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0" h="39290">
                  <a:moveTo>
                    <a:pt x="6787" y="39291"/>
                  </a:moveTo>
                  <a:cubicBezTo>
                    <a:pt x="6429" y="39291"/>
                    <a:pt x="5715" y="39291"/>
                    <a:pt x="5358" y="39291"/>
                  </a:cubicBezTo>
                  <a:cubicBezTo>
                    <a:pt x="2143" y="39291"/>
                    <a:pt x="0" y="36433"/>
                    <a:pt x="0" y="33576"/>
                  </a:cubicBezTo>
                  <a:cubicBezTo>
                    <a:pt x="0" y="30361"/>
                    <a:pt x="2857" y="28218"/>
                    <a:pt x="5715" y="28218"/>
                  </a:cubicBezTo>
                  <a:cubicBezTo>
                    <a:pt x="18931" y="28932"/>
                    <a:pt x="30004" y="18574"/>
                    <a:pt x="30718" y="5358"/>
                  </a:cubicBezTo>
                  <a:cubicBezTo>
                    <a:pt x="30718" y="2143"/>
                    <a:pt x="33576" y="0"/>
                    <a:pt x="36433" y="0"/>
                  </a:cubicBezTo>
                  <a:cubicBezTo>
                    <a:pt x="39648" y="0"/>
                    <a:pt x="41791" y="2857"/>
                    <a:pt x="41791" y="5715"/>
                  </a:cubicBezTo>
                  <a:cubicBezTo>
                    <a:pt x="40719" y="24646"/>
                    <a:pt x="25003" y="39291"/>
                    <a:pt x="6787" y="39291"/>
                  </a:cubicBezTo>
                  <a:close/>
                </a:path>
              </a:pathLst>
            </a:custGeom>
            <a:solidFill>
              <a:srgbClr val="FFFFFF"/>
            </a:solidFill>
            <a:ln w="3572" cap="flat">
              <a:noFill/>
              <a:prstDash val="solid"/>
              <a:miter/>
            </a:ln>
          </p:spPr>
          <p:txBody>
            <a:bodyPr rtlCol="0" anchor="ctr"/>
            <a:lstStyle/>
            <a:p>
              <a:endParaRPr lang="en-GB"/>
            </a:p>
          </p:txBody>
        </p:sp>
        <p:sp>
          <p:nvSpPr>
            <p:cNvPr id="332" name="Freeform: Shape 331">
              <a:extLst>
                <a:ext uri="{FF2B5EF4-FFF2-40B4-BE49-F238E27FC236}">
                  <a16:creationId xmlns:a16="http://schemas.microsoft.com/office/drawing/2014/main" id="{12594803-ECAF-4469-8444-707DFB50BD85}"/>
                </a:ext>
              </a:extLst>
            </p:cNvPr>
            <p:cNvSpPr/>
            <p:nvPr/>
          </p:nvSpPr>
          <p:spPr>
            <a:xfrm>
              <a:off x="8910042" y="208900"/>
              <a:ext cx="41790" cy="39344"/>
            </a:xfrm>
            <a:custGeom>
              <a:avLst/>
              <a:gdLst>
                <a:gd name="connsiteX0" fmla="*/ 36076 w 41790"/>
                <a:gd name="connsiteY0" fmla="*/ 39345 h 39344"/>
                <a:gd name="connsiteX1" fmla="*/ 30718 w 41790"/>
                <a:gd name="connsiteY1" fmla="*/ 33987 h 39344"/>
                <a:gd name="connsiteX2" fmla="*/ 5715 w 41790"/>
                <a:gd name="connsiteY2" fmla="*/ 11127 h 39344"/>
                <a:gd name="connsiteX3" fmla="*/ 0 w 41790"/>
                <a:gd name="connsiteY3" fmla="*/ 5769 h 39344"/>
                <a:gd name="connsiteX4" fmla="*/ 5358 w 41790"/>
                <a:gd name="connsiteY4" fmla="*/ 54 h 39344"/>
                <a:gd name="connsiteX5" fmla="*/ 41791 w 41790"/>
                <a:gd name="connsiteY5" fmla="*/ 33272 h 39344"/>
                <a:gd name="connsiteX6" fmla="*/ 36076 w 41790"/>
                <a:gd name="connsiteY6" fmla="*/ 39345 h 39344"/>
                <a:gd name="connsiteX7" fmla="*/ 36076 w 41790"/>
                <a:gd name="connsiteY7" fmla="*/ 39345 h 3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0" h="39344">
                  <a:moveTo>
                    <a:pt x="36076" y="39345"/>
                  </a:moveTo>
                  <a:cubicBezTo>
                    <a:pt x="33218" y="39345"/>
                    <a:pt x="30718" y="37202"/>
                    <a:pt x="30718" y="33987"/>
                  </a:cubicBezTo>
                  <a:cubicBezTo>
                    <a:pt x="30004" y="20771"/>
                    <a:pt x="18931" y="10770"/>
                    <a:pt x="5715" y="11127"/>
                  </a:cubicBezTo>
                  <a:cubicBezTo>
                    <a:pt x="2500" y="11127"/>
                    <a:pt x="0" y="8984"/>
                    <a:pt x="0" y="5769"/>
                  </a:cubicBezTo>
                  <a:cubicBezTo>
                    <a:pt x="0" y="2554"/>
                    <a:pt x="2143" y="54"/>
                    <a:pt x="5358" y="54"/>
                  </a:cubicBezTo>
                  <a:cubicBezTo>
                    <a:pt x="24646" y="-1018"/>
                    <a:pt x="41077" y="13984"/>
                    <a:pt x="41791" y="33272"/>
                  </a:cubicBezTo>
                  <a:cubicBezTo>
                    <a:pt x="41791" y="36487"/>
                    <a:pt x="39291" y="38987"/>
                    <a:pt x="36076" y="39345"/>
                  </a:cubicBezTo>
                  <a:cubicBezTo>
                    <a:pt x="36433" y="39345"/>
                    <a:pt x="36076" y="39345"/>
                    <a:pt x="36076" y="39345"/>
                  </a:cubicBezTo>
                  <a:close/>
                </a:path>
              </a:pathLst>
            </a:custGeom>
            <a:solidFill>
              <a:srgbClr val="FFFFFF"/>
            </a:solidFill>
            <a:ln w="3572" cap="flat">
              <a:noFill/>
              <a:prstDash val="solid"/>
              <a:miter/>
            </a:ln>
          </p:spPr>
          <p:txBody>
            <a:bodyPr rtlCol="0" anchor="ctr"/>
            <a:lstStyle/>
            <a:p>
              <a:endParaRPr lang="en-GB"/>
            </a:p>
          </p:txBody>
        </p:sp>
        <p:sp>
          <p:nvSpPr>
            <p:cNvPr id="333" name="Freeform: Shape 332">
              <a:extLst>
                <a:ext uri="{FF2B5EF4-FFF2-40B4-BE49-F238E27FC236}">
                  <a16:creationId xmlns:a16="http://schemas.microsoft.com/office/drawing/2014/main" id="{4F7230A7-A7A4-4F57-B6A8-7278FECCE9F5}"/>
                </a:ext>
              </a:extLst>
            </p:cNvPr>
            <p:cNvSpPr/>
            <p:nvPr/>
          </p:nvSpPr>
          <p:spPr>
            <a:xfrm>
              <a:off x="8909685" y="65008"/>
              <a:ext cx="174307" cy="327540"/>
            </a:xfrm>
            <a:custGeom>
              <a:avLst/>
              <a:gdLst>
                <a:gd name="connsiteX0" fmla="*/ 36790 w 174307"/>
                <a:gd name="connsiteY0" fmla="*/ 327541 h 327540"/>
                <a:gd name="connsiteX1" fmla="*/ 1786 w 174307"/>
                <a:gd name="connsiteY1" fmla="*/ 313968 h 327540"/>
                <a:gd name="connsiteX2" fmla="*/ 0 w 174307"/>
                <a:gd name="connsiteY2" fmla="*/ 310039 h 327540"/>
                <a:gd name="connsiteX3" fmla="*/ 0 w 174307"/>
                <a:gd name="connsiteY3" fmla="*/ 17502 h 327540"/>
                <a:gd name="connsiteX4" fmla="*/ 1786 w 174307"/>
                <a:gd name="connsiteY4" fmla="*/ 13573 h 327540"/>
                <a:gd name="connsiteX5" fmla="*/ 36790 w 174307"/>
                <a:gd name="connsiteY5" fmla="*/ 0 h 327540"/>
                <a:gd name="connsiteX6" fmla="*/ 86082 w 174307"/>
                <a:gd name="connsiteY6" fmla="*/ 37862 h 327540"/>
                <a:gd name="connsiteX7" fmla="*/ 95726 w 174307"/>
                <a:gd name="connsiteY7" fmla="*/ 37148 h 327540"/>
                <a:gd name="connsiteX8" fmla="*/ 146804 w 174307"/>
                <a:gd name="connsiteY8" fmla="*/ 88225 h 327540"/>
                <a:gd name="connsiteX9" fmla="*/ 141803 w 174307"/>
                <a:gd name="connsiteY9" fmla="*/ 110371 h 327540"/>
                <a:gd name="connsiteX10" fmla="*/ 174307 w 174307"/>
                <a:gd name="connsiteY10" fmla="*/ 158234 h 327540"/>
                <a:gd name="connsiteX11" fmla="*/ 145732 w 174307"/>
                <a:gd name="connsiteY11" fmla="*/ 203954 h 327540"/>
                <a:gd name="connsiteX12" fmla="*/ 153591 w 174307"/>
                <a:gd name="connsiteY12" fmla="*/ 231100 h 327540"/>
                <a:gd name="connsiteX13" fmla="*/ 102513 w 174307"/>
                <a:gd name="connsiteY13" fmla="*/ 282178 h 327540"/>
                <a:gd name="connsiteX14" fmla="*/ 87868 w 174307"/>
                <a:gd name="connsiteY14" fmla="*/ 280035 h 327540"/>
                <a:gd name="connsiteX15" fmla="*/ 36790 w 174307"/>
                <a:gd name="connsiteY15" fmla="*/ 327541 h 327540"/>
                <a:gd name="connsiteX16" fmla="*/ 11430 w 174307"/>
                <a:gd name="connsiteY16" fmla="*/ 307181 h 327540"/>
                <a:gd name="connsiteX17" fmla="*/ 36790 w 174307"/>
                <a:gd name="connsiteY17" fmla="*/ 316468 h 327540"/>
                <a:gd name="connsiteX18" fmla="*/ 76795 w 174307"/>
                <a:gd name="connsiteY18" fmla="*/ 276463 h 327540"/>
                <a:gd name="connsiteX19" fmla="*/ 76438 w 174307"/>
                <a:gd name="connsiteY19" fmla="*/ 272177 h 327540"/>
                <a:gd name="connsiteX20" fmla="*/ 78938 w 174307"/>
                <a:gd name="connsiteY20" fmla="*/ 267176 h 327540"/>
                <a:gd name="connsiteX21" fmla="*/ 84653 w 174307"/>
                <a:gd name="connsiteY21" fmla="*/ 266819 h 327540"/>
                <a:gd name="connsiteX22" fmla="*/ 102513 w 174307"/>
                <a:gd name="connsiteY22" fmla="*/ 271105 h 327540"/>
                <a:gd name="connsiteX23" fmla="*/ 142518 w 174307"/>
                <a:gd name="connsiteY23" fmla="*/ 231100 h 327540"/>
                <a:gd name="connsiteX24" fmla="*/ 132874 w 174307"/>
                <a:gd name="connsiteY24" fmla="*/ 205026 h 327540"/>
                <a:gd name="connsiteX25" fmla="*/ 131802 w 174307"/>
                <a:gd name="connsiteY25" fmla="*/ 200025 h 327540"/>
                <a:gd name="connsiteX26" fmla="*/ 135374 w 174307"/>
                <a:gd name="connsiteY26" fmla="*/ 196096 h 327540"/>
                <a:gd name="connsiteX27" fmla="*/ 163235 w 174307"/>
                <a:gd name="connsiteY27" fmla="*/ 157877 h 327540"/>
                <a:gd name="connsiteX28" fmla="*/ 132159 w 174307"/>
                <a:gd name="connsiteY28" fmla="*/ 118943 h 327540"/>
                <a:gd name="connsiteX29" fmla="*/ 128230 w 174307"/>
                <a:gd name="connsiteY29" fmla="*/ 115729 h 327540"/>
                <a:gd name="connsiteX30" fmla="*/ 128945 w 174307"/>
                <a:gd name="connsiteY30" fmla="*/ 110728 h 327540"/>
                <a:gd name="connsiteX31" fmla="*/ 135731 w 174307"/>
                <a:gd name="connsiteY31" fmla="*/ 88583 h 327540"/>
                <a:gd name="connsiteX32" fmla="*/ 95726 w 174307"/>
                <a:gd name="connsiteY32" fmla="*/ 48577 h 327540"/>
                <a:gd name="connsiteX33" fmla="*/ 83582 w 174307"/>
                <a:gd name="connsiteY33" fmla="*/ 50363 h 327540"/>
                <a:gd name="connsiteX34" fmla="*/ 78938 w 174307"/>
                <a:gd name="connsiteY34" fmla="*/ 49649 h 327540"/>
                <a:gd name="connsiteX35" fmla="*/ 76438 w 174307"/>
                <a:gd name="connsiteY35" fmla="*/ 45720 h 327540"/>
                <a:gd name="connsiteX36" fmla="*/ 36790 w 174307"/>
                <a:gd name="connsiteY36" fmla="*/ 11430 h 327540"/>
                <a:gd name="connsiteX37" fmla="*/ 11430 w 174307"/>
                <a:gd name="connsiteY37" fmla="*/ 20717 h 327540"/>
                <a:gd name="connsiteX38" fmla="*/ 11430 w 174307"/>
                <a:gd name="connsiteY38" fmla="*/ 307181 h 32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4307" h="327540">
                  <a:moveTo>
                    <a:pt x="36790" y="327541"/>
                  </a:moveTo>
                  <a:cubicBezTo>
                    <a:pt x="23932" y="327541"/>
                    <a:pt x="11430" y="322540"/>
                    <a:pt x="1786" y="313968"/>
                  </a:cubicBezTo>
                  <a:cubicBezTo>
                    <a:pt x="714" y="312896"/>
                    <a:pt x="0" y="311468"/>
                    <a:pt x="0" y="310039"/>
                  </a:cubicBezTo>
                  <a:lnTo>
                    <a:pt x="0" y="17502"/>
                  </a:lnTo>
                  <a:cubicBezTo>
                    <a:pt x="0" y="16073"/>
                    <a:pt x="714" y="14645"/>
                    <a:pt x="1786" y="13573"/>
                  </a:cubicBezTo>
                  <a:cubicBezTo>
                    <a:pt x="11430" y="4643"/>
                    <a:pt x="23574" y="0"/>
                    <a:pt x="36790" y="0"/>
                  </a:cubicBezTo>
                  <a:cubicBezTo>
                    <a:pt x="60007" y="0"/>
                    <a:pt x="80367" y="15716"/>
                    <a:pt x="86082" y="37862"/>
                  </a:cubicBezTo>
                  <a:cubicBezTo>
                    <a:pt x="89297" y="37148"/>
                    <a:pt x="92512" y="37148"/>
                    <a:pt x="95726" y="37148"/>
                  </a:cubicBezTo>
                  <a:cubicBezTo>
                    <a:pt x="123944" y="37148"/>
                    <a:pt x="146804" y="60007"/>
                    <a:pt x="146804" y="88225"/>
                  </a:cubicBezTo>
                  <a:cubicBezTo>
                    <a:pt x="146804" y="96083"/>
                    <a:pt x="145018" y="103584"/>
                    <a:pt x="141803" y="110371"/>
                  </a:cubicBezTo>
                  <a:cubicBezTo>
                    <a:pt x="161449" y="117872"/>
                    <a:pt x="174307" y="136446"/>
                    <a:pt x="174307" y="158234"/>
                  </a:cubicBezTo>
                  <a:cubicBezTo>
                    <a:pt x="174307" y="177879"/>
                    <a:pt x="163235" y="195739"/>
                    <a:pt x="145732" y="203954"/>
                  </a:cubicBezTo>
                  <a:cubicBezTo>
                    <a:pt x="150733" y="212169"/>
                    <a:pt x="153591" y="221456"/>
                    <a:pt x="153591" y="231100"/>
                  </a:cubicBezTo>
                  <a:cubicBezTo>
                    <a:pt x="153591" y="259318"/>
                    <a:pt x="130731" y="282178"/>
                    <a:pt x="102513" y="282178"/>
                  </a:cubicBezTo>
                  <a:cubicBezTo>
                    <a:pt x="97512" y="282178"/>
                    <a:pt x="92512" y="281464"/>
                    <a:pt x="87868" y="280035"/>
                  </a:cubicBezTo>
                  <a:cubicBezTo>
                    <a:pt x="86082" y="306467"/>
                    <a:pt x="63937" y="327541"/>
                    <a:pt x="36790" y="327541"/>
                  </a:cubicBezTo>
                  <a:close/>
                  <a:moveTo>
                    <a:pt x="11430" y="307181"/>
                  </a:moveTo>
                  <a:cubicBezTo>
                    <a:pt x="18574" y="313253"/>
                    <a:pt x="27503" y="316468"/>
                    <a:pt x="36790" y="316468"/>
                  </a:cubicBezTo>
                  <a:cubicBezTo>
                    <a:pt x="58936" y="316468"/>
                    <a:pt x="76795" y="298609"/>
                    <a:pt x="76795" y="276463"/>
                  </a:cubicBezTo>
                  <a:cubicBezTo>
                    <a:pt x="76795" y="275034"/>
                    <a:pt x="76795" y="273606"/>
                    <a:pt x="76438" y="272177"/>
                  </a:cubicBezTo>
                  <a:cubicBezTo>
                    <a:pt x="76081" y="270034"/>
                    <a:pt x="77152" y="268248"/>
                    <a:pt x="78938" y="267176"/>
                  </a:cubicBezTo>
                  <a:cubicBezTo>
                    <a:pt x="80724" y="266105"/>
                    <a:pt x="82867" y="265748"/>
                    <a:pt x="84653" y="266819"/>
                  </a:cubicBezTo>
                  <a:cubicBezTo>
                    <a:pt x="90368" y="269677"/>
                    <a:pt x="96441" y="271105"/>
                    <a:pt x="102513" y="271105"/>
                  </a:cubicBezTo>
                  <a:cubicBezTo>
                    <a:pt x="124658" y="271105"/>
                    <a:pt x="142518" y="253246"/>
                    <a:pt x="142518" y="231100"/>
                  </a:cubicBezTo>
                  <a:cubicBezTo>
                    <a:pt x="142518" y="221456"/>
                    <a:pt x="138946" y="212169"/>
                    <a:pt x="132874" y="205026"/>
                  </a:cubicBezTo>
                  <a:cubicBezTo>
                    <a:pt x="131802" y="203597"/>
                    <a:pt x="131088" y="201811"/>
                    <a:pt x="131802" y="200025"/>
                  </a:cubicBezTo>
                  <a:cubicBezTo>
                    <a:pt x="132159" y="198239"/>
                    <a:pt x="133588" y="196810"/>
                    <a:pt x="135374" y="196096"/>
                  </a:cubicBezTo>
                  <a:cubicBezTo>
                    <a:pt x="151805" y="190738"/>
                    <a:pt x="163235" y="175379"/>
                    <a:pt x="163235" y="157877"/>
                  </a:cubicBezTo>
                  <a:cubicBezTo>
                    <a:pt x="163235" y="138946"/>
                    <a:pt x="150376" y="122872"/>
                    <a:pt x="132159" y="118943"/>
                  </a:cubicBezTo>
                  <a:cubicBezTo>
                    <a:pt x="130373" y="118586"/>
                    <a:pt x="128945" y="117158"/>
                    <a:pt x="128230" y="115729"/>
                  </a:cubicBezTo>
                  <a:cubicBezTo>
                    <a:pt x="127516" y="113943"/>
                    <a:pt x="127873" y="112157"/>
                    <a:pt x="128945" y="110728"/>
                  </a:cubicBezTo>
                  <a:cubicBezTo>
                    <a:pt x="133231" y="104299"/>
                    <a:pt x="135731" y="96441"/>
                    <a:pt x="135731" y="88583"/>
                  </a:cubicBezTo>
                  <a:cubicBezTo>
                    <a:pt x="135731" y="66437"/>
                    <a:pt x="117872" y="48577"/>
                    <a:pt x="95726" y="48577"/>
                  </a:cubicBezTo>
                  <a:cubicBezTo>
                    <a:pt x="91797" y="48577"/>
                    <a:pt x="87511" y="49292"/>
                    <a:pt x="83582" y="50363"/>
                  </a:cubicBezTo>
                  <a:cubicBezTo>
                    <a:pt x="82153" y="50721"/>
                    <a:pt x="80367" y="50721"/>
                    <a:pt x="78938" y="49649"/>
                  </a:cubicBezTo>
                  <a:cubicBezTo>
                    <a:pt x="77510" y="48935"/>
                    <a:pt x="76795" y="47506"/>
                    <a:pt x="76438" y="45720"/>
                  </a:cubicBezTo>
                  <a:cubicBezTo>
                    <a:pt x="73581" y="26075"/>
                    <a:pt x="56436" y="11430"/>
                    <a:pt x="36790" y="11430"/>
                  </a:cubicBezTo>
                  <a:cubicBezTo>
                    <a:pt x="27503" y="11430"/>
                    <a:pt x="18574" y="14645"/>
                    <a:pt x="11430" y="20717"/>
                  </a:cubicBezTo>
                  <a:lnTo>
                    <a:pt x="11430" y="307181"/>
                  </a:lnTo>
                  <a:close/>
                </a:path>
              </a:pathLst>
            </a:custGeom>
            <a:solidFill>
              <a:srgbClr val="FFFFFF"/>
            </a:solidFill>
            <a:ln w="3572" cap="flat">
              <a:noFill/>
              <a:prstDash val="solid"/>
              <a:miter/>
            </a:ln>
          </p:spPr>
          <p:txBody>
            <a:bodyPr rtlCol="0" anchor="ctr"/>
            <a:lstStyle/>
            <a:p>
              <a:endParaRPr lang="en-GB"/>
            </a:p>
          </p:txBody>
        </p:sp>
        <p:sp>
          <p:nvSpPr>
            <p:cNvPr id="334" name="Freeform: Shape 333">
              <a:extLst>
                <a:ext uri="{FF2B5EF4-FFF2-40B4-BE49-F238E27FC236}">
                  <a16:creationId xmlns:a16="http://schemas.microsoft.com/office/drawing/2014/main" id="{32DE059E-7E35-43FC-8938-0D94B009C218}"/>
                </a:ext>
              </a:extLst>
            </p:cNvPr>
            <p:cNvSpPr/>
            <p:nvPr/>
          </p:nvSpPr>
          <p:spPr>
            <a:xfrm>
              <a:off x="8746807" y="64650"/>
              <a:ext cx="174307" cy="327898"/>
            </a:xfrm>
            <a:custGeom>
              <a:avLst/>
              <a:gdLst>
                <a:gd name="connsiteX0" fmla="*/ 137517 w 174307"/>
                <a:gd name="connsiteY0" fmla="*/ 327898 h 327898"/>
                <a:gd name="connsiteX1" fmla="*/ 86439 w 174307"/>
                <a:gd name="connsiteY1" fmla="*/ 280035 h 327898"/>
                <a:gd name="connsiteX2" fmla="*/ 71795 w 174307"/>
                <a:gd name="connsiteY2" fmla="*/ 282178 h 327898"/>
                <a:gd name="connsiteX3" fmla="*/ 20717 w 174307"/>
                <a:gd name="connsiteY3" fmla="*/ 231100 h 327898"/>
                <a:gd name="connsiteX4" fmla="*/ 28575 w 174307"/>
                <a:gd name="connsiteY4" fmla="*/ 203954 h 327898"/>
                <a:gd name="connsiteX5" fmla="*/ 0 w 174307"/>
                <a:gd name="connsiteY5" fmla="*/ 158234 h 327898"/>
                <a:gd name="connsiteX6" fmla="*/ 32504 w 174307"/>
                <a:gd name="connsiteY6" fmla="*/ 110371 h 327898"/>
                <a:gd name="connsiteX7" fmla="*/ 27503 w 174307"/>
                <a:gd name="connsiteY7" fmla="*/ 88225 h 327898"/>
                <a:gd name="connsiteX8" fmla="*/ 78581 w 174307"/>
                <a:gd name="connsiteY8" fmla="*/ 37148 h 327898"/>
                <a:gd name="connsiteX9" fmla="*/ 88225 w 174307"/>
                <a:gd name="connsiteY9" fmla="*/ 37862 h 327898"/>
                <a:gd name="connsiteX10" fmla="*/ 137517 w 174307"/>
                <a:gd name="connsiteY10" fmla="*/ 0 h 327898"/>
                <a:gd name="connsiteX11" fmla="*/ 172522 w 174307"/>
                <a:gd name="connsiteY11" fmla="*/ 13573 h 327898"/>
                <a:gd name="connsiteX12" fmla="*/ 174308 w 174307"/>
                <a:gd name="connsiteY12" fmla="*/ 17502 h 327898"/>
                <a:gd name="connsiteX13" fmla="*/ 174308 w 174307"/>
                <a:gd name="connsiteY13" fmla="*/ 309682 h 327898"/>
                <a:gd name="connsiteX14" fmla="*/ 172522 w 174307"/>
                <a:gd name="connsiteY14" fmla="*/ 313611 h 327898"/>
                <a:gd name="connsiteX15" fmla="*/ 137517 w 174307"/>
                <a:gd name="connsiteY15" fmla="*/ 327898 h 327898"/>
                <a:gd name="connsiteX16" fmla="*/ 92154 w 174307"/>
                <a:gd name="connsiteY16" fmla="*/ 266105 h 327898"/>
                <a:gd name="connsiteX17" fmla="*/ 95369 w 174307"/>
                <a:gd name="connsiteY17" fmla="*/ 267176 h 327898"/>
                <a:gd name="connsiteX18" fmla="*/ 97869 w 174307"/>
                <a:gd name="connsiteY18" fmla="*/ 272177 h 327898"/>
                <a:gd name="connsiteX19" fmla="*/ 97512 w 174307"/>
                <a:gd name="connsiteY19" fmla="*/ 276463 h 327898"/>
                <a:gd name="connsiteX20" fmla="*/ 137517 w 174307"/>
                <a:gd name="connsiteY20" fmla="*/ 316468 h 327898"/>
                <a:gd name="connsiteX21" fmla="*/ 162878 w 174307"/>
                <a:gd name="connsiteY21" fmla="*/ 307181 h 327898"/>
                <a:gd name="connsiteX22" fmla="*/ 162878 w 174307"/>
                <a:gd name="connsiteY22" fmla="*/ 20360 h 327898"/>
                <a:gd name="connsiteX23" fmla="*/ 137517 w 174307"/>
                <a:gd name="connsiteY23" fmla="*/ 11073 h 327898"/>
                <a:gd name="connsiteX24" fmla="*/ 97869 w 174307"/>
                <a:gd name="connsiteY24" fmla="*/ 45363 h 327898"/>
                <a:gd name="connsiteX25" fmla="*/ 95369 w 174307"/>
                <a:gd name="connsiteY25" fmla="*/ 49292 h 327898"/>
                <a:gd name="connsiteX26" fmla="*/ 90726 w 174307"/>
                <a:gd name="connsiteY26" fmla="*/ 50006 h 327898"/>
                <a:gd name="connsiteX27" fmla="*/ 78581 w 174307"/>
                <a:gd name="connsiteY27" fmla="*/ 48220 h 327898"/>
                <a:gd name="connsiteX28" fmla="*/ 38576 w 174307"/>
                <a:gd name="connsiteY28" fmla="*/ 88225 h 327898"/>
                <a:gd name="connsiteX29" fmla="*/ 45363 w 174307"/>
                <a:gd name="connsiteY29" fmla="*/ 110371 h 327898"/>
                <a:gd name="connsiteX30" fmla="*/ 46077 w 174307"/>
                <a:gd name="connsiteY30" fmla="*/ 115372 h 327898"/>
                <a:gd name="connsiteX31" fmla="*/ 42148 w 174307"/>
                <a:gd name="connsiteY31" fmla="*/ 118586 h 327898"/>
                <a:gd name="connsiteX32" fmla="*/ 11073 w 174307"/>
                <a:gd name="connsiteY32" fmla="*/ 157520 h 327898"/>
                <a:gd name="connsiteX33" fmla="*/ 38933 w 174307"/>
                <a:gd name="connsiteY33" fmla="*/ 195739 h 327898"/>
                <a:gd name="connsiteX34" fmla="*/ 42505 w 174307"/>
                <a:gd name="connsiteY34" fmla="*/ 199668 h 327898"/>
                <a:gd name="connsiteX35" fmla="*/ 41434 w 174307"/>
                <a:gd name="connsiteY35" fmla="*/ 204668 h 327898"/>
                <a:gd name="connsiteX36" fmla="*/ 31790 w 174307"/>
                <a:gd name="connsiteY36" fmla="*/ 230743 h 327898"/>
                <a:gd name="connsiteX37" fmla="*/ 71795 w 174307"/>
                <a:gd name="connsiteY37" fmla="*/ 270748 h 327898"/>
                <a:gd name="connsiteX38" fmla="*/ 89654 w 174307"/>
                <a:gd name="connsiteY38" fmla="*/ 266462 h 327898"/>
                <a:gd name="connsiteX39" fmla="*/ 92154 w 174307"/>
                <a:gd name="connsiteY39" fmla="*/ 266105 h 32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4307" h="327898">
                  <a:moveTo>
                    <a:pt x="137517" y="327898"/>
                  </a:moveTo>
                  <a:cubicBezTo>
                    <a:pt x="110371" y="327898"/>
                    <a:pt x="88225" y="306824"/>
                    <a:pt x="86439" y="280035"/>
                  </a:cubicBezTo>
                  <a:cubicBezTo>
                    <a:pt x="81796" y="281464"/>
                    <a:pt x="76795" y="282178"/>
                    <a:pt x="71795" y="282178"/>
                  </a:cubicBezTo>
                  <a:cubicBezTo>
                    <a:pt x="43577" y="282178"/>
                    <a:pt x="20717" y="259318"/>
                    <a:pt x="20717" y="231100"/>
                  </a:cubicBezTo>
                  <a:cubicBezTo>
                    <a:pt x="20717" y="221456"/>
                    <a:pt x="23574" y="212169"/>
                    <a:pt x="28575" y="203954"/>
                  </a:cubicBezTo>
                  <a:cubicBezTo>
                    <a:pt x="11430" y="195382"/>
                    <a:pt x="0" y="177879"/>
                    <a:pt x="0" y="158234"/>
                  </a:cubicBezTo>
                  <a:cubicBezTo>
                    <a:pt x="0" y="136803"/>
                    <a:pt x="13216" y="117872"/>
                    <a:pt x="32504" y="110371"/>
                  </a:cubicBezTo>
                  <a:cubicBezTo>
                    <a:pt x="29289" y="103584"/>
                    <a:pt x="27503" y="96083"/>
                    <a:pt x="27503" y="88225"/>
                  </a:cubicBezTo>
                  <a:cubicBezTo>
                    <a:pt x="27503" y="60008"/>
                    <a:pt x="50363" y="37148"/>
                    <a:pt x="78581" y="37148"/>
                  </a:cubicBezTo>
                  <a:cubicBezTo>
                    <a:pt x="81796" y="37148"/>
                    <a:pt x="85011" y="37505"/>
                    <a:pt x="88225" y="37862"/>
                  </a:cubicBezTo>
                  <a:cubicBezTo>
                    <a:pt x="94298" y="16073"/>
                    <a:pt x="114300" y="0"/>
                    <a:pt x="137517" y="0"/>
                  </a:cubicBezTo>
                  <a:cubicBezTo>
                    <a:pt x="150376" y="0"/>
                    <a:pt x="162878" y="5001"/>
                    <a:pt x="172522" y="13573"/>
                  </a:cubicBezTo>
                  <a:cubicBezTo>
                    <a:pt x="173593" y="14645"/>
                    <a:pt x="174308" y="16073"/>
                    <a:pt x="174308" y="17502"/>
                  </a:cubicBezTo>
                  <a:lnTo>
                    <a:pt x="174308" y="309682"/>
                  </a:lnTo>
                  <a:cubicBezTo>
                    <a:pt x="174308" y="311110"/>
                    <a:pt x="173593" y="312539"/>
                    <a:pt x="172522" y="313611"/>
                  </a:cubicBezTo>
                  <a:cubicBezTo>
                    <a:pt x="162878" y="322898"/>
                    <a:pt x="150376" y="327898"/>
                    <a:pt x="137517" y="327898"/>
                  </a:cubicBezTo>
                  <a:close/>
                  <a:moveTo>
                    <a:pt x="92154" y="266105"/>
                  </a:moveTo>
                  <a:cubicBezTo>
                    <a:pt x="93226" y="266105"/>
                    <a:pt x="94298" y="266462"/>
                    <a:pt x="95369" y="267176"/>
                  </a:cubicBezTo>
                  <a:cubicBezTo>
                    <a:pt x="97155" y="268248"/>
                    <a:pt x="97869" y="270391"/>
                    <a:pt x="97869" y="272177"/>
                  </a:cubicBezTo>
                  <a:cubicBezTo>
                    <a:pt x="97869" y="273606"/>
                    <a:pt x="97512" y="275034"/>
                    <a:pt x="97512" y="276463"/>
                  </a:cubicBezTo>
                  <a:cubicBezTo>
                    <a:pt x="97512" y="298609"/>
                    <a:pt x="115372" y="316468"/>
                    <a:pt x="137517" y="316468"/>
                  </a:cubicBezTo>
                  <a:cubicBezTo>
                    <a:pt x="146804" y="316468"/>
                    <a:pt x="155734" y="313253"/>
                    <a:pt x="162878" y="307181"/>
                  </a:cubicBezTo>
                  <a:lnTo>
                    <a:pt x="162878" y="20360"/>
                  </a:lnTo>
                  <a:cubicBezTo>
                    <a:pt x="155734" y="14288"/>
                    <a:pt x="146804" y="11073"/>
                    <a:pt x="137517" y="11073"/>
                  </a:cubicBezTo>
                  <a:cubicBezTo>
                    <a:pt x="117872" y="11073"/>
                    <a:pt x="100727" y="25717"/>
                    <a:pt x="97869" y="45363"/>
                  </a:cubicBezTo>
                  <a:cubicBezTo>
                    <a:pt x="97512" y="46792"/>
                    <a:pt x="96798" y="48220"/>
                    <a:pt x="95369" y="49292"/>
                  </a:cubicBezTo>
                  <a:cubicBezTo>
                    <a:pt x="93940" y="50006"/>
                    <a:pt x="92154" y="50363"/>
                    <a:pt x="90726" y="50006"/>
                  </a:cubicBezTo>
                  <a:cubicBezTo>
                    <a:pt x="86797" y="48935"/>
                    <a:pt x="82868" y="48220"/>
                    <a:pt x="78581" y="48220"/>
                  </a:cubicBezTo>
                  <a:cubicBezTo>
                    <a:pt x="56436" y="48220"/>
                    <a:pt x="38576" y="66080"/>
                    <a:pt x="38576" y="88225"/>
                  </a:cubicBezTo>
                  <a:cubicBezTo>
                    <a:pt x="38576" y="96083"/>
                    <a:pt x="41077" y="103942"/>
                    <a:pt x="45363" y="110371"/>
                  </a:cubicBezTo>
                  <a:cubicBezTo>
                    <a:pt x="46434" y="111800"/>
                    <a:pt x="46434" y="113943"/>
                    <a:pt x="46077" y="115372"/>
                  </a:cubicBezTo>
                  <a:cubicBezTo>
                    <a:pt x="45363" y="117158"/>
                    <a:pt x="43934" y="118229"/>
                    <a:pt x="42148" y="118586"/>
                  </a:cubicBezTo>
                  <a:cubicBezTo>
                    <a:pt x="23932" y="122873"/>
                    <a:pt x="11073" y="138946"/>
                    <a:pt x="11073" y="157520"/>
                  </a:cubicBezTo>
                  <a:cubicBezTo>
                    <a:pt x="11073" y="175022"/>
                    <a:pt x="22146" y="190381"/>
                    <a:pt x="38933" y="195739"/>
                  </a:cubicBezTo>
                  <a:cubicBezTo>
                    <a:pt x="40719" y="196453"/>
                    <a:pt x="42148" y="197882"/>
                    <a:pt x="42505" y="199668"/>
                  </a:cubicBezTo>
                  <a:cubicBezTo>
                    <a:pt x="42863" y="201454"/>
                    <a:pt x="42505" y="203240"/>
                    <a:pt x="41434" y="204668"/>
                  </a:cubicBezTo>
                  <a:cubicBezTo>
                    <a:pt x="35362" y="211812"/>
                    <a:pt x="31790" y="221099"/>
                    <a:pt x="31790" y="230743"/>
                  </a:cubicBezTo>
                  <a:cubicBezTo>
                    <a:pt x="31790" y="252889"/>
                    <a:pt x="49649" y="270748"/>
                    <a:pt x="71795" y="270748"/>
                  </a:cubicBezTo>
                  <a:cubicBezTo>
                    <a:pt x="78224" y="270748"/>
                    <a:pt x="84296" y="269319"/>
                    <a:pt x="89654" y="266462"/>
                  </a:cubicBezTo>
                  <a:cubicBezTo>
                    <a:pt x="90368" y="266462"/>
                    <a:pt x="91440" y="266105"/>
                    <a:pt x="92154" y="266105"/>
                  </a:cubicBezTo>
                  <a:close/>
                </a:path>
              </a:pathLst>
            </a:custGeom>
            <a:solidFill>
              <a:srgbClr val="FFFFFF"/>
            </a:solidFill>
            <a:ln w="3572" cap="flat">
              <a:noFill/>
              <a:prstDash val="solid"/>
              <a:miter/>
            </a:ln>
          </p:spPr>
          <p:txBody>
            <a:bodyPr rtlCol="0" anchor="ctr"/>
            <a:lstStyle/>
            <a:p>
              <a:endParaRPr lang="en-GB"/>
            </a:p>
          </p:txBody>
        </p:sp>
        <p:sp>
          <p:nvSpPr>
            <p:cNvPr id="335" name="Freeform: Shape 334">
              <a:extLst>
                <a:ext uri="{FF2B5EF4-FFF2-40B4-BE49-F238E27FC236}">
                  <a16:creationId xmlns:a16="http://schemas.microsoft.com/office/drawing/2014/main" id="{85711F1D-93BA-4328-AF50-463B8EAA77A0}"/>
                </a:ext>
              </a:extLst>
            </p:cNvPr>
            <p:cNvSpPr/>
            <p:nvPr/>
          </p:nvSpPr>
          <p:spPr>
            <a:xfrm>
              <a:off x="8835747" y="296822"/>
              <a:ext cx="40362" cy="40719"/>
            </a:xfrm>
            <a:custGeom>
              <a:avLst/>
              <a:gdLst>
                <a:gd name="connsiteX0" fmla="*/ 34647 w 40362"/>
                <a:gd name="connsiteY0" fmla="*/ 40719 h 40719"/>
                <a:gd name="connsiteX1" fmla="*/ 29289 w 40362"/>
                <a:gd name="connsiteY1" fmla="*/ 35004 h 40719"/>
                <a:gd name="connsiteX2" fmla="*/ 5358 w 40362"/>
                <a:gd name="connsiteY2" fmla="*/ 11073 h 40719"/>
                <a:gd name="connsiteX3" fmla="*/ 0 w 40362"/>
                <a:gd name="connsiteY3" fmla="*/ 5358 h 40719"/>
                <a:gd name="connsiteX4" fmla="*/ 5358 w 40362"/>
                <a:gd name="connsiteY4" fmla="*/ 0 h 40719"/>
                <a:gd name="connsiteX5" fmla="*/ 40362 w 40362"/>
                <a:gd name="connsiteY5" fmla="*/ 35004 h 40719"/>
                <a:gd name="connsiteX6" fmla="*/ 34647 w 40362"/>
                <a:gd name="connsiteY6" fmla="*/ 40719 h 4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2" h="40719">
                  <a:moveTo>
                    <a:pt x="34647" y="40719"/>
                  </a:moveTo>
                  <a:cubicBezTo>
                    <a:pt x="31432" y="40719"/>
                    <a:pt x="29289" y="38219"/>
                    <a:pt x="29289" y="35004"/>
                  </a:cubicBezTo>
                  <a:cubicBezTo>
                    <a:pt x="29289" y="21788"/>
                    <a:pt x="18574" y="11073"/>
                    <a:pt x="5358" y="11073"/>
                  </a:cubicBezTo>
                  <a:cubicBezTo>
                    <a:pt x="2143" y="11073"/>
                    <a:pt x="0" y="8573"/>
                    <a:pt x="0" y="5358"/>
                  </a:cubicBezTo>
                  <a:cubicBezTo>
                    <a:pt x="0" y="2143"/>
                    <a:pt x="2500" y="0"/>
                    <a:pt x="5358" y="0"/>
                  </a:cubicBezTo>
                  <a:cubicBezTo>
                    <a:pt x="24646" y="0"/>
                    <a:pt x="40362" y="15716"/>
                    <a:pt x="40362" y="35004"/>
                  </a:cubicBezTo>
                  <a:cubicBezTo>
                    <a:pt x="40362" y="38219"/>
                    <a:pt x="37862" y="40719"/>
                    <a:pt x="34647" y="40719"/>
                  </a:cubicBezTo>
                  <a:close/>
                </a:path>
              </a:pathLst>
            </a:custGeom>
            <a:solidFill>
              <a:srgbClr val="FFFFFF"/>
            </a:solidFill>
            <a:ln w="3572" cap="flat">
              <a:noFill/>
              <a:prstDash val="solid"/>
              <a:miter/>
            </a:ln>
          </p:spPr>
          <p:txBody>
            <a:bodyPr rtlCol="0" anchor="ctr"/>
            <a:lstStyle/>
            <a:p>
              <a:endParaRPr lang="en-GB"/>
            </a:p>
          </p:txBody>
        </p:sp>
        <p:sp>
          <p:nvSpPr>
            <p:cNvPr id="336" name="Freeform: Shape 335">
              <a:extLst>
                <a:ext uri="{FF2B5EF4-FFF2-40B4-BE49-F238E27FC236}">
                  <a16:creationId xmlns:a16="http://schemas.microsoft.com/office/drawing/2014/main" id="{10F2D44E-3C8E-4844-B6DA-282892CF99E7}"/>
                </a:ext>
              </a:extLst>
            </p:cNvPr>
            <p:cNvSpPr/>
            <p:nvPr/>
          </p:nvSpPr>
          <p:spPr>
            <a:xfrm>
              <a:off x="8796967" y="161245"/>
              <a:ext cx="28249" cy="49495"/>
            </a:xfrm>
            <a:custGeom>
              <a:avLst/>
              <a:gdLst>
                <a:gd name="connsiteX0" fmla="*/ 5561 w 28249"/>
                <a:gd name="connsiteY0" fmla="*/ 49495 h 49495"/>
                <a:gd name="connsiteX1" fmla="*/ 561 w 28249"/>
                <a:gd name="connsiteY1" fmla="*/ 46281 h 49495"/>
                <a:gd name="connsiteX2" fmla="*/ 3418 w 28249"/>
                <a:gd name="connsiteY2" fmla="*/ 39137 h 49495"/>
                <a:gd name="connsiteX3" fmla="*/ 15920 w 28249"/>
                <a:gd name="connsiteY3" fmla="*/ 25921 h 49495"/>
                <a:gd name="connsiteX4" fmla="*/ 15205 w 28249"/>
                <a:gd name="connsiteY4" fmla="*/ 7704 h 49495"/>
                <a:gd name="connsiteX5" fmla="*/ 18063 w 28249"/>
                <a:gd name="connsiteY5" fmla="*/ 561 h 49495"/>
                <a:gd name="connsiteX6" fmla="*/ 25206 w 28249"/>
                <a:gd name="connsiteY6" fmla="*/ 3418 h 49495"/>
                <a:gd name="connsiteX7" fmla="*/ 25921 w 28249"/>
                <a:gd name="connsiteY7" fmla="*/ 30207 h 49495"/>
                <a:gd name="connsiteX8" fmla="*/ 7704 w 28249"/>
                <a:gd name="connsiteY8" fmla="*/ 49495 h 49495"/>
                <a:gd name="connsiteX9" fmla="*/ 5561 w 28249"/>
                <a:gd name="connsiteY9" fmla="*/ 49495 h 49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249" h="49495">
                  <a:moveTo>
                    <a:pt x="5561" y="49495"/>
                  </a:moveTo>
                  <a:cubicBezTo>
                    <a:pt x="3418" y="49495"/>
                    <a:pt x="1275" y="48424"/>
                    <a:pt x="561" y="46281"/>
                  </a:cubicBezTo>
                  <a:cubicBezTo>
                    <a:pt x="-868" y="43423"/>
                    <a:pt x="561" y="40208"/>
                    <a:pt x="3418" y="39137"/>
                  </a:cubicBezTo>
                  <a:cubicBezTo>
                    <a:pt x="9133" y="36636"/>
                    <a:pt x="13776" y="31993"/>
                    <a:pt x="15920" y="25921"/>
                  </a:cubicBezTo>
                  <a:cubicBezTo>
                    <a:pt x="18063" y="19849"/>
                    <a:pt x="18063" y="13419"/>
                    <a:pt x="15205" y="7704"/>
                  </a:cubicBezTo>
                  <a:cubicBezTo>
                    <a:pt x="13776" y="4847"/>
                    <a:pt x="15205" y="1632"/>
                    <a:pt x="18063" y="561"/>
                  </a:cubicBezTo>
                  <a:cubicBezTo>
                    <a:pt x="20920" y="-868"/>
                    <a:pt x="24135" y="561"/>
                    <a:pt x="25206" y="3418"/>
                  </a:cubicBezTo>
                  <a:cubicBezTo>
                    <a:pt x="29136" y="11991"/>
                    <a:pt x="29136" y="21277"/>
                    <a:pt x="25921" y="30207"/>
                  </a:cubicBezTo>
                  <a:cubicBezTo>
                    <a:pt x="22706" y="38780"/>
                    <a:pt x="16277" y="45923"/>
                    <a:pt x="7704" y="49495"/>
                  </a:cubicBezTo>
                  <a:cubicBezTo>
                    <a:pt x="7347" y="49138"/>
                    <a:pt x="6275" y="49495"/>
                    <a:pt x="5561" y="49495"/>
                  </a:cubicBezTo>
                  <a:close/>
                </a:path>
              </a:pathLst>
            </a:custGeom>
            <a:solidFill>
              <a:srgbClr val="FFFFFF"/>
            </a:solidFill>
            <a:ln w="3572" cap="flat">
              <a:noFill/>
              <a:prstDash val="solid"/>
              <a:miter/>
            </a:ln>
          </p:spPr>
          <p:txBody>
            <a:bodyPr rtlCol="0" anchor="ctr"/>
            <a:lstStyle/>
            <a:p>
              <a:endParaRPr lang="en-GB"/>
            </a:p>
          </p:txBody>
        </p:sp>
        <p:sp>
          <p:nvSpPr>
            <p:cNvPr id="337" name="Freeform: Shape 336">
              <a:extLst>
                <a:ext uri="{FF2B5EF4-FFF2-40B4-BE49-F238E27FC236}">
                  <a16:creationId xmlns:a16="http://schemas.microsoft.com/office/drawing/2014/main" id="{E002AFE9-3FE3-46CC-B078-73FFBEF28BF4}"/>
                </a:ext>
              </a:extLst>
            </p:cNvPr>
            <p:cNvSpPr/>
            <p:nvPr/>
          </p:nvSpPr>
          <p:spPr>
            <a:xfrm>
              <a:off x="8856106" y="121086"/>
              <a:ext cx="41790" cy="39290"/>
            </a:xfrm>
            <a:custGeom>
              <a:avLst/>
              <a:gdLst>
                <a:gd name="connsiteX0" fmla="*/ 35004 w 41790"/>
                <a:gd name="connsiteY0" fmla="*/ 38933 h 39290"/>
                <a:gd name="connsiteX1" fmla="*/ 0 w 41790"/>
                <a:gd name="connsiteY1" fmla="*/ 5715 h 39290"/>
                <a:gd name="connsiteX2" fmla="*/ 5358 w 41790"/>
                <a:gd name="connsiteY2" fmla="*/ 0 h 39290"/>
                <a:gd name="connsiteX3" fmla="*/ 11073 w 41790"/>
                <a:gd name="connsiteY3" fmla="*/ 5358 h 39290"/>
                <a:gd name="connsiteX4" fmla="*/ 36076 w 41790"/>
                <a:gd name="connsiteY4" fmla="*/ 28218 h 39290"/>
                <a:gd name="connsiteX5" fmla="*/ 41791 w 41790"/>
                <a:gd name="connsiteY5" fmla="*/ 33576 h 39290"/>
                <a:gd name="connsiteX6" fmla="*/ 36433 w 41790"/>
                <a:gd name="connsiteY6" fmla="*/ 39291 h 39290"/>
                <a:gd name="connsiteX7" fmla="*/ 35004 w 41790"/>
                <a:gd name="connsiteY7" fmla="*/ 38933 h 3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0" h="39290">
                  <a:moveTo>
                    <a:pt x="35004" y="38933"/>
                  </a:moveTo>
                  <a:cubicBezTo>
                    <a:pt x="16431" y="38933"/>
                    <a:pt x="1072" y="24289"/>
                    <a:pt x="0" y="5715"/>
                  </a:cubicBezTo>
                  <a:cubicBezTo>
                    <a:pt x="0" y="2500"/>
                    <a:pt x="2143" y="0"/>
                    <a:pt x="5358" y="0"/>
                  </a:cubicBezTo>
                  <a:cubicBezTo>
                    <a:pt x="8572" y="0"/>
                    <a:pt x="11073" y="2143"/>
                    <a:pt x="11073" y="5358"/>
                  </a:cubicBezTo>
                  <a:cubicBezTo>
                    <a:pt x="11787" y="18574"/>
                    <a:pt x="22860" y="28575"/>
                    <a:pt x="36076" y="28218"/>
                  </a:cubicBezTo>
                  <a:cubicBezTo>
                    <a:pt x="39291" y="28218"/>
                    <a:pt x="41791" y="30361"/>
                    <a:pt x="41791" y="33576"/>
                  </a:cubicBezTo>
                  <a:cubicBezTo>
                    <a:pt x="41791" y="36790"/>
                    <a:pt x="39648" y="39291"/>
                    <a:pt x="36433" y="39291"/>
                  </a:cubicBezTo>
                  <a:cubicBezTo>
                    <a:pt x="36076" y="38933"/>
                    <a:pt x="35719" y="38933"/>
                    <a:pt x="35004" y="38933"/>
                  </a:cubicBezTo>
                  <a:close/>
                </a:path>
              </a:pathLst>
            </a:custGeom>
            <a:solidFill>
              <a:srgbClr val="FFFFFF"/>
            </a:solidFill>
            <a:ln w="3572" cap="flat">
              <a:noFill/>
              <a:prstDash val="solid"/>
              <a:miter/>
            </a:ln>
          </p:spPr>
          <p:txBody>
            <a:bodyPr rtlCol="0" anchor="ctr"/>
            <a:lstStyle/>
            <a:p>
              <a:endParaRPr lang="en-GB"/>
            </a:p>
          </p:txBody>
        </p:sp>
        <p:sp>
          <p:nvSpPr>
            <p:cNvPr id="338" name="Freeform: Shape 337">
              <a:extLst>
                <a:ext uri="{FF2B5EF4-FFF2-40B4-BE49-F238E27FC236}">
                  <a16:creationId xmlns:a16="http://schemas.microsoft.com/office/drawing/2014/main" id="{07E60D23-630F-4042-8154-4F79438FA5D8}"/>
                </a:ext>
              </a:extLst>
            </p:cNvPr>
            <p:cNvSpPr/>
            <p:nvPr/>
          </p:nvSpPr>
          <p:spPr>
            <a:xfrm>
              <a:off x="8879290" y="209257"/>
              <a:ext cx="41824" cy="38987"/>
            </a:xfrm>
            <a:custGeom>
              <a:avLst/>
              <a:gdLst>
                <a:gd name="connsiteX0" fmla="*/ 5392 w 41824"/>
                <a:gd name="connsiteY0" fmla="*/ 38987 h 38987"/>
                <a:gd name="connsiteX1" fmla="*/ 5392 w 41824"/>
                <a:gd name="connsiteY1" fmla="*/ 38987 h 38987"/>
                <a:gd name="connsiteX2" fmla="*/ 34 w 41824"/>
                <a:gd name="connsiteY2" fmla="*/ 33272 h 38987"/>
                <a:gd name="connsiteX3" fmla="*/ 36467 w 41824"/>
                <a:gd name="connsiteY3" fmla="*/ 54 h 38987"/>
                <a:gd name="connsiteX4" fmla="*/ 41825 w 41824"/>
                <a:gd name="connsiteY4" fmla="*/ 5769 h 38987"/>
                <a:gd name="connsiteX5" fmla="*/ 36110 w 41824"/>
                <a:gd name="connsiteY5" fmla="*/ 11127 h 38987"/>
                <a:gd name="connsiteX6" fmla="*/ 11107 w 41824"/>
                <a:gd name="connsiteY6" fmla="*/ 33987 h 38987"/>
                <a:gd name="connsiteX7" fmla="*/ 5392 w 41824"/>
                <a:gd name="connsiteY7" fmla="*/ 38987 h 38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24" h="38987">
                  <a:moveTo>
                    <a:pt x="5392" y="38987"/>
                  </a:moveTo>
                  <a:cubicBezTo>
                    <a:pt x="5392" y="38987"/>
                    <a:pt x="5035" y="38987"/>
                    <a:pt x="5392" y="38987"/>
                  </a:cubicBezTo>
                  <a:cubicBezTo>
                    <a:pt x="2177" y="38987"/>
                    <a:pt x="-323" y="36130"/>
                    <a:pt x="34" y="33272"/>
                  </a:cubicBezTo>
                  <a:cubicBezTo>
                    <a:pt x="1106" y="13984"/>
                    <a:pt x="17536" y="-1018"/>
                    <a:pt x="36467" y="54"/>
                  </a:cubicBezTo>
                  <a:cubicBezTo>
                    <a:pt x="39682" y="54"/>
                    <a:pt x="41825" y="2912"/>
                    <a:pt x="41825" y="5769"/>
                  </a:cubicBezTo>
                  <a:cubicBezTo>
                    <a:pt x="41825" y="8984"/>
                    <a:pt x="38967" y="11127"/>
                    <a:pt x="36110" y="11127"/>
                  </a:cubicBezTo>
                  <a:cubicBezTo>
                    <a:pt x="22894" y="10412"/>
                    <a:pt x="11821" y="20771"/>
                    <a:pt x="11107" y="33987"/>
                  </a:cubicBezTo>
                  <a:cubicBezTo>
                    <a:pt x="10750" y="36487"/>
                    <a:pt x="8249" y="38987"/>
                    <a:pt x="5392" y="38987"/>
                  </a:cubicBezTo>
                  <a:close/>
                </a:path>
              </a:pathLst>
            </a:custGeom>
            <a:solidFill>
              <a:srgbClr val="FFFFFF"/>
            </a:solidFill>
            <a:ln w="3572" cap="flat">
              <a:noFill/>
              <a:prstDash val="solid"/>
              <a:miter/>
            </a:ln>
          </p:spPr>
          <p:txBody>
            <a:bodyPr rtlCol="0" anchor="ctr"/>
            <a:lstStyle/>
            <a:p>
              <a:endParaRPr lang="en-GB"/>
            </a:p>
          </p:txBody>
        </p:sp>
        <p:sp>
          <p:nvSpPr>
            <p:cNvPr id="339" name="Freeform: Shape 338">
              <a:extLst>
                <a:ext uri="{FF2B5EF4-FFF2-40B4-BE49-F238E27FC236}">
                  <a16:creationId xmlns:a16="http://schemas.microsoft.com/office/drawing/2014/main" id="{9EB4534C-E378-4BED-B518-9C803A2B031D}"/>
                </a:ext>
              </a:extLst>
            </p:cNvPr>
            <p:cNvSpPr/>
            <p:nvPr/>
          </p:nvSpPr>
          <p:spPr>
            <a:xfrm>
              <a:off x="8990253" y="233919"/>
              <a:ext cx="64092" cy="39936"/>
            </a:xfrm>
            <a:custGeom>
              <a:avLst/>
              <a:gdLst>
                <a:gd name="connsiteX0" fmla="*/ 58021 w 64092"/>
                <a:gd name="connsiteY0" fmla="*/ 26114 h 39936"/>
                <a:gd name="connsiteX1" fmla="*/ 40519 w 64092"/>
                <a:gd name="connsiteY1" fmla="*/ 21113 h 39936"/>
                <a:gd name="connsiteX2" fmla="*/ 31589 w 64092"/>
                <a:gd name="connsiteY2" fmla="*/ 5039 h 39936"/>
                <a:gd name="connsiteX3" fmla="*/ 25517 w 64092"/>
                <a:gd name="connsiteY3" fmla="*/ 39 h 39936"/>
                <a:gd name="connsiteX4" fmla="*/ 20516 w 64092"/>
                <a:gd name="connsiteY4" fmla="*/ 6111 h 39936"/>
                <a:gd name="connsiteX5" fmla="*/ 27303 w 64092"/>
                <a:gd name="connsiteY5" fmla="*/ 23256 h 39936"/>
                <a:gd name="connsiteX6" fmla="*/ 24802 w 64092"/>
                <a:gd name="connsiteY6" fmla="*/ 25042 h 39936"/>
                <a:gd name="connsiteX7" fmla="*/ 6943 w 64092"/>
                <a:gd name="connsiteY7" fmla="*/ 27899 h 39936"/>
                <a:gd name="connsiteX8" fmla="*/ 156 w 64092"/>
                <a:gd name="connsiteY8" fmla="*/ 32186 h 39936"/>
                <a:gd name="connsiteX9" fmla="*/ 4443 w 64092"/>
                <a:gd name="connsiteY9" fmla="*/ 38972 h 39936"/>
                <a:gd name="connsiteX10" fmla="*/ 30874 w 64092"/>
                <a:gd name="connsiteY10" fmla="*/ 34686 h 39936"/>
                <a:gd name="connsiteX11" fmla="*/ 35518 w 64092"/>
                <a:gd name="connsiteY11" fmla="*/ 31114 h 39936"/>
                <a:gd name="connsiteX12" fmla="*/ 59092 w 64092"/>
                <a:gd name="connsiteY12" fmla="*/ 37186 h 39936"/>
                <a:gd name="connsiteX13" fmla="*/ 61235 w 64092"/>
                <a:gd name="connsiteY13" fmla="*/ 36472 h 39936"/>
                <a:gd name="connsiteX14" fmla="*/ 64093 w 64092"/>
                <a:gd name="connsiteY14" fmla="*/ 31114 h 39936"/>
                <a:gd name="connsiteX15" fmla="*/ 58021 w 64092"/>
                <a:gd name="connsiteY15" fmla="*/ 26114 h 3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092" h="39936">
                  <a:moveTo>
                    <a:pt x="58021" y="26114"/>
                  </a:moveTo>
                  <a:cubicBezTo>
                    <a:pt x="51591" y="26828"/>
                    <a:pt x="45519" y="25042"/>
                    <a:pt x="40519" y="21113"/>
                  </a:cubicBezTo>
                  <a:cubicBezTo>
                    <a:pt x="35518" y="17184"/>
                    <a:pt x="32303" y="11469"/>
                    <a:pt x="31589" y="5039"/>
                  </a:cubicBezTo>
                  <a:cubicBezTo>
                    <a:pt x="31232" y="1825"/>
                    <a:pt x="28374" y="-318"/>
                    <a:pt x="25517" y="39"/>
                  </a:cubicBezTo>
                  <a:cubicBezTo>
                    <a:pt x="22659" y="396"/>
                    <a:pt x="20159" y="3253"/>
                    <a:pt x="20516" y="6111"/>
                  </a:cubicBezTo>
                  <a:cubicBezTo>
                    <a:pt x="21230" y="12540"/>
                    <a:pt x="23731" y="18255"/>
                    <a:pt x="27303" y="23256"/>
                  </a:cubicBezTo>
                  <a:cubicBezTo>
                    <a:pt x="26588" y="23970"/>
                    <a:pt x="25874" y="24328"/>
                    <a:pt x="24802" y="25042"/>
                  </a:cubicBezTo>
                  <a:cubicBezTo>
                    <a:pt x="19444" y="28257"/>
                    <a:pt x="13015" y="29328"/>
                    <a:pt x="6943" y="27899"/>
                  </a:cubicBezTo>
                  <a:cubicBezTo>
                    <a:pt x="4085" y="27185"/>
                    <a:pt x="871" y="28971"/>
                    <a:pt x="156" y="32186"/>
                  </a:cubicBezTo>
                  <a:cubicBezTo>
                    <a:pt x="-558" y="35043"/>
                    <a:pt x="1228" y="38258"/>
                    <a:pt x="4443" y="38972"/>
                  </a:cubicBezTo>
                  <a:cubicBezTo>
                    <a:pt x="13372" y="41115"/>
                    <a:pt x="23016" y="39687"/>
                    <a:pt x="30874" y="34686"/>
                  </a:cubicBezTo>
                  <a:cubicBezTo>
                    <a:pt x="32660" y="33614"/>
                    <a:pt x="34089" y="32543"/>
                    <a:pt x="35518" y="31114"/>
                  </a:cubicBezTo>
                  <a:cubicBezTo>
                    <a:pt x="42304" y="36115"/>
                    <a:pt x="50877" y="38258"/>
                    <a:pt x="59092" y="37186"/>
                  </a:cubicBezTo>
                  <a:cubicBezTo>
                    <a:pt x="59807" y="37186"/>
                    <a:pt x="60521" y="36829"/>
                    <a:pt x="61235" y="36472"/>
                  </a:cubicBezTo>
                  <a:cubicBezTo>
                    <a:pt x="63021" y="35400"/>
                    <a:pt x="64093" y="33257"/>
                    <a:pt x="64093" y="31114"/>
                  </a:cubicBezTo>
                  <a:cubicBezTo>
                    <a:pt x="63736" y="27899"/>
                    <a:pt x="60878" y="25756"/>
                    <a:pt x="58021" y="26114"/>
                  </a:cubicBezTo>
                  <a:close/>
                </a:path>
              </a:pathLst>
            </a:custGeom>
            <a:solidFill>
              <a:srgbClr val="FFFFFF"/>
            </a:solidFill>
            <a:ln w="3572" cap="flat">
              <a:noFill/>
              <a:prstDash val="solid"/>
              <a:miter/>
            </a:ln>
          </p:spPr>
          <p:txBody>
            <a:bodyPr rtlCol="0" anchor="ctr"/>
            <a:lstStyle/>
            <a:p>
              <a:endParaRPr lang="en-GB"/>
            </a:p>
          </p:txBody>
        </p:sp>
        <p:sp>
          <p:nvSpPr>
            <p:cNvPr id="340" name="Freeform: Shape 339">
              <a:extLst>
                <a:ext uri="{FF2B5EF4-FFF2-40B4-BE49-F238E27FC236}">
                  <a16:creationId xmlns:a16="http://schemas.microsoft.com/office/drawing/2014/main" id="{E17F17A4-930B-452B-BC62-2CD80FE4F2F4}"/>
                </a:ext>
              </a:extLst>
            </p:cNvPr>
            <p:cNvSpPr/>
            <p:nvPr/>
          </p:nvSpPr>
          <p:spPr>
            <a:xfrm>
              <a:off x="8776454" y="234990"/>
              <a:ext cx="64092" cy="39936"/>
            </a:xfrm>
            <a:custGeom>
              <a:avLst/>
              <a:gdLst>
                <a:gd name="connsiteX0" fmla="*/ 6072 w 64092"/>
                <a:gd name="connsiteY0" fmla="*/ 26113 h 39936"/>
                <a:gd name="connsiteX1" fmla="*/ 23574 w 64092"/>
                <a:gd name="connsiteY1" fmla="*/ 21113 h 39936"/>
                <a:gd name="connsiteX2" fmla="*/ 32504 w 64092"/>
                <a:gd name="connsiteY2" fmla="*/ 5039 h 39936"/>
                <a:gd name="connsiteX3" fmla="*/ 38576 w 64092"/>
                <a:gd name="connsiteY3" fmla="*/ 39 h 39936"/>
                <a:gd name="connsiteX4" fmla="*/ 43577 w 64092"/>
                <a:gd name="connsiteY4" fmla="*/ 6111 h 39936"/>
                <a:gd name="connsiteX5" fmla="*/ 36790 w 64092"/>
                <a:gd name="connsiteY5" fmla="*/ 23256 h 39936"/>
                <a:gd name="connsiteX6" fmla="*/ 39291 w 64092"/>
                <a:gd name="connsiteY6" fmla="*/ 25042 h 39936"/>
                <a:gd name="connsiteX7" fmla="*/ 57150 w 64092"/>
                <a:gd name="connsiteY7" fmla="*/ 27899 h 39936"/>
                <a:gd name="connsiteX8" fmla="*/ 63937 w 64092"/>
                <a:gd name="connsiteY8" fmla="*/ 32186 h 39936"/>
                <a:gd name="connsiteX9" fmla="*/ 59650 w 64092"/>
                <a:gd name="connsiteY9" fmla="*/ 38972 h 39936"/>
                <a:gd name="connsiteX10" fmla="*/ 33218 w 64092"/>
                <a:gd name="connsiteY10" fmla="*/ 34686 h 39936"/>
                <a:gd name="connsiteX11" fmla="*/ 28575 w 64092"/>
                <a:gd name="connsiteY11" fmla="*/ 31114 h 39936"/>
                <a:gd name="connsiteX12" fmla="*/ 5001 w 64092"/>
                <a:gd name="connsiteY12" fmla="*/ 37186 h 39936"/>
                <a:gd name="connsiteX13" fmla="*/ 2857 w 64092"/>
                <a:gd name="connsiteY13" fmla="*/ 36472 h 39936"/>
                <a:gd name="connsiteX14" fmla="*/ 0 w 64092"/>
                <a:gd name="connsiteY14" fmla="*/ 31114 h 39936"/>
                <a:gd name="connsiteX15" fmla="*/ 6072 w 64092"/>
                <a:gd name="connsiteY15" fmla="*/ 26113 h 3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092" h="39936">
                  <a:moveTo>
                    <a:pt x="6072" y="26113"/>
                  </a:moveTo>
                  <a:cubicBezTo>
                    <a:pt x="12502" y="26828"/>
                    <a:pt x="18574" y="25042"/>
                    <a:pt x="23574" y="21113"/>
                  </a:cubicBezTo>
                  <a:cubicBezTo>
                    <a:pt x="28575" y="17184"/>
                    <a:pt x="31790" y="11469"/>
                    <a:pt x="32504" y="5039"/>
                  </a:cubicBezTo>
                  <a:cubicBezTo>
                    <a:pt x="32861" y="1825"/>
                    <a:pt x="35719" y="-318"/>
                    <a:pt x="38576" y="39"/>
                  </a:cubicBezTo>
                  <a:cubicBezTo>
                    <a:pt x="41434" y="396"/>
                    <a:pt x="43934" y="3253"/>
                    <a:pt x="43577" y="6111"/>
                  </a:cubicBezTo>
                  <a:cubicBezTo>
                    <a:pt x="42862" y="12540"/>
                    <a:pt x="40362" y="18255"/>
                    <a:pt x="36790" y="23256"/>
                  </a:cubicBezTo>
                  <a:cubicBezTo>
                    <a:pt x="37505" y="23970"/>
                    <a:pt x="38219" y="24328"/>
                    <a:pt x="39291" y="25042"/>
                  </a:cubicBezTo>
                  <a:cubicBezTo>
                    <a:pt x="44648" y="28257"/>
                    <a:pt x="51078" y="29328"/>
                    <a:pt x="57150" y="27899"/>
                  </a:cubicBezTo>
                  <a:cubicBezTo>
                    <a:pt x="60008" y="27185"/>
                    <a:pt x="63222" y="28971"/>
                    <a:pt x="63937" y="32186"/>
                  </a:cubicBezTo>
                  <a:cubicBezTo>
                    <a:pt x="64651" y="35043"/>
                    <a:pt x="62865" y="38258"/>
                    <a:pt x="59650" y="38972"/>
                  </a:cubicBezTo>
                  <a:cubicBezTo>
                    <a:pt x="50721" y="41115"/>
                    <a:pt x="41077" y="39687"/>
                    <a:pt x="33218" y="34686"/>
                  </a:cubicBezTo>
                  <a:cubicBezTo>
                    <a:pt x="31433" y="33614"/>
                    <a:pt x="30004" y="32543"/>
                    <a:pt x="28575" y="31114"/>
                  </a:cubicBezTo>
                  <a:cubicBezTo>
                    <a:pt x="21788" y="36115"/>
                    <a:pt x="13216" y="38258"/>
                    <a:pt x="5001" y="37186"/>
                  </a:cubicBezTo>
                  <a:cubicBezTo>
                    <a:pt x="4286" y="37186"/>
                    <a:pt x="3572" y="36829"/>
                    <a:pt x="2857" y="36472"/>
                  </a:cubicBezTo>
                  <a:cubicBezTo>
                    <a:pt x="1072" y="35400"/>
                    <a:pt x="0" y="33257"/>
                    <a:pt x="0" y="31114"/>
                  </a:cubicBezTo>
                  <a:cubicBezTo>
                    <a:pt x="357" y="28257"/>
                    <a:pt x="3215" y="25756"/>
                    <a:pt x="6072" y="26113"/>
                  </a:cubicBezTo>
                  <a:close/>
                </a:path>
              </a:pathLst>
            </a:custGeom>
            <a:solidFill>
              <a:srgbClr val="FFFFFF"/>
            </a:solidFill>
            <a:ln w="3572" cap="flat">
              <a:noFill/>
              <a:prstDash val="solid"/>
              <a:miter/>
            </a:ln>
          </p:spPr>
          <p:txBody>
            <a:bodyPr rtlCol="0" anchor="ctr"/>
            <a:lstStyle/>
            <a:p>
              <a:endParaRPr lang="en-GB"/>
            </a:p>
          </p:txBody>
        </p:sp>
      </p:grpSp>
      <p:grpSp>
        <p:nvGrpSpPr>
          <p:cNvPr id="341" name="Graphic 4995">
            <a:extLst>
              <a:ext uri="{FF2B5EF4-FFF2-40B4-BE49-F238E27FC236}">
                <a16:creationId xmlns:a16="http://schemas.microsoft.com/office/drawing/2014/main" id="{6CD2A487-AFF5-4D10-B764-20916919B808}"/>
              </a:ext>
            </a:extLst>
          </p:cNvPr>
          <p:cNvGrpSpPr>
            <a:grpSpLocks noChangeAspect="1"/>
          </p:cNvGrpSpPr>
          <p:nvPr/>
        </p:nvGrpSpPr>
        <p:grpSpPr>
          <a:xfrm>
            <a:off x="5872111" y="1303764"/>
            <a:ext cx="457200" cy="457200"/>
            <a:chOff x="55006" y="2866786"/>
            <a:chExt cx="347186" cy="347186"/>
          </a:xfrm>
          <a:solidFill>
            <a:srgbClr val="000000"/>
          </a:solidFill>
        </p:grpSpPr>
        <p:grpSp>
          <p:nvGrpSpPr>
            <p:cNvPr id="342" name="Graphic 4995">
              <a:extLst>
                <a:ext uri="{FF2B5EF4-FFF2-40B4-BE49-F238E27FC236}">
                  <a16:creationId xmlns:a16="http://schemas.microsoft.com/office/drawing/2014/main" id="{0828C182-9E69-44A5-A55C-BE55974B77E1}"/>
                </a:ext>
              </a:extLst>
            </p:cNvPr>
            <p:cNvGrpSpPr/>
            <p:nvPr/>
          </p:nvGrpSpPr>
          <p:grpSpPr>
            <a:xfrm>
              <a:off x="55006" y="2866786"/>
              <a:ext cx="347186" cy="347186"/>
              <a:chOff x="55006" y="2866786"/>
              <a:chExt cx="347186" cy="347186"/>
            </a:xfrm>
            <a:solidFill>
              <a:srgbClr val="444D5B"/>
            </a:solidFill>
          </p:grpSpPr>
          <p:grpSp>
            <p:nvGrpSpPr>
              <p:cNvPr id="351" name="Graphic 4995">
                <a:extLst>
                  <a:ext uri="{FF2B5EF4-FFF2-40B4-BE49-F238E27FC236}">
                    <a16:creationId xmlns:a16="http://schemas.microsoft.com/office/drawing/2014/main" id="{ECB0730A-D9FA-48A5-BB0C-83CF9F13FD80}"/>
                  </a:ext>
                </a:extLst>
              </p:cNvPr>
              <p:cNvGrpSpPr/>
              <p:nvPr/>
            </p:nvGrpSpPr>
            <p:grpSpPr>
              <a:xfrm>
                <a:off x="55006" y="2866786"/>
                <a:ext cx="347186" cy="347186"/>
                <a:chOff x="55006" y="2866786"/>
                <a:chExt cx="347186" cy="347186"/>
              </a:xfrm>
              <a:solidFill>
                <a:srgbClr val="444D5B"/>
              </a:solidFill>
            </p:grpSpPr>
            <p:grpSp>
              <p:nvGrpSpPr>
                <p:cNvPr id="359" name="Graphic 4995">
                  <a:extLst>
                    <a:ext uri="{FF2B5EF4-FFF2-40B4-BE49-F238E27FC236}">
                      <a16:creationId xmlns:a16="http://schemas.microsoft.com/office/drawing/2014/main" id="{3DFD8D6B-F75B-4F7B-BC01-8495236407CC}"/>
                    </a:ext>
                  </a:extLst>
                </p:cNvPr>
                <p:cNvGrpSpPr/>
                <p:nvPr/>
              </p:nvGrpSpPr>
              <p:grpSpPr>
                <a:xfrm>
                  <a:off x="207077" y="2866786"/>
                  <a:ext cx="43044" cy="347186"/>
                  <a:chOff x="207077" y="2866786"/>
                  <a:chExt cx="43044" cy="347186"/>
                </a:xfrm>
                <a:solidFill>
                  <a:srgbClr val="444D5B"/>
                </a:solidFill>
              </p:grpSpPr>
              <p:sp>
                <p:nvSpPr>
                  <p:cNvPr id="363" name="Freeform: Shape 362">
                    <a:extLst>
                      <a:ext uri="{FF2B5EF4-FFF2-40B4-BE49-F238E27FC236}">
                        <a16:creationId xmlns:a16="http://schemas.microsoft.com/office/drawing/2014/main" id="{CDD4F449-E5A7-4C9C-A552-F022D3A3CB70}"/>
                      </a:ext>
                    </a:extLst>
                  </p:cNvPr>
                  <p:cNvSpPr/>
                  <p:nvPr/>
                </p:nvSpPr>
                <p:spPr>
                  <a:xfrm>
                    <a:off x="207077" y="2866786"/>
                    <a:ext cx="43044" cy="46434"/>
                  </a:xfrm>
                  <a:custGeom>
                    <a:avLst/>
                    <a:gdLst>
                      <a:gd name="connsiteX0" fmla="*/ 35095 w 43044"/>
                      <a:gd name="connsiteY0" fmla="*/ 46434 h 46434"/>
                      <a:gd name="connsiteX1" fmla="*/ 7949 w 43044"/>
                      <a:gd name="connsiteY1" fmla="*/ 46434 h 46434"/>
                      <a:gd name="connsiteX2" fmla="*/ 91 w 43044"/>
                      <a:gd name="connsiteY2" fmla="*/ 37148 h 46434"/>
                      <a:gd name="connsiteX3" fmla="*/ 4377 w 43044"/>
                      <a:gd name="connsiteY3" fmla="*/ 6787 h 46434"/>
                      <a:gd name="connsiteX4" fmla="*/ 12235 w 43044"/>
                      <a:gd name="connsiteY4" fmla="*/ 0 h 46434"/>
                      <a:gd name="connsiteX5" fmla="*/ 30809 w 43044"/>
                      <a:gd name="connsiteY5" fmla="*/ 0 h 46434"/>
                      <a:gd name="connsiteX6" fmla="*/ 38667 w 43044"/>
                      <a:gd name="connsiteY6" fmla="*/ 6787 h 46434"/>
                      <a:gd name="connsiteX7" fmla="*/ 42954 w 43044"/>
                      <a:gd name="connsiteY7" fmla="*/ 37148 h 46434"/>
                      <a:gd name="connsiteX8" fmla="*/ 35095 w 43044"/>
                      <a:gd name="connsiteY8" fmla="*/ 46434 h 4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4" h="46434">
                        <a:moveTo>
                          <a:pt x="35095" y="46434"/>
                        </a:moveTo>
                        <a:lnTo>
                          <a:pt x="7949" y="46434"/>
                        </a:lnTo>
                        <a:cubicBezTo>
                          <a:pt x="2949" y="46434"/>
                          <a:pt x="-623" y="42148"/>
                          <a:pt x="91" y="37148"/>
                        </a:cubicBezTo>
                        <a:lnTo>
                          <a:pt x="4377" y="6787"/>
                        </a:lnTo>
                        <a:cubicBezTo>
                          <a:pt x="5092" y="2858"/>
                          <a:pt x="8306" y="0"/>
                          <a:pt x="12235" y="0"/>
                        </a:cubicBezTo>
                        <a:lnTo>
                          <a:pt x="30809" y="0"/>
                        </a:lnTo>
                        <a:cubicBezTo>
                          <a:pt x="34738" y="0"/>
                          <a:pt x="38310" y="2858"/>
                          <a:pt x="38667" y="6787"/>
                        </a:cubicBezTo>
                        <a:lnTo>
                          <a:pt x="42954" y="37148"/>
                        </a:lnTo>
                        <a:cubicBezTo>
                          <a:pt x="43668" y="42148"/>
                          <a:pt x="40096" y="46434"/>
                          <a:pt x="35095" y="46434"/>
                        </a:cubicBezTo>
                        <a:close/>
                      </a:path>
                    </a:pathLst>
                  </a:custGeom>
                  <a:solidFill>
                    <a:srgbClr val="444D5B"/>
                  </a:solidFill>
                  <a:ln w="3572" cap="flat">
                    <a:noFill/>
                    <a:prstDash val="solid"/>
                    <a:miter/>
                  </a:ln>
                </p:spPr>
                <p:txBody>
                  <a:bodyPr rtlCol="0" anchor="ctr"/>
                  <a:lstStyle/>
                  <a:p>
                    <a:endParaRPr lang="en-GB"/>
                  </a:p>
                </p:txBody>
              </p:sp>
              <p:sp>
                <p:nvSpPr>
                  <p:cNvPr id="364" name="Freeform: Shape 363">
                    <a:extLst>
                      <a:ext uri="{FF2B5EF4-FFF2-40B4-BE49-F238E27FC236}">
                        <a16:creationId xmlns:a16="http://schemas.microsoft.com/office/drawing/2014/main" id="{D8838E3D-E966-4961-BDC7-243BBF8C427B}"/>
                      </a:ext>
                    </a:extLst>
                  </p:cNvPr>
                  <p:cNvSpPr/>
                  <p:nvPr/>
                </p:nvSpPr>
                <p:spPr>
                  <a:xfrm>
                    <a:off x="207077" y="3167538"/>
                    <a:ext cx="43044" cy="46434"/>
                  </a:xfrm>
                  <a:custGeom>
                    <a:avLst/>
                    <a:gdLst>
                      <a:gd name="connsiteX0" fmla="*/ 7949 w 43044"/>
                      <a:gd name="connsiteY0" fmla="*/ 0 h 46434"/>
                      <a:gd name="connsiteX1" fmla="*/ 35095 w 43044"/>
                      <a:gd name="connsiteY1" fmla="*/ 0 h 46434"/>
                      <a:gd name="connsiteX2" fmla="*/ 42954 w 43044"/>
                      <a:gd name="connsiteY2" fmla="*/ 9287 h 46434"/>
                      <a:gd name="connsiteX3" fmla="*/ 38667 w 43044"/>
                      <a:gd name="connsiteY3" fmla="*/ 39648 h 46434"/>
                      <a:gd name="connsiteX4" fmla="*/ 30809 w 43044"/>
                      <a:gd name="connsiteY4" fmla="*/ 46434 h 46434"/>
                      <a:gd name="connsiteX5" fmla="*/ 12235 w 43044"/>
                      <a:gd name="connsiteY5" fmla="*/ 46434 h 46434"/>
                      <a:gd name="connsiteX6" fmla="*/ 4377 w 43044"/>
                      <a:gd name="connsiteY6" fmla="*/ 39648 h 46434"/>
                      <a:gd name="connsiteX7" fmla="*/ 91 w 43044"/>
                      <a:gd name="connsiteY7" fmla="*/ 9287 h 46434"/>
                      <a:gd name="connsiteX8" fmla="*/ 7949 w 43044"/>
                      <a:gd name="connsiteY8" fmla="*/ 0 h 4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4" h="46434">
                        <a:moveTo>
                          <a:pt x="7949" y="0"/>
                        </a:moveTo>
                        <a:lnTo>
                          <a:pt x="35095" y="0"/>
                        </a:lnTo>
                        <a:cubicBezTo>
                          <a:pt x="40096" y="0"/>
                          <a:pt x="43668" y="4286"/>
                          <a:pt x="42954" y="9287"/>
                        </a:cubicBezTo>
                        <a:lnTo>
                          <a:pt x="38667" y="39648"/>
                        </a:lnTo>
                        <a:cubicBezTo>
                          <a:pt x="37953" y="43577"/>
                          <a:pt x="34738" y="46434"/>
                          <a:pt x="30809" y="46434"/>
                        </a:cubicBezTo>
                        <a:lnTo>
                          <a:pt x="12235" y="46434"/>
                        </a:lnTo>
                        <a:cubicBezTo>
                          <a:pt x="8306" y="46434"/>
                          <a:pt x="4734" y="43577"/>
                          <a:pt x="4377" y="39648"/>
                        </a:cubicBezTo>
                        <a:lnTo>
                          <a:pt x="91" y="9287"/>
                        </a:lnTo>
                        <a:cubicBezTo>
                          <a:pt x="-623" y="4286"/>
                          <a:pt x="2949" y="0"/>
                          <a:pt x="7949" y="0"/>
                        </a:cubicBezTo>
                        <a:close/>
                      </a:path>
                    </a:pathLst>
                  </a:custGeom>
                  <a:solidFill>
                    <a:srgbClr val="444D5B"/>
                  </a:solidFill>
                  <a:ln w="3572" cap="flat">
                    <a:noFill/>
                    <a:prstDash val="solid"/>
                    <a:miter/>
                  </a:ln>
                </p:spPr>
                <p:txBody>
                  <a:bodyPr rtlCol="0" anchor="ctr"/>
                  <a:lstStyle/>
                  <a:p>
                    <a:endParaRPr lang="en-GB"/>
                  </a:p>
                </p:txBody>
              </p:sp>
            </p:grpSp>
            <p:grpSp>
              <p:nvGrpSpPr>
                <p:cNvPr id="360" name="Graphic 4995">
                  <a:extLst>
                    <a:ext uri="{FF2B5EF4-FFF2-40B4-BE49-F238E27FC236}">
                      <a16:creationId xmlns:a16="http://schemas.microsoft.com/office/drawing/2014/main" id="{38A03634-51CC-4E92-9B22-F4F918F9E563}"/>
                    </a:ext>
                  </a:extLst>
                </p:cNvPr>
                <p:cNvGrpSpPr/>
                <p:nvPr/>
              </p:nvGrpSpPr>
              <p:grpSpPr>
                <a:xfrm>
                  <a:off x="55006" y="3018857"/>
                  <a:ext cx="347186" cy="43044"/>
                  <a:chOff x="55006" y="3018857"/>
                  <a:chExt cx="347186" cy="43044"/>
                </a:xfrm>
                <a:solidFill>
                  <a:srgbClr val="444D5B"/>
                </a:solidFill>
              </p:grpSpPr>
              <p:sp>
                <p:nvSpPr>
                  <p:cNvPr id="361" name="Freeform: Shape 360">
                    <a:extLst>
                      <a:ext uri="{FF2B5EF4-FFF2-40B4-BE49-F238E27FC236}">
                        <a16:creationId xmlns:a16="http://schemas.microsoft.com/office/drawing/2014/main" id="{E0044E42-0EEA-495E-9F42-B4374D50F4AD}"/>
                      </a:ext>
                    </a:extLst>
                  </p:cNvPr>
                  <p:cNvSpPr/>
                  <p:nvPr/>
                </p:nvSpPr>
                <p:spPr>
                  <a:xfrm>
                    <a:off x="355758" y="3018857"/>
                    <a:ext cx="46434" cy="43044"/>
                  </a:xfrm>
                  <a:custGeom>
                    <a:avLst/>
                    <a:gdLst>
                      <a:gd name="connsiteX0" fmla="*/ 0 w 46434"/>
                      <a:gd name="connsiteY0" fmla="*/ 35095 h 43044"/>
                      <a:gd name="connsiteX1" fmla="*/ 0 w 46434"/>
                      <a:gd name="connsiteY1" fmla="*/ 7949 h 43044"/>
                      <a:gd name="connsiteX2" fmla="*/ 9287 w 46434"/>
                      <a:gd name="connsiteY2" fmla="*/ 91 h 43044"/>
                      <a:gd name="connsiteX3" fmla="*/ 39648 w 46434"/>
                      <a:gd name="connsiteY3" fmla="*/ 4377 h 43044"/>
                      <a:gd name="connsiteX4" fmla="*/ 46434 w 46434"/>
                      <a:gd name="connsiteY4" fmla="*/ 12235 h 43044"/>
                      <a:gd name="connsiteX5" fmla="*/ 46434 w 46434"/>
                      <a:gd name="connsiteY5" fmla="*/ 30809 h 43044"/>
                      <a:gd name="connsiteX6" fmla="*/ 39648 w 46434"/>
                      <a:gd name="connsiteY6" fmla="*/ 38667 h 43044"/>
                      <a:gd name="connsiteX7" fmla="*/ 9287 w 46434"/>
                      <a:gd name="connsiteY7" fmla="*/ 42954 h 43044"/>
                      <a:gd name="connsiteX8" fmla="*/ 0 w 46434"/>
                      <a:gd name="connsiteY8" fmla="*/ 35095 h 4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34" h="43044">
                        <a:moveTo>
                          <a:pt x="0" y="35095"/>
                        </a:moveTo>
                        <a:lnTo>
                          <a:pt x="0" y="7949"/>
                        </a:lnTo>
                        <a:cubicBezTo>
                          <a:pt x="0" y="2949"/>
                          <a:pt x="4286" y="-623"/>
                          <a:pt x="9287" y="91"/>
                        </a:cubicBezTo>
                        <a:lnTo>
                          <a:pt x="39648" y="4377"/>
                        </a:lnTo>
                        <a:cubicBezTo>
                          <a:pt x="43577" y="5092"/>
                          <a:pt x="46434" y="8306"/>
                          <a:pt x="46434" y="12235"/>
                        </a:cubicBezTo>
                        <a:lnTo>
                          <a:pt x="46434" y="30809"/>
                        </a:lnTo>
                        <a:cubicBezTo>
                          <a:pt x="46434" y="34738"/>
                          <a:pt x="43577" y="38310"/>
                          <a:pt x="39648" y="38667"/>
                        </a:cubicBezTo>
                        <a:lnTo>
                          <a:pt x="9287" y="42954"/>
                        </a:lnTo>
                        <a:cubicBezTo>
                          <a:pt x="4286" y="43668"/>
                          <a:pt x="0" y="40096"/>
                          <a:pt x="0" y="35095"/>
                        </a:cubicBezTo>
                        <a:close/>
                      </a:path>
                    </a:pathLst>
                  </a:custGeom>
                  <a:solidFill>
                    <a:srgbClr val="444D5B"/>
                  </a:solidFill>
                  <a:ln w="3572" cap="flat">
                    <a:noFill/>
                    <a:prstDash val="solid"/>
                    <a:miter/>
                  </a:ln>
                </p:spPr>
                <p:txBody>
                  <a:bodyPr rtlCol="0" anchor="ctr"/>
                  <a:lstStyle/>
                  <a:p>
                    <a:endParaRPr lang="en-GB"/>
                  </a:p>
                </p:txBody>
              </p:sp>
              <p:sp>
                <p:nvSpPr>
                  <p:cNvPr id="362" name="Freeform: Shape 361">
                    <a:extLst>
                      <a:ext uri="{FF2B5EF4-FFF2-40B4-BE49-F238E27FC236}">
                        <a16:creationId xmlns:a16="http://schemas.microsoft.com/office/drawing/2014/main" id="{5A2EA51B-016F-4D3F-8D78-13DCE20D0457}"/>
                      </a:ext>
                    </a:extLst>
                  </p:cNvPr>
                  <p:cNvSpPr/>
                  <p:nvPr/>
                </p:nvSpPr>
                <p:spPr>
                  <a:xfrm>
                    <a:off x="55006" y="3018857"/>
                    <a:ext cx="46434" cy="43044"/>
                  </a:xfrm>
                  <a:custGeom>
                    <a:avLst/>
                    <a:gdLst>
                      <a:gd name="connsiteX0" fmla="*/ 46434 w 46434"/>
                      <a:gd name="connsiteY0" fmla="*/ 7949 h 43044"/>
                      <a:gd name="connsiteX1" fmla="*/ 46434 w 46434"/>
                      <a:gd name="connsiteY1" fmla="*/ 35095 h 43044"/>
                      <a:gd name="connsiteX2" fmla="*/ 37148 w 46434"/>
                      <a:gd name="connsiteY2" fmla="*/ 42954 h 43044"/>
                      <a:gd name="connsiteX3" fmla="*/ 6787 w 46434"/>
                      <a:gd name="connsiteY3" fmla="*/ 38667 h 43044"/>
                      <a:gd name="connsiteX4" fmla="*/ 0 w 46434"/>
                      <a:gd name="connsiteY4" fmla="*/ 30809 h 43044"/>
                      <a:gd name="connsiteX5" fmla="*/ 0 w 46434"/>
                      <a:gd name="connsiteY5" fmla="*/ 12235 h 43044"/>
                      <a:gd name="connsiteX6" fmla="*/ 6787 w 46434"/>
                      <a:gd name="connsiteY6" fmla="*/ 4377 h 43044"/>
                      <a:gd name="connsiteX7" fmla="*/ 37148 w 46434"/>
                      <a:gd name="connsiteY7" fmla="*/ 91 h 43044"/>
                      <a:gd name="connsiteX8" fmla="*/ 46434 w 46434"/>
                      <a:gd name="connsiteY8" fmla="*/ 7949 h 4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34" h="43044">
                        <a:moveTo>
                          <a:pt x="46434" y="7949"/>
                        </a:moveTo>
                        <a:lnTo>
                          <a:pt x="46434" y="35095"/>
                        </a:lnTo>
                        <a:cubicBezTo>
                          <a:pt x="46434" y="40096"/>
                          <a:pt x="42148" y="43668"/>
                          <a:pt x="37148" y="42954"/>
                        </a:cubicBezTo>
                        <a:lnTo>
                          <a:pt x="6787" y="38667"/>
                        </a:lnTo>
                        <a:cubicBezTo>
                          <a:pt x="2858" y="37953"/>
                          <a:pt x="0" y="34738"/>
                          <a:pt x="0" y="30809"/>
                        </a:cubicBezTo>
                        <a:lnTo>
                          <a:pt x="0" y="12235"/>
                        </a:lnTo>
                        <a:cubicBezTo>
                          <a:pt x="0" y="8306"/>
                          <a:pt x="2858" y="4734"/>
                          <a:pt x="6787" y="4377"/>
                        </a:cubicBezTo>
                        <a:lnTo>
                          <a:pt x="37148" y="91"/>
                        </a:lnTo>
                        <a:cubicBezTo>
                          <a:pt x="42148" y="-623"/>
                          <a:pt x="46434" y="2949"/>
                          <a:pt x="46434" y="7949"/>
                        </a:cubicBezTo>
                        <a:close/>
                      </a:path>
                    </a:pathLst>
                  </a:custGeom>
                  <a:solidFill>
                    <a:srgbClr val="444D5B"/>
                  </a:solidFill>
                  <a:ln w="3572" cap="flat">
                    <a:noFill/>
                    <a:prstDash val="solid"/>
                    <a:miter/>
                  </a:ln>
                </p:spPr>
                <p:txBody>
                  <a:bodyPr rtlCol="0" anchor="ctr"/>
                  <a:lstStyle/>
                  <a:p>
                    <a:endParaRPr lang="en-GB"/>
                  </a:p>
                </p:txBody>
              </p:sp>
            </p:grpSp>
          </p:grpSp>
          <p:grpSp>
            <p:nvGrpSpPr>
              <p:cNvPr id="352" name="Graphic 4995">
                <a:extLst>
                  <a:ext uri="{FF2B5EF4-FFF2-40B4-BE49-F238E27FC236}">
                    <a16:creationId xmlns:a16="http://schemas.microsoft.com/office/drawing/2014/main" id="{EEB61997-89E6-4D94-965C-62D4994984E7}"/>
                  </a:ext>
                </a:extLst>
              </p:cNvPr>
              <p:cNvGrpSpPr/>
              <p:nvPr/>
            </p:nvGrpSpPr>
            <p:grpSpPr>
              <a:xfrm>
                <a:off x="96911" y="2908691"/>
                <a:ext cx="263376" cy="263376"/>
                <a:chOff x="96911" y="2908691"/>
                <a:chExt cx="263376" cy="263376"/>
              </a:xfrm>
              <a:solidFill>
                <a:srgbClr val="444D5B"/>
              </a:solidFill>
            </p:grpSpPr>
            <p:grpSp>
              <p:nvGrpSpPr>
                <p:cNvPr id="353" name="Graphic 4995">
                  <a:extLst>
                    <a:ext uri="{FF2B5EF4-FFF2-40B4-BE49-F238E27FC236}">
                      <a16:creationId xmlns:a16="http://schemas.microsoft.com/office/drawing/2014/main" id="{E14CEA97-7808-44A6-ADA5-33C208EAF128}"/>
                    </a:ext>
                  </a:extLst>
                </p:cNvPr>
                <p:cNvGrpSpPr/>
                <p:nvPr/>
              </p:nvGrpSpPr>
              <p:grpSpPr>
                <a:xfrm>
                  <a:off x="97268" y="2908691"/>
                  <a:ext cx="262662" cy="263376"/>
                  <a:chOff x="97268" y="2908691"/>
                  <a:chExt cx="262662" cy="263376"/>
                </a:xfrm>
                <a:solidFill>
                  <a:srgbClr val="444D5B"/>
                </a:solidFill>
              </p:grpSpPr>
              <p:sp>
                <p:nvSpPr>
                  <p:cNvPr id="357" name="Freeform: Shape 356">
                    <a:extLst>
                      <a:ext uri="{FF2B5EF4-FFF2-40B4-BE49-F238E27FC236}">
                        <a16:creationId xmlns:a16="http://schemas.microsoft.com/office/drawing/2014/main" id="{DEE73A02-DDDA-4E97-8C06-6CAAE2F6627D}"/>
                      </a:ext>
                    </a:extLst>
                  </p:cNvPr>
                  <p:cNvSpPr/>
                  <p:nvPr/>
                </p:nvSpPr>
                <p:spPr>
                  <a:xfrm>
                    <a:off x="306140" y="2908691"/>
                    <a:ext cx="53791" cy="53791"/>
                  </a:xfrm>
                  <a:custGeom>
                    <a:avLst/>
                    <a:gdLst>
                      <a:gd name="connsiteX0" fmla="*/ 21758 w 53791"/>
                      <a:gd name="connsiteY0" fmla="*/ 51321 h 53791"/>
                      <a:gd name="connsiteX1" fmla="*/ 2470 w 53791"/>
                      <a:gd name="connsiteY1" fmla="*/ 32033 h 53791"/>
                      <a:gd name="connsiteX2" fmla="*/ 3184 w 53791"/>
                      <a:gd name="connsiteY2" fmla="*/ 19889 h 53791"/>
                      <a:gd name="connsiteX3" fmla="*/ 27830 w 53791"/>
                      <a:gd name="connsiteY3" fmla="*/ 1672 h 53791"/>
                      <a:gd name="connsiteX4" fmla="*/ 38189 w 53791"/>
                      <a:gd name="connsiteY4" fmla="*/ 2386 h 53791"/>
                      <a:gd name="connsiteX5" fmla="*/ 51405 w 53791"/>
                      <a:gd name="connsiteY5" fmla="*/ 15602 h 53791"/>
                      <a:gd name="connsiteX6" fmla="*/ 52119 w 53791"/>
                      <a:gd name="connsiteY6" fmla="*/ 25961 h 53791"/>
                      <a:gd name="connsiteX7" fmla="*/ 33902 w 53791"/>
                      <a:gd name="connsiteY7" fmla="*/ 50607 h 53791"/>
                      <a:gd name="connsiteX8" fmla="*/ 21758 w 53791"/>
                      <a:gd name="connsiteY8" fmla="*/ 51321 h 5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791" h="53791">
                        <a:moveTo>
                          <a:pt x="21758" y="51321"/>
                        </a:moveTo>
                        <a:lnTo>
                          <a:pt x="2470" y="32033"/>
                        </a:lnTo>
                        <a:cubicBezTo>
                          <a:pt x="-1102" y="28461"/>
                          <a:pt x="-745" y="22746"/>
                          <a:pt x="3184" y="19889"/>
                        </a:cubicBezTo>
                        <a:lnTo>
                          <a:pt x="27830" y="1672"/>
                        </a:lnTo>
                        <a:cubicBezTo>
                          <a:pt x="31045" y="-828"/>
                          <a:pt x="35331" y="-471"/>
                          <a:pt x="38189" y="2386"/>
                        </a:cubicBezTo>
                        <a:lnTo>
                          <a:pt x="51405" y="15602"/>
                        </a:lnTo>
                        <a:cubicBezTo>
                          <a:pt x="54262" y="18460"/>
                          <a:pt x="54619" y="22746"/>
                          <a:pt x="52119" y="25961"/>
                        </a:cubicBezTo>
                        <a:lnTo>
                          <a:pt x="33902" y="50607"/>
                        </a:lnTo>
                        <a:cubicBezTo>
                          <a:pt x="31045" y="54536"/>
                          <a:pt x="25330" y="54893"/>
                          <a:pt x="21758" y="51321"/>
                        </a:cubicBezTo>
                        <a:close/>
                      </a:path>
                    </a:pathLst>
                  </a:custGeom>
                  <a:solidFill>
                    <a:srgbClr val="444D5B"/>
                  </a:solidFill>
                  <a:ln w="3572" cap="flat">
                    <a:noFill/>
                    <a:prstDash val="solid"/>
                    <a:miter/>
                  </a:ln>
                </p:spPr>
                <p:txBody>
                  <a:bodyPr rtlCol="0" anchor="ctr"/>
                  <a:lstStyle/>
                  <a:p>
                    <a:endParaRPr lang="en-GB"/>
                  </a:p>
                </p:txBody>
              </p:sp>
              <p:sp>
                <p:nvSpPr>
                  <p:cNvPr id="358" name="Freeform: Shape 357">
                    <a:extLst>
                      <a:ext uri="{FF2B5EF4-FFF2-40B4-BE49-F238E27FC236}">
                        <a16:creationId xmlns:a16="http://schemas.microsoft.com/office/drawing/2014/main" id="{4382302F-A3D0-43D4-B05B-8A90C1391F9E}"/>
                      </a:ext>
                    </a:extLst>
                  </p:cNvPr>
                  <p:cNvSpPr/>
                  <p:nvPr/>
                </p:nvSpPr>
                <p:spPr>
                  <a:xfrm>
                    <a:off x="97268" y="3118277"/>
                    <a:ext cx="53791" cy="53791"/>
                  </a:xfrm>
                  <a:custGeom>
                    <a:avLst/>
                    <a:gdLst>
                      <a:gd name="connsiteX0" fmla="*/ 32033 w 53791"/>
                      <a:gd name="connsiteY0" fmla="*/ 2470 h 53791"/>
                      <a:gd name="connsiteX1" fmla="*/ 51321 w 53791"/>
                      <a:gd name="connsiteY1" fmla="*/ 21758 h 53791"/>
                      <a:gd name="connsiteX2" fmla="*/ 50607 w 53791"/>
                      <a:gd name="connsiteY2" fmla="*/ 33903 h 53791"/>
                      <a:gd name="connsiteX3" fmla="*/ 25961 w 53791"/>
                      <a:gd name="connsiteY3" fmla="*/ 52119 h 53791"/>
                      <a:gd name="connsiteX4" fmla="*/ 15602 w 53791"/>
                      <a:gd name="connsiteY4" fmla="*/ 51405 h 53791"/>
                      <a:gd name="connsiteX5" fmla="*/ 2386 w 53791"/>
                      <a:gd name="connsiteY5" fmla="*/ 38189 h 53791"/>
                      <a:gd name="connsiteX6" fmla="*/ 1672 w 53791"/>
                      <a:gd name="connsiteY6" fmla="*/ 27830 h 53791"/>
                      <a:gd name="connsiteX7" fmla="*/ 19889 w 53791"/>
                      <a:gd name="connsiteY7" fmla="*/ 3184 h 53791"/>
                      <a:gd name="connsiteX8" fmla="*/ 32033 w 53791"/>
                      <a:gd name="connsiteY8" fmla="*/ 2470 h 5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791" h="53791">
                        <a:moveTo>
                          <a:pt x="32033" y="2470"/>
                        </a:moveTo>
                        <a:lnTo>
                          <a:pt x="51321" y="21758"/>
                        </a:lnTo>
                        <a:cubicBezTo>
                          <a:pt x="54893" y="25330"/>
                          <a:pt x="54536" y="31045"/>
                          <a:pt x="50607" y="33903"/>
                        </a:cubicBezTo>
                        <a:lnTo>
                          <a:pt x="25961" y="52119"/>
                        </a:lnTo>
                        <a:cubicBezTo>
                          <a:pt x="22746" y="54619"/>
                          <a:pt x="18460" y="54262"/>
                          <a:pt x="15602" y="51405"/>
                        </a:cubicBezTo>
                        <a:lnTo>
                          <a:pt x="2386" y="38189"/>
                        </a:lnTo>
                        <a:cubicBezTo>
                          <a:pt x="-471" y="35331"/>
                          <a:pt x="-828" y="31045"/>
                          <a:pt x="1672" y="27830"/>
                        </a:cubicBezTo>
                        <a:lnTo>
                          <a:pt x="19889" y="3184"/>
                        </a:lnTo>
                        <a:cubicBezTo>
                          <a:pt x="22746" y="-745"/>
                          <a:pt x="28461" y="-1102"/>
                          <a:pt x="32033" y="2470"/>
                        </a:cubicBezTo>
                        <a:close/>
                      </a:path>
                    </a:pathLst>
                  </a:custGeom>
                  <a:solidFill>
                    <a:srgbClr val="444D5B"/>
                  </a:solidFill>
                  <a:ln w="3572" cap="flat">
                    <a:noFill/>
                    <a:prstDash val="solid"/>
                    <a:miter/>
                  </a:ln>
                </p:spPr>
                <p:txBody>
                  <a:bodyPr rtlCol="0" anchor="ctr"/>
                  <a:lstStyle/>
                  <a:p>
                    <a:endParaRPr lang="en-GB"/>
                  </a:p>
                </p:txBody>
              </p:sp>
            </p:grpSp>
            <p:grpSp>
              <p:nvGrpSpPr>
                <p:cNvPr id="354" name="Graphic 4995">
                  <a:extLst>
                    <a:ext uri="{FF2B5EF4-FFF2-40B4-BE49-F238E27FC236}">
                      <a16:creationId xmlns:a16="http://schemas.microsoft.com/office/drawing/2014/main" id="{CBB28093-D90B-45FD-9D33-F70CF7BB1B5B}"/>
                    </a:ext>
                  </a:extLst>
                </p:cNvPr>
                <p:cNvGrpSpPr/>
                <p:nvPr/>
              </p:nvGrpSpPr>
              <p:grpSpPr>
                <a:xfrm>
                  <a:off x="96911" y="2909048"/>
                  <a:ext cx="263376" cy="262662"/>
                  <a:chOff x="96911" y="2909048"/>
                  <a:chExt cx="263376" cy="262662"/>
                </a:xfrm>
                <a:solidFill>
                  <a:srgbClr val="444D5B"/>
                </a:solidFill>
              </p:grpSpPr>
              <p:sp>
                <p:nvSpPr>
                  <p:cNvPr id="355" name="Freeform: Shape 354">
                    <a:extLst>
                      <a:ext uri="{FF2B5EF4-FFF2-40B4-BE49-F238E27FC236}">
                        <a16:creationId xmlns:a16="http://schemas.microsoft.com/office/drawing/2014/main" id="{C7E4C46F-B4B0-4013-BAC7-708E913F96BE}"/>
                      </a:ext>
                    </a:extLst>
                  </p:cNvPr>
                  <p:cNvSpPr/>
                  <p:nvPr/>
                </p:nvSpPr>
                <p:spPr>
                  <a:xfrm>
                    <a:off x="306497" y="3117920"/>
                    <a:ext cx="53791" cy="53791"/>
                  </a:xfrm>
                  <a:custGeom>
                    <a:avLst/>
                    <a:gdLst>
                      <a:gd name="connsiteX0" fmla="*/ 2470 w 53791"/>
                      <a:gd name="connsiteY0" fmla="*/ 21758 h 53791"/>
                      <a:gd name="connsiteX1" fmla="*/ 21758 w 53791"/>
                      <a:gd name="connsiteY1" fmla="*/ 2470 h 53791"/>
                      <a:gd name="connsiteX2" fmla="*/ 33903 w 53791"/>
                      <a:gd name="connsiteY2" fmla="*/ 3184 h 53791"/>
                      <a:gd name="connsiteX3" fmla="*/ 52119 w 53791"/>
                      <a:gd name="connsiteY3" fmla="*/ 27830 h 53791"/>
                      <a:gd name="connsiteX4" fmla="*/ 51405 w 53791"/>
                      <a:gd name="connsiteY4" fmla="*/ 38189 h 53791"/>
                      <a:gd name="connsiteX5" fmla="*/ 38189 w 53791"/>
                      <a:gd name="connsiteY5" fmla="*/ 51405 h 53791"/>
                      <a:gd name="connsiteX6" fmla="*/ 27830 w 53791"/>
                      <a:gd name="connsiteY6" fmla="*/ 52119 h 53791"/>
                      <a:gd name="connsiteX7" fmla="*/ 3184 w 53791"/>
                      <a:gd name="connsiteY7" fmla="*/ 33902 h 53791"/>
                      <a:gd name="connsiteX8" fmla="*/ 2470 w 53791"/>
                      <a:gd name="connsiteY8" fmla="*/ 21758 h 5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791" h="53791">
                        <a:moveTo>
                          <a:pt x="2470" y="21758"/>
                        </a:moveTo>
                        <a:lnTo>
                          <a:pt x="21758" y="2470"/>
                        </a:lnTo>
                        <a:cubicBezTo>
                          <a:pt x="25330" y="-1102"/>
                          <a:pt x="31045" y="-745"/>
                          <a:pt x="33903" y="3184"/>
                        </a:cubicBezTo>
                        <a:lnTo>
                          <a:pt x="52119" y="27830"/>
                        </a:lnTo>
                        <a:cubicBezTo>
                          <a:pt x="54619" y="31045"/>
                          <a:pt x="54262" y="35331"/>
                          <a:pt x="51405" y="38189"/>
                        </a:cubicBezTo>
                        <a:lnTo>
                          <a:pt x="38189" y="51405"/>
                        </a:lnTo>
                        <a:cubicBezTo>
                          <a:pt x="35331" y="54262"/>
                          <a:pt x="31045" y="54619"/>
                          <a:pt x="27830" y="52119"/>
                        </a:cubicBezTo>
                        <a:lnTo>
                          <a:pt x="3184" y="33902"/>
                        </a:lnTo>
                        <a:cubicBezTo>
                          <a:pt x="-745" y="31045"/>
                          <a:pt x="-1102" y="25330"/>
                          <a:pt x="2470" y="21758"/>
                        </a:cubicBezTo>
                        <a:close/>
                      </a:path>
                    </a:pathLst>
                  </a:custGeom>
                  <a:solidFill>
                    <a:srgbClr val="444D5B"/>
                  </a:solidFill>
                  <a:ln w="3572" cap="flat">
                    <a:noFill/>
                    <a:prstDash val="solid"/>
                    <a:miter/>
                  </a:ln>
                </p:spPr>
                <p:txBody>
                  <a:bodyPr rtlCol="0" anchor="ctr"/>
                  <a:lstStyle/>
                  <a:p>
                    <a:endParaRPr lang="en-GB"/>
                  </a:p>
                </p:txBody>
              </p:sp>
              <p:sp>
                <p:nvSpPr>
                  <p:cNvPr id="356" name="Freeform: Shape 355">
                    <a:extLst>
                      <a:ext uri="{FF2B5EF4-FFF2-40B4-BE49-F238E27FC236}">
                        <a16:creationId xmlns:a16="http://schemas.microsoft.com/office/drawing/2014/main" id="{FBD4E839-3668-41AC-BA99-55F574BA80D1}"/>
                      </a:ext>
                    </a:extLst>
                  </p:cNvPr>
                  <p:cNvSpPr/>
                  <p:nvPr/>
                </p:nvSpPr>
                <p:spPr>
                  <a:xfrm>
                    <a:off x="96911" y="2909048"/>
                    <a:ext cx="53791" cy="53791"/>
                  </a:xfrm>
                  <a:custGeom>
                    <a:avLst/>
                    <a:gdLst>
                      <a:gd name="connsiteX0" fmla="*/ 51321 w 53791"/>
                      <a:gd name="connsiteY0" fmla="*/ 32033 h 53791"/>
                      <a:gd name="connsiteX1" fmla="*/ 32033 w 53791"/>
                      <a:gd name="connsiteY1" fmla="*/ 51321 h 53791"/>
                      <a:gd name="connsiteX2" fmla="*/ 19889 w 53791"/>
                      <a:gd name="connsiteY2" fmla="*/ 50607 h 53791"/>
                      <a:gd name="connsiteX3" fmla="*/ 1672 w 53791"/>
                      <a:gd name="connsiteY3" fmla="*/ 25961 h 53791"/>
                      <a:gd name="connsiteX4" fmla="*/ 2386 w 53791"/>
                      <a:gd name="connsiteY4" fmla="*/ 15602 h 53791"/>
                      <a:gd name="connsiteX5" fmla="*/ 15602 w 53791"/>
                      <a:gd name="connsiteY5" fmla="*/ 2386 h 53791"/>
                      <a:gd name="connsiteX6" fmla="*/ 25961 w 53791"/>
                      <a:gd name="connsiteY6" fmla="*/ 1672 h 53791"/>
                      <a:gd name="connsiteX7" fmla="*/ 50607 w 53791"/>
                      <a:gd name="connsiteY7" fmla="*/ 19889 h 53791"/>
                      <a:gd name="connsiteX8" fmla="*/ 51321 w 53791"/>
                      <a:gd name="connsiteY8" fmla="*/ 32033 h 5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791" h="53791">
                        <a:moveTo>
                          <a:pt x="51321" y="32033"/>
                        </a:moveTo>
                        <a:lnTo>
                          <a:pt x="32033" y="51321"/>
                        </a:lnTo>
                        <a:cubicBezTo>
                          <a:pt x="28461" y="54893"/>
                          <a:pt x="22746" y="54536"/>
                          <a:pt x="19889" y="50607"/>
                        </a:cubicBezTo>
                        <a:lnTo>
                          <a:pt x="1672" y="25961"/>
                        </a:lnTo>
                        <a:cubicBezTo>
                          <a:pt x="-828" y="22746"/>
                          <a:pt x="-471" y="18460"/>
                          <a:pt x="2386" y="15602"/>
                        </a:cubicBezTo>
                        <a:lnTo>
                          <a:pt x="15602" y="2386"/>
                        </a:lnTo>
                        <a:cubicBezTo>
                          <a:pt x="18460" y="-471"/>
                          <a:pt x="22746" y="-828"/>
                          <a:pt x="25961" y="1672"/>
                        </a:cubicBezTo>
                        <a:lnTo>
                          <a:pt x="50607" y="19889"/>
                        </a:lnTo>
                        <a:cubicBezTo>
                          <a:pt x="54536" y="22746"/>
                          <a:pt x="54893" y="28461"/>
                          <a:pt x="51321" y="32033"/>
                        </a:cubicBezTo>
                        <a:close/>
                      </a:path>
                    </a:pathLst>
                  </a:custGeom>
                  <a:solidFill>
                    <a:srgbClr val="444D5B"/>
                  </a:solidFill>
                  <a:ln w="3572" cap="flat">
                    <a:noFill/>
                    <a:prstDash val="solid"/>
                    <a:miter/>
                  </a:ln>
                </p:spPr>
                <p:txBody>
                  <a:bodyPr rtlCol="0" anchor="ctr"/>
                  <a:lstStyle/>
                  <a:p>
                    <a:endParaRPr lang="en-GB"/>
                  </a:p>
                </p:txBody>
              </p:sp>
            </p:grpSp>
          </p:grpSp>
        </p:grpSp>
        <p:sp>
          <p:nvSpPr>
            <p:cNvPr id="343" name="Freeform: Shape 342">
              <a:extLst>
                <a:ext uri="{FF2B5EF4-FFF2-40B4-BE49-F238E27FC236}">
                  <a16:creationId xmlns:a16="http://schemas.microsoft.com/office/drawing/2014/main" id="{63D4CF6A-EFE7-48FE-981D-D802F8A6E954}"/>
                </a:ext>
              </a:extLst>
            </p:cNvPr>
            <p:cNvSpPr/>
            <p:nvPr/>
          </p:nvSpPr>
          <p:spPr>
            <a:xfrm>
              <a:off x="85725" y="2897505"/>
              <a:ext cx="285750" cy="285750"/>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535E6F"/>
            </a:solidFill>
            <a:ln w="3572" cap="flat">
              <a:noFill/>
              <a:prstDash val="solid"/>
              <a:miter/>
            </a:ln>
          </p:spPr>
          <p:txBody>
            <a:bodyPr rtlCol="0" anchor="ctr"/>
            <a:lstStyle/>
            <a:p>
              <a:endParaRPr lang="en-GB"/>
            </a:p>
          </p:txBody>
        </p:sp>
        <p:sp>
          <p:nvSpPr>
            <p:cNvPr id="344" name="Freeform: Shape 343">
              <a:extLst>
                <a:ext uri="{FF2B5EF4-FFF2-40B4-BE49-F238E27FC236}">
                  <a16:creationId xmlns:a16="http://schemas.microsoft.com/office/drawing/2014/main" id="{76DA86CD-CBCE-4F20-A474-6EFB95401C30}"/>
                </a:ext>
              </a:extLst>
            </p:cNvPr>
            <p:cNvSpPr/>
            <p:nvPr/>
          </p:nvSpPr>
          <p:spPr>
            <a:xfrm>
              <a:off x="132516" y="2944296"/>
              <a:ext cx="192166" cy="19216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solidFill>
              <a:srgbClr val="FFFFFF"/>
            </a:solidFill>
            <a:ln w="3572" cap="flat">
              <a:noFill/>
              <a:prstDash val="solid"/>
              <a:miter/>
            </a:ln>
          </p:spPr>
          <p:txBody>
            <a:bodyPr rtlCol="0" anchor="ctr"/>
            <a:lstStyle/>
            <a:p>
              <a:endParaRPr lang="en-GB"/>
            </a:p>
          </p:txBody>
        </p:sp>
        <p:sp>
          <p:nvSpPr>
            <p:cNvPr id="345" name="Freeform: Shape 344">
              <a:extLst>
                <a:ext uri="{FF2B5EF4-FFF2-40B4-BE49-F238E27FC236}">
                  <a16:creationId xmlns:a16="http://schemas.microsoft.com/office/drawing/2014/main" id="{7A46CA05-B7B9-433D-858C-8CFB5611B2F8}"/>
                </a:ext>
              </a:extLst>
            </p:cNvPr>
            <p:cNvSpPr/>
            <p:nvPr/>
          </p:nvSpPr>
          <p:spPr>
            <a:xfrm>
              <a:off x="161091" y="2972871"/>
              <a:ext cx="135016" cy="135016"/>
            </a:xfrm>
            <a:custGeom>
              <a:avLst/>
              <a:gdLst>
                <a:gd name="connsiteX0" fmla="*/ 135017 w 135016"/>
                <a:gd name="connsiteY0" fmla="*/ 67508 h 135016"/>
                <a:gd name="connsiteX1" fmla="*/ 67508 w 135016"/>
                <a:gd name="connsiteY1" fmla="*/ 135017 h 135016"/>
                <a:gd name="connsiteX2" fmla="*/ 0 w 135016"/>
                <a:gd name="connsiteY2" fmla="*/ 67508 h 135016"/>
                <a:gd name="connsiteX3" fmla="*/ 67508 w 135016"/>
                <a:gd name="connsiteY3" fmla="*/ 0 h 135016"/>
                <a:gd name="connsiteX4" fmla="*/ 135017 w 135016"/>
                <a:gd name="connsiteY4" fmla="*/ 67508 h 135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16" h="135016">
                  <a:moveTo>
                    <a:pt x="135017" y="67508"/>
                  </a:moveTo>
                  <a:cubicBezTo>
                    <a:pt x="135017" y="104792"/>
                    <a:pt x="104792" y="135017"/>
                    <a:pt x="67508" y="135017"/>
                  </a:cubicBezTo>
                  <a:cubicBezTo>
                    <a:pt x="30225" y="135017"/>
                    <a:pt x="0" y="104792"/>
                    <a:pt x="0" y="67508"/>
                  </a:cubicBezTo>
                  <a:cubicBezTo>
                    <a:pt x="0" y="30225"/>
                    <a:pt x="30225" y="0"/>
                    <a:pt x="67508" y="0"/>
                  </a:cubicBezTo>
                  <a:cubicBezTo>
                    <a:pt x="104792" y="0"/>
                    <a:pt x="135017" y="30225"/>
                    <a:pt x="135017" y="67508"/>
                  </a:cubicBezTo>
                  <a:close/>
                </a:path>
              </a:pathLst>
            </a:custGeom>
            <a:solidFill>
              <a:srgbClr val="0BB6EA"/>
            </a:solidFill>
            <a:ln w="3572" cap="flat">
              <a:noFill/>
              <a:prstDash val="solid"/>
              <a:miter/>
            </a:ln>
          </p:spPr>
          <p:txBody>
            <a:bodyPr rtlCol="0" anchor="ctr"/>
            <a:lstStyle/>
            <a:p>
              <a:endParaRPr lang="en-GB"/>
            </a:p>
          </p:txBody>
        </p:sp>
        <p:grpSp>
          <p:nvGrpSpPr>
            <p:cNvPr id="346" name="Graphic 4995">
              <a:extLst>
                <a:ext uri="{FF2B5EF4-FFF2-40B4-BE49-F238E27FC236}">
                  <a16:creationId xmlns:a16="http://schemas.microsoft.com/office/drawing/2014/main" id="{83731231-251B-41A2-B093-C1CBAEF0C501}"/>
                </a:ext>
              </a:extLst>
            </p:cNvPr>
            <p:cNvGrpSpPr/>
            <p:nvPr/>
          </p:nvGrpSpPr>
          <p:grpSpPr>
            <a:xfrm>
              <a:off x="197524" y="3001089"/>
              <a:ext cx="62150" cy="70365"/>
              <a:chOff x="197524" y="3001089"/>
              <a:chExt cx="62150" cy="70365"/>
            </a:xfrm>
            <a:solidFill>
              <a:srgbClr val="000000"/>
            </a:solidFill>
          </p:grpSpPr>
          <p:sp>
            <p:nvSpPr>
              <p:cNvPr id="347" name="Freeform: Shape 346">
                <a:extLst>
                  <a:ext uri="{FF2B5EF4-FFF2-40B4-BE49-F238E27FC236}">
                    <a16:creationId xmlns:a16="http://schemas.microsoft.com/office/drawing/2014/main" id="{C6BBF378-FB9E-454F-9EF0-13EDB8289F18}"/>
                  </a:ext>
                </a:extLst>
              </p:cNvPr>
              <p:cNvSpPr/>
              <p:nvPr/>
            </p:nvSpPr>
            <p:spPr>
              <a:xfrm>
                <a:off x="197524" y="3009304"/>
                <a:ext cx="62150" cy="62150"/>
              </a:xfrm>
              <a:custGeom>
                <a:avLst/>
                <a:gdLst>
                  <a:gd name="connsiteX0" fmla="*/ 62151 w 62150"/>
                  <a:gd name="connsiteY0" fmla="*/ 31075 h 62150"/>
                  <a:gd name="connsiteX1" fmla="*/ 31075 w 62150"/>
                  <a:gd name="connsiteY1" fmla="*/ 62151 h 62150"/>
                  <a:gd name="connsiteX2" fmla="*/ 0 w 62150"/>
                  <a:gd name="connsiteY2" fmla="*/ 31075 h 62150"/>
                  <a:gd name="connsiteX3" fmla="*/ 31075 w 62150"/>
                  <a:gd name="connsiteY3" fmla="*/ 0 h 62150"/>
                  <a:gd name="connsiteX4" fmla="*/ 62151 w 62150"/>
                  <a:gd name="connsiteY4" fmla="*/ 31075 h 62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50" h="62150">
                    <a:moveTo>
                      <a:pt x="62151" y="31075"/>
                    </a:moveTo>
                    <a:cubicBezTo>
                      <a:pt x="62151" y="48238"/>
                      <a:pt x="48238" y="62151"/>
                      <a:pt x="31075" y="62151"/>
                    </a:cubicBezTo>
                    <a:cubicBezTo>
                      <a:pt x="13913" y="62151"/>
                      <a:pt x="0" y="48238"/>
                      <a:pt x="0" y="31075"/>
                    </a:cubicBezTo>
                    <a:cubicBezTo>
                      <a:pt x="0" y="13913"/>
                      <a:pt x="13913" y="0"/>
                      <a:pt x="31075" y="0"/>
                    </a:cubicBezTo>
                    <a:cubicBezTo>
                      <a:pt x="48238" y="0"/>
                      <a:pt x="62151" y="13913"/>
                      <a:pt x="62151" y="31075"/>
                    </a:cubicBezTo>
                    <a:close/>
                  </a:path>
                </a:pathLst>
              </a:custGeom>
              <a:solidFill>
                <a:srgbClr val="535E6F"/>
              </a:solidFill>
              <a:ln w="3572" cap="flat">
                <a:noFill/>
                <a:prstDash val="solid"/>
                <a:miter/>
              </a:ln>
            </p:spPr>
            <p:txBody>
              <a:bodyPr rtlCol="0" anchor="ctr"/>
              <a:lstStyle/>
              <a:p>
                <a:endParaRPr lang="en-GB"/>
              </a:p>
            </p:txBody>
          </p:sp>
          <p:grpSp>
            <p:nvGrpSpPr>
              <p:cNvPr id="348" name="Graphic 4995">
                <a:extLst>
                  <a:ext uri="{FF2B5EF4-FFF2-40B4-BE49-F238E27FC236}">
                    <a16:creationId xmlns:a16="http://schemas.microsoft.com/office/drawing/2014/main" id="{A91BCAF3-C6EF-400F-8686-A452C9F0E7E7}"/>
                  </a:ext>
                </a:extLst>
              </p:cNvPr>
              <p:cNvGrpSpPr/>
              <p:nvPr/>
            </p:nvGrpSpPr>
            <p:grpSpPr>
              <a:xfrm>
                <a:off x="199310" y="3001089"/>
                <a:ext cx="38933" cy="39290"/>
                <a:chOff x="199310" y="3001089"/>
                <a:chExt cx="38933" cy="39290"/>
              </a:xfrm>
              <a:solidFill>
                <a:srgbClr val="FFFFFF"/>
              </a:solidFill>
            </p:grpSpPr>
            <p:sp>
              <p:nvSpPr>
                <p:cNvPr id="349" name="Freeform: Shape 348">
                  <a:extLst>
                    <a:ext uri="{FF2B5EF4-FFF2-40B4-BE49-F238E27FC236}">
                      <a16:creationId xmlns:a16="http://schemas.microsoft.com/office/drawing/2014/main" id="{1F8A0456-D28B-4EAC-9E3B-66A9A8E1CA6C}"/>
                    </a:ext>
                  </a:extLst>
                </p:cNvPr>
                <p:cNvSpPr/>
                <p:nvPr/>
              </p:nvSpPr>
              <p:spPr>
                <a:xfrm>
                  <a:off x="199310" y="3001089"/>
                  <a:ext cx="27860" cy="27860"/>
                </a:xfrm>
                <a:custGeom>
                  <a:avLst/>
                  <a:gdLst>
                    <a:gd name="connsiteX0" fmla="*/ 27861 w 27860"/>
                    <a:gd name="connsiteY0" fmla="*/ 13930 h 27860"/>
                    <a:gd name="connsiteX1" fmla="*/ 13930 w 27860"/>
                    <a:gd name="connsiteY1" fmla="*/ 27861 h 27860"/>
                    <a:gd name="connsiteX2" fmla="*/ 0 w 27860"/>
                    <a:gd name="connsiteY2" fmla="*/ 13930 h 27860"/>
                    <a:gd name="connsiteX3" fmla="*/ 13930 w 27860"/>
                    <a:gd name="connsiteY3" fmla="*/ 0 h 27860"/>
                    <a:gd name="connsiteX4" fmla="*/ 27861 w 27860"/>
                    <a:gd name="connsiteY4" fmla="*/ 13930 h 2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60" h="27860">
                      <a:moveTo>
                        <a:pt x="27861" y="13930"/>
                      </a:moveTo>
                      <a:cubicBezTo>
                        <a:pt x="27861" y="21624"/>
                        <a:pt x="21624" y="27861"/>
                        <a:pt x="13930" y="27861"/>
                      </a:cubicBezTo>
                      <a:cubicBezTo>
                        <a:pt x="6237" y="27861"/>
                        <a:pt x="0" y="21624"/>
                        <a:pt x="0" y="13930"/>
                      </a:cubicBezTo>
                      <a:cubicBezTo>
                        <a:pt x="0" y="6237"/>
                        <a:pt x="6237" y="0"/>
                        <a:pt x="13930" y="0"/>
                      </a:cubicBezTo>
                      <a:cubicBezTo>
                        <a:pt x="21624" y="0"/>
                        <a:pt x="27861" y="6237"/>
                        <a:pt x="27861" y="13930"/>
                      </a:cubicBezTo>
                      <a:close/>
                    </a:path>
                  </a:pathLst>
                </a:custGeom>
                <a:solidFill>
                  <a:srgbClr val="FFFFFF"/>
                </a:solidFill>
                <a:ln w="3572" cap="flat">
                  <a:noFill/>
                  <a:prstDash val="solid"/>
                  <a:miter/>
                </a:ln>
              </p:spPr>
              <p:txBody>
                <a:bodyPr rtlCol="0" anchor="ctr"/>
                <a:lstStyle/>
                <a:p>
                  <a:endParaRPr lang="en-GB"/>
                </a:p>
              </p:txBody>
            </p:sp>
            <p:sp>
              <p:nvSpPr>
                <p:cNvPr id="350" name="Freeform: Shape 349">
                  <a:extLst>
                    <a:ext uri="{FF2B5EF4-FFF2-40B4-BE49-F238E27FC236}">
                      <a16:creationId xmlns:a16="http://schemas.microsoft.com/office/drawing/2014/main" id="{7789B2A4-55D8-4A2B-B629-587713577FE6}"/>
                    </a:ext>
                  </a:extLst>
                </p:cNvPr>
                <p:cNvSpPr/>
                <p:nvPr/>
              </p:nvSpPr>
              <p:spPr>
                <a:xfrm>
                  <a:off x="223956" y="3026092"/>
                  <a:ext cx="14287" cy="14287"/>
                </a:xfrm>
                <a:custGeom>
                  <a:avLst/>
                  <a:gdLst>
                    <a:gd name="connsiteX0" fmla="*/ 14287 w 14287"/>
                    <a:gd name="connsiteY0" fmla="*/ 7144 h 14287"/>
                    <a:gd name="connsiteX1" fmla="*/ 7144 w 14287"/>
                    <a:gd name="connsiteY1" fmla="*/ 14288 h 14287"/>
                    <a:gd name="connsiteX2" fmla="*/ 0 w 14287"/>
                    <a:gd name="connsiteY2" fmla="*/ 7144 h 14287"/>
                    <a:gd name="connsiteX3" fmla="*/ 7144 w 14287"/>
                    <a:gd name="connsiteY3" fmla="*/ 0 h 14287"/>
                    <a:gd name="connsiteX4" fmla="*/ 14287 w 14287"/>
                    <a:gd name="connsiteY4" fmla="*/ 7144 h 1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 h="14287">
                      <a:moveTo>
                        <a:pt x="14287" y="7144"/>
                      </a:moveTo>
                      <a:cubicBezTo>
                        <a:pt x="14287" y="11089"/>
                        <a:pt x="11089" y="14288"/>
                        <a:pt x="7144" y="14288"/>
                      </a:cubicBezTo>
                      <a:cubicBezTo>
                        <a:pt x="3198" y="14288"/>
                        <a:pt x="0" y="11089"/>
                        <a:pt x="0" y="7144"/>
                      </a:cubicBezTo>
                      <a:cubicBezTo>
                        <a:pt x="0" y="3198"/>
                        <a:pt x="3198" y="0"/>
                        <a:pt x="7144" y="0"/>
                      </a:cubicBezTo>
                      <a:cubicBezTo>
                        <a:pt x="11089" y="0"/>
                        <a:pt x="14287" y="3198"/>
                        <a:pt x="14287" y="7144"/>
                      </a:cubicBezTo>
                      <a:close/>
                    </a:path>
                  </a:pathLst>
                </a:custGeom>
                <a:solidFill>
                  <a:srgbClr val="FFFFFF"/>
                </a:solidFill>
                <a:ln w="3572" cap="flat">
                  <a:noFill/>
                  <a:prstDash val="solid"/>
                  <a:miter/>
                </a:ln>
              </p:spPr>
              <p:txBody>
                <a:bodyPr rtlCol="0" anchor="ctr"/>
                <a:lstStyle/>
                <a:p>
                  <a:endParaRPr lang="en-GB"/>
                </a:p>
              </p:txBody>
            </p:sp>
          </p:grpSp>
        </p:grpSp>
      </p:grpSp>
      <p:grpSp>
        <p:nvGrpSpPr>
          <p:cNvPr id="365" name="Graphic 9248">
            <a:extLst>
              <a:ext uri="{FF2B5EF4-FFF2-40B4-BE49-F238E27FC236}">
                <a16:creationId xmlns:a16="http://schemas.microsoft.com/office/drawing/2014/main" id="{85023A7F-9C45-4D09-BFA4-5A0E41FCC77D}"/>
              </a:ext>
            </a:extLst>
          </p:cNvPr>
          <p:cNvGrpSpPr>
            <a:grpSpLocks noChangeAspect="1"/>
          </p:cNvGrpSpPr>
          <p:nvPr/>
        </p:nvGrpSpPr>
        <p:grpSpPr>
          <a:xfrm>
            <a:off x="8052309" y="1303764"/>
            <a:ext cx="305043" cy="457200"/>
            <a:chOff x="6971691" y="993413"/>
            <a:chExt cx="229923" cy="344611"/>
          </a:xfrm>
          <a:solidFill>
            <a:srgbClr val="000000"/>
          </a:solidFill>
        </p:grpSpPr>
        <p:sp>
          <p:nvSpPr>
            <p:cNvPr id="366" name="Freeform: Shape 365">
              <a:extLst>
                <a:ext uri="{FF2B5EF4-FFF2-40B4-BE49-F238E27FC236}">
                  <a16:creationId xmlns:a16="http://schemas.microsoft.com/office/drawing/2014/main" id="{C0AE6E55-87BE-42EB-8EEA-E72666592FF9}"/>
                </a:ext>
              </a:extLst>
            </p:cNvPr>
            <p:cNvSpPr/>
            <p:nvPr/>
          </p:nvSpPr>
          <p:spPr>
            <a:xfrm>
              <a:off x="6971691" y="993413"/>
              <a:ext cx="229923" cy="277102"/>
            </a:xfrm>
            <a:custGeom>
              <a:avLst/>
              <a:gdLst>
                <a:gd name="connsiteX0" fmla="*/ 229923 w 229923"/>
                <a:gd name="connsiteY0" fmla="*/ 114940 h 277102"/>
                <a:gd name="connsiteX1" fmla="*/ 106694 w 229923"/>
                <a:gd name="connsiteY1" fmla="*/ 282 h 277102"/>
                <a:gd name="connsiteX2" fmla="*/ 609 w 229923"/>
                <a:gd name="connsiteY2" fmla="*/ 102795 h 277102"/>
                <a:gd name="connsiteX3" fmla="*/ 38828 w 229923"/>
                <a:gd name="connsiteY3" fmla="*/ 201022 h 277102"/>
                <a:gd name="connsiteX4" fmla="*/ 59902 w 229923"/>
                <a:gd name="connsiteY4" fmla="*/ 248528 h 277102"/>
                <a:gd name="connsiteX5" fmla="*/ 59902 w 229923"/>
                <a:gd name="connsiteY5" fmla="*/ 258886 h 277102"/>
                <a:gd name="connsiteX6" fmla="*/ 78119 w 229923"/>
                <a:gd name="connsiteY6" fmla="*/ 277103 h 277102"/>
                <a:gd name="connsiteX7" fmla="*/ 151699 w 229923"/>
                <a:gd name="connsiteY7" fmla="*/ 277103 h 277102"/>
                <a:gd name="connsiteX8" fmla="*/ 169916 w 229923"/>
                <a:gd name="connsiteY8" fmla="*/ 258886 h 277102"/>
                <a:gd name="connsiteX9" fmla="*/ 169916 w 229923"/>
                <a:gd name="connsiteY9" fmla="*/ 248528 h 277102"/>
                <a:gd name="connsiteX10" fmla="*/ 190633 w 229923"/>
                <a:gd name="connsiteY10" fmla="*/ 201379 h 277102"/>
                <a:gd name="connsiteX11" fmla="*/ 229923 w 229923"/>
                <a:gd name="connsiteY11" fmla="*/ 114940 h 27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923" h="277102">
                  <a:moveTo>
                    <a:pt x="229923" y="114940"/>
                  </a:moveTo>
                  <a:cubicBezTo>
                    <a:pt x="229923" y="48860"/>
                    <a:pt x="173845" y="-4361"/>
                    <a:pt x="106694" y="282"/>
                  </a:cubicBezTo>
                  <a:cubicBezTo>
                    <a:pt x="51687" y="4212"/>
                    <a:pt x="6324" y="47788"/>
                    <a:pt x="609" y="102795"/>
                  </a:cubicBezTo>
                  <a:cubicBezTo>
                    <a:pt x="-3320" y="142086"/>
                    <a:pt x="12039" y="177447"/>
                    <a:pt x="38828" y="201022"/>
                  </a:cubicBezTo>
                  <a:cubicBezTo>
                    <a:pt x="52401" y="213166"/>
                    <a:pt x="59902" y="230311"/>
                    <a:pt x="59902" y="248528"/>
                  </a:cubicBezTo>
                  <a:lnTo>
                    <a:pt x="59902" y="258886"/>
                  </a:lnTo>
                  <a:cubicBezTo>
                    <a:pt x="59902" y="268887"/>
                    <a:pt x="68117" y="277103"/>
                    <a:pt x="78119" y="277103"/>
                  </a:cubicBezTo>
                  <a:lnTo>
                    <a:pt x="151699" y="277103"/>
                  </a:lnTo>
                  <a:cubicBezTo>
                    <a:pt x="161700" y="277103"/>
                    <a:pt x="169916" y="268887"/>
                    <a:pt x="169916" y="258886"/>
                  </a:cubicBezTo>
                  <a:lnTo>
                    <a:pt x="169916" y="248528"/>
                  </a:lnTo>
                  <a:cubicBezTo>
                    <a:pt x="169916" y="230668"/>
                    <a:pt x="177059" y="213166"/>
                    <a:pt x="190633" y="201379"/>
                  </a:cubicBezTo>
                  <a:cubicBezTo>
                    <a:pt x="214564" y="180305"/>
                    <a:pt x="229923" y="149587"/>
                    <a:pt x="229923" y="114940"/>
                  </a:cubicBezTo>
                  <a:close/>
                </a:path>
              </a:pathLst>
            </a:custGeom>
            <a:solidFill>
              <a:srgbClr val="FFFFFF"/>
            </a:solidFill>
            <a:ln w="3572" cap="flat">
              <a:noFill/>
              <a:prstDash val="solid"/>
              <a:miter/>
            </a:ln>
          </p:spPr>
          <p:txBody>
            <a:bodyPr rtlCol="0" anchor="ctr"/>
            <a:lstStyle/>
            <a:p>
              <a:endParaRPr lang="en-GB"/>
            </a:p>
          </p:txBody>
        </p:sp>
        <p:sp>
          <p:nvSpPr>
            <p:cNvPr id="367" name="Freeform: Shape 366">
              <a:extLst>
                <a:ext uri="{FF2B5EF4-FFF2-40B4-BE49-F238E27FC236}">
                  <a16:creationId xmlns:a16="http://schemas.microsoft.com/office/drawing/2014/main" id="{34D95D54-9E4D-4B82-8D10-6BAC571ADAA5}"/>
                </a:ext>
              </a:extLst>
            </p:cNvPr>
            <p:cNvSpPr/>
            <p:nvPr/>
          </p:nvSpPr>
          <p:spPr>
            <a:xfrm>
              <a:off x="7050166" y="1270873"/>
              <a:ext cx="72866" cy="58578"/>
            </a:xfrm>
            <a:custGeom>
              <a:avLst/>
              <a:gdLst>
                <a:gd name="connsiteX0" fmla="*/ 0 w 72866"/>
                <a:gd name="connsiteY0" fmla="*/ 0 h 58578"/>
                <a:gd name="connsiteX1" fmla="*/ 0 w 72866"/>
                <a:gd name="connsiteY1" fmla="*/ 40362 h 58578"/>
                <a:gd name="connsiteX2" fmla="*/ 6787 w 72866"/>
                <a:gd name="connsiteY2" fmla="*/ 51792 h 58578"/>
                <a:gd name="connsiteX3" fmla="*/ 18574 w 72866"/>
                <a:gd name="connsiteY3" fmla="*/ 58579 h 58578"/>
                <a:gd name="connsiteX4" fmla="*/ 54293 w 72866"/>
                <a:gd name="connsiteY4" fmla="*/ 58579 h 58578"/>
                <a:gd name="connsiteX5" fmla="*/ 66080 w 72866"/>
                <a:gd name="connsiteY5" fmla="*/ 51792 h 58578"/>
                <a:gd name="connsiteX6" fmla="*/ 72866 w 72866"/>
                <a:gd name="connsiteY6" fmla="*/ 40362 h 58578"/>
                <a:gd name="connsiteX7" fmla="*/ 72866 w 72866"/>
                <a:gd name="connsiteY7" fmla="*/ 0 h 58578"/>
                <a:gd name="connsiteX8" fmla="*/ 0 w 72866"/>
                <a:gd name="connsiteY8" fmla="*/ 0 h 5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66" h="58578">
                  <a:moveTo>
                    <a:pt x="0" y="0"/>
                  </a:moveTo>
                  <a:lnTo>
                    <a:pt x="0" y="40362"/>
                  </a:lnTo>
                  <a:cubicBezTo>
                    <a:pt x="0" y="45006"/>
                    <a:pt x="2500" y="49649"/>
                    <a:pt x="6787" y="51792"/>
                  </a:cubicBezTo>
                  <a:lnTo>
                    <a:pt x="18574" y="58579"/>
                  </a:lnTo>
                  <a:lnTo>
                    <a:pt x="54293" y="58579"/>
                  </a:lnTo>
                  <a:lnTo>
                    <a:pt x="66080" y="51792"/>
                  </a:lnTo>
                  <a:cubicBezTo>
                    <a:pt x="70009" y="49292"/>
                    <a:pt x="72866" y="45006"/>
                    <a:pt x="72866" y="40362"/>
                  </a:cubicBezTo>
                  <a:lnTo>
                    <a:pt x="72866" y="0"/>
                  </a:lnTo>
                  <a:lnTo>
                    <a:pt x="0" y="0"/>
                  </a:lnTo>
                  <a:close/>
                </a:path>
              </a:pathLst>
            </a:custGeom>
            <a:solidFill>
              <a:srgbClr val="535E6F"/>
            </a:solidFill>
            <a:ln w="3572" cap="flat">
              <a:noFill/>
              <a:prstDash val="solid"/>
              <a:miter/>
            </a:ln>
          </p:spPr>
          <p:txBody>
            <a:bodyPr rtlCol="0" anchor="ctr"/>
            <a:lstStyle/>
            <a:p>
              <a:endParaRPr lang="en-GB"/>
            </a:p>
          </p:txBody>
        </p:sp>
        <p:sp>
          <p:nvSpPr>
            <p:cNvPr id="368" name="Freeform: Shape 367">
              <a:extLst>
                <a:ext uri="{FF2B5EF4-FFF2-40B4-BE49-F238E27FC236}">
                  <a16:creationId xmlns:a16="http://schemas.microsoft.com/office/drawing/2014/main" id="{8FE3A245-87C8-4509-A4AD-DD636911A5F1}"/>
                </a:ext>
              </a:extLst>
            </p:cNvPr>
            <p:cNvSpPr/>
            <p:nvPr/>
          </p:nvSpPr>
          <p:spPr>
            <a:xfrm>
              <a:off x="7068740" y="1329809"/>
              <a:ext cx="35718" cy="8215"/>
            </a:xfrm>
            <a:custGeom>
              <a:avLst/>
              <a:gdLst>
                <a:gd name="connsiteX0" fmla="*/ 35719 w 35718"/>
                <a:gd name="connsiteY0" fmla="*/ 0 h 8215"/>
                <a:gd name="connsiteX1" fmla="*/ 35719 w 35718"/>
                <a:gd name="connsiteY1" fmla="*/ 0 h 8215"/>
                <a:gd name="connsiteX2" fmla="*/ 0 w 35718"/>
                <a:gd name="connsiteY2" fmla="*/ 0 h 8215"/>
                <a:gd name="connsiteX3" fmla="*/ 0 w 35718"/>
                <a:gd name="connsiteY3" fmla="*/ 0 h 8215"/>
                <a:gd name="connsiteX4" fmla="*/ 8930 w 35718"/>
                <a:gd name="connsiteY4" fmla="*/ 8215 h 8215"/>
                <a:gd name="connsiteX5" fmla="*/ 26789 w 35718"/>
                <a:gd name="connsiteY5" fmla="*/ 8215 h 8215"/>
                <a:gd name="connsiteX6" fmla="*/ 35719 w 35718"/>
                <a:gd name="connsiteY6" fmla="*/ 0 h 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18" h="8215">
                  <a:moveTo>
                    <a:pt x="35719" y="0"/>
                  </a:moveTo>
                  <a:cubicBezTo>
                    <a:pt x="35719" y="0"/>
                    <a:pt x="35719" y="0"/>
                    <a:pt x="35719" y="0"/>
                  </a:cubicBezTo>
                  <a:lnTo>
                    <a:pt x="0" y="0"/>
                  </a:lnTo>
                  <a:cubicBezTo>
                    <a:pt x="0" y="0"/>
                    <a:pt x="0" y="0"/>
                    <a:pt x="0" y="0"/>
                  </a:cubicBezTo>
                  <a:cubicBezTo>
                    <a:pt x="0" y="4643"/>
                    <a:pt x="4286" y="8215"/>
                    <a:pt x="8930" y="8215"/>
                  </a:cubicBezTo>
                  <a:lnTo>
                    <a:pt x="26789" y="8215"/>
                  </a:lnTo>
                  <a:cubicBezTo>
                    <a:pt x="31433" y="8215"/>
                    <a:pt x="35719" y="4643"/>
                    <a:pt x="35719" y="0"/>
                  </a:cubicBezTo>
                  <a:close/>
                </a:path>
              </a:pathLst>
            </a:custGeom>
            <a:solidFill>
              <a:srgbClr val="444D5B"/>
            </a:solidFill>
            <a:ln w="3572" cap="flat">
              <a:noFill/>
              <a:prstDash val="solid"/>
              <a:miter/>
            </a:ln>
          </p:spPr>
          <p:txBody>
            <a:bodyPr rtlCol="0" anchor="ctr"/>
            <a:lstStyle/>
            <a:p>
              <a:endParaRPr lang="en-GB"/>
            </a:p>
          </p:txBody>
        </p:sp>
        <p:sp>
          <p:nvSpPr>
            <p:cNvPr id="369" name="Freeform: Shape 368">
              <a:extLst>
                <a:ext uri="{FF2B5EF4-FFF2-40B4-BE49-F238E27FC236}">
                  <a16:creationId xmlns:a16="http://schemas.microsoft.com/office/drawing/2014/main" id="{2E6AE2F6-AD2B-4C68-88A7-51522428099F}"/>
                </a:ext>
              </a:extLst>
            </p:cNvPr>
            <p:cNvSpPr/>
            <p:nvPr/>
          </p:nvSpPr>
          <p:spPr>
            <a:xfrm>
              <a:off x="7044094" y="1275516"/>
              <a:ext cx="85367" cy="8929"/>
            </a:xfrm>
            <a:custGeom>
              <a:avLst/>
              <a:gdLst>
                <a:gd name="connsiteX0" fmla="*/ 80724 w 85367"/>
                <a:gd name="connsiteY0" fmla="*/ 8930 h 8929"/>
                <a:gd name="connsiteX1" fmla="*/ 4286 w 85367"/>
                <a:gd name="connsiteY1" fmla="*/ 8930 h 8929"/>
                <a:gd name="connsiteX2" fmla="*/ 0 w 85367"/>
                <a:gd name="connsiteY2" fmla="*/ 4643 h 8929"/>
                <a:gd name="connsiteX3" fmla="*/ 0 w 85367"/>
                <a:gd name="connsiteY3" fmla="*/ 4286 h 8929"/>
                <a:gd name="connsiteX4" fmla="*/ 4286 w 85367"/>
                <a:gd name="connsiteY4" fmla="*/ 0 h 8929"/>
                <a:gd name="connsiteX5" fmla="*/ 81082 w 85367"/>
                <a:gd name="connsiteY5" fmla="*/ 0 h 8929"/>
                <a:gd name="connsiteX6" fmla="*/ 85368 w 85367"/>
                <a:gd name="connsiteY6" fmla="*/ 4286 h 8929"/>
                <a:gd name="connsiteX7" fmla="*/ 85368 w 85367"/>
                <a:gd name="connsiteY7" fmla="*/ 4643 h 8929"/>
                <a:gd name="connsiteX8" fmla="*/ 80724 w 85367"/>
                <a:gd name="connsiteY8" fmla="*/ 8930 h 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367" h="8929">
                  <a:moveTo>
                    <a:pt x="80724" y="8930"/>
                  </a:moveTo>
                  <a:lnTo>
                    <a:pt x="4286" y="8930"/>
                  </a:lnTo>
                  <a:cubicBezTo>
                    <a:pt x="1786" y="8930"/>
                    <a:pt x="0" y="7144"/>
                    <a:pt x="0" y="4643"/>
                  </a:cubicBezTo>
                  <a:lnTo>
                    <a:pt x="0" y="4286"/>
                  </a:lnTo>
                  <a:cubicBezTo>
                    <a:pt x="0" y="1786"/>
                    <a:pt x="1786" y="0"/>
                    <a:pt x="4286" y="0"/>
                  </a:cubicBezTo>
                  <a:lnTo>
                    <a:pt x="81082" y="0"/>
                  </a:lnTo>
                  <a:cubicBezTo>
                    <a:pt x="83582" y="0"/>
                    <a:pt x="85368" y="1786"/>
                    <a:pt x="85368" y="4286"/>
                  </a:cubicBezTo>
                  <a:lnTo>
                    <a:pt x="85368" y="4643"/>
                  </a:lnTo>
                  <a:cubicBezTo>
                    <a:pt x="85011" y="7144"/>
                    <a:pt x="83225" y="8930"/>
                    <a:pt x="80724" y="8930"/>
                  </a:cubicBezTo>
                  <a:close/>
                </a:path>
              </a:pathLst>
            </a:custGeom>
            <a:solidFill>
              <a:srgbClr val="616B77"/>
            </a:solidFill>
            <a:ln w="3572" cap="flat">
              <a:noFill/>
              <a:prstDash val="solid"/>
              <a:miter/>
            </a:ln>
          </p:spPr>
          <p:txBody>
            <a:bodyPr rtlCol="0" anchor="ctr"/>
            <a:lstStyle/>
            <a:p>
              <a:endParaRPr lang="en-GB"/>
            </a:p>
          </p:txBody>
        </p:sp>
        <p:sp>
          <p:nvSpPr>
            <p:cNvPr id="370" name="Freeform: Shape 369">
              <a:extLst>
                <a:ext uri="{FF2B5EF4-FFF2-40B4-BE49-F238E27FC236}">
                  <a16:creationId xmlns:a16="http://schemas.microsoft.com/office/drawing/2014/main" id="{11CE9E47-663F-4917-A743-6BA9CC222B26}"/>
                </a:ext>
              </a:extLst>
            </p:cNvPr>
            <p:cNvSpPr/>
            <p:nvPr/>
          </p:nvSpPr>
          <p:spPr>
            <a:xfrm>
              <a:off x="7044094" y="1291589"/>
              <a:ext cx="85367" cy="8929"/>
            </a:xfrm>
            <a:custGeom>
              <a:avLst/>
              <a:gdLst>
                <a:gd name="connsiteX0" fmla="*/ 80724 w 85367"/>
                <a:gd name="connsiteY0" fmla="*/ 8930 h 8929"/>
                <a:gd name="connsiteX1" fmla="*/ 4286 w 85367"/>
                <a:gd name="connsiteY1" fmla="*/ 8930 h 8929"/>
                <a:gd name="connsiteX2" fmla="*/ 0 w 85367"/>
                <a:gd name="connsiteY2" fmla="*/ 4643 h 8929"/>
                <a:gd name="connsiteX3" fmla="*/ 0 w 85367"/>
                <a:gd name="connsiteY3" fmla="*/ 4286 h 8929"/>
                <a:gd name="connsiteX4" fmla="*/ 4286 w 85367"/>
                <a:gd name="connsiteY4" fmla="*/ 0 h 8929"/>
                <a:gd name="connsiteX5" fmla="*/ 81082 w 85367"/>
                <a:gd name="connsiteY5" fmla="*/ 0 h 8929"/>
                <a:gd name="connsiteX6" fmla="*/ 85368 w 85367"/>
                <a:gd name="connsiteY6" fmla="*/ 4286 h 8929"/>
                <a:gd name="connsiteX7" fmla="*/ 85368 w 85367"/>
                <a:gd name="connsiteY7" fmla="*/ 4643 h 8929"/>
                <a:gd name="connsiteX8" fmla="*/ 80724 w 85367"/>
                <a:gd name="connsiteY8" fmla="*/ 8930 h 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367" h="8929">
                  <a:moveTo>
                    <a:pt x="80724" y="8930"/>
                  </a:moveTo>
                  <a:lnTo>
                    <a:pt x="4286" y="8930"/>
                  </a:lnTo>
                  <a:cubicBezTo>
                    <a:pt x="1786" y="8930"/>
                    <a:pt x="0" y="7144"/>
                    <a:pt x="0" y="4643"/>
                  </a:cubicBezTo>
                  <a:lnTo>
                    <a:pt x="0" y="4286"/>
                  </a:lnTo>
                  <a:cubicBezTo>
                    <a:pt x="0" y="1786"/>
                    <a:pt x="1786" y="0"/>
                    <a:pt x="4286" y="0"/>
                  </a:cubicBezTo>
                  <a:lnTo>
                    <a:pt x="81082" y="0"/>
                  </a:lnTo>
                  <a:cubicBezTo>
                    <a:pt x="83582" y="0"/>
                    <a:pt x="85368" y="1786"/>
                    <a:pt x="85368" y="4286"/>
                  </a:cubicBezTo>
                  <a:lnTo>
                    <a:pt x="85368" y="4643"/>
                  </a:lnTo>
                  <a:cubicBezTo>
                    <a:pt x="85011" y="7144"/>
                    <a:pt x="83225" y="8930"/>
                    <a:pt x="80724" y="8930"/>
                  </a:cubicBezTo>
                  <a:close/>
                </a:path>
              </a:pathLst>
            </a:custGeom>
            <a:solidFill>
              <a:srgbClr val="616B77"/>
            </a:solidFill>
            <a:ln w="3572" cap="flat">
              <a:noFill/>
              <a:prstDash val="solid"/>
              <a:miter/>
            </a:ln>
          </p:spPr>
          <p:txBody>
            <a:bodyPr rtlCol="0" anchor="ctr"/>
            <a:lstStyle/>
            <a:p>
              <a:endParaRPr lang="en-GB"/>
            </a:p>
          </p:txBody>
        </p:sp>
        <p:sp>
          <p:nvSpPr>
            <p:cNvPr id="371" name="Freeform: Shape 370">
              <a:extLst>
                <a:ext uri="{FF2B5EF4-FFF2-40B4-BE49-F238E27FC236}">
                  <a16:creationId xmlns:a16="http://schemas.microsoft.com/office/drawing/2014/main" id="{1511E04C-19E0-4E26-BB52-932901E10B3A}"/>
                </a:ext>
              </a:extLst>
            </p:cNvPr>
            <p:cNvSpPr/>
            <p:nvPr/>
          </p:nvSpPr>
          <p:spPr>
            <a:xfrm>
              <a:off x="7044094" y="1307663"/>
              <a:ext cx="85367" cy="8929"/>
            </a:xfrm>
            <a:custGeom>
              <a:avLst/>
              <a:gdLst>
                <a:gd name="connsiteX0" fmla="*/ 80724 w 85367"/>
                <a:gd name="connsiteY0" fmla="*/ 8930 h 8929"/>
                <a:gd name="connsiteX1" fmla="*/ 4286 w 85367"/>
                <a:gd name="connsiteY1" fmla="*/ 8930 h 8929"/>
                <a:gd name="connsiteX2" fmla="*/ 0 w 85367"/>
                <a:gd name="connsiteY2" fmla="*/ 4643 h 8929"/>
                <a:gd name="connsiteX3" fmla="*/ 0 w 85367"/>
                <a:gd name="connsiteY3" fmla="*/ 4286 h 8929"/>
                <a:gd name="connsiteX4" fmla="*/ 4286 w 85367"/>
                <a:gd name="connsiteY4" fmla="*/ 0 h 8929"/>
                <a:gd name="connsiteX5" fmla="*/ 81082 w 85367"/>
                <a:gd name="connsiteY5" fmla="*/ 0 h 8929"/>
                <a:gd name="connsiteX6" fmla="*/ 85368 w 85367"/>
                <a:gd name="connsiteY6" fmla="*/ 4286 h 8929"/>
                <a:gd name="connsiteX7" fmla="*/ 85368 w 85367"/>
                <a:gd name="connsiteY7" fmla="*/ 4643 h 8929"/>
                <a:gd name="connsiteX8" fmla="*/ 80724 w 85367"/>
                <a:gd name="connsiteY8" fmla="*/ 8930 h 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367" h="8929">
                  <a:moveTo>
                    <a:pt x="80724" y="8930"/>
                  </a:moveTo>
                  <a:lnTo>
                    <a:pt x="4286" y="8930"/>
                  </a:lnTo>
                  <a:cubicBezTo>
                    <a:pt x="1786" y="8930"/>
                    <a:pt x="0" y="7144"/>
                    <a:pt x="0" y="4643"/>
                  </a:cubicBezTo>
                  <a:lnTo>
                    <a:pt x="0" y="4286"/>
                  </a:lnTo>
                  <a:cubicBezTo>
                    <a:pt x="0" y="1786"/>
                    <a:pt x="1786" y="0"/>
                    <a:pt x="4286" y="0"/>
                  </a:cubicBezTo>
                  <a:lnTo>
                    <a:pt x="81082" y="0"/>
                  </a:lnTo>
                  <a:cubicBezTo>
                    <a:pt x="83582" y="0"/>
                    <a:pt x="85368" y="1786"/>
                    <a:pt x="85368" y="4286"/>
                  </a:cubicBezTo>
                  <a:lnTo>
                    <a:pt x="85368" y="4643"/>
                  </a:lnTo>
                  <a:cubicBezTo>
                    <a:pt x="85011" y="6787"/>
                    <a:pt x="83225" y="8930"/>
                    <a:pt x="80724" y="8930"/>
                  </a:cubicBezTo>
                  <a:close/>
                </a:path>
              </a:pathLst>
            </a:custGeom>
            <a:solidFill>
              <a:srgbClr val="616B77"/>
            </a:solidFill>
            <a:ln w="3572" cap="flat">
              <a:noFill/>
              <a:prstDash val="solid"/>
              <a:miter/>
            </a:ln>
          </p:spPr>
          <p:txBody>
            <a:bodyPr rtlCol="0" anchor="ctr"/>
            <a:lstStyle/>
            <a:p>
              <a:endParaRPr lang="en-GB"/>
            </a:p>
          </p:txBody>
        </p:sp>
        <p:grpSp>
          <p:nvGrpSpPr>
            <p:cNvPr id="372" name="Graphic 9248">
              <a:extLst>
                <a:ext uri="{FF2B5EF4-FFF2-40B4-BE49-F238E27FC236}">
                  <a16:creationId xmlns:a16="http://schemas.microsoft.com/office/drawing/2014/main" id="{FA70D3B8-D155-4855-B7DC-29528752BBEF}"/>
                </a:ext>
              </a:extLst>
            </p:cNvPr>
            <p:cNvGrpSpPr/>
            <p:nvPr/>
          </p:nvGrpSpPr>
          <p:grpSpPr>
            <a:xfrm>
              <a:off x="6999446" y="1026556"/>
              <a:ext cx="173593" cy="167878"/>
              <a:chOff x="6999446" y="1026556"/>
              <a:chExt cx="173593" cy="167878"/>
            </a:xfrm>
            <a:solidFill>
              <a:srgbClr val="000000"/>
            </a:solidFill>
          </p:grpSpPr>
          <p:sp>
            <p:nvSpPr>
              <p:cNvPr id="373" name="Freeform: Shape 372">
                <a:extLst>
                  <a:ext uri="{FF2B5EF4-FFF2-40B4-BE49-F238E27FC236}">
                    <a16:creationId xmlns:a16="http://schemas.microsoft.com/office/drawing/2014/main" id="{239EF72B-1D23-4C02-9417-AB1A2292F39C}"/>
                  </a:ext>
                </a:extLst>
              </p:cNvPr>
              <p:cNvSpPr/>
              <p:nvPr/>
            </p:nvSpPr>
            <p:spPr>
              <a:xfrm>
                <a:off x="7001587" y="1029057"/>
                <a:ext cx="168592" cy="162877"/>
              </a:xfrm>
              <a:custGeom>
                <a:avLst/>
                <a:gdLst>
                  <a:gd name="connsiteX0" fmla="*/ 168593 w 168592"/>
                  <a:gd name="connsiteY0" fmla="*/ 78224 h 162877"/>
                  <a:gd name="connsiteX1" fmla="*/ 150376 w 168592"/>
                  <a:gd name="connsiteY1" fmla="*/ 55364 h 162877"/>
                  <a:gd name="connsiteX2" fmla="*/ 154305 w 168592"/>
                  <a:gd name="connsiteY2" fmla="*/ 42505 h 162877"/>
                  <a:gd name="connsiteX3" fmla="*/ 130731 w 168592"/>
                  <a:gd name="connsiteY3" fmla="*/ 18931 h 162877"/>
                  <a:gd name="connsiteX4" fmla="*/ 123587 w 168592"/>
                  <a:gd name="connsiteY4" fmla="*/ 20002 h 162877"/>
                  <a:gd name="connsiteX5" fmla="*/ 100370 w 168592"/>
                  <a:gd name="connsiteY5" fmla="*/ 0 h 162877"/>
                  <a:gd name="connsiteX6" fmla="*/ 84296 w 168592"/>
                  <a:gd name="connsiteY6" fmla="*/ 6429 h 162877"/>
                  <a:gd name="connsiteX7" fmla="*/ 68223 w 168592"/>
                  <a:gd name="connsiteY7" fmla="*/ 0 h 162877"/>
                  <a:gd name="connsiteX8" fmla="*/ 45006 w 168592"/>
                  <a:gd name="connsiteY8" fmla="*/ 20002 h 162877"/>
                  <a:gd name="connsiteX9" fmla="*/ 37862 w 168592"/>
                  <a:gd name="connsiteY9" fmla="*/ 18931 h 162877"/>
                  <a:gd name="connsiteX10" fmla="*/ 14288 w 168592"/>
                  <a:gd name="connsiteY10" fmla="*/ 42505 h 162877"/>
                  <a:gd name="connsiteX11" fmla="*/ 18217 w 168592"/>
                  <a:gd name="connsiteY11" fmla="*/ 55364 h 162877"/>
                  <a:gd name="connsiteX12" fmla="*/ 0 w 168592"/>
                  <a:gd name="connsiteY12" fmla="*/ 78224 h 162877"/>
                  <a:gd name="connsiteX13" fmla="*/ 16073 w 168592"/>
                  <a:gd name="connsiteY13" fmla="*/ 100370 h 162877"/>
                  <a:gd name="connsiteX14" fmla="*/ 10358 w 168592"/>
                  <a:gd name="connsiteY14" fmla="*/ 115729 h 162877"/>
                  <a:gd name="connsiteX15" fmla="*/ 33933 w 168592"/>
                  <a:gd name="connsiteY15" fmla="*/ 139303 h 162877"/>
                  <a:gd name="connsiteX16" fmla="*/ 44291 w 168592"/>
                  <a:gd name="connsiteY16" fmla="*/ 136803 h 162877"/>
                  <a:gd name="connsiteX17" fmla="*/ 44291 w 168592"/>
                  <a:gd name="connsiteY17" fmla="*/ 139303 h 162877"/>
                  <a:gd name="connsiteX18" fmla="*/ 67866 w 168592"/>
                  <a:gd name="connsiteY18" fmla="*/ 162878 h 162877"/>
                  <a:gd name="connsiteX19" fmla="*/ 83939 w 168592"/>
                  <a:gd name="connsiteY19" fmla="*/ 156448 h 162877"/>
                  <a:gd name="connsiteX20" fmla="*/ 100012 w 168592"/>
                  <a:gd name="connsiteY20" fmla="*/ 162878 h 162877"/>
                  <a:gd name="connsiteX21" fmla="*/ 123587 w 168592"/>
                  <a:gd name="connsiteY21" fmla="*/ 139303 h 162877"/>
                  <a:gd name="connsiteX22" fmla="*/ 123587 w 168592"/>
                  <a:gd name="connsiteY22" fmla="*/ 136803 h 162877"/>
                  <a:gd name="connsiteX23" fmla="*/ 133945 w 168592"/>
                  <a:gd name="connsiteY23" fmla="*/ 139303 h 162877"/>
                  <a:gd name="connsiteX24" fmla="*/ 157520 w 168592"/>
                  <a:gd name="connsiteY24" fmla="*/ 115729 h 162877"/>
                  <a:gd name="connsiteX25" fmla="*/ 151805 w 168592"/>
                  <a:gd name="connsiteY25" fmla="*/ 100370 h 162877"/>
                  <a:gd name="connsiteX26" fmla="*/ 168593 w 168592"/>
                  <a:gd name="connsiteY26" fmla="*/ 78224 h 162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8592" h="162877">
                    <a:moveTo>
                      <a:pt x="168593" y="78224"/>
                    </a:moveTo>
                    <a:cubicBezTo>
                      <a:pt x="168593" y="67151"/>
                      <a:pt x="160734" y="57864"/>
                      <a:pt x="150376" y="55364"/>
                    </a:cubicBezTo>
                    <a:cubicBezTo>
                      <a:pt x="152876" y="51792"/>
                      <a:pt x="154305" y="47149"/>
                      <a:pt x="154305" y="42505"/>
                    </a:cubicBezTo>
                    <a:cubicBezTo>
                      <a:pt x="154305" y="29647"/>
                      <a:pt x="143947" y="18931"/>
                      <a:pt x="130731" y="18931"/>
                    </a:cubicBezTo>
                    <a:cubicBezTo>
                      <a:pt x="128230" y="18931"/>
                      <a:pt x="126087" y="19288"/>
                      <a:pt x="123587" y="20002"/>
                    </a:cubicBezTo>
                    <a:cubicBezTo>
                      <a:pt x="121801" y="8572"/>
                      <a:pt x="112157" y="0"/>
                      <a:pt x="100370" y="0"/>
                    </a:cubicBezTo>
                    <a:cubicBezTo>
                      <a:pt x="94297" y="0"/>
                      <a:pt x="88583" y="2500"/>
                      <a:pt x="84296" y="6429"/>
                    </a:cubicBezTo>
                    <a:cubicBezTo>
                      <a:pt x="80010" y="2500"/>
                      <a:pt x="74652" y="0"/>
                      <a:pt x="68223" y="0"/>
                    </a:cubicBezTo>
                    <a:cubicBezTo>
                      <a:pt x="56436" y="0"/>
                      <a:pt x="46792" y="8572"/>
                      <a:pt x="45006" y="20002"/>
                    </a:cubicBezTo>
                    <a:cubicBezTo>
                      <a:pt x="42863" y="19288"/>
                      <a:pt x="40362" y="18931"/>
                      <a:pt x="37862" y="18931"/>
                    </a:cubicBezTo>
                    <a:cubicBezTo>
                      <a:pt x="25003" y="18931"/>
                      <a:pt x="14288" y="29289"/>
                      <a:pt x="14288" y="42505"/>
                    </a:cubicBezTo>
                    <a:cubicBezTo>
                      <a:pt x="14288" y="47149"/>
                      <a:pt x="15716" y="51792"/>
                      <a:pt x="18217" y="55364"/>
                    </a:cubicBezTo>
                    <a:cubicBezTo>
                      <a:pt x="7858" y="57864"/>
                      <a:pt x="0" y="67151"/>
                      <a:pt x="0" y="78224"/>
                    </a:cubicBezTo>
                    <a:cubicBezTo>
                      <a:pt x="0" y="88583"/>
                      <a:pt x="6787" y="97512"/>
                      <a:pt x="16073" y="100370"/>
                    </a:cubicBezTo>
                    <a:cubicBezTo>
                      <a:pt x="12502" y="104299"/>
                      <a:pt x="10358" y="109657"/>
                      <a:pt x="10358" y="115729"/>
                    </a:cubicBezTo>
                    <a:cubicBezTo>
                      <a:pt x="10358" y="128588"/>
                      <a:pt x="20717" y="139303"/>
                      <a:pt x="33933" y="139303"/>
                    </a:cubicBezTo>
                    <a:cubicBezTo>
                      <a:pt x="37862" y="139303"/>
                      <a:pt x="41434" y="138232"/>
                      <a:pt x="44291" y="136803"/>
                    </a:cubicBezTo>
                    <a:cubicBezTo>
                      <a:pt x="44291" y="137517"/>
                      <a:pt x="44291" y="138589"/>
                      <a:pt x="44291" y="139303"/>
                    </a:cubicBezTo>
                    <a:cubicBezTo>
                      <a:pt x="44291" y="152162"/>
                      <a:pt x="54650" y="162878"/>
                      <a:pt x="67866" y="162878"/>
                    </a:cubicBezTo>
                    <a:cubicBezTo>
                      <a:pt x="73938" y="162878"/>
                      <a:pt x="79653" y="160377"/>
                      <a:pt x="83939" y="156448"/>
                    </a:cubicBezTo>
                    <a:cubicBezTo>
                      <a:pt x="88225" y="160377"/>
                      <a:pt x="93583" y="162878"/>
                      <a:pt x="100012" y="162878"/>
                    </a:cubicBezTo>
                    <a:cubicBezTo>
                      <a:pt x="112871" y="162878"/>
                      <a:pt x="123587" y="152519"/>
                      <a:pt x="123587" y="139303"/>
                    </a:cubicBezTo>
                    <a:cubicBezTo>
                      <a:pt x="123587" y="138589"/>
                      <a:pt x="123587" y="137517"/>
                      <a:pt x="123587" y="136803"/>
                    </a:cubicBezTo>
                    <a:cubicBezTo>
                      <a:pt x="126802" y="138232"/>
                      <a:pt x="130373" y="139303"/>
                      <a:pt x="133945" y="139303"/>
                    </a:cubicBezTo>
                    <a:cubicBezTo>
                      <a:pt x="146804" y="139303"/>
                      <a:pt x="157520" y="128945"/>
                      <a:pt x="157520" y="115729"/>
                    </a:cubicBezTo>
                    <a:cubicBezTo>
                      <a:pt x="157520" y="110014"/>
                      <a:pt x="155377" y="104656"/>
                      <a:pt x="151805" y="100370"/>
                    </a:cubicBezTo>
                    <a:cubicBezTo>
                      <a:pt x="161806" y="97512"/>
                      <a:pt x="168593" y="88583"/>
                      <a:pt x="168593" y="78224"/>
                    </a:cubicBezTo>
                    <a:close/>
                  </a:path>
                </a:pathLst>
              </a:custGeom>
              <a:solidFill>
                <a:srgbClr val="0BB6EA"/>
              </a:solidFill>
              <a:ln w="3572" cap="flat">
                <a:noFill/>
                <a:prstDash val="solid"/>
                <a:miter/>
              </a:ln>
            </p:spPr>
            <p:txBody>
              <a:bodyPr rtlCol="0" anchor="ctr"/>
              <a:lstStyle/>
              <a:p>
                <a:endParaRPr lang="en-GB"/>
              </a:p>
            </p:txBody>
          </p:sp>
          <p:sp>
            <p:nvSpPr>
              <p:cNvPr id="374" name="Freeform: Shape 373">
                <a:extLst>
                  <a:ext uri="{FF2B5EF4-FFF2-40B4-BE49-F238E27FC236}">
                    <a16:creationId xmlns:a16="http://schemas.microsoft.com/office/drawing/2014/main" id="{F61C74CA-4DFB-4854-B116-3B28B875EB23}"/>
                  </a:ext>
                </a:extLst>
              </p:cNvPr>
              <p:cNvSpPr/>
              <p:nvPr/>
            </p:nvSpPr>
            <p:spPr>
              <a:xfrm>
                <a:off x="7106959" y="1145500"/>
                <a:ext cx="20716" cy="20716"/>
              </a:xfrm>
              <a:custGeom>
                <a:avLst/>
                <a:gdLst>
                  <a:gd name="connsiteX0" fmla="*/ 0 w 20716"/>
                  <a:gd name="connsiteY0" fmla="*/ 17859 h 20716"/>
                  <a:gd name="connsiteX1" fmla="*/ 2858 w 20716"/>
                  <a:gd name="connsiteY1" fmla="*/ 20717 h 20716"/>
                  <a:gd name="connsiteX2" fmla="*/ 5715 w 20716"/>
                  <a:gd name="connsiteY2" fmla="*/ 17859 h 20716"/>
                  <a:gd name="connsiteX3" fmla="*/ 17859 w 20716"/>
                  <a:gd name="connsiteY3" fmla="*/ 5715 h 20716"/>
                  <a:gd name="connsiteX4" fmla="*/ 20717 w 20716"/>
                  <a:gd name="connsiteY4" fmla="*/ 2857 h 20716"/>
                  <a:gd name="connsiteX5" fmla="*/ 17859 w 20716"/>
                  <a:gd name="connsiteY5" fmla="*/ 0 h 20716"/>
                  <a:gd name="connsiteX6" fmla="*/ 0 w 20716"/>
                  <a:gd name="connsiteY6" fmla="*/ 17859 h 2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16" h="20716">
                    <a:moveTo>
                      <a:pt x="0" y="17859"/>
                    </a:moveTo>
                    <a:cubicBezTo>
                      <a:pt x="0" y="19288"/>
                      <a:pt x="1429" y="20717"/>
                      <a:pt x="2858" y="20717"/>
                    </a:cubicBezTo>
                    <a:cubicBezTo>
                      <a:pt x="4286" y="20717"/>
                      <a:pt x="5715" y="19288"/>
                      <a:pt x="5715" y="17859"/>
                    </a:cubicBezTo>
                    <a:cubicBezTo>
                      <a:pt x="5715" y="11073"/>
                      <a:pt x="11073" y="5715"/>
                      <a:pt x="17859" y="5715"/>
                    </a:cubicBezTo>
                    <a:cubicBezTo>
                      <a:pt x="19288" y="5715"/>
                      <a:pt x="20717" y="4286"/>
                      <a:pt x="20717" y="2857"/>
                    </a:cubicBezTo>
                    <a:cubicBezTo>
                      <a:pt x="20717" y="1429"/>
                      <a:pt x="19288" y="0"/>
                      <a:pt x="17859" y="0"/>
                    </a:cubicBezTo>
                    <a:cubicBezTo>
                      <a:pt x="7858" y="0"/>
                      <a:pt x="0" y="8215"/>
                      <a:pt x="0" y="17859"/>
                    </a:cubicBezTo>
                    <a:close/>
                  </a:path>
                </a:pathLst>
              </a:custGeom>
              <a:solidFill>
                <a:srgbClr val="0095CF"/>
              </a:solidFill>
              <a:ln w="3572" cap="flat">
                <a:noFill/>
                <a:prstDash val="solid"/>
                <a:miter/>
              </a:ln>
            </p:spPr>
            <p:txBody>
              <a:bodyPr rtlCol="0" anchor="ctr"/>
              <a:lstStyle/>
              <a:p>
                <a:endParaRPr lang="en-GB"/>
              </a:p>
            </p:txBody>
          </p:sp>
          <p:sp>
            <p:nvSpPr>
              <p:cNvPr id="375" name="Freeform: Shape 374">
                <a:extLst>
                  <a:ext uri="{FF2B5EF4-FFF2-40B4-BE49-F238E27FC236}">
                    <a16:creationId xmlns:a16="http://schemas.microsoft.com/office/drawing/2014/main" id="{24F37075-5199-4B13-9D1D-3B57510694C1}"/>
                  </a:ext>
                </a:extLst>
              </p:cNvPr>
              <p:cNvSpPr/>
              <p:nvPr/>
            </p:nvSpPr>
            <p:spPr>
              <a:xfrm>
                <a:off x="7095529" y="1055489"/>
                <a:ext cx="21431" cy="20359"/>
              </a:xfrm>
              <a:custGeom>
                <a:avLst/>
                <a:gdLst>
                  <a:gd name="connsiteX0" fmla="*/ 21431 w 21431"/>
                  <a:gd name="connsiteY0" fmla="*/ 2858 h 20359"/>
                  <a:gd name="connsiteX1" fmla="*/ 18574 w 21431"/>
                  <a:gd name="connsiteY1" fmla="*/ 0 h 20359"/>
                  <a:gd name="connsiteX2" fmla="*/ 15716 w 21431"/>
                  <a:gd name="connsiteY2" fmla="*/ 2858 h 20359"/>
                  <a:gd name="connsiteX3" fmla="*/ 2858 w 21431"/>
                  <a:gd name="connsiteY3" fmla="*/ 14645 h 20359"/>
                  <a:gd name="connsiteX4" fmla="*/ 0 w 21431"/>
                  <a:gd name="connsiteY4" fmla="*/ 17502 h 20359"/>
                  <a:gd name="connsiteX5" fmla="*/ 2858 w 21431"/>
                  <a:gd name="connsiteY5" fmla="*/ 20360 h 20359"/>
                  <a:gd name="connsiteX6" fmla="*/ 3572 w 21431"/>
                  <a:gd name="connsiteY6" fmla="*/ 20360 h 20359"/>
                  <a:gd name="connsiteX7" fmla="*/ 21431 w 21431"/>
                  <a:gd name="connsiteY7" fmla="*/ 2858 h 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31" h="20359">
                    <a:moveTo>
                      <a:pt x="21431" y="2858"/>
                    </a:moveTo>
                    <a:cubicBezTo>
                      <a:pt x="21431" y="1429"/>
                      <a:pt x="20360" y="0"/>
                      <a:pt x="18574" y="0"/>
                    </a:cubicBezTo>
                    <a:cubicBezTo>
                      <a:pt x="17145" y="0"/>
                      <a:pt x="15716" y="1072"/>
                      <a:pt x="15716" y="2858"/>
                    </a:cubicBezTo>
                    <a:cubicBezTo>
                      <a:pt x="15359" y="9644"/>
                      <a:pt x="9644" y="14645"/>
                      <a:pt x="2858" y="14645"/>
                    </a:cubicBezTo>
                    <a:cubicBezTo>
                      <a:pt x="1429" y="14645"/>
                      <a:pt x="0" y="15716"/>
                      <a:pt x="0" y="17502"/>
                    </a:cubicBezTo>
                    <a:cubicBezTo>
                      <a:pt x="0" y="18931"/>
                      <a:pt x="1072" y="20360"/>
                      <a:pt x="2858" y="20360"/>
                    </a:cubicBezTo>
                    <a:cubicBezTo>
                      <a:pt x="3215" y="20360"/>
                      <a:pt x="3572" y="20360"/>
                      <a:pt x="3572" y="20360"/>
                    </a:cubicBezTo>
                    <a:cubicBezTo>
                      <a:pt x="12859" y="19645"/>
                      <a:pt x="20717" y="12144"/>
                      <a:pt x="21431" y="2858"/>
                    </a:cubicBezTo>
                    <a:close/>
                  </a:path>
                </a:pathLst>
              </a:custGeom>
              <a:solidFill>
                <a:srgbClr val="0095CF"/>
              </a:solidFill>
              <a:ln w="3572" cap="flat">
                <a:noFill/>
                <a:prstDash val="solid"/>
                <a:miter/>
              </a:ln>
            </p:spPr>
            <p:txBody>
              <a:bodyPr rtlCol="0" anchor="ctr"/>
              <a:lstStyle/>
              <a:p>
                <a:endParaRPr lang="en-GB"/>
              </a:p>
            </p:txBody>
          </p:sp>
          <p:sp>
            <p:nvSpPr>
              <p:cNvPr id="376" name="Freeform: Shape 375">
                <a:extLst>
                  <a:ext uri="{FF2B5EF4-FFF2-40B4-BE49-F238E27FC236}">
                    <a16:creationId xmlns:a16="http://schemas.microsoft.com/office/drawing/2014/main" id="{619DC936-4322-4313-BF21-EEC369DC6BFD}"/>
                  </a:ext>
                </a:extLst>
              </p:cNvPr>
              <p:cNvSpPr/>
              <p:nvPr/>
            </p:nvSpPr>
            <p:spPr>
              <a:xfrm>
                <a:off x="6999446" y="1026556"/>
                <a:ext cx="173593" cy="167878"/>
              </a:xfrm>
              <a:custGeom>
                <a:avLst/>
                <a:gdLst>
                  <a:gd name="connsiteX0" fmla="*/ 173593 w 173593"/>
                  <a:gd name="connsiteY0" fmla="*/ 80724 h 167878"/>
                  <a:gd name="connsiteX1" fmla="*/ 156805 w 173593"/>
                  <a:gd name="connsiteY1" fmla="*/ 56436 h 167878"/>
                  <a:gd name="connsiteX2" fmla="*/ 159306 w 173593"/>
                  <a:gd name="connsiteY2" fmla="*/ 45006 h 167878"/>
                  <a:gd name="connsiteX3" fmla="*/ 133231 w 173593"/>
                  <a:gd name="connsiteY3" fmla="*/ 18931 h 167878"/>
                  <a:gd name="connsiteX4" fmla="*/ 128230 w 173593"/>
                  <a:gd name="connsiteY4" fmla="*/ 19288 h 167878"/>
                  <a:gd name="connsiteX5" fmla="*/ 102870 w 173593"/>
                  <a:gd name="connsiteY5" fmla="*/ 0 h 167878"/>
                  <a:gd name="connsiteX6" fmla="*/ 86797 w 173593"/>
                  <a:gd name="connsiteY6" fmla="*/ 5358 h 167878"/>
                  <a:gd name="connsiteX7" fmla="*/ 70723 w 173593"/>
                  <a:gd name="connsiteY7" fmla="*/ 0 h 167878"/>
                  <a:gd name="connsiteX8" fmla="*/ 45363 w 173593"/>
                  <a:gd name="connsiteY8" fmla="*/ 19288 h 167878"/>
                  <a:gd name="connsiteX9" fmla="*/ 40362 w 173593"/>
                  <a:gd name="connsiteY9" fmla="*/ 18931 h 167878"/>
                  <a:gd name="connsiteX10" fmla="*/ 14288 w 173593"/>
                  <a:gd name="connsiteY10" fmla="*/ 45006 h 167878"/>
                  <a:gd name="connsiteX11" fmla="*/ 16788 w 173593"/>
                  <a:gd name="connsiteY11" fmla="*/ 56436 h 167878"/>
                  <a:gd name="connsiteX12" fmla="*/ 0 w 173593"/>
                  <a:gd name="connsiteY12" fmla="*/ 80724 h 167878"/>
                  <a:gd name="connsiteX13" fmla="*/ 14645 w 173593"/>
                  <a:gd name="connsiteY13" fmla="*/ 104299 h 167878"/>
                  <a:gd name="connsiteX14" fmla="*/ 10716 w 173593"/>
                  <a:gd name="connsiteY14" fmla="*/ 118229 h 167878"/>
                  <a:gd name="connsiteX15" fmla="*/ 36790 w 173593"/>
                  <a:gd name="connsiteY15" fmla="*/ 144304 h 167878"/>
                  <a:gd name="connsiteX16" fmla="*/ 44291 w 173593"/>
                  <a:gd name="connsiteY16" fmla="*/ 143232 h 167878"/>
                  <a:gd name="connsiteX17" fmla="*/ 70366 w 173593"/>
                  <a:gd name="connsiteY17" fmla="*/ 167878 h 167878"/>
                  <a:gd name="connsiteX18" fmla="*/ 86439 w 173593"/>
                  <a:gd name="connsiteY18" fmla="*/ 162520 h 167878"/>
                  <a:gd name="connsiteX19" fmla="*/ 102513 w 173593"/>
                  <a:gd name="connsiteY19" fmla="*/ 167878 h 167878"/>
                  <a:gd name="connsiteX20" fmla="*/ 128588 w 173593"/>
                  <a:gd name="connsiteY20" fmla="*/ 143232 h 167878"/>
                  <a:gd name="connsiteX21" fmla="*/ 136088 w 173593"/>
                  <a:gd name="connsiteY21" fmla="*/ 144304 h 167878"/>
                  <a:gd name="connsiteX22" fmla="*/ 162163 w 173593"/>
                  <a:gd name="connsiteY22" fmla="*/ 118229 h 167878"/>
                  <a:gd name="connsiteX23" fmla="*/ 158234 w 173593"/>
                  <a:gd name="connsiteY23" fmla="*/ 104299 h 167878"/>
                  <a:gd name="connsiteX24" fmla="*/ 173593 w 173593"/>
                  <a:gd name="connsiteY24" fmla="*/ 80724 h 167878"/>
                  <a:gd name="connsiteX25" fmla="*/ 71080 w 173593"/>
                  <a:gd name="connsiteY25" fmla="*/ 162163 h 167878"/>
                  <a:gd name="connsiteX26" fmla="*/ 50363 w 173593"/>
                  <a:gd name="connsiteY26" fmla="*/ 141446 h 167878"/>
                  <a:gd name="connsiteX27" fmla="*/ 50363 w 173593"/>
                  <a:gd name="connsiteY27" fmla="*/ 139303 h 167878"/>
                  <a:gd name="connsiteX28" fmla="*/ 49292 w 173593"/>
                  <a:gd name="connsiteY28" fmla="*/ 136803 h 167878"/>
                  <a:gd name="connsiteX29" fmla="*/ 47506 w 173593"/>
                  <a:gd name="connsiteY29" fmla="*/ 136446 h 167878"/>
                  <a:gd name="connsiteX30" fmla="*/ 46077 w 173593"/>
                  <a:gd name="connsiteY30" fmla="*/ 136803 h 167878"/>
                  <a:gd name="connsiteX31" fmla="*/ 36790 w 173593"/>
                  <a:gd name="connsiteY31" fmla="*/ 138946 h 167878"/>
                  <a:gd name="connsiteX32" fmla="*/ 16073 w 173593"/>
                  <a:gd name="connsiteY32" fmla="*/ 118229 h 167878"/>
                  <a:gd name="connsiteX33" fmla="*/ 20003 w 173593"/>
                  <a:gd name="connsiteY33" fmla="*/ 106442 h 167878"/>
                  <a:gd name="connsiteX34" fmla="*/ 30004 w 173593"/>
                  <a:gd name="connsiteY34" fmla="*/ 103227 h 167878"/>
                  <a:gd name="connsiteX35" fmla="*/ 32504 w 173593"/>
                  <a:gd name="connsiteY35" fmla="*/ 105013 h 167878"/>
                  <a:gd name="connsiteX36" fmla="*/ 46077 w 173593"/>
                  <a:gd name="connsiteY36" fmla="*/ 107156 h 167878"/>
                  <a:gd name="connsiteX37" fmla="*/ 48220 w 173593"/>
                  <a:gd name="connsiteY37" fmla="*/ 103584 h 167878"/>
                  <a:gd name="connsiteX38" fmla="*/ 44648 w 173593"/>
                  <a:gd name="connsiteY38" fmla="*/ 101441 h 167878"/>
                  <a:gd name="connsiteX39" fmla="*/ 35362 w 173593"/>
                  <a:gd name="connsiteY39" fmla="*/ 100013 h 167878"/>
                  <a:gd name="connsiteX40" fmla="*/ 34290 w 173593"/>
                  <a:gd name="connsiteY40" fmla="*/ 99298 h 167878"/>
                  <a:gd name="connsiteX41" fmla="*/ 37862 w 173593"/>
                  <a:gd name="connsiteY41" fmla="*/ 90726 h 167878"/>
                  <a:gd name="connsiteX42" fmla="*/ 35362 w 173593"/>
                  <a:gd name="connsiteY42" fmla="*/ 87511 h 167878"/>
                  <a:gd name="connsiteX43" fmla="*/ 32147 w 173593"/>
                  <a:gd name="connsiteY43" fmla="*/ 90011 h 167878"/>
                  <a:gd name="connsiteX44" fmla="*/ 27503 w 173593"/>
                  <a:gd name="connsiteY44" fmla="*/ 98227 h 167878"/>
                  <a:gd name="connsiteX45" fmla="*/ 20717 w 173593"/>
                  <a:gd name="connsiteY45" fmla="*/ 100727 h 167878"/>
                  <a:gd name="connsiteX46" fmla="*/ 20003 w 173593"/>
                  <a:gd name="connsiteY46" fmla="*/ 100370 h 167878"/>
                  <a:gd name="connsiteX47" fmla="*/ 5715 w 173593"/>
                  <a:gd name="connsiteY47" fmla="*/ 80724 h 167878"/>
                  <a:gd name="connsiteX48" fmla="*/ 21788 w 173593"/>
                  <a:gd name="connsiteY48" fmla="*/ 60722 h 167878"/>
                  <a:gd name="connsiteX49" fmla="*/ 23932 w 173593"/>
                  <a:gd name="connsiteY49" fmla="*/ 58936 h 167878"/>
                  <a:gd name="connsiteX50" fmla="*/ 23574 w 173593"/>
                  <a:gd name="connsiteY50" fmla="*/ 56436 h 167878"/>
                  <a:gd name="connsiteX51" fmla="*/ 20003 w 173593"/>
                  <a:gd name="connsiteY51" fmla="*/ 45006 h 167878"/>
                  <a:gd name="connsiteX52" fmla="*/ 40719 w 173593"/>
                  <a:gd name="connsiteY52" fmla="*/ 24289 h 167878"/>
                  <a:gd name="connsiteX53" fmla="*/ 46792 w 173593"/>
                  <a:gd name="connsiteY53" fmla="*/ 25360 h 167878"/>
                  <a:gd name="connsiteX54" fmla="*/ 49292 w 173593"/>
                  <a:gd name="connsiteY54" fmla="*/ 25003 h 167878"/>
                  <a:gd name="connsiteX55" fmla="*/ 50721 w 173593"/>
                  <a:gd name="connsiteY55" fmla="*/ 22860 h 167878"/>
                  <a:gd name="connsiteX56" fmla="*/ 71080 w 173593"/>
                  <a:gd name="connsiteY56" fmla="*/ 5358 h 167878"/>
                  <a:gd name="connsiteX57" fmla="*/ 84296 w 173593"/>
                  <a:gd name="connsiteY57" fmla="*/ 10001 h 167878"/>
                  <a:gd name="connsiteX58" fmla="*/ 84296 w 173593"/>
                  <a:gd name="connsiteY58" fmla="*/ 73938 h 167878"/>
                  <a:gd name="connsiteX59" fmla="*/ 68580 w 173593"/>
                  <a:gd name="connsiteY59" fmla="*/ 90726 h 167878"/>
                  <a:gd name="connsiteX60" fmla="*/ 71438 w 173593"/>
                  <a:gd name="connsiteY60" fmla="*/ 93583 h 167878"/>
                  <a:gd name="connsiteX61" fmla="*/ 71438 w 173593"/>
                  <a:gd name="connsiteY61" fmla="*/ 93583 h 167878"/>
                  <a:gd name="connsiteX62" fmla="*/ 74295 w 173593"/>
                  <a:gd name="connsiteY62" fmla="*/ 90726 h 167878"/>
                  <a:gd name="connsiteX63" fmla="*/ 84296 w 173593"/>
                  <a:gd name="connsiteY63" fmla="*/ 79296 h 167878"/>
                  <a:gd name="connsiteX64" fmla="*/ 84296 w 173593"/>
                  <a:gd name="connsiteY64" fmla="*/ 157163 h 167878"/>
                  <a:gd name="connsiteX65" fmla="*/ 71080 w 173593"/>
                  <a:gd name="connsiteY65" fmla="*/ 162163 h 167878"/>
                  <a:gd name="connsiteX66" fmla="*/ 154662 w 173593"/>
                  <a:gd name="connsiteY66" fmla="*/ 100013 h 167878"/>
                  <a:gd name="connsiteX67" fmla="*/ 154305 w 173593"/>
                  <a:gd name="connsiteY67" fmla="*/ 100013 h 167878"/>
                  <a:gd name="connsiteX68" fmla="*/ 146447 w 173593"/>
                  <a:gd name="connsiteY68" fmla="*/ 97512 h 167878"/>
                  <a:gd name="connsiteX69" fmla="*/ 141803 w 173593"/>
                  <a:gd name="connsiteY69" fmla="*/ 89297 h 167878"/>
                  <a:gd name="connsiteX70" fmla="*/ 139303 w 173593"/>
                  <a:gd name="connsiteY70" fmla="*/ 86797 h 167878"/>
                  <a:gd name="connsiteX71" fmla="*/ 138589 w 173593"/>
                  <a:gd name="connsiteY71" fmla="*/ 86797 h 167878"/>
                  <a:gd name="connsiteX72" fmla="*/ 136088 w 173593"/>
                  <a:gd name="connsiteY72" fmla="*/ 90011 h 167878"/>
                  <a:gd name="connsiteX73" fmla="*/ 139660 w 173593"/>
                  <a:gd name="connsiteY73" fmla="*/ 98584 h 167878"/>
                  <a:gd name="connsiteX74" fmla="*/ 138589 w 173593"/>
                  <a:gd name="connsiteY74" fmla="*/ 99298 h 167878"/>
                  <a:gd name="connsiteX75" fmla="*/ 129302 w 173593"/>
                  <a:gd name="connsiteY75" fmla="*/ 100727 h 167878"/>
                  <a:gd name="connsiteX76" fmla="*/ 125730 w 173593"/>
                  <a:gd name="connsiteY76" fmla="*/ 102870 h 167878"/>
                  <a:gd name="connsiteX77" fmla="*/ 127873 w 173593"/>
                  <a:gd name="connsiteY77" fmla="*/ 106442 h 167878"/>
                  <a:gd name="connsiteX78" fmla="*/ 141446 w 173593"/>
                  <a:gd name="connsiteY78" fmla="*/ 104299 h 167878"/>
                  <a:gd name="connsiteX79" fmla="*/ 143589 w 173593"/>
                  <a:gd name="connsiteY79" fmla="*/ 102513 h 167878"/>
                  <a:gd name="connsiteX80" fmla="*/ 150733 w 173593"/>
                  <a:gd name="connsiteY80" fmla="*/ 105370 h 167878"/>
                  <a:gd name="connsiteX81" fmla="*/ 151090 w 173593"/>
                  <a:gd name="connsiteY81" fmla="*/ 105370 h 167878"/>
                  <a:gd name="connsiteX82" fmla="*/ 152519 w 173593"/>
                  <a:gd name="connsiteY82" fmla="*/ 105370 h 167878"/>
                  <a:gd name="connsiteX83" fmla="*/ 153233 w 173593"/>
                  <a:gd name="connsiteY83" fmla="*/ 105370 h 167878"/>
                  <a:gd name="connsiteX84" fmla="*/ 157520 w 173593"/>
                  <a:gd name="connsiteY84" fmla="*/ 117872 h 167878"/>
                  <a:gd name="connsiteX85" fmla="*/ 136803 w 173593"/>
                  <a:gd name="connsiteY85" fmla="*/ 138589 h 167878"/>
                  <a:gd name="connsiteX86" fmla="*/ 127516 w 173593"/>
                  <a:gd name="connsiteY86" fmla="*/ 136446 h 167878"/>
                  <a:gd name="connsiteX87" fmla="*/ 124658 w 173593"/>
                  <a:gd name="connsiteY87" fmla="*/ 136803 h 167878"/>
                  <a:gd name="connsiteX88" fmla="*/ 123587 w 173593"/>
                  <a:gd name="connsiteY88" fmla="*/ 139303 h 167878"/>
                  <a:gd name="connsiteX89" fmla="*/ 123587 w 173593"/>
                  <a:gd name="connsiteY89" fmla="*/ 141446 h 167878"/>
                  <a:gd name="connsiteX90" fmla="*/ 102870 w 173593"/>
                  <a:gd name="connsiteY90" fmla="*/ 162163 h 167878"/>
                  <a:gd name="connsiteX91" fmla="*/ 89654 w 173593"/>
                  <a:gd name="connsiteY91" fmla="*/ 157520 h 167878"/>
                  <a:gd name="connsiteX92" fmla="*/ 89654 w 173593"/>
                  <a:gd name="connsiteY92" fmla="*/ 79653 h 167878"/>
                  <a:gd name="connsiteX93" fmla="*/ 99655 w 173593"/>
                  <a:gd name="connsiteY93" fmla="*/ 91083 h 167878"/>
                  <a:gd name="connsiteX94" fmla="*/ 102513 w 173593"/>
                  <a:gd name="connsiteY94" fmla="*/ 93940 h 167878"/>
                  <a:gd name="connsiteX95" fmla="*/ 102513 w 173593"/>
                  <a:gd name="connsiteY95" fmla="*/ 93940 h 167878"/>
                  <a:gd name="connsiteX96" fmla="*/ 105370 w 173593"/>
                  <a:gd name="connsiteY96" fmla="*/ 91083 h 167878"/>
                  <a:gd name="connsiteX97" fmla="*/ 89654 w 173593"/>
                  <a:gd name="connsiteY97" fmla="*/ 74295 h 167878"/>
                  <a:gd name="connsiteX98" fmla="*/ 89654 w 173593"/>
                  <a:gd name="connsiteY98" fmla="*/ 10358 h 167878"/>
                  <a:gd name="connsiteX99" fmla="*/ 102870 w 173593"/>
                  <a:gd name="connsiteY99" fmla="*/ 5715 h 167878"/>
                  <a:gd name="connsiteX100" fmla="*/ 123230 w 173593"/>
                  <a:gd name="connsiteY100" fmla="*/ 23217 h 167878"/>
                  <a:gd name="connsiteX101" fmla="*/ 124658 w 173593"/>
                  <a:gd name="connsiteY101" fmla="*/ 25360 h 167878"/>
                  <a:gd name="connsiteX102" fmla="*/ 127159 w 173593"/>
                  <a:gd name="connsiteY102" fmla="*/ 25718 h 167878"/>
                  <a:gd name="connsiteX103" fmla="*/ 133231 w 173593"/>
                  <a:gd name="connsiteY103" fmla="*/ 24646 h 167878"/>
                  <a:gd name="connsiteX104" fmla="*/ 153948 w 173593"/>
                  <a:gd name="connsiteY104" fmla="*/ 45363 h 167878"/>
                  <a:gd name="connsiteX105" fmla="*/ 150376 w 173593"/>
                  <a:gd name="connsiteY105" fmla="*/ 56793 h 167878"/>
                  <a:gd name="connsiteX106" fmla="*/ 150019 w 173593"/>
                  <a:gd name="connsiteY106" fmla="*/ 59293 h 167878"/>
                  <a:gd name="connsiteX107" fmla="*/ 152162 w 173593"/>
                  <a:gd name="connsiteY107" fmla="*/ 61079 h 167878"/>
                  <a:gd name="connsiteX108" fmla="*/ 168235 w 173593"/>
                  <a:gd name="connsiteY108" fmla="*/ 81082 h 167878"/>
                  <a:gd name="connsiteX109" fmla="*/ 154662 w 173593"/>
                  <a:gd name="connsiteY109" fmla="*/ 100013 h 16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173593" h="167878">
                    <a:moveTo>
                      <a:pt x="173593" y="80724"/>
                    </a:moveTo>
                    <a:cubicBezTo>
                      <a:pt x="173593" y="69652"/>
                      <a:pt x="166807" y="60007"/>
                      <a:pt x="156805" y="56436"/>
                    </a:cubicBezTo>
                    <a:cubicBezTo>
                      <a:pt x="158591" y="52864"/>
                      <a:pt x="159306" y="48935"/>
                      <a:pt x="159306" y="45006"/>
                    </a:cubicBezTo>
                    <a:cubicBezTo>
                      <a:pt x="159306" y="30361"/>
                      <a:pt x="147518" y="18931"/>
                      <a:pt x="133231" y="18931"/>
                    </a:cubicBezTo>
                    <a:cubicBezTo>
                      <a:pt x="131445" y="18931"/>
                      <a:pt x="130016" y="18931"/>
                      <a:pt x="128230" y="19288"/>
                    </a:cubicBezTo>
                    <a:cubicBezTo>
                      <a:pt x="125016" y="8215"/>
                      <a:pt x="114657" y="0"/>
                      <a:pt x="102870" y="0"/>
                    </a:cubicBezTo>
                    <a:cubicBezTo>
                      <a:pt x="97155" y="0"/>
                      <a:pt x="91440" y="1786"/>
                      <a:pt x="86797" y="5358"/>
                    </a:cubicBezTo>
                    <a:cubicBezTo>
                      <a:pt x="82153" y="1786"/>
                      <a:pt x="76795" y="0"/>
                      <a:pt x="70723" y="0"/>
                    </a:cubicBezTo>
                    <a:cubicBezTo>
                      <a:pt x="58936" y="0"/>
                      <a:pt x="48578" y="8215"/>
                      <a:pt x="45363" y="19288"/>
                    </a:cubicBezTo>
                    <a:cubicBezTo>
                      <a:pt x="43934" y="18931"/>
                      <a:pt x="42148" y="18931"/>
                      <a:pt x="40362" y="18931"/>
                    </a:cubicBezTo>
                    <a:cubicBezTo>
                      <a:pt x="25718" y="18931"/>
                      <a:pt x="14288" y="30718"/>
                      <a:pt x="14288" y="45006"/>
                    </a:cubicBezTo>
                    <a:cubicBezTo>
                      <a:pt x="14288" y="48935"/>
                      <a:pt x="15002" y="52864"/>
                      <a:pt x="16788" y="56436"/>
                    </a:cubicBezTo>
                    <a:cubicBezTo>
                      <a:pt x="6787" y="60365"/>
                      <a:pt x="0" y="70009"/>
                      <a:pt x="0" y="80724"/>
                    </a:cubicBezTo>
                    <a:cubicBezTo>
                      <a:pt x="0" y="90726"/>
                      <a:pt x="5715" y="100013"/>
                      <a:pt x="14645" y="104299"/>
                    </a:cubicBezTo>
                    <a:cubicBezTo>
                      <a:pt x="12144" y="108585"/>
                      <a:pt x="10716" y="113228"/>
                      <a:pt x="10716" y="118229"/>
                    </a:cubicBezTo>
                    <a:cubicBezTo>
                      <a:pt x="10716" y="132874"/>
                      <a:pt x="22503" y="144304"/>
                      <a:pt x="36790" y="144304"/>
                    </a:cubicBezTo>
                    <a:cubicBezTo>
                      <a:pt x="39291" y="144304"/>
                      <a:pt x="41791" y="143947"/>
                      <a:pt x="44291" y="143232"/>
                    </a:cubicBezTo>
                    <a:cubicBezTo>
                      <a:pt x="45006" y="156805"/>
                      <a:pt x="56436" y="167878"/>
                      <a:pt x="70366" y="167878"/>
                    </a:cubicBezTo>
                    <a:cubicBezTo>
                      <a:pt x="76081" y="167878"/>
                      <a:pt x="81796" y="166092"/>
                      <a:pt x="86439" y="162520"/>
                    </a:cubicBezTo>
                    <a:cubicBezTo>
                      <a:pt x="91083" y="166092"/>
                      <a:pt x="96441" y="167878"/>
                      <a:pt x="102513" y="167878"/>
                    </a:cubicBezTo>
                    <a:cubicBezTo>
                      <a:pt x="116443" y="167878"/>
                      <a:pt x="127873" y="157163"/>
                      <a:pt x="128588" y="143232"/>
                    </a:cubicBezTo>
                    <a:cubicBezTo>
                      <a:pt x="131088" y="143947"/>
                      <a:pt x="133588" y="144304"/>
                      <a:pt x="136088" y="144304"/>
                    </a:cubicBezTo>
                    <a:cubicBezTo>
                      <a:pt x="150733" y="144304"/>
                      <a:pt x="162163" y="132517"/>
                      <a:pt x="162163" y="118229"/>
                    </a:cubicBezTo>
                    <a:cubicBezTo>
                      <a:pt x="162163" y="113228"/>
                      <a:pt x="160734" y="108585"/>
                      <a:pt x="158234" y="104299"/>
                    </a:cubicBezTo>
                    <a:cubicBezTo>
                      <a:pt x="167878" y="100013"/>
                      <a:pt x="173593" y="91083"/>
                      <a:pt x="173593" y="80724"/>
                    </a:cubicBezTo>
                    <a:close/>
                    <a:moveTo>
                      <a:pt x="71080" y="162163"/>
                    </a:moveTo>
                    <a:cubicBezTo>
                      <a:pt x="59650" y="162163"/>
                      <a:pt x="50363" y="152876"/>
                      <a:pt x="50363" y="141446"/>
                    </a:cubicBezTo>
                    <a:cubicBezTo>
                      <a:pt x="50363" y="140732"/>
                      <a:pt x="50363" y="140017"/>
                      <a:pt x="50363" y="139303"/>
                    </a:cubicBezTo>
                    <a:cubicBezTo>
                      <a:pt x="50363" y="138232"/>
                      <a:pt x="50006" y="137160"/>
                      <a:pt x="49292" y="136803"/>
                    </a:cubicBezTo>
                    <a:cubicBezTo>
                      <a:pt x="48935" y="136446"/>
                      <a:pt x="48220" y="136446"/>
                      <a:pt x="47506" y="136446"/>
                    </a:cubicBezTo>
                    <a:cubicBezTo>
                      <a:pt x="47149" y="136446"/>
                      <a:pt x="46792" y="136446"/>
                      <a:pt x="46077" y="136803"/>
                    </a:cubicBezTo>
                    <a:cubicBezTo>
                      <a:pt x="43220" y="138232"/>
                      <a:pt x="40005" y="138946"/>
                      <a:pt x="36790" y="138946"/>
                    </a:cubicBezTo>
                    <a:cubicBezTo>
                      <a:pt x="25360" y="138946"/>
                      <a:pt x="16073" y="129659"/>
                      <a:pt x="16073" y="118229"/>
                    </a:cubicBezTo>
                    <a:cubicBezTo>
                      <a:pt x="16073" y="113943"/>
                      <a:pt x="17502" y="109657"/>
                      <a:pt x="20003" y="106442"/>
                    </a:cubicBezTo>
                    <a:cubicBezTo>
                      <a:pt x="23574" y="106442"/>
                      <a:pt x="27146" y="105370"/>
                      <a:pt x="30004" y="103227"/>
                    </a:cubicBezTo>
                    <a:cubicBezTo>
                      <a:pt x="30718" y="103942"/>
                      <a:pt x="31433" y="104299"/>
                      <a:pt x="32504" y="105013"/>
                    </a:cubicBezTo>
                    <a:cubicBezTo>
                      <a:pt x="36433" y="107513"/>
                      <a:pt x="41434" y="108228"/>
                      <a:pt x="46077" y="107156"/>
                    </a:cubicBezTo>
                    <a:cubicBezTo>
                      <a:pt x="47506" y="106799"/>
                      <a:pt x="48578" y="105370"/>
                      <a:pt x="48220" y="103584"/>
                    </a:cubicBezTo>
                    <a:cubicBezTo>
                      <a:pt x="47863" y="102156"/>
                      <a:pt x="46434" y="101084"/>
                      <a:pt x="44648" y="101441"/>
                    </a:cubicBezTo>
                    <a:cubicBezTo>
                      <a:pt x="41434" y="102156"/>
                      <a:pt x="38219" y="101798"/>
                      <a:pt x="35362" y="100013"/>
                    </a:cubicBezTo>
                    <a:cubicBezTo>
                      <a:pt x="35004" y="99655"/>
                      <a:pt x="34647" y="99298"/>
                      <a:pt x="34290" y="99298"/>
                    </a:cubicBezTo>
                    <a:cubicBezTo>
                      <a:pt x="36076" y="96798"/>
                      <a:pt x="37505" y="93940"/>
                      <a:pt x="37862" y="90726"/>
                    </a:cubicBezTo>
                    <a:cubicBezTo>
                      <a:pt x="37862" y="89297"/>
                      <a:pt x="36790" y="87868"/>
                      <a:pt x="35362" y="87511"/>
                    </a:cubicBezTo>
                    <a:cubicBezTo>
                      <a:pt x="33933" y="87511"/>
                      <a:pt x="32504" y="88583"/>
                      <a:pt x="32147" y="90011"/>
                    </a:cubicBezTo>
                    <a:cubicBezTo>
                      <a:pt x="31790" y="93226"/>
                      <a:pt x="30361" y="96083"/>
                      <a:pt x="27503" y="98227"/>
                    </a:cubicBezTo>
                    <a:cubicBezTo>
                      <a:pt x="25360" y="99655"/>
                      <a:pt x="23217" y="100727"/>
                      <a:pt x="20717" y="100727"/>
                    </a:cubicBezTo>
                    <a:cubicBezTo>
                      <a:pt x="20360" y="100727"/>
                      <a:pt x="20360" y="100370"/>
                      <a:pt x="20003" y="100370"/>
                    </a:cubicBezTo>
                    <a:cubicBezTo>
                      <a:pt x="11430" y="97512"/>
                      <a:pt x="5715" y="89654"/>
                      <a:pt x="5715" y="80724"/>
                    </a:cubicBezTo>
                    <a:cubicBezTo>
                      <a:pt x="5715" y="71080"/>
                      <a:pt x="12144" y="62865"/>
                      <a:pt x="21788" y="60722"/>
                    </a:cubicBezTo>
                    <a:cubicBezTo>
                      <a:pt x="22860" y="60365"/>
                      <a:pt x="23574" y="60007"/>
                      <a:pt x="23932" y="58936"/>
                    </a:cubicBezTo>
                    <a:cubicBezTo>
                      <a:pt x="24289" y="58222"/>
                      <a:pt x="24289" y="57150"/>
                      <a:pt x="23574" y="56436"/>
                    </a:cubicBezTo>
                    <a:cubicBezTo>
                      <a:pt x="21431" y="53221"/>
                      <a:pt x="20003" y="48935"/>
                      <a:pt x="20003" y="45006"/>
                    </a:cubicBezTo>
                    <a:cubicBezTo>
                      <a:pt x="20003" y="33576"/>
                      <a:pt x="29289" y="24289"/>
                      <a:pt x="40719" y="24289"/>
                    </a:cubicBezTo>
                    <a:cubicBezTo>
                      <a:pt x="42863" y="24289"/>
                      <a:pt x="45006" y="24646"/>
                      <a:pt x="46792" y="25360"/>
                    </a:cubicBezTo>
                    <a:cubicBezTo>
                      <a:pt x="47506" y="25718"/>
                      <a:pt x="48578" y="25360"/>
                      <a:pt x="49292" y="25003"/>
                    </a:cubicBezTo>
                    <a:cubicBezTo>
                      <a:pt x="50006" y="24646"/>
                      <a:pt x="50363" y="23932"/>
                      <a:pt x="50721" y="22860"/>
                    </a:cubicBezTo>
                    <a:cubicBezTo>
                      <a:pt x="52149" y="12859"/>
                      <a:pt x="61079" y="5358"/>
                      <a:pt x="71080" y="5358"/>
                    </a:cubicBezTo>
                    <a:cubicBezTo>
                      <a:pt x="75724" y="5358"/>
                      <a:pt x="80367" y="7144"/>
                      <a:pt x="84296" y="10001"/>
                    </a:cubicBezTo>
                    <a:lnTo>
                      <a:pt x="84296" y="73938"/>
                    </a:lnTo>
                    <a:cubicBezTo>
                      <a:pt x="75724" y="75009"/>
                      <a:pt x="68937" y="82153"/>
                      <a:pt x="68580" y="90726"/>
                    </a:cubicBezTo>
                    <a:cubicBezTo>
                      <a:pt x="68580" y="92154"/>
                      <a:pt x="69652" y="93583"/>
                      <a:pt x="71438" y="93583"/>
                    </a:cubicBezTo>
                    <a:cubicBezTo>
                      <a:pt x="71438" y="93583"/>
                      <a:pt x="71438" y="93583"/>
                      <a:pt x="71438" y="93583"/>
                    </a:cubicBezTo>
                    <a:cubicBezTo>
                      <a:pt x="72866" y="93583"/>
                      <a:pt x="74295" y="92512"/>
                      <a:pt x="74295" y="90726"/>
                    </a:cubicBezTo>
                    <a:cubicBezTo>
                      <a:pt x="74652" y="85011"/>
                      <a:pt x="78938" y="80367"/>
                      <a:pt x="84296" y="79296"/>
                    </a:cubicBezTo>
                    <a:lnTo>
                      <a:pt x="84296" y="157163"/>
                    </a:lnTo>
                    <a:cubicBezTo>
                      <a:pt x="80724" y="160734"/>
                      <a:pt x="76081" y="162163"/>
                      <a:pt x="71080" y="162163"/>
                    </a:cubicBezTo>
                    <a:close/>
                    <a:moveTo>
                      <a:pt x="154662" y="100013"/>
                    </a:moveTo>
                    <a:cubicBezTo>
                      <a:pt x="154662" y="100013"/>
                      <a:pt x="154305" y="100013"/>
                      <a:pt x="154305" y="100013"/>
                    </a:cubicBezTo>
                    <a:cubicBezTo>
                      <a:pt x="151448" y="100013"/>
                      <a:pt x="148947" y="98941"/>
                      <a:pt x="146447" y="97512"/>
                    </a:cubicBezTo>
                    <a:cubicBezTo>
                      <a:pt x="143947" y="95369"/>
                      <a:pt x="142161" y="92512"/>
                      <a:pt x="141803" y="89297"/>
                    </a:cubicBezTo>
                    <a:cubicBezTo>
                      <a:pt x="141803" y="87868"/>
                      <a:pt x="140375" y="86797"/>
                      <a:pt x="139303" y="86797"/>
                    </a:cubicBezTo>
                    <a:cubicBezTo>
                      <a:pt x="138946" y="86797"/>
                      <a:pt x="138946" y="86797"/>
                      <a:pt x="138589" y="86797"/>
                    </a:cubicBezTo>
                    <a:cubicBezTo>
                      <a:pt x="137160" y="86797"/>
                      <a:pt x="135731" y="88225"/>
                      <a:pt x="136088" y="90011"/>
                    </a:cubicBezTo>
                    <a:cubicBezTo>
                      <a:pt x="136446" y="93226"/>
                      <a:pt x="137517" y="96083"/>
                      <a:pt x="139660" y="98584"/>
                    </a:cubicBezTo>
                    <a:cubicBezTo>
                      <a:pt x="139303" y="98941"/>
                      <a:pt x="138946" y="99298"/>
                      <a:pt x="138589" y="99298"/>
                    </a:cubicBezTo>
                    <a:cubicBezTo>
                      <a:pt x="135731" y="101084"/>
                      <a:pt x="132517" y="101441"/>
                      <a:pt x="129302" y="100727"/>
                    </a:cubicBezTo>
                    <a:cubicBezTo>
                      <a:pt x="127873" y="100370"/>
                      <a:pt x="126087" y="101441"/>
                      <a:pt x="125730" y="102870"/>
                    </a:cubicBezTo>
                    <a:cubicBezTo>
                      <a:pt x="125373" y="104299"/>
                      <a:pt x="126444" y="106085"/>
                      <a:pt x="127873" y="106442"/>
                    </a:cubicBezTo>
                    <a:cubicBezTo>
                      <a:pt x="132517" y="107513"/>
                      <a:pt x="137160" y="106799"/>
                      <a:pt x="141446" y="104299"/>
                    </a:cubicBezTo>
                    <a:cubicBezTo>
                      <a:pt x="142161" y="103942"/>
                      <a:pt x="142875" y="103227"/>
                      <a:pt x="143589" y="102513"/>
                    </a:cubicBezTo>
                    <a:cubicBezTo>
                      <a:pt x="145733" y="103942"/>
                      <a:pt x="148233" y="105013"/>
                      <a:pt x="150733" y="105370"/>
                    </a:cubicBezTo>
                    <a:cubicBezTo>
                      <a:pt x="150733" y="105370"/>
                      <a:pt x="150733" y="105370"/>
                      <a:pt x="151090" y="105370"/>
                    </a:cubicBezTo>
                    <a:cubicBezTo>
                      <a:pt x="151448" y="105370"/>
                      <a:pt x="151805" y="105370"/>
                      <a:pt x="152519" y="105370"/>
                    </a:cubicBezTo>
                    <a:cubicBezTo>
                      <a:pt x="152876" y="105370"/>
                      <a:pt x="152876" y="105370"/>
                      <a:pt x="153233" y="105370"/>
                    </a:cubicBezTo>
                    <a:cubicBezTo>
                      <a:pt x="156091" y="108942"/>
                      <a:pt x="157520" y="113228"/>
                      <a:pt x="157520" y="117872"/>
                    </a:cubicBezTo>
                    <a:cubicBezTo>
                      <a:pt x="157520" y="129302"/>
                      <a:pt x="148233" y="138589"/>
                      <a:pt x="136803" y="138589"/>
                    </a:cubicBezTo>
                    <a:cubicBezTo>
                      <a:pt x="133588" y="138589"/>
                      <a:pt x="130373" y="137874"/>
                      <a:pt x="127516" y="136446"/>
                    </a:cubicBezTo>
                    <a:cubicBezTo>
                      <a:pt x="126444" y="136088"/>
                      <a:pt x="125373" y="136088"/>
                      <a:pt x="124658" y="136803"/>
                    </a:cubicBezTo>
                    <a:cubicBezTo>
                      <a:pt x="123944" y="137517"/>
                      <a:pt x="123230" y="138232"/>
                      <a:pt x="123587" y="139303"/>
                    </a:cubicBezTo>
                    <a:cubicBezTo>
                      <a:pt x="123587" y="140017"/>
                      <a:pt x="123587" y="140732"/>
                      <a:pt x="123587" y="141446"/>
                    </a:cubicBezTo>
                    <a:cubicBezTo>
                      <a:pt x="123587" y="152876"/>
                      <a:pt x="114300" y="162163"/>
                      <a:pt x="102870" y="162163"/>
                    </a:cubicBezTo>
                    <a:cubicBezTo>
                      <a:pt x="98227" y="162163"/>
                      <a:pt x="93583" y="160377"/>
                      <a:pt x="89654" y="157520"/>
                    </a:cubicBezTo>
                    <a:lnTo>
                      <a:pt x="89654" y="79653"/>
                    </a:lnTo>
                    <a:cubicBezTo>
                      <a:pt x="95012" y="80724"/>
                      <a:pt x="99298" y="85368"/>
                      <a:pt x="99655" y="91083"/>
                    </a:cubicBezTo>
                    <a:cubicBezTo>
                      <a:pt x="99655" y="92512"/>
                      <a:pt x="101084" y="93940"/>
                      <a:pt x="102513" y="93940"/>
                    </a:cubicBezTo>
                    <a:cubicBezTo>
                      <a:pt x="102513" y="93940"/>
                      <a:pt x="102513" y="93940"/>
                      <a:pt x="102513" y="93940"/>
                    </a:cubicBezTo>
                    <a:cubicBezTo>
                      <a:pt x="103942" y="93940"/>
                      <a:pt x="105370" y="92512"/>
                      <a:pt x="105370" y="91083"/>
                    </a:cubicBezTo>
                    <a:cubicBezTo>
                      <a:pt x="105013" y="82153"/>
                      <a:pt x="98227" y="75367"/>
                      <a:pt x="89654" y="74295"/>
                    </a:cubicBezTo>
                    <a:lnTo>
                      <a:pt x="89654" y="10358"/>
                    </a:lnTo>
                    <a:cubicBezTo>
                      <a:pt x="93226" y="7144"/>
                      <a:pt x="97869" y="5715"/>
                      <a:pt x="102870" y="5715"/>
                    </a:cubicBezTo>
                    <a:cubicBezTo>
                      <a:pt x="112871" y="5715"/>
                      <a:pt x="121801" y="13216"/>
                      <a:pt x="123230" y="23217"/>
                    </a:cubicBezTo>
                    <a:cubicBezTo>
                      <a:pt x="123230" y="23932"/>
                      <a:pt x="123944" y="24646"/>
                      <a:pt x="124658" y="25360"/>
                    </a:cubicBezTo>
                    <a:cubicBezTo>
                      <a:pt x="125373" y="25718"/>
                      <a:pt x="126087" y="26075"/>
                      <a:pt x="127159" y="25718"/>
                    </a:cubicBezTo>
                    <a:cubicBezTo>
                      <a:pt x="129302" y="25003"/>
                      <a:pt x="131088" y="24646"/>
                      <a:pt x="133231" y="24646"/>
                    </a:cubicBezTo>
                    <a:cubicBezTo>
                      <a:pt x="144661" y="24646"/>
                      <a:pt x="153948" y="33933"/>
                      <a:pt x="153948" y="45363"/>
                    </a:cubicBezTo>
                    <a:cubicBezTo>
                      <a:pt x="153948" y="49292"/>
                      <a:pt x="152876" y="53221"/>
                      <a:pt x="150376" y="56793"/>
                    </a:cubicBezTo>
                    <a:cubicBezTo>
                      <a:pt x="150019" y="57507"/>
                      <a:pt x="149662" y="58579"/>
                      <a:pt x="150019" y="59293"/>
                    </a:cubicBezTo>
                    <a:cubicBezTo>
                      <a:pt x="150376" y="60007"/>
                      <a:pt x="151090" y="60722"/>
                      <a:pt x="152162" y="61079"/>
                    </a:cubicBezTo>
                    <a:cubicBezTo>
                      <a:pt x="161449" y="63222"/>
                      <a:pt x="168235" y="71438"/>
                      <a:pt x="168235" y="81082"/>
                    </a:cubicBezTo>
                    <a:cubicBezTo>
                      <a:pt x="167878" y="89654"/>
                      <a:pt x="162520" y="97155"/>
                      <a:pt x="154662" y="100013"/>
                    </a:cubicBezTo>
                    <a:close/>
                  </a:path>
                </a:pathLst>
              </a:custGeom>
              <a:solidFill>
                <a:srgbClr val="0095CF"/>
              </a:solidFill>
              <a:ln w="3572" cap="flat">
                <a:noFill/>
                <a:prstDash val="solid"/>
                <a:miter/>
              </a:ln>
            </p:spPr>
            <p:txBody>
              <a:bodyPr rtlCol="0" anchor="ctr"/>
              <a:lstStyle/>
              <a:p>
                <a:endParaRPr lang="en-GB"/>
              </a:p>
            </p:txBody>
          </p:sp>
          <p:sp>
            <p:nvSpPr>
              <p:cNvPr id="377" name="Freeform: Shape 376">
                <a:extLst>
                  <a:ext uri="{FF2B5EF4-FFF2-40B4-BE49-F238E27FC236}">
                    <a16:creationId xmlns:a16="http://schemas.microsoft.com/office/drawing/2014/main" id="{23C97373-2564-4DD3-911F-1CAF38CEE42D}"/>
                  </a:ext>
                </a:extLst>
              </p:cNvPr>
              <p:cNvSpPr/>
              <p:nvPr/>
            </p:nvSpPr>
            <p:spPr>
              <a:xfrm>
                <a:off x="7045523" y="1145500"/>
                <a:ext cx="20716" cy="20716"/>
              </a:xfrm>
              <a:custGeom>
                <a:avLst/>
                <a:gdLst>
                  <a:gd name="connsiteX0" fmla="*/ 2857 w 20716"/>
                  <a:gd name="connsiteY0" fmla="*/ 0 h 20716"/>
                  <a:gd name="connsiteX1" fmla="*/ 0 w 20716"/>
                  <a:gd name="connsiteY1" fmla="*/ 2857 h 20716"/>
                  <a:gd name="connsiteX2" fmla="*/ 2857 w 20716"/>
                  <a:gd name="connsiteY2" fmla="*/ 5715 h 20716"/>
                  <a:gd name="connsiteX3" fmla="*/ 15002 w 20716"/>
                  <a:gd name="connsiteY3" fmla="*/ 17859 h 20716"/>
                  <a:gd name="connsiteX4" fmla="*/ 17859 w 20716"/>
                  <a:gd name="connsiteY4" fmla="*/ 20717 h 20716"/>
                  <a:gd name="connsiteX5" fmla="*/ 20717 w 20716"/>
                  <a:gd name="connsiteY5" fmla="*/ 17859 h 20716"/>
                  <a:gd name="connsiteX6" fmla="*/ 2857 w 20716"/>
                  <a:gd name="connsiteY6" fmla="*/ 0 h 2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16" h="20716">
                    <a:moveTo>
                      <a:pt x="2857" y="0"/>
                    </a:moveTo>
                    <a:cubicBezTo>
                      <a:pt x="1429" y="0"/>
                      <a:pt x="0" y="1429"/>
                      <a:pt x="0" y="2857"/>
                    </a:cubicBezTo>
                    <a:cubicBezTo>
                      <a:pt x="0" y="4286"/>
                      <a:pt x="1429" y="5715"/>
                      <a:pt x="2857" y="5715"/>
                    </a:cubicBezTo>
                    <a:cubicBezTo>
                      <a:pt x="9644" y="5715"/>
                      <a:pt x="15002" y="11073"/>
                      <a:pt x="15002" y="17859"/>
                    </a:cubicBezTo>
                    <a:cubicBezTo>
                      <a:pt x="15002" y="19288"/>
                      <a:pt x="16431" y="20717"/>
                      <a:pt x="17859" y="20717"/>
                    </a:cubicBezTo>
                    <a:cubicBezTo>
                      <a:pt x="19288" y="20717"/>
                      <a:pt x="20717" y="19288"/>
                      <a:pt x="20717" y="17859"/>
                    </a:cubicBezTo>
                    <a:cubicBezTo>
                      <a:pt x="20717" y="8215"/>
                      <a:pt x="12859" y="0"/>
                      <a:pt x="2857" y="0"/>
                    </a:cubicBezTo>
                    <a:close/>
                  </a:path>
                </a:pathLst>
              </a:custGeom>
              <a:solidFill>
                <a:srgbClr val="0095CF"/>
              </a:solidFill>
              <a:ln w="3572" cap="flat">
                <a:noFill/>
                <a:prstDash val="solid"/>
                <a:miter/>
              </a:ln>
            </p:spPr>
            <p:txBody>
              <a:bodyPr rtlCol="0" anchor="ctr"/>
              <a:lstStyle/>
              <a:p>
                <a:endParaRPr lang="en-GB"/>
              </a:p>
            </p:txBody>
          </p:sp>
          <p:grpSp>
            <p:nvGrpSpPr>
              <p:cNvPr id="378" name="Graphic 9248">
                <a:extLst>
                  <a:ext uri="{FF2B5EF4-FFF2-40B4-BE49-F238E27FC236}">
                    <a16:creationId xmlns:a16="http://schemas.microsoft.com/office/drawing/2014/main" id="{58A309C1-D6E7-4BD9-BBF9-4FD052589F4D}"/>
                  </a:ext>
                </a:extLst>
              </p:cNvPr>
              <p:cNvGrpSpPr/>
              <p:nvPr/>
            </p:nvGrpSpPr>
            <p:grpSpPr>
              <a:xfrm>
                <a:off x="7030241" y="1075574"/>
                <a:ext cx="112717" cy="25991"/>
                <a:chOff x="7030241" y="1075574"/>
                <a:chExt cx="112717" cy="25991"/>
              </a:xfrm>
              <a:solidFill>
                <a:srgbClr val="0095CF"/>
              </a:solidFill>
            </p:grpSpPr>
            <p:sp>
              <p:nvSpPr>
                <p:cNvPr id="380" name="Freeform: Shape 379">
                  <a:extLst>
                    <a:ext uri="{FF2B5EF4-FFF2-40B4-BE49-F238E27FC236}">
                      <a16:creationId xmlns:a16="http://schemas.microsoft.com/office/drawing/2014/main" id="{31565D3A-459D-4DC1-B0EC-9FF1116D157B}"/>
                    </a:ext>
                  </a:extLst>
                </p:cNvPr>
                <p:cNvSpPr/>
                <p:nvPr/>
              </p:nvSpPr>
              <p:spPr>
                <a:xfrm>
                  <a:off x="7030241" y="1075574"/>
                  <a:ext cx="14313" cy="25991"/>
                </a:xfrm>
                <a:custGeom>
                  <a:avLst/>
                  <a:gdLst>
                    <a:gd name="connsiteX0" fmla="*/ 9210 w 14313"/>
                    <a:gd name="connsiteY0" fmla="*/ 274 h 25991"/>
                    <a:gd name="connsiteX1" fmla="*/ 7781 w 14313"/>
                    <a:gd name="connsiteY1" fmla="*/ 4203 h 25991"/>
                    <a:gd name="connsiteX2" fmla="*/ 8138 w 14313"/>
                    <a:gd name="connsiteY2" fmla="*/ 13490 h 25991"/>
                    <a:gd name="connsiteX3" fmla="*/ 1709 w 14313"/>
                    <a:gd name="connsiteY3" fmla="*/ 20276 h 25991"/>
                    <a:gd name="connsiteX4" fmla="*/ 280 w 14313"/>
                    <a:gd name="connsiteY4" fmla="*/ 24205 h 25991"/>
                    <a:gd name="connsiteX5" fmla="*/ 2781 w 14313"/>
                    <a:gd name="connsiteY5" fmla="*/ 25991 h 25991"/>
                    <a:gd name="connsiteX6" fmla="*/ 3852 w 14313"/>
                    <a:gd name="connsiteY6" fmla="*/ 25634 h 25991"/>
                    <a:gd name="connsiteX7" fmla="*/ 13139 w 14313"/>
                    <a:gd name="connsiteY7" fmla="*/ 15633 h 25991"/>
                    <a:gd name="connsiteX8" fmla="*/ 12782 w 14313"/>
                    <a:gd name="connsiteY8" fmla="*/ 2060 h 25991"/>
                    <a:gd name="connsiteX9" fmla="*/ 9210 w 14313"/>
                    <a:gd name="connsiteY9" fmla="*/ 274 h 2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13" h="25991">
                      <a:moveTo>
                        <a:pt x="9210" y="274"/>
                      </a:moveTo>
                      <a:cubicBezTo>
                        <a:pt x="7781" y="988"/>
                        <a:pt x="7067" y="2774"/>
                        <a:pt x="7781" y="4203"/>
                      </a:cubicBezTo>
                      <a:cubicBezTo>
                        <a:pt x="9210" y="7060"/>
                        <a:pt x="9210" y="10632"/>
                        <a:pt x="8138" y="13490"/>
                      </a:cubicBezTo>
                      <a:cubicBezTo>
                        <a:pt x="7067" y="16704"/>
                        <a:pt x="4567" y="18848"/>
                        <a:pt x="1709" y="20276"/>
                      </a:cubicBezTo>
                      <a:cubicBezTo>
                        <a:pt x="280" y="20991"/>
                        <a:pt x="-434" y="22419"/>
                        <a:pt x="280" y="24205"/>
                      </a:cubicBezTo>
                      <a:cubicBezTo>
                        <a:pt x="637" y="25277"/>
                        <a:pt x="1709" y="25991"/>
                        <a:pt x="2781" y="25991"/>
                      </a:cubicBezTo>
                      <a:cubicBezTo>
                        <a:pt x="3138" y="25991"/>
                        <a:pt x="3495" y="25991"/>
                        <a:pt x="3852" y="25634"/>
                      </a:cubicBezTo>
                      <a:cubicBezTo>
                        <a:pt x="8138" y="23848"/>
                        <a:pt x="11710" y="20276"/>
                        <a:pt x="13139" y="15633"/>
                      </a:cubicBezTo>
                      <a:cubicBezTo>
                        <a:pt x="14925" y="11347"/>
                        <a:pt x="14568" y="6346"/>
                        <a:pt x="12782" y="2060"/>
                      </a:cubicBezTo>
                      <a:cubicBezTo>
                        <a:pt x="12425" y="274"/>
                        <a:pt x="10639" y="-441"/>
                        <a:pt x="9210" y="274"/>
                      </a:cubicBezTo>
                      <a:close/>
                    </a:path>
                  </a:pathLst>
                </a:custGeom>
                <a:solidFill>
                  <a:srgbClr val="0095CF"/>
                </a:solidFill>
                <a:ln w="3572" cap="flat">
                  <a:noFill/>
                  <a:prstDash val="solid"/>
                  <a:miter/>
                </a:ln>
              </p:spPr>
              <p:txBody>
                <a:bodyPr rtlCol="0" anchor="ctr"/>
                <a:lstStyle/>
                <a:p>
                  <a:endParaRPr lang="en-GB"/>
                </a:p>
              </p:txBody>
            </p:sp>
            <p:sp>
              <p:nvSpPr>
                <p:cNvPr id="381" name="Freeform: Shape 380">
                  <a:extLst>
                    <a:ext uri="{FF2B5EF4-FFF2-40B4-BE49-F238E27FC236}">
                      <a16:creationId xmlns:a16="http://schemas.microsoft.com/office/drawing/2014/main" id="{2761E748-CA96-4582-905F-E20A6794261A}"/>
                    </a:ext>
                  </a:extLst>
                </p:cNvPr>
                <p:cNvSpPr/>
                <p:nvPr/>
              </p:nvSpPr>
              <p:spPr>
                <a:xfrm>
                  <a:off x="7128645" y="1075574"/>
                  <a:ext cx="14313" cy="25991"/>
                </a:xfrm>
                <a:custGeom>
                  <a:avLst/>
                  <a:gdLst>
                    <a:gd name="connsiteX0" fmla="*/ 5103 w 14313"/>
                    <a:gd name="connsiteY0" fmla="*/ 274 h 25991"/>
                    <a:gd name="connsiteX1" fmla="*/ 6532 w 14313"/>
                    <a:gd name="connsiteY1" fmla="*/ 4203 h 25991"/>
                    <a:gd name="connsiteX2" fmla="*/ 6175 w 14313"/>
                    <a:gd name="connsiteY2" fmla="*/ 13490 h 25991"/>
                    <a:gd name="connsiteX3" fmla="*/ 12604 w 14313"/>
                    <a:gd name="connsiteY3" fmla="*/ 20276 h 25991"/>
                    <a:gd name="connsiteX4" fmla="*/ 14033 w 14313"/>
                    <a:gd name="connsiteY4" fmla="*/ 24205 h 25991"/>
                    <a:gd name="connsiteX5" fmla="*/ 11533 w 14313"/>
                    <a:gd name="connsiteY5" fmla="*/ 25991 h 25991"/>
                    <a:gd name="connsiteX6" fmla="*/ 10461 w 14313"/>
                    <a:gd name="connsiteY6" fmla="*/ 25634 h 25991"/>
                    <a:gd name="connsiteX7" fmla="*/ 1174 w 14313"/>
                    <a:gd name="connsiteY7" fmla="*/ 15633 h 25991"/>
                    <a:gd name="connsiteX8" fmla="*/ 1531 w 14313"/>
                    <a:gd name="connsiteY8" fmla="*/ 2060 h 25991"/>
                    <a:gd name="connsiteX9" fmla="*/ 5103 w 14313"/>
                    <a:gd name="connsiteY9" fmla="*/ 274 h 2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13" h="25991">
                      <a:moveTo>
                        <a:pt x="5103" y="274"/>
                      </a:moveTo>
                      <a:cubicBezTo>
                        <a:pt x="6532" y="988"/>
                        <a:pt x="7246" y="2774"/>
                        <a:pt x="6532" y="4203"/>
                      </a:cubicBezTo>
                      <a:cubicBezTo>
                        <a:pt x="5103" y="7060"/>
                        <a:pt x="5103" y="10632"/>
                        <a:pt x="6175" y="13490"/>
                      </a:cubicBezTo>
                      <a:cubicBezTo>
                        <a:pt x="7246" y="16704"/>
                        <a:pt x="9747" y="18848"/>
                        <a:pt x="12604" y="20276"/>
                      </a:cubicBezTo>
                      <a:cubicBezTo>
                        <a:pt x="14033" y="20991"/>
                        <a:pt x="14747" y="22419"/>
                        <a:pt x="14033" y="24205"/>
                      </a:cubicBezTo>
                      <a:cubicBezTo>
                        <a:pt x="13676" y="25277"/>
                        <a:pt x="12604" y="25991"/>
                        <a:pt x="11533" y="25991"/>
                      </a:cubicBezTo>
                      <a:cubicBezTo>
                        <a:pt x="11175" y="25991"/>
                        <a:pt x="10818" y="25991"/>
                        <a:pt x="10461" y="25634"/>
                      </a:cubicBezTo>
                      <a:cubicBezTo>
                        <a:pt x="6175" y="23848"/>
                        <a:pt x="2603" y="20276"/>
                        <a:pt x="1174" y="15633"/>
                      </a:cubicBezTo>
                      <a:cubicBezTo>
                        <a:pt x="-612" y="11347"/>
                        <a:pt x="-255" y="6346"/>
                        <a:pt x="1531" y="2060"/>
                      </a:cubicBezTo>
                      <a:cubicBezTo>
                        <a:pt x="1889" y="274"/>
                        <a:pt x="3674" y="-441"/>
                        <a:pt x="5103" y="274"/>
                      </a:cubicBezTo>
                      <a:close/>
                    </a:path>
                  </a:pathLst>
                </a:custGeom>
                <a:solidFill>
                  <a:srgbClr val="0095CF"/>
                </a:solidFill>
                <a:ln w="3572" cap="flat">
                  <a:noFill/>
                  <a:prstDash val="solid"/>
                  <a:miter/>
                </a:ln>
              </p:spPr>
              <p:txBody>
                <a:bodyPr rtlCol="0" anchor="ctr"/>
                <a:lstStyle/>
                <a:p>
                  <a:endParaRPr lang="en-GB"/>
                </a:p>
              </p:txBody>
            </p:sp>
          </p:grpSp>
          <p:sp>
            <p:nvSpPr>
              <p:cNvPr id="379" name="Freeform: Shape 378">
                <a:extLst>
                  <a:ext uri="{FF2B5EF4-FFF2-40B4-BE49-F238E27FC236}">
                    <a16:creationId xmlns:a16="http://schemas.microsoft.com/office/drawing/2014/main" id="{C48B1CCE-8FE0-4658-BFC0-0886C8B5B747}"/>
                  </a:ext>
                </a:extLst>
              </p:cNvPr>
              <p:cNvSpPr/>
              <p:nvPr/>
            </p:nvSpPr>
            <p:spPr>
              <a:xfrm>
                <a:off x="7056239" y="1054774"/>
                <a:ext cx="21431" cy="20359"/>
              </a:xfrm>
              <a:custGeom>
                <a:avLst/>
                <a:gdLst>
                  <a:gd name="connsiteX0" fmla="*/ 17859 w 21431"/>
                  <a:gd name="connsiteY0" fmla="*/ 20360 h 20359"/>
                  <a:gd name="connsiteX1" fmla="*/ 18574 w 21431"/>
                  <a:gd name="connsiteY1" fmla="*/ 20360 h 20359"/>
                  <a:gd name="connsiteX2" fmla="*/ 21431 w 21431"/>
                  <a:gd name="connsiteY2" fmla="*/ 17502 h 20359"/>
                  <a:gd name="connsiteX3" fmla="*/ 18574 w 21431"/>
                  <a:gd name="connsiteY3" fmla="*/ 14645 h 20359"/>
                  <a:gd name="connsiteX4" fmla="*/ 5715 w 21431"/>
                  <a:gd name="connsiteY4" fmla="*/ 2857 h 20359"/>
                  <a:gd name="connsiteX5" fmla="*/ 2857 w 21431"/>
                  <a:gd name="connsiteY5" fmla="*/ 0 h 20359"/>
                  <a:gd name="connsiteX6" fmla="*/ 0 w 21431"/>
                  <a:gd name="connsiteY6" fmla="*/ 2857 h 20359"/>
                  <a:gd name="connsiteX7" fmla="*/ 17859 w 21431"/>
                  <a:gd name="connsiteY7" fmla="*/ 20360 h 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31" h="20359">
                    <a:moveTo>
                      <a:pt x="17859" y="20360"/>
                    </a:moveTo>
                    <a:cubicBezTo>
                      <a:pt x="18217" y="20360"/>
                      <a:pt x="18574" y="20360"/>
                      <a:pt x="18574" y="20360"/>
                    </a:cubicBezTo>
                    <a:cubicBezTo>
                      <a:pt x="20002" y="20360"/>
                      <a:pt x="21431" y="18931"/>
                      <a:pt x="21431" y="17502"/>
                    </a:cubicBezTo>
                    <a:cubicBezTo>
                      <a:pt x="21431" y="16073"/>
                      <a:pt x="20002" y="14645"/>
                      <a:pt x="18574" y="14645"/>
                    </a:cubicBezTo>
                    <a:cubicBezTo>
                      <a:pt x="11787" y="15002"/>
                      <a:pt x="6072" y="9644"/>
                      <a:pt x="5715" y="2857"/>
                    </a:cubicBezTo>
                    <a:cubicBezTo>
                      <a:pt x="5715" y="1429"/>
                      <a:pt x="4286" y="0"/>
                      <a:pt x="2857" y="0"/>
                    </a:cubicBezTo>
                    <a:cubicBezTo>
                      <a:pt x="1429" y="0"/>
                      <a:pt x="0" y="1429"/>
                      <a:pt x="0" y="2857"/>
                    </a:cubicBezTo>
                    <a:cubicBezTo>
                      <a:pt x="714" y="12859"/>
                      <a:pt x="8573" y="20360"/>
                      <a:pt x="17859" y="20360"/>
                    </a:cubicBezTo>
                    <a:close/>
                  </a:path>
                </a:pathLst>
              </a:custGeom>
              <a:solidFill>
                <a:srgbClr val="0095CF"/>
              </a:solidFill>
              <a:ln w="3572" cap="flat">
                <a:noFill/>
                <a:prstDash val="solid"/>
                <a:miter/>
              </a:ln>
            </p:spPr>
            <p:txBody>
              <a:bodyPr rtlCol="0" anchor="ctr"/>
              <a:lstStyle/>
              <a:p>
                <a:endParaRPr lang="en-GB"/>
              </a:p>
            </p:txBody>
          </p:sp>
        </p:grpSp>
      </p:grpSp>
      <p:grpSp>
        <p:nvGrpSpPr>
          <p:cNvPr id="382" name="Graphic 5033">
            <a:extLst>
              <a:ext uri="{FF2B5EF4-FFF2-40B4-BE49-F238E27FC236}">
                <a16:creationId xmlns:a16="http://schemas.microsoft.com/office/drawing/2014/main" id="{70E3D0D4-0478-4D98-9E48-3F402C793CE5}"/>
              </a:ext>
            </a:extLst>
          </p:cNvPr>
          <p:cNvGrpSpPr>
            <a:grpSpLocks noChangeAspect="1"/>
          </p:cNvGrpSpPr>
          <p:nvPr/>
        </p:nvGrpSpPr>
        <p:grpSpPr>
          <a:xfrm>
            <a:off x="9919719" y="1314259"/>
            <a:ext cx="457200" cy="457200"/>
            <a:chOff x="1433393" y="2873573"/>
            <a:chExt cx="333613" cy="333613"/>
          </a:xfrm>
          <a:solidFill>
            <a:srgbClr val="000000"/>
          </a:solidFill>
        </p:grpSpPr>
        <p:sp>
          <p:nvSpPr>
            <p:cNvPr id="383" name="Freeform: Shape 382">
              <a:extLst>
                <a:ext uri="{FF2B5EF4-FFF2-40B4-BE49-F238E27FC236}">
                  <a16:creationId xmlns:a16="http://schemas.microsoft.com/office/drawing/2014/main" id="{E3A5A928-5903-4192-A3F7-A602A1D9AC75}"/>
                </a:ext>
              </a:extLst>
            </p:cNvPr>
            <p:cNvSpPr/>
            <p:nvPr/>
          </p:nvSpPr>
          <p:spPr>
            <a:xfrm>
              <a:off x="1433393" y="2873573"/>
              <a:ext cx="333613" cy="333613"/>
            </a:xfrm>
            <a:custGeom>
              <a:avLst/>
              <a:gdLst>
                <a:gd name="connsiteX0" fmla="*/ 333613 w 333613"/>
                <a:gd name="connsiteY0" fmla="*/ 166807 h 333613"/>
                <a:gd name="connsiteX1" fmla="*/ 166807 w 333613"/>
                <a:gd name="connsiteY1" fmla="*/ 333613 h 333613"/>
                <a:gd name="connsiteX2" fmla="*/ 0 w 333613"/>
                <a:gd name="connsiteY2" fmla="*/ 166807 h 333613"/>
                <a:gd name="connsiteX3" fmla="*/ 166807 w 333613"/>
                <a:gd name="connsiteY3" fmla="*/ 0 h 333613"/>
                <a:gd name="connsiteX4" fmla="*/ 333613 w 333613"/>
                <a:gd name="connsiteY4" fmla="*/ 166807 h 333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3" h="333613">
                  <a:moveTo>
                    <a:pt x="333613" y="166807"/>
                  </a:moveTo>
                  <a:cubicBezTo>
                    <a:pt x="333613" y="258931"/>
                    <a:pt x="258931" y="333613"/>
                    <a:pt x="166807" y="333613"/>
                  </a:cubicBezTo>
                  <a:cubicBezTo>
                    <a:pt x="74682" y="333613"/>
                    <a:pt x="0" y="258931"/>
                    <a:pt x="0" y="166807"/>
                  </a:cubicBezTo>
                  <a:cubicBezTo>
                    <a:pt x="0" y="74682"/>
                    <a:pt x="74682" y="0"/>
                    <a:pt x="166807" y="0"/>
                  </a:cubicBezTo>
                  <a:cubicBezTo>
                    <a:pt x="258931" y="0"/>
                    <a:pt x="333613" y="74682"/>
                    <a:pt x="333613" y="166807"/>
                  </a:cubicBezTo>
                  <a:close/>
                </a:path>
              </a:pathLst>
            </a:custGeom>
            <a:solidFill>
              <a:srgbClr val="0BB6EA"/>
            </a:solidFill>
            <a:ln w="3572" cap="flat">
              <a:noFill/>
              <a:prstDash val="solid"/>
              <a:miter/>
            </a:ln>
          </p:spPr>
          <p:txBody>
            <a:bodyPr rtlCol="0" anchor="ctr"/>
            <a:lstStyle/>
            <a:p>
              <a:endParaRPr lang="en-GB"/>
            </a:p>
          </p:txBody>
        </p:sp>
        <p:sp>
          <p:nvSpPr>
            <p:cNvPr id="384" name="Freeform: Shape 383">
              <a:extLst>
                <a:ext uri="{FF2B5EF4-FFF2-40B4-BE49-F238E27FC236}">
                  <a16:creationId xmlns:a16="http://schemas.microsoft.com/office/drawing/2014/main" id="{791E565F-2D56-4581-9E1A-7FFA8785F705}"/>
                </a:ext>
              </a:extLst>
            </p:cNvPr>
            <p:cNvSpPr/>
            <p:nvPr/>
          </p:nvSpPr>
          <p:spPr>
            <a:xfrm>
              <a:off x="1455717" y="2895719"/>
              <a:ext cx="289500" cy="286821"/>
            </a:xfrm>
            <a:custGeom>
              <a:avLst/>
              <a:gdLst>
                <a:gd name="connsiteX0" fmla="*/ 246638 w 289500"/>
                <a:gd name="connsiteY0" fmla="*/ 42505 h 286821"/>
                <a:gd name="connsiteX1" fmla="*/ 144482 w 289500"/>
                <a:gd name="connsiteY1" fmla="*/ 0 h 286821"/>
                <a:gd name="connsiteX2" fmla="*/ 42327 w 289500"/>
                <a:gd name="connsiteY2" fmla="*/ 42505 h 286821"/>
                <a:gd name="connsiteX3" fmla="*/ 42327 w 289500"/>
                <a:gd name="connsiteY3" fmla="*/ 247174 h 286821"/>
                <a:gd name="connsiteX4" fmla="*/ 114121 w 289500"/>
                <a:gd name="connsiteY4" fmla="*/ 286107 h 286821"/>
                <a:gd name="connsiteX5" fmla="*/ 120551 w 289500"/>
                <a:gd name="connsiteY5" fmla="*/ 281821 h 286821"/>
                <a:gd name="connsiteX6" fmla="*/ 116265 w 289500"/>
                <a:gd name="connsiteY6" fmla="*/ 275392 h 286821"/>
                <a:gd name="connsiteX7" fmla="*/ 54114 w 289500"/>
                <a:gd name="connsiteY7" fmla="*/ 242888 h 286821"/>
                <a:gd name="connsiteX8" fmla="*/ 69473 w 289500"/>
                <a:gd name="connsiteY8" fmla="*/ 227528 h 286821"/>
                <a:gd name="connsiteX9" fmla="*/ 144840 w 289500"/>
                <a:gd name="connsiteY9" fmla="*/ 256461 h 286821"/>
                <a:gd name="connsiteX10" fmla="*/ 224135 w 289500"/>
                <a:gd name="connsiteY10" fmla="*/ 223599 h 286821"/>
                <a:gd name="connsiteX11" fmla="*/ 224135 w 289500"/>
                <a:gd name="connsiteY11" fmla="*/ 65008 h 286821"/>
                <a:gd name="connsiteX12" fmla="*/ 111621 w 289500"/>
                <a:gd name="connsiteY12" fmla="*/ 37505 h 286821"/>
                <a:gd name="connsiteX13" fmla="*/ 108049 w 289500"/>
                <a:gd name="connsiteY13" fmla="*/ 44291 h 286821"/>
                <a:gd name="connsiteX14" fmla="*/ 114836 w 289500"/>
                <a:gd name="connsiteY14" fmla="*/ 47863 h 286821"/>
                <a:gd name="connsiteX15" fmla="*/ 139125 w 289500"/>
                <a:gd name="connsiteY15" fmla="*/ 43577 h 286821"/>
                <a:gd name="connsiteX16" fmla="*/ 139125 w 289500"/>
                <a:gd name="connsiteY16" fmla="*/ 65365 h 286821"/>
                <a:gd name="connsiteX17" fmla="*/ 88404 w 289500"/>
                <a:gd name="connsiteY17" fmla="*/ 88225 h 286821"/>
                <a:gd name="connsiteX18" fmla="*/ 73759 w 289500"/>
                <a:gd name="connsiteY18" fmla="*/ 108228 h 286821"/>
                <a:gd name="connsiteX19" fmla="*/ 76260 w 289500"/>
                <a:gd name="connsiteY19" fmla="*/ 115372 h 286821"/>
                <a:gd name="connsiteX20" fmla="*/ 83403 w 289500"/>
                <a:gd name="connsiteY20" fmla="*/ 112871 h 286821"/>
                <a:gd name="connsiteX21" fmla="*/ 92333 w 289500"/>
                <a:gd name="connsiteY21" fmla="*/ 99655 h 286821"/>
                <a:gd name="connsiteX22" fmla="*/ 107692 w 289500"/>
                <a:gd name="connsiteY22" fmla="*/ 115014 h 286821"/>
                <a:gd name="connsiteX23" fmla="*/ 97691 w 289500"/>
                <a:gd name="connsiteY23" fmla="*/ 143947 h 286821"/>
                <a:gd name="connsiteX24" fmla="*/ 111264 w 289500"/>
                <a:gd name="connsiteY24" fmla="*/ 177165 h 286821"/>
                <a:gd name="connsiteX25" fmla="*/ 144482 w 289500"/>
                <a:gd name="connsiteY25" fmla="*/ 190738 h 286821"/>
                <a:gd name="connsiteX26" fmla="*/ 177701 w 289500"/>
                <a:gd name="connsiteY26" fmla="*/ 177165 h 286821"/>
                <a:gd name="connsiteX27" fmla="*/ 189131 w 289500"/>
                <a:gd name="connsiteY27" fmla="*/ 158948 h 286821"/>
                <a:gd name="connsiteX28" fmla="*/ 185559 w 289500"/>
                <a:gd name="connsiteY28" fmla="*/ 152162 h 286821"/>
                <a:gd name="connsiteX29" fmla="*/ 178772 w 289500"/>
                <a:gd name="connsiteY29" fmla="*/ 155734 h 286821"/>
                <a:gd name="connsiteX30" fmla="*/ 170200 w 289500"/>
                <a:gd name="connsiteY30" fmla="*/ 169664 h 286821"/>
                <a:gd name="connsiteX31" fmla="*/ 119479 w 289500"/>
                <a:gd name="connsiteY31" fmla="*/ 169664 h 286821"/>
                <a:gd name="connsiteX32" fmla="*/ 108764 w 289500"/>
                <a:gd name="connsiteY32" fmla="*/ 144661 h 286821"/>
                <a:gd name="connsiteX33" fmla="*/ 119122 w 289500"/>
                <a:gd name="connsiteY33" fmla="*/ 119301 h 286821"/>
                <a:gd name="connsiteX34" fmla="*/ 169843 w 289500"/>
                <a:gd name="connsiteY34" fmla="*/ 119301 h 286821"/>
                <a:gd name="connsiteX35" fmla="*/ 178772 w 289500"/>
                <a:gd name="connsiteY35" fmla="*/ 133945 h 286821"/>
                <a:gd name="connsiteX36" fmla="*/ 185559 w 289500"/>
                <a:gd name="connsiteY36" fmla="*/ 137517 h 286821"/>
                <a:gd name="connsiteX37" fmla="*/ 189131 w 289500"/>
                <a:gd name="connsiteY37" fmla="*/ 130731 h 286821"/>
                <a:gd name="connsiteX38" fmla="*/ 181273 w 289500"/>
                <a:gd name="connsiteY38" fmla="*/ 115729 h 286821"/>
                <a:gd name="connsiteX39" fmla="*/ 196632 w 289500"/>
                <a:gd name="connsiteY39" fmla="*/ 100370 h 286821"/>
                <a:gd name="connsiteX40" fmla="*/ 193060 w 289500"/>
                <a:gd name="connsiteY40" fmla="*/ 193238 h 286821"/>
                <a:gd name="connsiteX41" fmla="*/ 96262 w 289500"/>
                <a:gd name="connsiteY41" fmla="*/ 193238 h 286821"/>
                <a:gd name="connsiteX42" fmla="*/ 76974 w 289500"/>
                <a:gd name="connsiteY42" fmla="*/ 133945 h 286821"/>
                <a:gd name="connsiteX43" fmla="*/ 72330 w 289500"/>
                <a:gd name="connsiteY43" fmla="*/ 127873 h 286821"/>
                <a:gd name="connsiteX44" fmla="*/ 66258 w 289500"/>
                <a:gd name="connsiteY44" fmla="*/ 132517 h 286821"/>
                <a:gd name="connsiteX45" fmla="*/ 65544 w 289500"/>
                <a:gd name="connsiteY45" fmla="*/ 139660 h 286821"/>
                <a:gd name="connsiteX46" fmla="*/ 43755 w 289500"/>
                <a:gd name="connsiteY46" fmla="*/ 139660 h 286821"/>
                <a:gd name="connsiteX47" fmla="*/ 73045 w 289500"/>
                <a:gd name="connsiteY47" fmla="*/ 73581 h 286821"/>
                <a:gd name="connsiteX48" fmla="*/ 91619 w 289500"/>
                <a:gd name="connsiteY48" fmla="*/ 58936 h 286821"/>
                <a:gd name="connsiteX49" fmla="*/ 93405 w 289500"/>
                <a:gd name="connsiteY49" fmla="*/ 51435 h 286821"/>
                <a:gd name="connsiteX50" fmla="*/ 85904 w 289500"/>
                <a:gd name="connsiteY50" fmla="*/ 49649 h 286821"/>
                <a:gd name="connsiteX51" fmla="*/ 69473 w 289500"/>
                <a:gd name="connsiteY51" fmla="*/ 62151 h 286821"/>
                <a:gd name="connsiteX52" fmla="*/ 54114 w 289500"/>
                <a:gd name="connsiteY52" fmla="*/ 46792 h 286821"/>
                <a:gd name="connsiteX53" fmla="*/ 144840 w 289500"/>
                <a:gd name="connsiteY53" fmla="*/ 11430 h 286821"/>
                <a:gd name="connsiteX54" fmla="*/ 239494 w 289500"/>
                <a:gd name="connsiteY54" fmla="*/ 50721 h 286821"/>
                <a:gd name="connsiteX55" fmla="*/ 278785 w 289500"/>
                <a:gd name="connsiteY55" fmla="*/ 145375 h 286821"/>
                <a:gd name="connsiteX56" fmla="*/ 239494 w 289500"/>
                <a:gd name="connsiteY56" fmla="*/ 240030 h 286821"/>
                <a:gd name="connsiteX57" fmla="*/ 173057 w 289500"/>
                <a:gd name="connsiteY57" fmla="*/ 276106 h 286821"/>
                <a:gd name="connsiteX58" fmla="*/ 168771 w 289500"/>
                <a:gd name="connsiteY58" fmla="*/ 282535 h 286821"/>
                <a:gd name="connsiteX59" fmla="*/ 174129 w 289500"/>
                <a:gd name="connsiteY59" fmla="*/ 286822 h 286821"/>
                <a:gd name="connsiteX60" fmla="*/ 175200 w 289500"/>
                <a:gd name="connsiteY60" fmla="*/ 286822 h 286821"/>
                <a:gd name="connsiteX61" fmla="*/ 246995 w 289500"/>
                <a:gd name="connsiteY61" fmla="*/ 247888 h 286821"/>
                <a:gd name="connsiteX62" fmla="*/ 289500 w 289500"/>
                <a:gd name="connsiteY62" fmla="*/ 145733 h 286821"/>
                <a:gd name="connsiteX63" fmla="*/ 246638 w 289500"/>
                <a:gd name="connsiteY63" fmla="*/ 42505 h 286821"/>
                <a:gd name="connsiteX64" fmla="*/ 46256 w 289500"/>
                <a:gd name="connsiteY64" fmla="*/ 53935 h 286821"/>
                <a:gd name="connsiteX65" fmla="*/ 61615 w 289500"/>
                <a:gd name="connsiteY65" fmla="*/ 69294 h 286821"/>
                <a:gd name="connsiteX66" fmla="*/ 61615 w 289500"/>
                <a:gd name="connsiteY66" fmla="*/ 220028 h 286821"/>
                <a:gd name="connsiteX67" fmla="*/ 46256 w 289500"/>
                <a:gd name="connsiteY67" fmla="*/ 235387 h 286821"/>
                <a:gd name="connsiteX68" fmla="*/ 46256 w 289500"/>
                <a:gd name="connsiteY68" fmla="*/ 53935 h 286821"/>
                <a:gd name="connsiteX69" fmla="*/ 115550 w 289500"/>
                <a:gd name="connsiteY69" fmla="*/ 107871 h 286821"/>
                <a:gd name="connsiteX70" fmla="*/ 100191 w 289500"/>
                <a:gd name="connsiteY70" fmla="*/ 92512 h 286821"/>
                <a:gd name="connsiteX71" fmla="*/ 144482 w 289500"/>
                <a:gd name="connsiteY71" fmla="*/ 76081 h 286821"/>
                <a:gd name="connsiteX72" fmla="*/ 188774 w 289500"/>
                <a:gd name="connsiteY72" fmla="*/ 92512 h 286821"/>
                <a:gd name="connsiteX73" fmla="*/ 173415 w 289500"/>
                <a:gd name="connsiteY73" fmla="*/ 107871 h 286821"/>
                <a:gd name="connsiteX74" fmla="*/ 115550 w 289500"/>
                <a:gd name="connsiteY74" fmla="*/ 107871 h 286821"/>
                <a:gd name="connsiteX75" fmla="*/ 200561 w 289500"/>
                <a:gd name="connsiteY75" fmla="*/ 88583 h 286821"/>
                <a:gd name="connsiteX76" fmla="*/ 149840 w 289500"/>
                <a:gd name="connsiteY76" fmla="*/ 65723 h 286821"/>
                <a:gd name="connsiteX77" fmla="*/ 149840 w 289500"/>
                <a:gd name="connsiteY77" fmla="*/ 43934 h 286821"/>
                <a:gd name="connsiteX78" fmla="*/ 215920 w 289500"/>
                <a:gd name="connsiteY78" fmla="*/ 73223 h 286821"/>
                <a:gd name="connsiteX79" fmla="*/ 245209 w 289500"/>
                <a:gd name="connsiteY79" fmla="*/ 139303 h 286821"/>
                <a:gd name="connsiteX80" fmla="*/ 223421 w 289500"/>
                <a:gd name="connsiteY80" fmla="*/ 139303 h 286821"/>
                <a:gd name="connsiteX81" fmla="*/ 200561 w 289500"/>
                <a:gd name="connsiteY81" fmla="*/ 88583 h 286821"/>
                <a:gd name="connsiteX82" fmla="*/ 200561 w 289500"/>
                <a:gd name="connsiteY82" fmla="*/ 200739 h 286821"/>
                <a:gd name="connsiteX83" fmla="*/ 223421 w 289500"/>
                <a:gd name="connsiteY83" fmla="*/ 150019 h 286821"/>
                <a:gd name="connsiteX84" fmla="*/ 245209 w 289500"/>
                <a:gd name="connsiteY84" fmla="*/ 150019 h 286821"/>
                <a:gd name="connsiteX85" fmla="*/ 215920 w 289500"/>
                <a:gd name="connsiteY85" fmla="*/ 216098 h 286821"/>
                <a:gd name="connsiteX86" fmla="*/ 148769 w 289500"/>
                <a:gd name="connsiteY86" fmla="*/ 245745 h 286821"/>
                <a:gd name="connsiteX87" fmla="*/ 148769 w 289500"/>
                <a:gd name="connsiteY87" fmla="*/ 223957 h 286821"/>
                <a:gd name="connsiteX88" fmla="*/ 200561 w 289500"/>
                <a:gd name="connsiteY88" fmla="*/ 200739 h 286821"/>
                <a:gd name="connsiteX89" fmla="*/ 88404 w 289500"/>
                <a:gd name="connsiteY89" fmla="*/ 200739 h 286821"/>
                <a:gd name="connsiteX90" fmla="*/ 140196 w 289500"/>
                <a:gd name="connsiteY90" fmla="*/ 223599 h 286821"/>
                <a:gd name="connsiteX91" fmla="*/ 140196 w 289500"/>
                <a:gd name="connsiteY91" fmla="*/ 245388 h 286821"/>
                <a:gd name="connsiteX92" fmla="*/ 73045 w 289500"/>
                <a:gd name="connsiteY92" fmla="*/ 216098 h 286821"/>
                <a:gd name="connsiteX93" fmla="*/ 43755 w 289500"/>
                <a:gd name="connsiteY93" fmla="*/ 150019 h 286821"/>
                <a:gd name="connsiteX94" fmla="*/ 65544 w 289500"/>
                <a:gd name="connsiteY94" fmla="*/ 150019 h 286821"/>
                <a:gd name="connsiteX95" fmla="*/ 88404 w 289500"/>
                <a:gd name="connsiteY95" fmla="*/ 200739 h 28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89500" h="286821">
                  <a:moveTo>
                    <a:pt x="246638" y="42505"/>
                  </a:moveTo>
                  <a:cubicBezTo>
                    <a:pt x="219492" y="15002"/>
                    <a:pt x="183059" y="0"/>
                    <a:pt x="144482" y="0"/>
                  </a:cubicBezTo>
                  <a:cubicBezTo>
                    <a:pt x="105906" y="0"/>
                    <a:pt x="69473" y="15002"/>
                    <a:pt x="42327" y="42505"/>
                  </a:cubicBezTo>
                  <a:cubicBezTo>
                    <a:pt x="-14109" y="98941"/>
                    <a:pt x="-14109" y="190738"/>
                    <a:pt x="42327" y="247174"/>
                  </a:cubicBezTo>
                  <a:cubicBezTo>
                    <a:pt x="61972" y="266819"/>
                    <a:pt x="86975" y="280392"/>
                    <a:pt x="114121" y="286107"/>
                  </a:cubicBezTo>
                  <a:cubicBezTo>
                    <a:pt x="116979" y="286822"/>
                    <a:pt x="119836" y="285036"/>
                    <a:pt x="120551" y="281821"/>
                  </a:cubicBezTo>
                  <a:cubicBezTo>
                    <a:pt x="121265" y="278963"/>
                    <a:pt x="119479" y="276106"/>
                    <a:pt x="116265" y="275392"/>
                  </a:cubicBezTo>
                  <a:cubicBezTo>
                    <a:pt x="93047" y="270391"/>
                    <a:pt x="71616" y="259318"/>
                    <a:pt x="54114" y="242888"/>
                  </a:cubicBezTo>
                  <a:lnTo>
                    <a:pt x="69473" y="227528"/>
                  </a:lnTo>
                  <a:cubicBezTo>
                    <a:pt x="90904" y="246817"/>
                    <a:pt x="117693" y="256461"/>
                    <a:pt x="144840" y="256461"/>
                  </a:cubicBezTo>
                  <a:cubicBezTo>
                    <a:pt x="173415" y="256461"/>
                    <a:pt x="202347" y="245388"/>
                    <a:pt x="224135" y="223599"/>
                  </a:cubicBezTo>
                  <a:cubicBezTo>
                    <a:pt x="267712" y="180023"/>
                    <a:pt x="267712" y="108942"/>
                    <a:pt x="224135" y="65008"/>
                  </a:cubicBezTo>
                  <a:cubicBezTo>
                    <a:pt x="194489" y="36076"/>
                    <a:pt x="151269" y="25360"/>
                    <a:pt x="111621" y="37505"/>
                  </a:cubicBezTo>
                  <a:cubicBezTo>
                    <a:pt x="108764" y="38219"/>
                    <a:pt x="106978" y="41434"/>
                    <a:pt x="108049" y="44291"/>
                  </a:cubicBezTo>
                  <a:cubicBezTo>
                    <a:pt x="108764" y="47149"/>
                    <a:pt x="111978" y="48935"/>
                    <a:pt x="114836" y="47863"/>
                  </a:cubicBezTo>
                  <a:cubicBezTo>
                    <a:pt x="123051" y="45363"/>
                    <a:pt x="130909" y="43934"/>
                    <a:pt x="139125" y="43577"/>
                  </a:cubicBezTo>
                  <a:lnTo>
                    <a:pt x="139125" y="65365"/>
                  </a:lnTo>
                  <a:cubicBezTo>
                    <a:pt x="119836" y="66794"/>
                    <a:pt x="101977" y="74652"/>
                    <a:pt x="88404" y="88225"/>
                  </a:cubicBezTo>
                  <a:cubicBezTo>
                    <a:pt x="82689" y="93940"/>
                    <a:pt x="77688" y="100727"/>
                    <a:pt x="73759" y="108228"/>
                  </a:cubicBezTo>
                  <a:cubicBezTo>
                    <a:pt x="72330" y="110728"/>
                    <a:pt x="73402" y="114300"/>
                    <a:pt x="76260" y="115372"/>
                  </a:cubicBezTo>
                  <a:cubicBezTo>
                    <a:pt x="78760" y="116800"/>
                    <a:pt x="82332" y="115729"/>
                    <a:pt x="83403" y="112871"/>
                  </a:cubicBezTo>
                  <a:cubicBezTo>
                    <a:pt x="85904" y="108228"/>
                    <a:pt x="88761" y="103942"/>
                    <a:pt x="92333" y="99655"/>
                  </a:cubicBezTo>
                  <a:lnTo>
                    <a:pt x="107692" y="115014"/>
                  </a:lnTo>
                  <a:cubicBezTo>
                    <a:pt x="101263" y="123230"/>
                    <a:pt x="97691" y="133231"/>
                    <a:pt x="97691" y="143947"/>
                  </a:cubicBezTo>
                  <a:cubicBezTo>
                    <a:pt x="97691" y="156448"/>
                    <a:pt x="102691" y="168235"/>
                    <a:pt x="111264" y="177165"/>
                  </a:cubicBezTo>
                  <a:cubicBezTo>
                    <a:pt x="120551" y="186452"/>
                    <a:pt x="132338" y="190738"/>
                    <a:pt x="144482" y="190738"/>
                  </a:cubicBezTo>
                  <a:cubicBezTo>
                    <a:pt x="156627" y="190738"/>
                    <a:pt x="168414" y="186095"/>
                    <a:pt x="177701" y="177165"/>
                  </a:cubicBezTo>
                  <a:cubicBezTo>
                    <a:pt x="183059" y="171807"/>
                    <a:pt x="186630" y="165735"/>
                    <a:pt x="189131" y="158948"/>
                  </a:cubicBezTo>
                  <a:cubicBezTo>
                    <a:pt x="190202" y="156091"/>
                    <a:pt x="188416" y="152876"/>
                    <a:pt x="185559" y="152162"/>
                  </a:cubicBezTo>
                  <a:cubicBezTo>
                    <a:pt x="182701" y="151090"/>
                    <a:pt x="179487" y="152876"/>
                    <a:pt x="178772" y="155734"/>
                  </a:cubicBezTo>
                  <a:cubicBezTo>
                    <a:pt x="176986" y="161092"/>
                    <a:pt x="174129" y="165735"/>
                    <a:pt x="170200" y="169664"/>
                  </a:cubicBezTo>
                  <a:cubicBezTo>
                    <a:pt x="156270" y="183594"/>
                    <a:pt x="133410" y="183594"/>
                    <a:pt x="119479" y="169664"/>
                  </a:cubicBezTo>
                  <a:cubicBezTo>
                    <a:pt x="112335" y="163235"/>
                    <a:pt x="108764" y="154305"/>
                    <a:pt x="108764" y="144661"/>
                  </a:cubicBezTo>
                  <a:cubicBezTo>
                    <a:pt x="108764" y="135017"/>
                    <a:pt x="112335" y="126087"/>
                    <a:pt x="119122" y="119301"/>
                  </a:cubicBezTo>
                  <a:cubicBezTo>
                    <a:pt x="133052" y="105370"/>
                    <a:pt x="155912" y="105370"/>
                    <a:pt x="169843" y="119301"/>
                  </a:cubicBezTo>
                  <a:cubicBezTo>
                    <a:pt x="173772" y="123230"/>
                    <a:pt x="176986" y="128588"/>
                    <a:pt x="178772" y="133945"/>
                  </a:cubicBezTo>
                  <a:cubicBezTo>
                    <a:pt x="179487" y="136803"/>
                    <a:pt x="182701" y="138589"/>
                    <a:pt x="185559" y="137517"/>
                  </a:cubicBezTo>
                  <a:cubicBezTo>
                    <a:pt x="188416" y="136446"/>
                    <a:pt x="190202" y="133588"/>
                    <a:pt x="189131" y="130731"/>
                  </a:cubicBezTo>
                  <a:cubicBezTo>
                    <a:pt x="187345" y="125373"/>
                    <a:pt x="184845" y="120015"/>
                    <a:pt x="181273" y="115729"/>
                  </a:cubicBezTo>
                  <a:lnTo>
                    <a:pt x="196632" y="100370"/>
                  </a:lnTo>
                  <a:cubicBezTo>
                    <a:pt x="219492" y="127159"/>
                    <a:pt x="218420" y="167878"/>
                    <a:pt x="193060" y="193238"/>
                  </a:cubicBezTo>
                  <a:cubicBezTo>
                    <a:pt x="166271" y="220028"/>
                    <a:pt x="123051" y="220028"/>
                    <a:pt x="96262" y="193238"/>
                  </a:cubicBezTo>
                  <a:cubicBezTo>
                    <a:pt x="80903" y="177879"/>
                    <a:pt x="73759" y="155734"/>
                    <a:pt x="76974" y="133945"/>
                  </a:cubicBezTo>
                  <a:cubicBezTo>
                    <a:pt x="77331" y="131088"/>
                    <a:pt x="75545" y="128230"/>
                    <a:pt x="72330" y="127873"/>
                  </a:cubicBezTo>
                  <a:cubicBezTo>
                    <a:pt x="69473" y="127516"/>
                    <a:pt x="66615" y="129302"/>
                    <a:pt x="66258" y="132517"/>
                  </a:cubicBezTo>
                  <a:cubicBezTo>
                    <a:pt x="65901" y="135017"/>
                    <a:pt x="65544" y="137160"/>
                    <a:pt x="65544" y="139660"/>
                  </a:cubicBezTo>
                  <a:lnTo>
                    <a:pt x="43755" y="139660"/>
                  </a:lnTo>
                  <a:cubicBezTo>
                    <a:pt x="45184" y="115729"/>
                    <a:pt x="54828" y="91797"/>
                    <a:pt x="73045" y="73581"/>
                  </a:cubicBezTo>
                  <a:cubicBezTo>
                    <a:pt x="78760" y="67866"/>
                    <a:pt x="84832" y="63222"/>
                    <a:pt x="91619" y="58936"/>
                  </a:cubicBezTo>
                  <a:cubicBezTo>
                    <a:pt x="94119" y="57507"/>
                    <a:pt x="94833" y="53935"/>
                    <a:pt x="93405" y="51435"/>
                  </a:cubicBezTo>
                  <a:cubicBezTo>
                    <a:pt x="91976" y="48935"/>
                    <a:pt x="88404" y="48220"/>
                    <a:pt x="85904" y="49649"/>
                  </a:cubicBezTo>
                  <a:cubicBezTo>
                    <a:pt x="80189" y="53221"/>
                    <a:pt x="74474" y="57507"/>
                    <a:pt x="69473" y="62151"/>
                  </a:cubicBezTo>
                  <a:lnTo>
                    <a:pt x="54114" y="46792"/>
                  </a:lnTo>
                  <a:cubicBezTo>
                    <a:pt x="78760" y="23932"/>
                    <a:pt x="110907" y="11430"/>
                    <a:pt x="144840" y="11430"/>
                  </a:cubicBezTo>
                  <a:cubicBezTo>
                    <a:pt x="180558" y="11430"/>
                    <a:pt x="214134" y="25360"/>
                    <a:pt x="239494" y="50721"/>
                  </a:cubicBezTo>
                  <a:cubicBezTo>
                    <a:pt x="264855" y="76081"/>
                    <a:pt x="278785" y="109657"/>
                    <a:pt x="278785" y="145375"/>
                  </a:cubicBezTo>
                  <a:cubicBezTo>
                    <a:pt x="278785" y="181094"/>
                    <a:pt x="264855" y="214670"/>
                    <a:pt x="239494" y="240030"/>
                  </a:cubicBezTo>
                  <a:cubicBezTo>
                    <a:pt x="221278" y="258247"/>
                    <a:pt x="198418" y="270748"/>
                    <a:pt x="173057" y="276106"/>
                  </a:cubicBezTo>
                  <a:cubicBezTo>
                    <a:pt x="170200" y="276820"/>
                    <a:pt x="168414" y="279678"/>
                    <a:pt x="168771" y="282535"/>
                  </a:cubicBezTo>
                  <a:cubicBezTo>
                    <a:pt x="169485" y="285036"/>
                    <a:pt x="171629" y="286822"/>
                    <a:pt x="174129" y="286822"/>
                  </a:cubicBezTo>
                  <a:cubicBezTo>
                    <a:pt x="174486" y="286822"/>
                    <a:pt x="174843" y="286822"/>
                    <a:pt x="175200" y="286822"/>
                  </a:cubicBezTo>
                  <a:cubicBezTo>
                    <a:pt x="202347" y="281107"/>
                    <a:pt x="227350" y="267533"/>
                    <a:pt x="246995" y="247888"/>
                  </a:cubicBezTo>
                  <a:cubicBezTo>
                    <a:pt x="274141" y="220742"/>
                    <a:pt x="289500" y="184309"/>
                    <a:pt x="289500" y="145733"/>
                  </a:cubicBezTo>
                  <a:cubicBezTo>
                    <a:pt x="289143" y="106085"/>
                    <a:pt x="274141" y="69652"/>
                    <a:pt x="246638" y="42505"/>
                  </a:cubicBezTo>
                  <a:close/>
                  <a:moveTo>
                    <a:pt x="46256" y="53935"/>
                  </a:moveTo>
                  <a:lnTo>
                    <a:pt x="61615" y="69294"/>
                  </a:lnTo>
                  <a:cubicBezTo>
                    <a:pt x="23039" y="111800"/>
                    <a:pt x="23039" y="177522"/>
                    <a:pt x="61615" y="220028"/>
                  </a:cubicBezTo>
                  <a:lnTo>
                    <a:pt x="46256" y="235387"/>
                  </a:lnTo>
                  <a:cubicBezTo>
                    <a:pt x="-893" y="184309"/>
                    <a:pt x="-893" y="105013"/>
                    <a:pt x="46256" y="53935"/>
                  </a:cubicBezTo>
                  <a:close/>
                  <a:moveTo>
                    <a:pt x="115550" y="107871"/>
                  </a:moveTo>
                  <a:lnTo>
                    <a:pt x="100191" y="92512"/>
                  </a:lnTo>
                  <a:cubicBezTo>
                    <a:pt x="112693" y="81796"/>
                    <a:pt x="128052" y="76081"/>
                    <a:pt x="144482" y="76081"/>
                  </a:cubicBezTo>
                  <a:cubicBezTo>
                    <a:pt x="160913" y="76081"/>
                    <a:pt x="176629" y="81796"/>
                    <a:pt x="188774" y="92512"/>
                  </a:cubicBezTo>
                  <a:lnTo>
                    <a:pt x="173415" y="107871"/>
                  </a:lnTo>
                  <a:cubicBezTo>
                    <a:pt x="156627" y="94655"/>
                    <a:pt x="132338" y="94655"/>
                    <a:pt x="115550" y="107871"/>
                  </a:cubicBezTo>
                  <a:close/>
                  <a:moveTo>
                    <a:pt x="200561" y="88583"/>
                  </a:moveTo>
                  <a:cubicBezTo>
                    <a:pt x="186988" y="75009"/>
                    <a:pt x="169128" y="66794"/>
                    <a:pt x="149840" y="65723"/>
                  </a:cubicBezTo>
                  <a:lnTo>
                    <a:pt x="149840" y="43934"/>
                  </a:lnTo>
                  <a:cubicBezTo>
                    <a:pt x="174486" y="45006"/>
                    <a:pt x="198060" y="55007"/>
                    <a:pt x="215920" y="73223"/>
                  </a:cubicBezTo>
                  <a:cubicBezTo>
                    <a:pt x="234136" y="91440"/>
                    <a:pt x="244138" y="115372"/>
                    <a:pt x="245209" y="139303"/>
                  </a:cubicBezTo>
                  <a:lnTo>
                    <a:pt x="223421" y="139303"/>
                  </a:lnTo>
                  <a:cubicBezTo>
                    <a:pt x="222349" y="120729"/>
                    <a:pt x="214848" y="102513"/>
                    <a:pt x="200561" y="88583"/>
                  </a:cubicBezTo>
                  <a:close/>
                  <a:moveTo>
                    <a:pt x="200561" y="200739"/>
                  </a:moveTo>
                  <a:cubicBezTo>
                    <a:pt x="214491" y="186809"/>
                    <a:pt x="222349" y="168592"/>
                    <a:pt x="223421" y="150019"/>
                  </a:cubicBezTo>
                  <a:lnTo>
                    <a:pt x="245209" y="150019"/>
                  </a:lnTo>
                  <a:cubicBezTo>
                    <a:pt x="244138" y="174308"/>
                    <a:pt x="234494" y="197882"/>
                    <a:pt x="215920" y="216098"/>
                  </a:cubicBezTo>
                  <a:cubicBezTo>
                    <a:pt x="197346" y="234672"/>
                    <a:pt x="173057" y="244673"/>
                    <a:pt x="148769" y="245745"/>
                  </a:cubicBezTo>
                  <a:lnTo>
                    <a:pt x="148769" y="223957"/>
                  </a:lnTo>
                  <a:cubicBezTo>
                    <a:pt x="167700" y="222885"/>
                    <a:pt x="186273" y="215027"/>
                    <a:pt x="200561" y="200739"/>
                  </a:cubicBezTo>
                  <a:close/>
                  <a:moveTo>
                    <a:pt x="88404" y="200739"/>
                  </a:moveTo>
                  <a:cubicBezTo>
                    <a:pt x="102691" y="215027"/>
                    <a:pt x="121265" y="222885"/>
                    <a:pt x="140196" y="223599"/>
                  </a:cubicBezTo>
                  <a:lnTo>
                    <a:pt x="140196" y="245388"/>
                  </a:lnTo>
                  <a:cubicBezTo>
                    <a:pt x="115550" y="244673"/>
                    <a:pt x="91619" y="234672"/>
                    <a:pt x="73045" y="216098"/>
                  </a:cubicBezTo>
                  <a:cubicBezTo>
                    <a:pt x="54828" y="197882"/>
                    <a:pt x="44827" y="173950"/>
                    <a:pt x="43755" y="150019"/>
                  </a:cubicBezTo>
                  <a:lnTo>
                    <a:pt x="65544" y="150019"/>
                  </a:lnTo>
                  <a:cubicBezTo>
                    <a:pt x="66615" y="168950"/>
                    <a:pt x="74831" y="187166"/>
                    <a:pt x="88404" y="200739"/>
                  </a:cubicBezTo>
                  <a:close/>
                </a:path>
              </a:pathLst>
            </a:custGeom>
            <a:solidFill>
              <a:srgbClr val="FFFFFF"/>
            </a:solidFill>
            <a:ln w="3572" cap="flat">
              <a:noFill/>
              <a:prstDash val="solid"/>
              <a:miter/>
            </a:ln>
          </p:spPr>
          <p:txBody>
            <a:bodyPr rtlCol="0" anchor="ctr"/>
            <a:lstStyle/>
            <a:p>
              <a:endParaRPr lang="en-GB"/>
            </a:p>
          </p:txBody>
        </p:sp>
        <p:sp>
          <p:nvSpPr>
            <p:cNvPr id="385" name="Freeform: Shape 384">
              <a:extLst>
                <a:ext uri="{FF2B5EF4-FFF2-40B4-BE49-F238E27FC236}">
                  <a16:creationId xmlns:a16="http://schemas.microsoft.com/office/drawing/2014/main" id="{B90AAA70-DAD7-4643-A53B-C58C5F2F1406}"/>
                </a:ext>
              </a:extLst>
            </p:cNvPr>
            <p:cNvSpPr/>
            <p:nvPr/>
          </p:nvSpPr>
          <p:spPr>
            <a:xfrm>
              <a:off x="1588770" y="3028950"/>
              <a:ext cx="22860" cy="22860"/>
            </a:xfrm>
            <a:custGeom>
              <a:avLst/>
              <a:gdLst>
                <a:gd name="connsiteX0" fmla="*/ 22860 w 22860"/>
                <a:gd name="connsiteY0" fmla="*/ 11430 h 22860"/>
                <a:gd name="connsiteX1" fmla="*/ 11430 w 22860"/>
                <a:gd name="connsiteY1" fmla="*/ 22860 h 22860"/>
                <a:gd name="connsiteX2" fmla="*/ 0 w 22860"/>
                <a:gd name="connsiteY2" fmla="*/ 11430 h 22860"/>
                <a:gd name="connsiteX3" fmla="*/ 11430 w 22860"/>
                <a:gd name="connsiteY3" fmla="*/ 0 h 22860"/>
                <a:gd name="connsiteX4" fmla="*/ 22860 w 22860"/>
                <a:gd name="connsiteY4" fmla="*/ 11430 h 22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22860">
                  <a:moveTo>
                    <a:pt x="22860" y="11430"/>
                  </a:moveTo>
                  <a:cubicBezTo>
                    <a:pt x="22860" y="17743"/>
                    <a:pt x="17743" y="22860"/>
                    <a:pt x="11430" y="22860"/>
                  </a:cubicBezTo>
                  <a:cubicBezTo>
                    <a:pt x="5117" y="22860"/>
                    <a:pt x="0" y="17743"/>
                    <a:pt x="0" y="11430"/>
                  </a:cubicBezTo>
                  <a:cubicBezTo>
                    <a:pt x="0" y="5117"/>
                    <a:pt x="5117" y="0"/>
                    <a:pt x="11430" y="0"/>
                  </a:cubicBezTo>
                  <a:cubicBezTo>
                    <a:pt x="17743" y="0"/>
                    <a:pt x="22860" y="5117"/>
                    <a:pt x="22860" y="11430"/>
                  </a:cubicBezTo>
                  <a:close/>
                </a:path>
              </a:pathLst>
            </a:custGeom>
            <a:solidFill>
              <a:srgbClr val="FFFFFF"/>
            </a:solidFill>
            <a:ln w="3572" cap="flat">
              <a:noFill/>
              <a:prstDash val="solid"/>
              <a:miter/>
            </a:ln>
          </p:spPr>
          <p:txBody>
            <a:bodyPr rtlCol="0" anchor="ctr"/>
            <a:lstStyle/>
            <a:p>
              <a:endParaRPr lang="en-GB"/>
            </a:p>
          </p:txBody>
        </p:sp>
      </p:grpSp>
      <p:sp>
        <p:nvSpPr>
          <p:cNvPr id="487" name="Rectangle 486">
            <a:extLst>
              <a:ext uri="{FF2B5EF4-FFF2-40B4-BE49-F238E27FC236}">
                <a16:creationId xmlns:a16="http://schemas.microsoft.com/office/drawing/2014/main" id="{EB7257BE-8A71-4FE6-9776-75A7A656885E}"/>
              </a:ext>
            </a:extLst>
          </p:cNvPr>
          <p:cNvSpPr/>
          <p:nvPr/>
        </p:nvSpPr>
        <p:spPr>
          <a:xfrm>
            <a:off x="5798822" y="6447325"/>
            <a:ext cx="1967754" cy="190744"/>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0" name="Rectangle 449">
            <a:extLst>
              <a:ext uri="{FF2B5EF4-FFF2-40B4-BE49-F238E27FC236}">
                <a16:creationId xmlns:a16="http://schemas.microsoft.com/office/drawing/2014/main" id="{59AFB1F7-9394-471A-99AE-48FE4DB766CC}"/>
              </a:ext>
            </a:extLst>
          </p:cNvPr>
          <p:cNvSpPr/>
          <p:nvPr/>
        </p:nvSpPr>
        <p:spPr>
          <a:xfrm>
            <a:off x="5886773" y="6416766"/>
            <a:ext cx="652743" cy="230832"/>
          </a:xfrm>
          <a:prstGeom prst="rect">
            <a:avLst/>
          </a:prstGeom>
        </p:spPr>
        <p:txBody>
          <a:bodyPr wrap="none">
            <a:spAutoFit/>
          </a:bodyPr>
          <a:lstStyle/>
          <a:p>
            <a:r>
              <a:rPr lang="en-GB" sz="900" dirty="0" err="1">
                <a:latin typeface="Tw Cen MT" panose="020B0602020104020603" pitchFamily="34" charset="0"/>
              </a:rPr>
              <a:t>Painpoints</a:t>
            </a:r>
            <a:endParaRPr lang="en-GB" sz="900" dirty="0"/>
          </a:p>
        </p:txBody>
      </p:sp>
      <p:sp>
        <p:nvSpPr>
          <p:cNvPr id="470" name="Rectangle 469">
            <a:extLst>
              <a:ext uri="{FF2B5EF4-FFF2-40B4-BE49-F238E27FC236}">
                <a16:creationId xmlns:a16="http://schemas.microsoft.com/office/drawing/2014/main" id="{40D5495C-38DA-492A-94A3-0985FA8A3638}"/>
              </a:ext>
            </a:extLst>
          </p:cNvPr>
          <p:cNvSpPr/>
          <p:nvPr/>
        </p:nvSpPr>
        <p:spPr>
          <a:xfrm>
            <a:off x="7007678" y="6423338"/>
            <a:ext cx="820249" cy="230832"/>
          </a:xfrm>
          <a:prstGeom prst="rect">
            <a:avLst/>
          </a:prstGeom>
        </p:spPr>
        <p:txBody>
          <a:bodyPr wrap="square">
            <a:spAutoFit/>
          </a:bodyPr>
          <a:lstStyle/>
          <a:p>
            <a:r>
              <a:rPr lang="en-GB" sz="900" dirty="0">
                <a:latin typeface="Tw Cen MT" panose="020B0602020104020603" pitchFamily="34" charset="0"/>
              </a:rPr>
              <a:t>Opportunities</a:t>
            </a:r>
            <a:endParaRPr lang="en-GB" sz="900" dirty="0"/>
          </a:p>
        </p:txBody>
      </p:sp>
      <p:grpSp>
        <p:nvGrpSpPr>
          <p:cNvPr id="473" name="Group 472">
            <a:extLst>
              <a:ext uri="{FF2B5EF4-FFF2-40B4-BE49-F238E27FC236}">
                <a16:creationId xmlns:a16="http://schemas.microsoft.com/office/drawing/2014/main" id="{DD0EA055-BD1B-4872-8954-9D7448B69E54}"/>
              </a:ext>
            </a:extLst>
          </p:cNvPr>
          <p:cNvGrpSpPr/>
          <p:nvPr/>
        </p:nvGrpSpPr>
        <p:grpSpPr>
          <a:xfrm>
            <a:off x="7899964" y="6429066"/>
            <a:ext cx="983320" cy="215444"/>
            <a:chOff x="5871893" y="6068614"/>
            <a:chExt cx="983320" cy="215444"/>
          </a:xfrm>
        </p:grpSpPr>
        <p:sp>
          <p:nvSpPr>
            <p:cNvPr id="477" name="Oval 476">
              <a:extLst>
                <a:ext uri="{FF2B5EF4-FFF2-40B4-BE49-F238E27FC236}">
                  <a16:creationId xmlns:a16="http://schemas.microsoft.com/office/drawing/2014/main" id="{0FDA146C-4963-4A8D-A1B5-7F605ED0B4C9}"/>
                </a:ext>
              </a:extLst>
            </p:cNvPr>
            <p:cNvSpPr>
              <a:spLocks noChangeAspect="1"/>
            </p:cNvSpPr>
            <p:nvPr/>
          </p:nvSpPr>
          <p:spPr>
            <a:xfrm>
              <a:off x="5871893" y="6145183"/>
              <a:ext cx="36576" cy="36576"/>
            </a:xfrm>
            <a:prstGeom prst="ellipse">
              <a:avLst/>
            </a:prstGeom>
            <a:solidFill>
              <a:schemeClr val="bg1"/>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8" name="Rectangle 477">
              <a:extLst>
                <a:ext uri="{FF2B5EF4-FFF2-40B4-BE49-F238E27FC236}">
                  <a16:creationId xmlns:a16="http://schemas.microsoft.com/office/drawing/2014/main" id="{180A5ACA-6E1E-40D3-8D62-1A1E7B535141}"/>
                </a:ext>
              </a:extLst>
            </p:cNvPr>
            <p:cNvSpPr/>
            <p:nvPr/>
          </p:nvSpPr>
          <p:spPr>
            <a:xfrm>
              <a:off x="5902708" y="6068614"/>
              <a:ext cx="952505" cy="215444"/>
            </a:xfrm>
            <a:prstGeom prst="rect">
              <a:avLst/>
            </a:prstGeom>
          </p:spPr>
          <p:txBody>
            <a:bodyPr wrap="none">
              <a:spAutoFit/>
            </a:bodyPr>
            <a:lstStyle/>
            <a:p>
              <a:r>
                <a:rPr lang="en-GB" sz="800" dirty="0">
                  <a:latin typeface="Tw Cen MT" panose="020B0602020104020603" pitchFamily="34" charset="0"/>
                </a:rPr>
                <a:t>Customer Oriented</a:t>
              </a:r>
              <a:endParaRPr lang="en-GB" sz="800" dirty="0"/>
            </a:p>
          </p:txBody>
        </p:sp>
      </p:grpSp>
      <p:sp>
        <p:nvSpPr>
          <p:cNvPr id="476" name="Rectangle 475">
            <a:extLst>
              <a:ext uri="{FF2B5EF4-FFF2-40B4-BE49-F238E27FC236}">
                <a16:creationId xmlns:a16="http://schemas.microsoft.com/office/drawing/2014/main" id="{B65A9A5D-C5A6-4070-9B04-0798B340285C}"/>
              </a:ext>
            </a:extLst>
          </p:cNvPr>
          <p:cNvSpPr/>
          <p:nvPr/>
        </p:nvSpPr>
        <p:spPr>
          <a:xfrm>
            <a:off x="8906282" y="6425952"/>
            <a:ext cx="985172" cy="215444"/>
          </a:xfrm>
          <a:prstGeom prst="rect">
            <a:avLst/>
          </a:prstGeom>
        </p:spPr>
        <p:txBody>
          <a:bodyPr wrap="square">
            <a:spAutoFit/>
          </a:bodyPr>
          <a:lstStyle/>
          <a:p>
            <a:r>
              <a:rPr lang="en-GB" sz="800" dirty="0">
                <a:latin typeface="Tw Cen MT" panose="020B0602020104020603" pitchFamily="34" charset="0"/>
              </a:rPr>
              <a:t>Company Oriented</a:t>
            </a:r>
            <a:endParaRPr lang="en-GB" sz="800" dirty="0"/>
          </a:p>
        </p:txBody>
      </p:sp>
      <p:sp>
        <p:nvSpPr>
          <p:cNvPr id="488" name="Rectangle 487">
            <a:extLst>
              <a:ext uri="{FF2B5EF4-FFF2-40B4-BE49-F238E27FC236}">
                <a16:creationId xmlns:a16="http://schemas.microsoft.com/office/drawing/2014/main" id="{8C4F262F-2CF8-4367-B5D7-65A1EA0025B2}"/>
              </a:ext>
            </a:extLst>
          </p:cNvPr>
          <p:cNvSpPr/>
          <p:nvPr/>
        </p:nvSpPr>
        <p:spPr>
          <a:xfrm>
            <a:off x="7860789" y="6445274"/>
            <a:ext cx="1958314" cy="190160"/>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5" name="Oval 484">
            <a:extLst>
              <a:ext uri="{FF2B5EF4-FFF2-40B4-BE49-F238E27FC236}">
                <a16:creationId xmlns:a16="http://schemas.microsoft.com/office/drawing/2014/main" id="{F76A4727-75D4-4C94-8538-ED14906F70C7}"/>
              </a:ext>
            </a:extLst>
          </p:cNvPr>
          <p:cNvSpPr>
            <a:spLocks noChangeAspect="1"/>
          </p:cNvSpPr>
          <p:nvPr/>
        </p:nvSpPr>
        <p:spPr>
          <a:xfrm>
            <a:off x="10008159" y="6499608"/>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6" name="Rectangle 485">
            <a:extLst>
              <a:ext uri="{FF2B5EF4-FFF2-40B4-BE49-F238E27FC236}">
                <a16:creationId xmlns:a16="http://schemas.microsoft.com/office/drawing/2014/main" id="{F4A737F7-C592-4448-871A-D8CEDBA4660E}"/>
              </a:ext>
            </a:extLst>
          </p:cNvPr>
          <p:cNvSpPr/>
          <p:nvPr/>
        </p:nvSpPr>
        <p:spPr>
          <a:xfrm>
            <a:off x="10069671" y="6425905"/>
            <a:ext cx="761747" cy="230832"/>
          </a:xfrm>
          <a:prstGeom prst="rect">
            <a:avLst/>
          </a:prstGeom>
        </p:spPr>
        <p:txBody>
          <a:bodyPr wrap="none">
            <a:spAutoFit/>
          </a:bodyPr>
          <a:lstStyle/>
          <a:p>
            <a:r>
              <a:rPr lang="en-GB" sz="900" dirty="0">
                <a:latin typeface="Tw Cen MT" panose="020B0602020104020603" pitchFamily="34" charset="0"/>
              </a:rPr>
              <a:t>Quantitative</a:t>
            </a:r>
            <a:endParaRPr lang="en-GB" sz="900" dirty="0"/>
          </a:p>
        </p:txBody>
      </p:sp>
      <p:sp>
        <p:nvSpPr>
          <p:cNvPr id="483" name="Oval 482">
            <a:extLst>
              <a:ext uri="{FF2B5EF4-FFF2-40B4-BE49-F238E27FC236}">
                <a16:creationId xmlns:a16="http://schemas.microsoft.com/office/drawing/2014/main" id="{6BAAD35A-508C-42B5-B29E-7EFECDED1561}"/>
              </a:ext>
            </a:extLst>
          </p:cNvPr>
          <p:cNvSpPr>
            <a:spLocks noChangeAspect="1"/>
          </p:cNvSpPr>
          <p:nvPr/>
        </p:nvSpPr>
        <p:spPr>
          <a:xfrm>
            <a:off x="11217882" y="6500159"/>
            <a:ext cx="91440" cy="91440"/>
          </a:xfrm>
          <a:prstGeom prst="ellipse">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4" name="Rectangle 483">
            <a:extLst>
              <a:ext uri="{FF2B5EF4-FFF2-40B4-BE49-F238E27FC236}">
                <a16:creationId xmlns:a16="http://schemas.microsoft.com/office/drawing/2014/main" id="{52CE28A4-CA8B-4434-9610-650A8407DC57}"/>
              </a:ext>
            </a:extLst>
          </p:cNvPr>
          <p:cNvSpPr/>
          <p:nvPr/>
        </p:nvSpPr>
        <p:spPr>
          <a:xfrm>
            <a:off x="11263602" y="6425946"/>
            <a:ext cx="731764" cy="230832"/>
          </a:xfrm>
          <a:prstGeom prst="rect">
            <a:avLst/>
          </a:prstGeom>
        </p:spPr>
        <p:txBody>
          <a:bodyPr wrap="square">
            <a:spAutoFit/>
          </a:bodyPr>
          <a:lstStyle/>
          <a:p>
            <a:r>
              <a:rPr lang="en-GB" sz="900" dirty="0">
                <a:latin typeface="Tw Cen MT" panose="020B0602020104020603" pitchFamily="34" charset="0"/>
              </a:rPr>
              <a:t>Qualitative</a:t>
            </a:r>
            <a:endParaRPr lang="en-GB" sz="900" dirty="0"/>
          </a:p>
        </p:txBody>
      </p:sp>
      <p:sp>
        <p:nvSpPr>
          <p:cNvPr id="489" name="Rectangle 488">
            <a:extLst>
              <a:ext uri="{FF2B5EF4-FFF2-40B4-BE49-F238E27FC236}">
                <a16:creationId xmlns:a16="http://schemas.microsoft.com/office/drawing/2014/main" id="{AEE04606-F999-45B8-AF3A-A90BEA88D0E8}"/>
              </a:ext>
            </a:extLst>
          </p:cNvPr>
          <p:cNvSpPr/>
          <p:nvPr/>
        </p:nvSpPr>
        <p:spPr>
          <a:xfrm>
            <a:off x="9917075" y="6445274"/>
            <a:ext cx="1973580" cy="190160"/>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5" name="Straight Connector 284">
            <a:extLst>
              <a:ext uri="{FF2B5EF4-FFF2-40B4-BE49-F238E27FC236}">
                <a16:creationId xmlns:a16="http://schemas.microsoft.com/office/drawing/2014/main" id="{EA530733-B644-4131-BC70-051D67322736}"/>
              </a:ext>
            </a:extLst>
          </p:cNvPr>
          <p:cNvCxnSpPr>
            <a:cxnSpLocks/>
          </p:cNvCxnSpPr>
          <p:nvPr/>
        </p:nvCxnSpPr>
        <p:spPr>
          <a:xfrm>
            <a:off x="7799438" y="1210649"/>
            <a:ext cx="0" cy="5417838"/>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23" name="Oval 222">
            <a:extLst>
              <a:ext uri="{FF2B5EF4-FFF2-40B4-BE49-F238E27FC236}">
                <a16:creationId xmlns:a16="http://schemas.microsoft.com/office/drawing/2014/main" id="{CC8638A9-E5FE-4AAB-941B-0BD22608DE4C}"/>
              </a:ext>
            </a:extLst>
          </p:cNvPr>
          <p:cNvSpPr>
            <a:spLocks noChangeAspect="1"/>
          </p:cNvSpPr>
          <p:nvPr/>
        </p:nvSpPr>
        <p:spPr>
          <a:xfrm flipH="1" flipV="1">
            <a:off x="5838904" y="6491092"/>
            <a:ext cx="88631" cy="88631"/>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Oval 240">
            <a:extLst>
              <a:ext uri="{FF2B5EF4-FFF2-40B4-BE49-F238E27FC236}">
                <a16:creationId xmlns:a16="http://schemas.microsoft.com/office/drawing/2014/main" id="{386F7354-494D-4C2D-99EF-2C6FF280C600}"/>
              </a:ext>
            </a:extLst>
          </p:cNvPr>
          <p:cNvSpPr>
            <a:spLocks noChangeAspect="1"/>
          </p:cNvSpPr>
          <p:nvPr/>
        </p:nvSpPr>
        <p:spPr>
          <a:xfrm>
            <a:off x="6962740" y="6491129"/>
            <a:ext cx="95251" cy="95251"/>
          </a:xfrm>
          <a:prstGeom prst="ellipse">
            <a:avLst/>
          </a:prstGeom>
          <a:solidFill>
            <a:schemeClr val="bg1"/>
          </a:solidFill>
          <a:ln w="19050">
            <a:solidFill>
              <a:srgbClr val="31D2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Oval 244">
            <a:extLst>
              <a:ext uri="{FF2B5EF4-FFF2-40B4-BE49-F238E27FC236}">
                <a16:creationId xmlns:a16="http://schemas.microsoft.com/office/drawing/2014/main" id="{8A77E72E-842A-4508-8258-F1F7481D7EFC}"/>
              </a:ext>
            </a:extLst>
          </p:cNvPr>
          <p:cNvSpPr>
            <a:spLocks noChangeAspect="1"/>
          </p:cNvSpPr>
          <p:nvPr/>
        </p:nvSpPr>
        <p:spPr>
          <a:xfrm>
            <a:off x="7894391" y="6495797"/>
            <a:ext cx="95251" cy="95251"/>
          </a:xfrm>
          <a:prstGeom prst="ellipse">
            <a:avLst/>
          </a:prstGeom>
          <a:solidFill>
            <a:schemeClr val="bg1"/>
          </a:solidFill>
          <a:ln w="12700">
            <a:solidFill>
              <a:srgbClr val="0BB6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Oval 261">
            <a:extLst>
              <a:ext uri="{FF2B5EF4-FFF2-40B4-BE49-F238E27FC236}">
                <a16:creationId xmlns:a16="http://schemas.microsoft.com/office/drawing/2014/main" id="{E49DE7F8-86AA-45D6-B83E-5EABA1118B08}"/>
              </a:ext>
            </a:extLst>
          </p:cNvPr>
          <p:cNvSpPr>
            <a:spLocks noChangeAspect="1"/>
          </p:cNvSpPr>
          <p:nvPr/>
        </p:nvSpPr>
        <p:spPr>
          <a:xfrm>
            <a:off x="8868479" y="6490208"/>
            <a:ext cx="94564" cy="94564"/>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Rectangle 221">
            <a:extLst>
              <a:ext uri="{FF2B5EF4-FFF2-40B4-BE49-F238E27FC236}">
                <a16:creationId xmlns:a16="http://schemas.microsoft.com/office/drawing/2014/main" id="{F1E114DC-6294-4878-BB39-8896D5FA7D7D}"/>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TextBox 255">
            <a:extLst>
              <a:ext uri="{FF2B5EF4-FFF2-40B4-BE49-F238E27FC236}">
                <a16:creationId xmlns:a16="http://schemas.microsoft.com/office/drawing/2014/main" id="{8F9169A6-9EF3-4E11-BCA0-BB476200B7FA}"/>
              </a:ext>
            </a:extLst>
          </p:cNvPr>
          <p:cNvSpPr txBox="1"/>
          <p:nvPr/>
        </p:nvSpPr>
        <p:spPr>
          <a:xfrm>
            <a:off x="85105" y="817880"/>
            <a:ext cx="3048466" cy="338554"/>
          </a:xfrm>
          <a:prstGeom prst="rect">
            <a:avLst/>
          </a:prstGeom>
          <a:noFill/>
        </p:spPr>
        <p:txBody>
          <a:bodyPr wrap="square" rtlCol="0">
            <a:spAutoFit/>
          </a:bodyPr>
          <a:lstStyle/>
          <a:p>
            <a:r>
              <a:rPr lang="en-GB" sz="1600" b="1" dirty="0"/>
              <a:t>Customer Perspective (Journey)</a:t>
            </a:r>
          </a:p>
        </p:txBody>
      </p:sp>
      <p:sp>
        <p:nvSpPr>
          <p:cNvPr id="263" name="Rectangle 262">
            <a:extLst>
              <a:ext uri="{FF2B5EF4-FFF2-40B4-BE49-F238E27FC236}">
                <a16:creationId xmlns:a16="http://schemas.microsoft.com/office/drawing/2014/main" id="{60961931-D0F6-4D02-A41F-CA8E6F0C7F88}"/>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Primary research and customer interviews show immense scope for improvement in customer services</a:t>
            </a:r>
          </a:p>
        </p:txBody>
      </p:sp>
      <p:grpSp>
        <p:nvGrpSpPr>
          <p:cNvPr id="269" name="Group 268">
            <a:extLst>
              <a:ext uri="{FF2B5EF4-FFF2-40B4-BE49-F238E27FC236}">
                <a16:creationId xmlns:a16="http://schemas.microsoft.com/office/drawing/2014/main" id="{668381E7-5F3A-4741-AF69-FF224A83504F}"/>
              </a:ext>
            </a:extLst>
          </p:cNvPr>
          <p:cNvGrpSpPr/>
          <p:nvPr/>
        </p:nvGrpSpPr>
        <p:grpSpPr>
          <a:xfrm>
            <a:off x="65515" y="52817"/>
            <a:ext cx="307865" cy="238659"/>
            <a:chOff x="12605240" y="-37073"/>
            <a:chExt cx="6681054" cy="5179185"/>
          </a:xfrm>
          <a:solidFill>
            <a:srgbClr val="00162F"/>
          </a:solidFill>
        </p:grpSpPr>
        <p:sp>
          <p:nvSpPr>
            <p:cNvPr id="274" name="Rectangle 273">
              <a:extLst>
                <a:ext uri="{FF2B5EF4-FFF2-40B4-BE49-F238E27FC236}">
                  <a16:creationId xmlns:a16="http://schemas.microsoft.com/office/drawing/2014/main" id="{A5B58F0C-BE6F-4ACC-B002-23A865F26338}"/>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5" name="Rectangle 274">
              <a:extLst>
                <a:ext uri="{FF2B5EF4-FFF2-40B4-BE49-F238E27FC236}">
                  <a16:creationId xmlns:a16="http://schemas.microsoft.com/office/drawing/2014/main" id="{C0743DE2-7111-4F29-BF2A-84D23D57B06B}"/>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6" name="Rectangle 275">
              <a:extLst>
                <a:ext uri="{FF2B5EF4-FFF2-40B4-BE49-F238E27FC236}">
                  <a16:creationId xmlns:a16="http://schemas.microsoft.com/office/drawing/2014/main" id="{6F47D75F-504A-4592-96A0-190CC0479113}"/>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7" name="Rectangle 276">
              <a:extLst>
                <a:ext uri="{FF2B5EF4-FFF2-40B4-BE49-F238E27FC236}">
                  <a16:creationId xmlns:a16="http://schemas.microsoft.com/office/drawing/2014/main" id="{B1DD397A-F063-47A8-A769-4155BB41638D}"/>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8" name="Rectangle 277">
              <a:extLst>
                <a:ext uri="{FF2B5EF4-FFF2-40B4-BE49-F238E27FC236}">
                  <a16:creationId xmlns:a16="http://schemas.microsoft.com/office/drawing/2014/main" id="{451BB493-F0FC-4E06-8889-CDC04E0E7DB6}"/>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79" name="Rectangle 278">
              <a:extLst>
                <a:ext uri="{FF2B5EF4-FFF2-40B4-BE49-F238E27FC236}">
                  <a16:creationId xmlns:a16="http://schemas.microsoft.com/office/drawing/2014/main" id="{75923D11-5B8E-45A0-B9EA-0130FCE09C3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0" name="Rectangle 279">
              <a:extLst>
                <a:ext uri="{FF2B5EF4-FFF2-40B4-BE49-F238E27FC236}">
                  <a16:creationId xmlns:a16="http://schemas.microsoft.com/office/drawing/2014/main" id="{E9DA3F44-E1A0-4EA2-B6C9-0B78D67CA9A0}"/>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1" name="Isosceles Triangle 280">
              <a:extLst>
                <a:ext uri="{FF2B5EF4-FFF2-40B4-BE49-F238E27FC236}">
                  <a16:creationId xmlns:a16="http://schemas.microsoft.com/office/drawing/2014/main" id="{7BF9A10C-BD3C-429F-A6D9-434332A131D6}"/>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294" name="TextBox 293">
            <a:extLst>
              <a:ext uri="{FF2B5EF4-FFF2-40B4-BE49-F238E27FC236}">
                <a16:creationId xmlns:a16="http://schemas.microsoft.com/office/drawing/2014/main" id="{93D18DC5-D852-4AEA-AE53-1CE27A799584}"/>
              </a:ext>
            </a:extLst>
          </p:cNvPr>
          <p:cNvSpPr txBox="1"/>
          <p:nvPr/>
        </p:nvSpPr>
        <p:spPr>
          <a:xfrm>
            <a:off x="2" y="6519445"/>
            <a:ext cx="5734192" cy="338554"/>
          </a:xfrm>
          <a:prstGeom prst="rect">
            <a:avLst/>
          </a:prstGeom>
          <a:noFill/>
        </p:spPr>
        <p:txBody>
          <a:bodyPr wrap="square" rtlCol="0">
            <a:spAutoFit/>
          </a:bodyPr>
          <a:lstStyle/>
          <a:p>
            <a:r>
              <a:rPr lang="en-GB" sz="800" i="1" dirty="0"/>
              <a:t> Notes: Customer journeys documented based primary data (unstructured conversation interviews with 17 participants)</a:t>
            </a:r>
            <a:br>
              <a:rPr lang="en-GB" sz="800" i="1" dirty="0"/>
            </a:br>
            <a:r>
              <a:rPr lang="en-GB" sz="800" i="1" dirty="0"/>
              <a:t>Sources: </a:t>
            </a:r>
            <a:r>
              <a:rPr lang="en-GB" sz="800" i="1" dirty="0" err="1"/>
              <a:t>CarDash</a:t>
            </a:r>
            <a:r>
              <a:rPr lang="en-GB" sz="800" i="1" dirty="0"/>
              <a:t>, </a:t>
            </a:r>
            <a:r>
              <a:rPr lang="en-GB" sz="800" i="1" dirty="0" err="1"/>
              <a:t>Caroobi</a:t>
            </a:r>
            <a:r>
              <a:rPr lang="en-GB" sz="800" i="1" dirty="0"/>
              <a:t>, </a:t>
            </a:r>
            <a:r>
              <a:rPr lang="en-GB" sz="800" i="1" dirty="0" err="1"/>
              <a:t>GoMechanic</a:t>
            </a:r>
            <a:r>
              <a:rPr lang="en-GB" sz="800" i="1" dirty="0"/>
              <a:t>, Pitstop, Wrench, </a:t>
            </a:r>
            <a:r>
              <a:rPr lang="en-GB" sz="800" i="1" dirty="0" err="1"/>
              <a:t>YourMechanic</a:t>
            </a:r>
            <a:r>
              <a:rPr lang="en-GB" sz="800" i="1" dirty="0"/>
              <a:t>, Primary data, Internal analysis</a:t>
            </a:r>
          </a:p>
        </p:txBody>
      </p:sp>
      <p:sp>
        <p:nvSpPr>
          <p:cNvPr id="295" name="TextBox 294">
            <a:extLst>
              <a:ext uri="{FF2B5EF4-FFF2-40B4-BE49-F238E27FC236}">
                <a16:creationId xmlns:a16="http://schemas.microsoft.com/office/drawing/2014/main" id="{2A96B037-7E2F-48CF-A256-A05F13825A91}"/>
              </a:ext>
            </a:extLst>
          </p:cNvPr>
          <p:cNvSpPr txBox="1"/>
          <p:nvPr/>
        </p:nvSpPr>
        <p:spPr>
          <a:xfrm>
            <a:off x="11824981" y="6573307"/>
            <a:ext cx="242374" cy="230832"/>
          </a:xfrm>
          <a:prstGeom prst="rect">
            <a:avLst/>
          </a:prstGeom>
          <a:noFill/>
        </p:spPr>
        <p:txBody>
          <a:bodyPr wrap="none" rtlCol="0">
            <a:spAutoFit/>
          </a:bodyPr>
          <a:lstStyle/>
          <a:p>
            <a:r>
              <a:rPr lang="en-GB" sz="900" dirty="0"/>
              <a:t>8</a:t>
            </a:r>
            <a:endParaRPr lang="en-GB" dirty="0"/>
          </a:p>
        </p:txBody>
      </p:sp>
      <p:sp>
        <p:nvSpPr>
          <p:cNvPr id="296" name="Rectangle 295">
            <a:extLst>
              <a:ext uri="{FF2B5EF4-FFF2-40B4-BE49-F238E27FC236}">
                <a16:creationId xmlns:a16="http://schemas.microsoft.com/office/drawing/2014/main" id="{11984753-71EB-427B-86F2-1C976D18EAB1}"/>
              </a:ext>
            </a:extLst>
          </p:cNvPr>
          <p:cNvSpPr/>
          <p:nvPr/>
        </p:nvSpPr>
        <p:spPr>
          <a:xfrm>
            <a:off x="1637953" y="3431263"/>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Searching for relevant online/ offline solution and slotting time in the schedule</a:t>
            </a:r>
          </a:p>
          <a:p>
            <a:pPr marL="115888" indent="-115888">
              <a:buFont typeface="Arial" panose="020B0604020202020204" pitchFamily="34" charset="0"/>
              <a:buChar char="•"/>
            </a:pPr>
            <a:r>
              <a:rPr lang="en-GB" sz="1100" dirty="0">
                <a:solidFill>
                  <a:schemeClr val="tx1"/>
                </a:solidFill>
              </a:rPr>
              <a:t>Taking vehicle to garages for servicing and other services</a:t>
            </a:r>
          </a:p>
          <a:p>
            <a:pPr marL="115888" indent="-115888">
              <a:buFont typeface="Arial" panose="020B0604020202020204" pitchFamily="34" charset="0"/>
              <a:buChar char="•"/>
            </a:pPr>
            <a:r>
              <a:rPr lang="en-GB" sz="1100" dirty="0">
                <a:solidFill>
                  <a:schemeClr val="tx1"/>
                </a:solidFill>
              </a:rPr>
              <a:t>Monitoring and consistently inspecting the work of the mechanic </a:t>
            </a:r>
          </a:p>
        </p:txBody>
      </p:sp>
      <p:sp>
        <p:nvSpPr>
          <p:cNvPr id="297" name="Rectangle 296">
            <a:extLst>
              <a:ext uri="{FF2B5EF4-FFF2-40B4-BE49-F238E27FC236}">
                <a16:creationId xmlns:a16="http://schemas.microsoft.com/office/drawing/2014/main" id="{72FA1450-641A-40D4-B6DF-CA80F7676FC9}"/>
              </a:ext>
            </a:extLst>
          </p:cNvPr>
          <p:cNvSpPr/>
          <p:nvPr/>
        </p:nvSpPr>
        <p:spPr>
          <a:xfrm>
            <a:off x="1637953" y="4985309"/>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Dealing with insurance and payment terms</a:t>
            </a:r>
          </a:p>
          <a:p>
            <a:pPr marL="115888" indent="-115888">
              <a:buFont typeface="Arial" panose="020B0604020202020204" pitchFamily="34" charset="0"/>
              <a:buChar char="•"/>
            </a:pPr>
            <a:r>
              <a:rPr lang="en-GB" sz="1100" dirty="0">
                <a:solidFill>
                  <a:schemeClr val="tx1"/>
                </a:solidFill>
              </a:rPr>
              <a:t>Negotiating of prices quoted by mechanic post completion of work</a:t>
            </a:r>
          </a:p>
          <a:p>
            <a:pPr marL="115888" indent="-115888">
              <a:buFont typeface="Arial" panose="020B0604020202020204" pitchFamily="34" charset="0"/>
              <a:buChar char="•"/>
            </a:pPr>
            <a:r>
              <a:rPr lang="en-GB" sz="1100" dirty="0">
                <a:solidFill>
                  <a:schemeClr val="tx1"/>
                </a:solidFill>
              </a:rPr>
              <a:t>Paying negotiated amount on a to the mechanic or dealer and driving back</a:t>
            </a:r>
          </a:p>
        </p:txBody>
      </p:sp>
      <p:sp>
        <p:nvSpPr>
          <p:cNvPr id="298" name="Rectangle 297">
            <a:extLst>
              <a:ext uri="{FF2B5EF4-FFF2-40B4-BE49-F238E27FC236}">
                <a16:creationId xmlns:a16="http://schemas.microsoft.com/office/drawing/2014/main" id="{3C7BBFBA-95BC-4E6F-9DE2-02422136C832}"/>
              </a:ext>
            </a:extLst>
          </p:cNvPr>
          <p:cNvSpPr/>
          <p:nvPr/>
        </p:nvSpPr>
        <p:spPr>
          <a:xfrm>
            <a:off x="3712456" y="1821905"/>
            <a:ext cx="1973580" cy="1493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Urgency or relative need of car services in a pandemic</a:t>
            </a:r>
          </a:p>
          <a:p>
            <a:pPr marL="115888" indent="-115888">
              <a:buFont typeface="Arial" panose="020B0604020202020204" pitchFamily="34" charset="0"/>
              <a:buChar char="•"/>
            </a:pPr>
            <a:r>
              <a:rPr lang="en-GB" sz="1100" dirty="0">
                <a:solidFill>
                  <a:schemeClr val="tx1"/>
                </a:solidFill>
              </a:rPr>
              <a:t>Monetary and non-monetary considerations</a:t>
            </a:r>
          </a:p>
          <a:p>
            <a:pPr marL="115888" indent="-115888">
              <a:buFont typeface="Arial" panose="020B0604020202020204" pitchFamily="34" charset="0"/>
              <a:buChar char="•"/>
            </a:pPr>
            <a:r>
              <a:rPr lang="en-GB" sz="1100" dirty="0">
                <a:solidFill>
                  <a:schemeClr val="tx1"/>
                </a:solidFill>
              </a:rPr>
              <a:t>Risk of damage to car and the threat of low quality parts during service</a:t>
            </a:r>
          </a:p>
        </p:txBody>
      </p:sp>
      <p:sp>
        <p:nvSpPr>
          <p:cNvPr id="299" name="Rectangle 298">
            <a:extLst>
              <a:ext uri="{FF2B5EF4-FFF2-40B4-BE49-F238E27FC236}">
                <a16:creationId xmlns:a16="http://schemas.microsoft.com/office/drawing/2014/main" id="{77B3DD45-A927-4DB5-AEAB-E12FC0997809}"/>
              </a:ext>
            </a:extLst>
          </p:cNvPr>
          <p:cNvSpPr/>
          <p:nvPr/>
        </p:nvSpPr>
        <p:spPr>
          <a:xfrm>
            <a:off x="3712456" y="3431263"/>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Convenience of finding things online vs through referrals</a:t>
            </a:r>
          </a:p>
          <a:p>
            <a:pPr marL="115888" indent="-115888">
              <a:buFont typeface="Arial" panose="020B0604020202020204" pitchFamily="34" charset="0"/>
              <a:buChar char="•"/>
            </a:pPr>
            <a:r>
              <a:rPr lang="en-GB" sz="1100" dirty="0">
                <a:solidFill>
                  <a:schemeClr val="tx1"/>
                </a:solidFill>
              </a:rPr>
              <a:t>Garage timings often overlap with timings of work</a:t>
            </a:r>
          </a:p>
          <a:p>
            <a:pPr marL="115888" indent="-115888">
              <a:buFont typeface="Arial" panose="020B0604020202020204" pitchFamily="34" charset="0"/>
              <a:buChar char="•"/>
            </a:pPr>
            <a:r>
              <a:rPr lang="en-GB" sz="1100" dirty="0">
                <a:solidFill>
                  <a:schemeClr val="tx1"/>
                </a:solidFill>
              </a:rPr>
              <a:t>Minimal presence of branded/ famous garages</a:t>
            </a:r>
          </a:p>
        </p:txBody>
      </p:sp>
      <p:sp>
        <p:nvSpPr>
          <p:cNvPr id="300" name="Rectangle 299">
            <a:extLst>
              <a:ext uri="{FF2B5EF4-FFF2-40B4-BE49-F238E27FC236}">
                <a16:creationId xmlns:a16="http://schemas.microsoft.com/office/drawing/2014/main" id="{CF780CEF-D35B-49AC-8482-EE944A615E65}"/>
              </a:ext>
            </a:extLst>
          </p:cNvPr>
          <p:cNvSpPr/>
          <p:nvPr/>
        </p:nvSpPr>
        <p:spPr>
          <a:xfrm>
            <a:off x="3712456" y="4985309"/>
            <a:ext cx="1973580" cy="1447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GB" sz="1100" dirty="0">
                <a:solidFill>
                  <a:schemeClr val="tx1"/>
                </a:solidFill>
              </a:rPr>
              <a:t>Documentation is time consuming and needs physical presence</a:t>
            </a:r>
          </a:p>
          <a:p>
            <a:pPr marL="115888" indent="-115888">
              <a:buFont typeface="Arial" panose="020B0604020202020204" pitchFamily="34" charset="0"/>
              <a:buChar char="•"/>
            </a:pPr>
            <a:r>
              <a:rPr lang="en-GB" sz="1100" dirty="0">
                <a:solidFill>
                  <a:schemeClr val="tx1"/>
                </a:solidFill>
              </a:rPr>
              <a:t>Negotiations go in iterations over individual items</a:t>
            </a:r>
          </a:p>
          <a:p>
            <a:pPr marL="115888" indent="-115888">
              <a:buFont typeface="Arial" panose="020B0604020202020204" pitchFamily="34" charset="0"/>
              <a:buChar char="•"/>
            </a:pPr>
            <a:r>
              <a:rPr lang="en-GB" sz="1100" dirty="0">
                <a:solidFill>
                  <a:schemeClr val="tx1"/>
                </a:solidFill>
              </a:rPr>
              <a:t>Travelling with vs without cash </a:t>
            </a:r>
          </a:p>
        </p:txBody>
      </p:sp>
      <p:sp>
        <p:nvSpPr>
          <p:cNvPr id="2" name="Rectangle: Top Corners Rounded 1">
            <a:extLst>
              <a:ext uri="{FF2B5EF4-FFF2-40B4-BE49-F238E27FC236}">
                <a16:creationId xmlns:a16="http://schemas.microsoft.com/office/drawing/2014/main" id="{712B0982-13CB-4C41-8ACA-47C4263D85D3}"/>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3" name="Rectangle: Top Corners Rounded 2">
            <a:extLst>
              <a:ext uri="{FF2B5EF4-FFF2-40B4-BE49-F238E27FC236}">
                <a16:creationId xmlns:a16="http://schemas.microsoft.com/office/drawing/2014/main" id="{F28417C3-4AD1-47F3-80EC-32CFFB551C45}"/>
              </a:ext>
            </a:extLst>
          </p:cNvPr>
          <p:cNvSpPr/>
          <p:nvPr/>
        </p:nvSpPr>
        <p:spPr>
          <a:xfrm rot="5400000">
            <a:off x="3783504" y="-495289"/>
            <a:ext cx="180301"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4" name="Rectangle: Top Corners Rounded 3">
            <a:extLst>
              <a:ext uri="{FF2B5EF4-FFF2-40B4-BE49-F238E27FC236}">
                <a16:creationId xmlns:a16="http://schemas.microsoft.com/office/drawing/2014/main" id="{65C08745-3571-4D23-858B-E8EA8409B1E5}"/>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5" name="Rectangle: Top Corners Rounded 4">
            <a:extLst>
              <a:ext uri="{FF2B5EF4-FFF2-40B4-BE49-F238E27FC236}">
                <a16:creationId xmlns:a16="http://schemas.microsoft.com/office/drawing/2014/main" id="{F33C58CF-529D-4B63-AB4F-8D5F98DAFC35}"/>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6" name="Arrow: Chevron 5">
            <a:extLst>
              <a:ext uri="{FF2B5EF4-FFF2-40B4-BE49-F238E27FC236}">
                <a16:creationId xmlns:a16="http://schemas.microsoft.com/office/drawing/2014/main" id="{09CDA6D6-F791-458D-A78B-72412907CB5F}"/>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43B55776-091A-45A4-8479-CAFF919059A0}"/>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Arrow: Chevron 9">
            <a:extLst>
              <a:ext uri="{FF2B5EF4-FFF2-40B4-BE49-F238E27FC236}">
                <a16:creationId xmlns:a16="http://schemas.microsoft.com/office/drawing/2014/main" id="{17975AB0-2767-412D-8AAA-7058DEDA7BC4}"/>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Rectangle: Top Corners Rounded 10">
            <a:extLst>
              <a:ext uri="{FF2B5EF4-FFF2-40B4-BE49-F238E27FC236}">
                <a16:creationId xmlns:a16="http://schemas.microsoft.com/office/drawing/2014/main" id="{EA984AF8-6802-48C1-969C-B78058D34597}"/>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2" name="Arrow: Chevron 11">
            <a:extLst>
              <a:ext uri="{FF2B5EF4-FFF2-40B4-BE49-F238E27FC236}">
                <a16:creationId xmlns:a16="http://schemas.microsoft.com/office/drawing/2014/main" id="{B34BB400-4CBC-4F6D-B607-DC8B4A51E630}"/>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Arrow: Chevron 12">
            <a:extLst>
              <a:ext uri="{FF2B5EF4-FFF2-40B4-BE49-F238E27FC236}">
                <a16:creationId xmlns:a16="http://schemas.microsoft.com/office/drawing/2014/main" id="{4DAD801E-A904-4BDA-B9FB-EED66E06E8FA}"/>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76" name="Oval 175">
            <a:extLst>
              <a:ext uri="{FF2B5EF4-FFF2-40B4-BE49-F238E27FC236}">
                <a16:creationId xmlns:a16="http://schemas.microsoft.com/office/drawing/2014/main" id="{60979CB8-1A1D-41CD-BB96-A8BABDF686E8}"/>
              </a:ext>
            </a:extLst>
          </p:cNvPr>
          <p:cNvSpPr>
            <a:spLocks noChangeAspect="1"/>
          </p:cNvSpPr>
          <p:nvPr/>
        </p:nvSpPr>
        <p:spPr>
          <a:xfrm>
            <a:off x="5838195" y="2019393"/>
            <a:ext cx="95251" cy="95251"/>
          </a:xfrm>
          <a:prstGeom prst="ellipse">
            <a:avLst/>
          </a:prstGeom>
          <a:solidFill>
            <a:schemeClr val="bg1"/>
          </a:solidFill>
          <a:ln w="19050">
            <a:solidFill>
              <a:srgbClr val="31D2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Oval 176">
            <a:extLst>
              <a:ext uri="{FF2B5EF4-FFF2-40B4-BE49-F238E27FC236}">
                <a16:creationId xmlns:a16="http://schemas.microsoft.com/office/drawing/2014/main" id="{37975245-398F-4736-BAE0-EBA29350679C}"/>
              </a:ext>
            </a:extLst>
          </p:cNvPr>
          <p:cNvSpPr>
            <a:spLocks noChangeAspect="1"/>
          </p:cNvSpPr>
          <p:nvPr/>
        </p:nvSpPr>
        <p:spPr>
          <a:xfrm>
            <a:off x="5838195" y="3621037"/>
            <a:ext cx="95251" cy="95251"/>
          </a:xfrm>
          <a:prstGeom prst="ellipse">
            <a:avLst/>
          </a:prstGeom>
          <a:solidFill>
            <a:schemeClr val="bg1"/>
          </a:solidFill>
          <a:ln w="19050">
            <a:solidFill>
              <a:srgbClr val="31D2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Oval 177">
            <a:extLst>
              <a:ext uri="{FF2B5EF4-FFF2-40B4-BE49-F238E27FC236}">
                <a16:creationId xmlns:a16="http://schemas.microsoft.com/office/drawing/2014/main" id="{3B5C2330-BF7D-4313-872A-FDB73E49FADA}"/>
              </a:ext>
            </a:extLst>
          </p:cNvPr>
          <p:cNvSpPr>
            <a:spLocks noChangeAspect="1"/>
          </p:cNvSpPr>
          <p:nvPr/>
        </p:nvSpPr>
        <p:spPr>
          <a:xfrm>
            <a:off x="5838195" y="4453186"/>
            <a:ext cx="95251" cy="95251"/>
          </a:xfrm>
          <a:prstGeom prst="ellipse">
            <a:avLst/>
          </a:prstGeom>
          <a:solidFill>
            <a:schemeClr val="bg1"/>
          </a:solidFill>
          <a:ln w="19050">
            <a:solidFill>
              <a:srgbClr val="31D2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Oval 178">
            <a:extLst>
              <a:ext uri="{FF2B5EF4-FFF2-40B4-BE49-F238E27FC236}">
                <a16:creationId xmlns:a16="http://schemas.microsoft.com/office/drawing/2014/main" id="{E07FCA95-8E30-4663-8291-F5CF12F2E05B}"/>
              </a:ext>
            </a:extLst>
          </p:cNvPr>
          <p:cNvSpPr>
            <a:spLocks noChangeAspect="1"/>
          </p:cNvSpPr>
          <p:nvPr/>
        </p:nvSpPr>
        <p:spPr>
          <a:xfrm>
            <a:off x="5845815" y="6005830"/>
            <a:ext cx="95251" cy="95251"/>
          </a:xfrm>
          <a:prstGeom prst="ellipse">
            <a:avLst/>
          </a:prstGeom>
          <a:solidFill>
            <a:schemeClr val="bg1"/>
          </a:solidFill>
          <a:ln w="19050">
            <a:solidFill>
              <a:srgbClr val="31D2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Oval 180">
            <a:extLst>
              <a:ext uri="{FF2B5EF4-FFF2-40B4-BE49-F238E27FC236}">
                <a16:creationId xmlns:a16="http://schemas.microsoft.com/office/drawing/2014/main" id="{E8F06813-EF27-4C19-A7EF-F7D6B79090EA}"/>
              </a:ext>
            </a:extLst>
          </p:cNvPr>
          <p:cNvSpPr>
            <a:spLocks noChangeAspect="1"/>
          </p:cNvSpPr>
          <p:nvPr/>
        </p:nvSpPr>
        <p:spPr>
          <a:xfrm>
            <a:off x="5845815" y="5503943"/>
            <a:ext cx="95251" cy="95251"/>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Oval 182">
            <a:extLst>
              <a:ext uri="{FF2B5EF4-FFF2-40B4-BE49-F238E27FC236}">
                <a16:creationId xmlns:a16="http://schemas.microsoft.com/office/drawing/2014/main" id="{D721BFF7-13B0-46DC-8F20-85FDD4468C83}"/>
              </a:ext>
            </a:extLst>
          </p:cNvPr>
          <p:cNvSpPr>
            <a:spLocks noChangeAspect="1"/>
          </p:cNvSpPr>
          <p:nvPr/>
        </p:nvSpPr>
        <p:spPr>
          <a:xfrm>
            <a:off x="5845815" y="5120166"/>
            <a:ext cx="95251" cy="95251"/>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Oval 183">
            <a:extLst>
              <a:ext uri="{FF2B5EF4-FFF2-40B4-BE49-F238E27FC236}">
                <a16:creationId xmlns:a16="http://schemas.microsoft.com/office/drawing/2014/main" id="{525D8A57-CEBC-4B84-ADF1-5A4F1102F7BC}"/>
              </a:ext>
            </a:extLst>
          </p:cNvPr>
          <p:cNvSpPr>
            <a:spLocks noChangeAspect="1"/>
          </p:cNvSpPr>
          <p:nvPr/>
        </p:nvSpPr>
        <p:spPr>
          <a:xfrm>
            <a:off x="5838195" y="3947264"/>
            <a:ext cx="95251" cy="95251"/>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Oval 184">
            <a:extLst>
              <a:ext uri="{FF2B5EF4-FFF2-40B4-BE49-F238E27FC236}">
                <a16:creationId xmlns:a16="http://schemas.microsoft.com/office/drawing/2014/main" id="{98DD5D52-1E53-4BAD-A7DE-FCD70ECAC809}"/>
              </a:ext>
            </a:extLst>
          </p:cNvPr>
          <p:cNvSpPr>
            <a:spLocks noChangeAspect="1"/>
          </p:cNvSpPr>
          <p:nvPr/>
        </p:nvSpPr>
        <p:spPr>
          <a:xfrm>
            <a:off x="5838195" y="2525315"/>
            <a:ext cx="95251" cy="95251"/>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Oval 185">
            <a:extLst>
              <a:ext uri="{FF2B5EF4-FFF2-40B4-BE49-F238E27FC236}">
                <a16:creationId xmlns:a16="http://schemas.microsoft.com/office/drawing/2014/main" id="{61FAF56D-384F-427B-996B-1FDA0929212E}"/>
              </a:ext>
            </a:extLst>
          </p:cNvPr>
          <p:cNvSpPr>
            <a:spLocks noChangeAspect="1"/>
          </p:cNvSpPr>
          <p:nvPr/>
        </p:nvSpPr>
        <p:spPr>
          <a:xfrm>
            <a:off x="7908155" y="4453185"/>
            <a:ext cx="95251" cy="95251"/>
          </a:xfrm>
          <a:prstGeom prst="ellipse">
            <a:avLst/>
          </a:prstGeom>
          <a:solidFill>
            <a:schemeClr val="bg1"/>
          </a:solidFill>
          <a:ln w="12700">
            <a:solidFill>
              <a:srgbClr val="0BB6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Oval 186">
            <a:extLst>
              <a:ext uri="{FF2B5EF4-FFF2-40B4-BE49-F238E27FC236}">
                <a16:creationId xmlns:a16="http://schemas.microsoft.com/office/drawing/2014/main" id="{B07A9E01-56CC-41D1-8D8C-776147604A73}"/>
              </a:ext>
            </a:extLst>
          </p:cNvPr>
          <p:cNvSpPr>
            <a:spLocks noChangeAspect="1"/>
          </p:cNvSpPr>
          <p:nvPr/>
        </p:nvSpPr>
        <p:spPr>
          <a:xfrm>
            <a:off x="7908155" y="5157793"/>
            <a:ext cx="95251" cy="95251"/>
          </a:xfrm>
          <a:prstGeom prst="ellipse">
            <a:avLst/>
          </a:prstGeom>
          <a:solidFill>
            <a:schemeClr val="bg1"/>
          </a:solidFill>
          <a:ln w="12700">
            <a:solidFill>
              <a:srgbClr val="0BB6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Oval 187">
            <a:extLst>
              <a:ext uri="{FF2B5EF4-FFF2-40B4-BE49-F238E27FC236}">
                <a16:creationId xmlns:a16="http://schemas.microsoft.com/office/drawing/2014/main" id="{4BF0EE7D-638D-48F0-B919-DEF841852F05}"/>
              </a:ext>
            </a:extLst>
          </p:cNvPr>
          <p:cNvSpPr>
            <a:spLocks noChangeAspect="1"/>
          </p:cNvSpPr>
          <p:nvPr/>
        </p:nvSpPr>
        <p:spPr>
          <a:xfrm>
            <a:off x="7908155" y="5856686"/>
            <a:ext cx="95251" cy="95251"/>
          </a:xfrm>
          <a:prstGeom prst="ellipse">
            <a:avLst/>
          </a:prstGeom>
          <a:solidFill>
            <a:schemeClr val="bg1"/>
          </a:solidFill>
          <a:ln w="12700">
            <a:solidFill>
              <a:srgbClr val="0BB6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Oval 188">
            <a:extLst>
              <a:ext uri="{FF2B5EF4-FFF2-40B4-BE49-F238E27FC236}">
                <a16:creationId xmlns:a16="http://schemas.microsoft.com/office/drawing/2014/main" id="{58A1D741-0006-49E4-A911-76F4024B45B4}"/>
              </a:ext>
            </a:extLst>
          </p:cNvPr>
          <p:cNvSpPr>
            <a:spLocks noChangeAspect="1"/>
          </p:cNvSpPr>
          <p:nvPr/>
        </p:nvSpPr>
        <p:spPr>
          <a:xfrm>
            <a:off x="7908155" y="4097660"/>
            <a:ext cx="95251" cy="95251"/>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Oval 189">
            <a:extLst>
              <a:ext uri="{FF2B5EF4-FFF2-40B4-BE49-F238E27FC236}">
                <a16:creationId xmlns:a16="http://schemas.microsoft.com/office/drawing/2014/main" id="{248D8B9C-67CD-44EE-963D-99444A7E8E57}"/>
              </a:ext>
            </a:extLst>
          </p:cNvPr>
          <p:cNvSpPr>
            <a:spLocks noChangeAspect="1"/>
          </p:cNvSpPr>
          <p:nvPr/>
        </p:nvSpPr>
        <p:spPr>
          <a:xfrm>
            <a:off x="7908155" y="3600342"/>
            <a:ext cx="95251" cy="95251"/>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Oval 190">
            <a:extLst>
              <a:ext uri="{FF2B5EF4-FFF2-40B4-BE49-F238E27FC236}">
                <a16:creationId xmlns:a16="http://schemas.microsoft.com/office/drawing/2014/main" id="{CD2440E9-0A1D-4280-B7C3-BEEE99771DCC}"/>
              </a:ext>
            </a:extLst>
          </p:cNvPr>
          <p:cNvSpPr>
            <a:spLocks noChangeAspect="1"/>
          </p:cNvSpPr>
          <p:nvPr/>
        </p:nvSpPr>
        <p:spPr>
          <a:xfrm>
            <a:off x="7908155" y="2860719"/>
            <a:ext cx="95251" cy="95251"/>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Oval 191">
            <a:extLst>
              <a:ext uri="{FF2B5EF4-FFF2-40B4-BE49-F238E27FC236}">
                <a16:creationId xmlns:a16="http://schemas.microsoft.com/office/drawing/2014/main" id="{68CC09B1-E412-476A-86DC-0FD10F95C32B}"/>
              </a:ext>
            </a:extLst>
          </p:cNvPr>
          <p:cNvSpPr>
            <a:spLocks noChangeAspect="1"/>
          </p:cNvSpPr>
          <p:nvPr/>
        </p:nvSpPr>
        <p:spPr>
          <a:xfrm>
            <a:off x="7908155" y="2500473"/>
            <a:ext cx="95251" cy="95251"/>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Oval 192">
            <a:extLst>
              <a:ext uri="{FF2B5EF4-FFF2-40B4-BE49-F238E27FC236}">
                <a16:creationId xmlns:a16="http://schemas.microsoft.com/office/drawing/2014/main" id="{2C34B669-28C0-4151-9DE5-F6611B623F62}"/>
              </a:ext>
            </a:extLst>
          </p:cNvPr>
          <p:cNvSpPr>
            <a:spLocks noChangeAspect="1"/>
          </p:cNvSpPr>
          <p:nvPr/>
        </p:nvSpPr>
        <p:spPr>
          <a:xfrm>
            <a:off x="7908155" y="2008863"/>
            <a:ext cx="95251" cy="95251"/>
          </a:xfrm>
          <a:prstGeom prst="ellipse">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Oval 194">
            <a:extLst>
              <a:ext uri="{FF2B5EF4-FFF2-40B4-BE49-F238E27FC236}">
                <a16:creationId xmlns:a16="http://schemas.microsoft.com/office/drawing/2014/main" id="{2AA69FFC-BD6A-4E83-A4A8-B456DBA45F1A}"/>
              </a:ext>
            </a:extLst>
          </p:cNvPr>
          <p:cNvSpPr>
            <a:spLocks noChangeAspect="1"/>
          </p:cNvSpPr>
          <p:nvPr/>
        </p:nvSpPr>
        <p:spPr>
          <a:xfrm>
            <a:off x="9974140" y="1938336"/>
            <a:ext cx="91440" cy="91440"/>
          </a:xfrm>
          <a:prstGeom prst="ellipse">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Oval 195">
            <a:extLst>
              <a:ext uri="{FF2B5EF4-FFF2-40B4-BE49-F238E27FC236}">
                <a16:creationId xmlns:a16="http://schemas.microsoft.com/office/drawing/2014/main" id="{7D5C69FB-37FC-46DF-A954-87AC8BF6DB02}"/>
              </a:ext>
            </a:extLst>
          </p:cNvPr>
          <p:cNvSpPr>
            <a:spLocks noChangeAspect="1"/>
          </p:cNvSpPr>
          <p:nvPr/>
        </p:nvSpPr>
        <p:spPr>
          <a:xfrm>
            <a:off x="9974140" y="2258476"/>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Oval 196">
            <a:extLst>
              <a:ext uri="{FF2B5EF4-FFF2-40B4-BE49-F238E27FC236}">
                <a16:creationId xmlns:a16="http://schemas.microsoft.com/office/drawing/2014/main" id="{D20116D7-0FD5-428B-8260-479CC5F8BEE8}"/>
              </a:ext>
            </a:extLst>
          </p:cNvPr>
          <p:cNvSpPr>
            <a:spLocks noChangeAspect="1"/>
          </p:cNvSpPr>
          <p:nvPr/>
        </p:nvSpPr>
        <p:spPr>
          <a:xfrm>
            <a:off x="9974140" y="2596915"/>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Oval 197">
            <a:extLst>
              <a:ext uri="{FF2B5EF4-FFF2-40B4-BE49-F238E27FC236}">
                <a16:creationId xmlns:a16="http://schemas.microsoft.com/office/drawing/2014/main" id="{D23048E6-C596-4CC9-9BF1-587E65B4C67D}"/>
              </a:ext>
            </a:extLst>
          </p:cNvPr>
          <p:cNvSpPr>
            <a:spLocks noChangeAspect="1"/>
          </p:cNvSpPr>
          <p:nvPr/>
        </p:nvSpPr>
        <p:spPr>
          <a:xfrm>
            <a:off x="9974140" y="2935354"/>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Oval 198">
            <a:extLst>
              <a:ext uri="{FF2B5EF4-FFF2-40B4-BE49-F238E27FC236}">
                <a16:creationId xmlns:a16="http://schemas.microsoft.com/office/drawing/2014/main" id="{3FCED91C-DD22-41E8-8534-0A88C9481DDA}"/>
              </a:ext>
            </a:extLst>
          </p:cNvPr>
          <p:cNvSpPr>
            <a:spLocks noChangeAspect="1"/>
          </p:cNvSpPr>
          <p:nvPr/>
        </p:nvSpPr>
        <p:spPr>
          <a:xfrm>
            <a:off x="9974140" y="3600342"/>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Oval 199">
            <a:extLst>
              <a:ext uri="{FF2B5EF4-FFF2-40B4-BE49-F238E27FC236}">
                <a16:creationId xmlns:a16="http://schemas.microsoft.com/office/drawing/2014/main" id="{ED6699CA-084B-4655-883B-2A94F9A98884}"/>
              </a:ext>
            </a:extLst>
          </p:cNvPr>
          <p:cNvSpPr>
            <a:spLocks noChangeAspect="1"/>
          </p:cNvSpPr>
          <p:nvPr/>
        </p:nvSpPr>
        <p:spPr>
          <a:xfrm>
            <a:off x="9974140" y="3937537"/>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Oval 200">
            <a:extLst>
              <a:ext uri="{FF2B5EF4-FFF2-40B4-BE49-F238E27FC236}">
                <a16:creationId xmlns:a16="http://schemas.microsoft.com/office/drawing/2014/main" id="{20878F2C-E109-49EE-9E81-2A7867FCDEB5}"/>
              </a:ext>
            </a:extLst>
          </p:cNvPr>
          <p:cNvSpPr>
            <a:spLocks noChangeAspect="1"/>
          </p:cNvSpPr>
          <p:nvPr/>
        </p:nvSpPr>
        <p:spPr>
          <a:xfrm>
            <a:off x="9974140" y="4127851"/>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Oval 201">
            <a:extLst>
              <a:ext uri="{FF2B5EF4-FFF2-40B4-BE49-F238E27FC236}">
                <a16:creationId xmlns:a16="http://schemas.microsoft.com/office/drawing/2014/main" id="{95A40238-9FEE-429B-B19A-7231183A0E7A}"/>
              </a:ext>
            </a:extLst>
          </p:cNvPr>
          <p:cNvSpPr>
            <a:spLocks noChangeAspect="1"/>
          </p:cNvSpPr>
          <p:nvPr/>
        </p:nvSpPr>
        <p:spPr>
          <a:xfrm>
            <a:off x="9974140" y="4443811"/>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a:extLst>
              <a:ext uri="{FF2B5EF4-FFF2-40B4-BE49-F238E27FC236}">
                <a16:creationId xmlns:a16="http://schemas.microsoft.com/office/drawing/2014/main" id="{03CA6191-681D-4D4F-8D66-D736468752F2}"/>
              </a:ext>
            </a:extLst>
          </p:cNvPr>
          <p:cNvSpPr>
            <a:spLocks noChangeAspect="1"/>
          </p:cNvSpPr>
          <p:nvPr/>
        </p:nvSpPr>
        <p:spPr>
          <a:xfrm>
            <a:off x="9974140" y="5155817"/>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a:extLst>
              <a:ext uri="{FF2B5EF4-FFF2-40B4-BE49-F238E27FC236}">
                <a16:creationId xmlns:a16="http://schemas.microsoft.com/office/drawing/2014/main" id="{EB3A9249-438D-48E0-B95D-D66C6D675702}"/>
              </a:ext>
            </a:extLst>
          </p:cNvPr>
          <p:cNvSpPr>
            <a:spLocks noChangeAspect="1"/>
          </p:cNvSpPr>
          <p:nvPr/>
        </p:nvSpPr>
        <p:spPr>
          <a:xfrm>
            <a:off x="9974140" y="5494269"/>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Oval 206">
            <a:extLst>
              <a:ext uri="{FF2B5EF4-FFF2-40B4-BE49-F238E27FC236}">
                <a16:creationId xmlns:a16="http://schemas.microsoft.com/office/drawing/2014/main" id="{3D077B64-013B-46C0-B966-96C7EC3AC7C0}"/>
              </a:ext>
            </a:extLst>
          </p:cNvPr>
          <p:cNvSpPr>
            <a:spLocks noChangeAspect="1"/>
          </p:cNvSpPr>
          <p:nvPr/>
        </p:nvSpPr>
        <p:spPr>
          <a:xfrm>
            <a:off x="9978448" y="5975847"/>
            <a:ext cx="91440" cy="91440"/>
          </a:xfrm>
          <a:prstGeom prst="ellipse">
            <a:avLst/>
          </a:prstGeom>
          <a:solidFill>
            <a:schemeClr val="bg1"/>
          </a:solidFill>
          <a:ln w="12700">
            <a:solidFill>
              <a:srgbClr val="FBB7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25" descr="{&quot;Key&quot;:&quot;POWER_USER_SHAPE_ICON&quot;,&quot;Value&quot;:&quot;POWER_USER_SHAPE_ICON_STYLE_1&quot;}">
            <a:extLst>
              <a:ext uri="{FF2B5EF4-FFF2-40B4-BE49-F238E27FC236}">
                <a16:creationId xmlns:a16="http://schemas.microsoft.com/office/drawing/2014/main" id="{969F8FC3-0020-4A00-8484-FAA182D081CB}"/>
              </a:ext>
            </a:extLst>
          </p:cNvPr>
          <p:cNvGrpSpPr/>
          <p:nvPr/>
        </p:nvGrpSpPr>
        <p:grpSpPr>
          <a:xfrm>
            <a:off x="617519" y="3615634"/>
            <a:ext cx="605587" cy="656735"/>
            <a:chOff x="654253" y="3669226"/>
            <a:chExt cx="485270" cy="526256"/>
          </a:xfrm>
        </p:grpSpPr>
        <p:grpSp>
          <p:nvGrpSpPr>
            <p:cNvPr id="31" name="Graphic 25" descr="{&quot;Key&quot;:&quot;POWER_USER_SHAPE_ICON&quot;,&quot;Value&quot;:&quot;POWER_USER_SHAPE_ICON_STYLE_1&quot;}">
              <a:extLst>
                <a:ext uri="{FF2B5EF4-FFF2-40B4-BE49-F238E27FC236}">
                  <a16:creationId xmlns:a16="http://schemas.microsoft.com/office/drawing/2014/main" id="{969F8FC3-0020-4A00-8484-FAA182D081CB}"/>
                </a:ext>
              </a:extLst>
            </p:cNvPr>
            <p:cNvGrpSpPr/>
            <p:nvPr/>
          </p:nvGrpSpPr>
          <p:grpSpPr>
            <a:xfrm>
              <a:off x="654253" y="3844248"/>
              <a:ext cx="234553" cy="234553"/>
              <a:chOff x="654253" y="3844248"/>
              <a:chExt cx="234553" cy="234553"/>
            </a:xfrm>
          </p:grpSpPr>
          <p:sp>
            <p:nvSpPr>
              <p:cNvPr id="32" name="Freeform: Shape 31">
                <a:extLst>
                  <a:ext uri="{FF2B5EF4-FFF2-40B4-BE49-F238E27FC236}">
                    <a16:creationId xmlns:a16="http://schemas.microsoft.com/office/drawing/2014/main" id="{FC71E819-0D59-40C0-A2BA-911EA956F86B}"/>
                  </a:ext>
                </a:extLst>
              </p:cNvPr>
              <p:cNvSpPr/>
              <p:nvPr/>
            </p:nvSpPr>
            <p:spPr>
              <a:xfrm>
                <a:off x="654253" y="3844248"/>
                <a:ext cx="234553" cy="234553"/>
              </a:xfrm>
              <a:custGeom>
                <a:avLst/>
                <a:gdLst>
                  <a:gd name="connsiteX0" fmla="*/ 229195 w 234553"/>
                  <a:gd name="connsiteY0" fmla="*/ 97631 h 234553"/>
                  <a:gd name="connsiteX1" fmla="*/ 210145 w 234553"/>
                  <a:gd name="connsiteY1" fmla="*/ 93464 h 234553"/>
                  <a:gd name="connsiteX2" fmla="*/ 205383 w 234553"/>
                  <a:gd name="connsiteY2" fmla="*/ 89297 h 234553"/>
                  <a:gd name="connsiteX3" fmla="*/ 199430 w 234553"/>
                  <a:gd name="connsiteY3" fmla="*/ 75009 h 234553"/>
                  <a:gd name="connsiteX4" fmla="*/ 199430 w 234553"/>
                  <a:gd name="connsiteY4" fmla="*/ 68461 h 234553"/>
                  <a:gd name="connsiteX5" fmla="*/ 210145 w 234553"/>
                  <a:gd name="connsiteY5" fmla="*/ 51792 h 234553"/>
                  <a:gd name="connsiteX6" fmla="*/ 209550 w 234553"/>
                  <a:gd name="connsiteY6" fmla="*/ 44053 h 234553"/>
                  <a:gd name="connsiteX7" fmla="*/ 189905 w 234553"/>
                  <a:gd name="connsiteY7" fmla="*/ 24408 h 234553"/>
                  <a:gd name="connsiteX8" fmla="*/ 182166 w 234553"/>
                  <a:gd name="connsiteY8" fmla="*/ 23813 h 234553"/>
                  <a:gd name="connsiteX9" fmla="*/ 165497 w 234553"/>
                  <a:gd name="connsiteY9" fmla="*/ 34528 h 234553"/>
                  <a:gd name="connsiteX10" fmla="*/ 158948 w 234553"/>
                  <a:gd name="connsiteY10" fmla="*/ 34528 h 234553"/>
                  <a:gd name="connsiteX11" fmla="*/ 144661 w 234553"/>
                  <a:gd name="connsiteY11" fmla="*/ 28575 h 234553"/>
                  <a:gd name="connsiteX12" fmla="*/ 140494 w 234553"/>
                  <a:gd name="connsiteY12" fmla="*/ 23813 h 234553"/>
                  <a:gd name="connsiteX13" fmla="*/ 136922 w 234553"/>
                  <a:gd name="connsiteY13" fmla="*/ 4762 h 234553"/>
                  <a:gd name="connsiteX14" fmla="*/ 130969 w 234553"/>
                  <a:gd name="connsiteY14" fmla="*/ 0 h 234553"/>
                  <a:gd name="connsiteX15" fmla="*/ 103584 w 234553"/>
                  <a:gd name="connsiteY15" fmla="*/ 0 h 234553"/>
                  <a:gd name="connsiteX16" fmla="*/ 97631 w 234553"/>
                  <a:gd name="connsiteY16" fmla="*/ 4762 h 234553"/>
                  <a:gd name="connsiteX17" fmla="*/ 93464 w 234553"/>
                  <a:gd name="connsiteY17" fmla="*/ 23813 h 234553"/>
                  <a:gd name="connsiteX18" fmla="*/ 89297 w 234553"/>
                  <a:gd name="connsiteY18" fmla="*/ 28575 h 234553"/>
                  <a:gd name="connsiteX19" fmla="*/ 75009 w 234553"/>
                  <a:gd name="connsiteY19" fmla="*/ 34528 h 234553"/>
                  <a:gd name="connsiteX20" fmla="*/ 68461 w 234553"/>
                  <a:gd name="connsiteY20" fmla="*/ 34528 h 234553"/>
                  <a:gd name="connsiteX21" fmla="*/ 51792 w 234553"/>
                  <a:gd name="connsiteY21" fmla="*/ 23813 h 234553"/>
                  <a:gd name="connsiteX22" fmla="*/ 44053 w 234553"/>
                  <a:gd name="connsiteY22" fmla="*/ 24408 h 234553"/>
                  <a:gd name="connsiteX23" fmla="*/ 24408 w 234553"/>
                  <a:gd name="connsiteY23" fmla="*/ 44053 h 234553"/>
                  <a:gd name="connsiteX24" fmla="*/ 23813 w 234553"/>
                  <a:gd name="connsiteY24" fmla="*/ 51792 h 234553"/>
                  <a:gd name="connsiteX25" fmla="*/ 34528 w 234553"/>
                  <a:gd name="connsiteY25" fmla="*/ 68461 h 234553"/>
                  <a:gd name="connsiteX26" fmla="*/ 34528 w 234553"/>
                  <a:gd name="connsiteY26" fmla="*/ 75009 h 234553"/>
                  <a:gd name="connsiteX27" fmla="*/ 28575 w 234553"/>
                  <a:gd name="connsiteY27" fmla="*/ 89297 h 234553"/>
                  <a:gd name="connsiteX28" fmla="*/ 23813 w 234553"/>
                  <a:gd name="connsiteY28" fmla="*/ 93464 h 234553"/>
                  <a:gd name="connsiteX29" fmla="*/ 4763 w 234553"/>
                  <a:gd name="connsiteY29" fmla="*/ 97631 h 234553"/>
                  <a:gd name="connsiteX30" fmla="*/ 0 w 234553"/>
                  <a:gd name="connsiteY30" fmla="*/ 103584 h 234553"/>
                  <a:gd name="connsiteX31" fmla="*/ 0 w 234553"/>
                  <a:gd name="connsiteY31" fmla="*/ 130969 h 234553"/>
                  <a:gd name="connsiteX32" fmla="*/ 4763 w 234553"/>
                  <a:gd name="connsiteY32" fmla="*/ 136922 h 234553"/>
                  <a:gd name="connsiteX33" fmla="*/ 23813 w 234553"/>
                  <a:gd name="connsiteY33" fmla="*/ 141089 h 234553"/>
                  <a:gd name="connsiteX34" fmla="*/ 28575 w 234553"/>
                  <a:gd name="connsiteY34" fmla="*/ 145256 h 234553"/>
                  <a:gd name="connsiteX35" fmla="*/ 34528 w 234553"/>
                  <a:gd name="connsiteY35" fmla="*/ 159544 h 234553"/>
                  <a:gd name="connsiteX36" fmla="*/ 34528 w 234553"/>
                  <a:gd name="connsiteY36" fmla="*/ 166092 h 234553"/>
                  <a:gd name="connsiteX37" fmla="*/ 23813 w 234553"/>
                  <a:gd name="connsiteY37" fmla="*/ 182761 h 234553"/>
                  <a:gd name="connsiteX38" fmla="*/ 24408 w 234553"/>
                  <a:gd name="connsiteY38" fmla="*/ 190500 h 234553"/>
                  <a:gd name="connsiteX39" fmla="*/ 44053 w 234553"/>
                  <a:gd name="connsiteY39" fmla="*/ 210145 h 234553"/>
                  <a:gd name="connsiteX40" fmla="*/ 51792 w 234553"/>
                  <a:gd name="connsiteY40" fmla="*/ 210741 h 234553"/>
                  <a:gd name="connsiteX41" fmla="*/ 68461 w 234553"/>
                  <a:gd name="connsiteY41" fmla="*/ 200025 h 234553"/>
                  <a:gd name="connsiteX42" fmla="*/ 75009 w 234553"/>
                  <a:gd name="connsiteY42" fmla="*/ 200025 h 234553"/>
                  <a:gd name="connsiteX43" fmla="*/ 89297 w 234553"/>
                  <a:gd name="connsiteY43" fmla="*/ 205978 h 234553"/>
                  <a:gd name="connsiteX44" fmla="*/ 93464 w 234553"/>
                  <a:gd name="connsiteY44" fmla="*/ 210741 h 234553"/>
                  <a:gd name="connsiteX45" fmla="*/ 97631 w 234553"/>
                  <a:gd name="connsiteY45" fmla="*/ 229791 h 234553"/>
                  <a:gd name="connsiteX46" fmla="*/ 103584 w 234553"/>
                  <a:gd name="connsiteY46" fmla="*/ 234553 h 234553"/>
                  <a:gd name="connsiteX47" fmla="*/ 130969 w 234553"/>
                  <a:gd name="connsiteY47" fmla="*/ 234553 h 234553"/>
                  <a:gd name="connsiteX48" fmla="*/ 136922 w 234553"/>
                  <a:gd name="connsiteY48" fmla="*/ 229791 h 234553"/>
                  <a:gd name="connsiteX49" fmla="*/ 141089 w 234553"/>
                  <a:gd name="connsiteY49" fmla="*/ 210741 h 234553"/>
                  <a:gd name="connsiteX50" fmla="*/ 145256 w 234553"/>
                  <a:gd name="connsiteY50" fmla="*/ 205978 h 234553"/>
                  <a:gd name="connsiteX51" fmla="*/ 159544 w 234553"/>
                  <a:gd name="connsiteY51" fmla="*/ 200025 h 234553"/>
                  <a:gd name="connsiteX52" fmla="*/ 166092 w 234553"/>
                  <a:gd name="connsiteY52" fmla="*/ 200025 h 234553"/>
                  <a:gd name="connsiteX53" fmla="*/ 182761 w 234553"/>
                  <a:gd name="connsiteY53" fmla="*/ 210741 h 234553"/>
                  <a:gd name="connsiteX54" fmla="*/ 190500 w 234553"/>
                  <a:gd name="connsiteY54" fmla="*/ 210145 h 234553"/>
                  <a:gd name="connsiteX55" fmla="*/ 210145 w 234553"/>
                  <a:gd name="connsiteY55" fmla="*/ 190500 h 234553"/>
                  <a:gd name="connsiteX56" fmla="*/ 210741 w 234553"/>
                  <a:gd name="connsiteY56" fmla="*/ 182761 h 234553"/>
                  <a:gd name="connsiteX57" fmla="*/ 200025 w 234553"/>
                  <a:gd name="connsiteY57" fmla="*/ 166092 h 234553"/>
                  <a:gd name="connsiteX58" fmla="*/ 200025 w 234553"/>
                  <a:gd name="connsiteY58" fmla="*/ 159544 h 234553"/>
                  <a:gd name="connsiteX59" fmla="*/ 205978 w 234553"/>
                  <a:gd name="connsiteY59" fmla="*/ 145256 h 234553"/>
                  <a:gd name="connsiteX60" fmla="*/ 210741 w 234553"/>
                  <a:gd name="connsiteY60" fmla="*/ 141089 h 234553"/>
                  <a:gd name="connsiteX61" fmla="*/ 229791 w 234553"/>
                  <a:gd name="connsiteY61" fmla="*/ 136922 h 234553"/>
                  <a:gd name="connsiteX62" fmla="*/ 234553 w 234553"/>
                  <a:gd name="connsiteY62" fmla="*/ 130969 h 234553"/>
                  <a:gd name="connsiteX63" fmla="*/ 234553 w 234553"/>
                  <a:gd name="connsiteY63" fmla="*/ 103584 h 234553"/>
                  <a:gd name="connsiteX64" fmla="*/ 229195 w 234553"/>
                  <a:gd name="connsiteY64" fmla="*/ 97631 h 23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34553" h="234553">
                    <a:moveTo>
                      <a:pt x="229195" y="97631"/>
                    </a:moveTo>
                    <a:lnTo>
                      <a:pt x="210145" y="93464"/>
                    </a:lnTo>
                    <a:cubicBezTo>
                      <a:pt x="207764" y="92869"/>
                      <a:pt x="205978" y="91083"/>
                      <a:pt x="205383" y="89297"/>
                    </a:cubicBezTo>
                    <a:cubicBezTo>
                      <a:pt x="203597" y="84534"/>
                      <a:pt x="201811" y="79772"/>
                      <a:pt x="199430" y="75009"/>
                    </a:cubicBezTo>
                    <a:cubicBezTo>
                      <a:pt x="198239" y="73223"/>
                      <a:pt x="198239" y="70842"/>
                      <a:pt x="199430" y="68461"/>
                    </a:cubicBezTo>
                    <a:lnTo>
                      <a:pt x="210145" y="51792"/>
                    </a:lnTo>
                    <a:cubicBezTo>
                      <a:pt x="211931" y="49411"/>
                      <a:pt x="211336" y="45839"/>
                      <a:pt x="209550" y="44053"/>
                    </a:cubicBezTo>
                    <a:lnTo>
                      <a:pt x="189905" y="24408"/>
                    </a:lnTo>
                    <a:cubicBezTo>
                      <a:pt x="187523" y="22027"/>
                      <a:pt x="184547" y="22027"/>
                      <a:pt x="182166" y="23813"/>
                    </a:cubicBezTo>
                    <a:lnTo>
                      <a:pt x="165497" y="34528"/>
                    </a:lnTo>
                    <a:cubicBezTo>
                      <a:pt x="163711" y="35719"/>
                      <a:pt x="161330" y="35719"/>
                      <a:pt x="158948" y="34528"/>
                    </a:cubicBezTo>
                    <a:cubicBezTo>
                      <a:pt x="154186" y="32147"/>
                      <a:pt x="149423" y="30361"/>
                      <a:pt x="144661" y="28575"/>
                    </a:cubicBezTo>
                    <a:cubicBezTo>
                      <a:pt x="142280" y="27980"/>
                      <a:pt x="141089" y="26194"/>
                      <a:pt x="140494" y="23813"/>
                    </a:cubicBezTo>
                    <a:lnTo>
                      <a:pt x="136922" y="4762"/>
                    </a:lnTo>
                    <a:cubicBezTo>
                      <a:pt x="136327" y="1786"/>
                      <a:pt x="133945" y="0"/>
                      <a:pt x="130969" y="0"/>
                    </a:cubicBezTo>
                    <a:lnTo>
                      <a:pt x="103584" y="0"/>
                    </a:lnTo>
                    <a:cubicBezTo>
                      <a:pt x="100608" y="0"/>
                      <a:pt x="98227" y="1786"/>
                      <a:pt x="97631" y="4762"/>
                    </a:cubicBezTo>
                    <a:lnTo>
                      <a:pt x="93464" y="23813"/>
                    </a:lnTo>
                    <a:cubicBezTo>
                      <a:pt x="92869" y="26194"/>
                      <a:pt x="91083" y="27980"/>
                      <a:pt x="89297" y="28575"/>
                    </a:cubicBezTo>
                    <a:cubicBezTo>
                      <a:pt x="84534" y="30361"/>
                      <a:pt x="79772" y="32147"/>
                      <a:pt x="75009" y="34528"/>
                    </a:cubicBezTo>
                    <a:cubicBezTo>
                      <a:pt x="73223" y="35719"/>
                      <a:pt x="70842" y="35719"/>
                      <a:pt x="68461" y="34528"/>
                    </a:cubicBezTo>
                    <a:lnTo>
                      <a:pt x="51792" y="23813"/>
                    </a:lnTo>
                    <a:cubicBezTo>
                      <a:pt x="49411" y="22027"/>
                      <a:pt x="45839" y="22622"/>
                      <a:pt x="44053" y="24408"/>
                    </a:cubicBezTo>
                    <a:lnTo>
                      <a:pt x="24408" y="44053"/>
                    </a:lnTo>
                    <a:cubicBezTo>
                      <a:pt x="22027" y="46434"/>
                      <a:pt x="22027" y="49411"/>
                      <a:pt x="23813" y="51792"/>
                    </a:cubicBezTo>
                    <a:lnTo>
                      <a:pt x="34528" y="68461"/>
                    </a:lnTo>
                    <a:cubicBezTo>
                      <a:pt x="35719" y="70247"/>
                      <a:pt x="35719" y="72628"/>
                      <a:pt x="34528" y="75009"/>
                    </a:cubicBezTo>
                    <a:cubicBezTo>
                      <a:pt x="32147" y="79772"/>
                      <a:pt x="30361" y="84534"/>
                      <a:pt x="28575" y="89297"/>
                    </a:cubicBezTo>
                    <a:cubicBezTo>
                      <a:pt x="27980" y="91678"/>
                      <a:pt x="26194" y="92869"/>
                      <a:pt x="23813" y="93464"/>
                    </a:cubicBezTo>
                    <a:lnTo>
                      <a:pt x="4763" y="97631"/>
                    </a:lnTo>
                    <a:cubicBezTo>
                      <a:pt x="1786" y="98227"/>
                      <a:pt x="0" y="100608"/>
                      <a:pt x="0" y="103584"/>
                    </a:cubicBezTo>
                    <a:lnTo>
                      <a:pt x="0" y="130969"/>
                    </a:lnTo>
                    <a:cubicBezTo>
                      <a:pt x="0" y="133945"/>
                      <a:pt x="1786" y="136327"/>
                      <a:pt x="4763" y="136922"/>
                    </a:cubicBezTo>
                    <a:lnTo>
                      <a:pt x="23813" y="141089"/>
                    </a:lnTo>
                    <a:cubicBezTo>
                      <a:pt x="26194" y="141684"/>
                      <a:pt x="27980" y="143470"/>
                      <a:pt x="28575" y="145256"/>
                    </a:cubicBezTo>
                    <a:cubicBezTo>
                      <a:pt x="30361" y="150019"/>
                      <a:pt x="32147" y="154781"/>
                      <a:pt x="34528" y="159544"/>
                    </a:cubicBezTo>
                    <a:cubicBezTo>
                      <a:pt x="35719" y="161330"/>
                      <a:pt x="35719" y="163711"/>
                      <a:pt x="34528" y="166092"/>
                    </a:cubicBezTo>
                    <a:lnTo>
                      <a:pt x="23813" y="182761"/>
                    </a:lnTo>
                    <a:cubicBezTo>
                      <a:pt x="22027" y="185142"/>
                      <a:pt x="22622" y="188714"/>
                      <a:pt x="24408" y="190500"/>
                    </a:cubicBezTo>
                    <a:lnTo>
                      <a:pt x="44053" y="210145"/>
                    </a:lnTo>
                    <a:cubicBezTo>
                      <a:pt x="46434" y="212527"/>
                      <a:pt x="49411" y="212527"/>
                      <a:pt x="51792" y="210741"/>
                    </a:cubicBezTo>
                    <a:lnTo>
                      <a:pt x="68461" y="200025"/>
                    </a:lnTo>
                    <a:cubicBezTo>
                      <a:pt x="70247" y="198834"/>
                      <a:pt x="72628" y="198834"/>
                      <a:pt x="75009" y="200025"/>
                    </a:cubicBezTo>
                    <a:cubicBezTo>
                      <a:pt x="79772" y="202406"/>
                      <a:pt x="84534" y="204192"/>
                      <a:pt x="89297" y="205978"/>
                    </a:cubicBezTo>
                    <a:cubicBezTo>
                      <a:pt x="91678" y="206573"/>
                      <a:pt x="92869" y="208359"/>
                      <a:pt x="93464" y="210741"/>
                    </a:cubicBezTo>
                    <a:lnTo>
                      <a:pt x="97631" y="229791"/>
                    </a:lnTo>
                    <a:cubicBezTo>
                      <a:pt x="98227" y="232767"/>
                      <a:pt x="100608" y="234553"/>
                      <a:pt x="103584" y="234553"/>
                    </a:cubicBezTo>
                    <a:lnTo>
                      <a:pt x="130969" y="234553"/>
                    </a:lnTo>
                    <a:cubicBezTo>
                      <a:pt x="133945" y="234553"/>
                      <a:pt x="136327" y="232767"/>
                      <a:pt x="136922" y="229791"/>
                    </a:cubicBezTo>
                    <a:lnTo>
                      <a:pt x="141089" y="210741"/>
                    </a:lnTo>
                    <a:cubicBezTo>
                      <a:pt x="141684" y="208359"/>
                      <a:pt x="143470" y="206573"/>
                      <a:pt x="145256" y="205978"/>
                    </a:cubicBezTo>
                    <a:cubicBezTo>
                      <a:pt x="150019" y="204192"/>
                      <a:pt x="154781" y="202406"/>
                      <a:pt x="159544" y="200025"/>
                    </a:cubicBezTo>
                    <a:cubicBezTo>
                      <a:pt x="161330" y="198834"/>
                      <a:pt x="163711" y="198834"/>
                      <a:pt x="166092" y="200025"/>
                    </a:cubicBezTo>
                    <a:lnTo>
                      <a:pt x="182761" y="210741"/>
                    </a:lnTo>
                    <a:cubicBezTo>
                      <a:pt x="185142" y="212527"/>
                      <a:pt x="188714" y="211931"/>
                      <a:pt x="190500" y="210145"/>
                    </a:cubicBezTo>
                    <a:lnTo>
                      <a:pt x="210145" y="190500"/>
                    </a:lnTo>
                    <a:cubicBezTo>
                      <a:pt x="212527" y="188119"/>
                      <a:pt x="212527" y="185142"/>
                      <a:pt x="210741" y="182761"/>
                    </a:cubicBezTo>
                    <a:lnTo>
                      <a:pt x="200025" y="166092"/>
                    </a:lnTo>
                    <a:cubicBezTo>
                      <a:pt x="198834" y="164306"/>
                      <a:pt x="198834" y="161925"/>
                      <a:pt x="200025" y="159544"/>
                    </a:cubicBezTo>
                    <a:cubicBezTo>
                      <a:pt x="202406" y="154781"/>
                      <a:pt x="204192" y="150019"/>
                      <a:pt x="205978" y="145256"/>
                    </a:cubicBezTo>
                    <a:cubicBezTo>
                      <a:pt x="206573" y="142875"/>
                      <a:pt x="208359" y="141684"/>
                      <a:pt x="210741" y="141089"/>
                    </a:cubicBezTo>
                    <a:lnTo>
                      <a:pt x="229791" y="136922"/>
                    </a:lnTo>
                    <a:cubicBezTo>
                      <a:pt x="232767" y="136327"/>
                      <a:pt x="234553" y="133945"/>
                      <a:pt x="234553" y="130969"/>
                    </a:cubicBezTo>
                    <a:lnTo>
                      <a:pt x="234553" y="103584"/>
                    </a:lnTo>
                    <a:cubicBezTo>
                      <a:pt x="234553" y="100608"/>
                      <a:pt x="232172" y="98227"/>
                      <a:pt x="229195" y="97631"/>
                    </a:cubicBezTo>
                    <a:close/>
                  </a:path>
                </a:pathLst>
              </a:custGeom>
              <a:solidFill>
                <a:srgbClr val="535E6F"/>
              </a:solidFill>
              <a:ln w="5953"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532E2F2B-241B-42B6-A507-1D5ACC5531EA}"/>
                  </a:ext>
                </a:extLst>
              </p:cNvPr>
              <p:cNvSpPr/>
              <p:nvPr/>
            </p:nvSpPr>
            <p:spPr>
              <a:xfrm>
                <a:off x="706045" y="3896636"/>
                <a:ext cx="129778" cy="129778"/>
              </a:xfrm>
              <a:custGeom>
                <a:avLst/>
                <a:gdLst>
                  <a:gd name="connsiteX0" fmla="*/ 129778 w 129778"/>
                  <a:gd name="connsiteY0" fmla="*/ 64889 h 129778"/>
                  <a:gd name="connsiteX1" fmla="*/ 64889 w 129778"/>
                  <a:gd name="connsiteY1" fmla="*/ 129778 h 129778"/>
                  <a:gd name="connsiteX2" fmla="*/ 0 w 129778"/>
                  <a:gd name="connsiteY2" fmla="*/ 64889 h 129778"/>
                  <a:gd name="connsiteX3" fmla="*/ 64889 w 129778"/>
                  <a:gd name="connsiteY3" fmla="*/ 0 h 129778"/>
                  <a:gd name="connsiteX4" fmla="*/ 129778 w 129778"/>
                  <a:gd name="connsiteY4" fmla="*/ 64889 h 129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 h="129778">
                    <a:moveTo>
                      <a:pt x="129778" y="64889"/>
                    </a:moveTo>
                    <a:cubicBezTo>
                      <a:pt x="129778" y="100726"/>
                      <a:pt x="100726" y="129778"/>
                      <a:pt x="64889" y="129778"/>
                    </a:cubicBezTo>
                    <a:cubicBezTo>
                      <a:pt x="29052" y="129778"/>
                      <a:pt x="0" y="100726"/>
                      <a:pt x="0" y="64889"/>
                    </a:cubicBezTo>
                    <a:cubicBezTo>
                      <a:pt x="0" y="29052"/>
                      <a:pt x="29052" y="0"/>
                      <a:pt x="64889" y="0"/>
                    </a:cubicBezTo>
                    <a:cubicBezTo>
                      <a:pt x="100726" y="0"/>
                      <a:pt x="129778" y="29052"/>
                      <a:pt x="129778" y="64889"/>
                    </a:cubicBezTo>
                    <a:close/>
                  </a:path>
                </a:pathLst>
              </a:custGeom>
              <a:solidFill>
                <a:srgbClr val="FFFFFF"/>
              </a:solidFill>
              <a:ln w="5953"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2B22AC93-3A90-4148-8D74-D9EB7F3385DC}"/>
                  </a:ext>
                </a:extLst>
              </p:cNvPr>
              <p:cNvSpPr/>
              <p:nvPr/>
            </p:nvSpPr>
            <p:spPr>
              <a:xfrm>
                <a:off x="754266" y="3923786"/>
                <a:ext cx="53875" cy="75478"/>
              </a:xfrm>
              <a:custGeom>
                <a:avLst/>
                <a:gdLst>
                  <a:gd name="connsiteX0" fmla="*/ 51197 w 53875"/>
                  <a:gd name="connsiteY0" fmla="*/ 31786 h 75478"/>
                  <a:gd name="connsiteX1" fmla="*/ 11311 w 53875"/>
                  <a:gd name="connsiteY1" fmla="*/ 1425 h 75478"/>
                  <a:gd name="connsiteX2" fmla="*/ 0 w 53875"/>
                  <a:gd name="connsiteY2" fmla="*/ 7378 h 75478"/>
                  <a:gd name="connsiteX3" fmla="*/ 0 w 53875"/>
                  <a:gd name="connsiteY3" fmla="*/ 68100 h 75478"/>
                  <a:gd name="connsiteX4" fmla="*/ 11311 w 53875"/>
                  <a:gd name="connsiteY4" fmla="*/ 74053 h 75478"/>
                  <a:gd name="connsiteX5" fmla="*/ 51197 w 53875"/>
                  <a:gd name="connsiteY5" fmla="*/ 43692 h 75478"/>
                  <a:gd name="connsiteX6" fmla="*/ 51197 w 53875"/>
                  <a:gd name="connsiteY6" fmla="*/ 31786 h 7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875" h="75478">
                    <a:moveTo>
                      <a:pt x="51197" y="31786"/>
                    </a:moveTo>
                    <a:lnTo>
                      <a:pt x="11311" y="1425"/>
                    </a:lnTo>
                    <a:cubicBezTo>
                      <a:pt x="6548" y="-2147"/>
                      <a:pt x="0" y="1425"/>
                      <a:pt x="0" y="7378"/>
                    </a:cubicBezTo>
                    <a:lnTo>
                      <a:pt x="0" y="68100"/>
                    </a:lnTo>
                    <a:cubicBezTo>
                      <a:pt x="0" y="74053"/>
                      <a:pt x="6548" y="77625"/>
                      <a:pt x="11311" y="74053"/>
                    </a:cubicBezTo>
                    <a:lnTo>
                      <a:pt x="51197" y="43692"/>
                    </a:lnTo>
                    <a:cubicBezTo>
                      <a:pt x="54769" y="40716"/>
                      <a:pt x="54769" y="34763"/>
                      <a:pt x="51197" y="31786"/>
                    </a:cubicBezTo>
                    <a:close/>
                  </a:path>
                </a:pathLst>
              </a:custGeom>
              <a:solidFill>
                <a:schemeClr val="bg1">
                  <a:lumMod val="75000"/>
                </a:schemeClr>
              </a:solidFill>
              <a:ln w="5953" cap="flat">
                <a:noFill/>
                <a:prstDash val="solid"/>
                <a:miter/>
              </a:ln>
            </p:spPr>
            <p:txBody>
              <a:bodyPr rtlCol="0" anchor="ctr"/>
              <a:lstStyle/>
              <a:p>
                <a:endParaRPr lang="en-GB"/>
              </a:p>
            </p:txBody>
          </p:sp>
        </p:grpSp>
        <p:sp>
          <p:nvSpPr>
            <p:cNvPr id="35" name="Freeform: Shape 34">
              <a:extLst>
                <a:ext uri="{FF2B5EF4-FFF2-40B4-BE49-F238E27FC236}">
                  <a16:creationId xmlns:a16="http://schemas.microsoft.com/office/drawing/2014/main" id="{CD8209FC-FB00-4856-9997-E1129309F0F7}"/>
                </a:ext>
              </a:extLst>
            </p:cNvPr>
            <p:cNvSpPr/>
            <p:nvPr/>
          </p:nvSpPr>
          <p:spPr>
            <a:xfrm>
              <a:off x="853683" y="3669226"/>
              <a:ext cx="285841" cy="285750"/>
            </a:xfrm>
            <a:custGeom>
              <a:avLst/>
              <a:gdLst>
                <a:gd name="connsiteX0" fmla="*/ 280392 w 285841"/>
                <a:gd name="connsiteY0" fmla="*/ 118467 h 285750"/>
                <a:gd name="connsiteX1" fmla="*/ 257175 w 285841"/>
                <a:gd name="connsiteY1" fmla="*/ 113705 h 285750"/>
                <a:gd name="connsiteX2" fmla="*/ 251222 w 285841"/>
                <a:gd name="connsiteY2" fmla="*/ 108347 h 285750"/>
                <a:gd name="connsiteX3" fmla="*/ 244078 w 285841"/>
                <a:gd name="connsiteY3" fmla="*/ 91083 h 285750"/>
                <a:gd name="connsiteX4" fmla="*/ 244673 w 285841"/>
                <a:gd name="connsiteY4" fmla="*/ 83344 h 285750"/>
                <a:gd name="connsiteX5" fmla="*/ 257770 w 285841"/>
                <a:gd name="connsiteY5" fmla="*/ 63103 h 285750"/>
                <a:gd name="connsiteX6" fmla="*/ 256580 w 285841"/>
                <a:gd name="connsiteY6" fmla="*/ 53578 h 285750"/>
                <a:gd name="connsiteX7" fmla="*/ 232767 w 285841"/>
                <a:gd name="connsiteY7" fmla="*/ 29766 h 285750"/>
                <a:gd name="connsiteX8" fmla="*/ 223242 w 285841"/>
                <a:gd name="connsiteY8" fmla="*/ 28575 h 285750"/>
                <a:gd name="connsiteX9" fmla="*/ 203002 w 285841"/>
                <a:gd name="connsiteY9" fmla="*/ 41672 h 285750"/>
                <a:gd name="connsiteX10" fmla="*/ 195262 w 285841"/>
                <a:gd name="connsiteY10" fmla="*/ 42267 h 285750"/>
                <a:gd name="connsiteX11" fmla="*/ 177998 w 285841"/>
                <a:gd name="connsiteY11" fmla="*/ 35123 h 285750"/>
                <a:gd name="connsiteX12" fmla="*/ 172641 w 285841"/>
                <a:gd name="connsiteY12" fmla="*/ 29170 h 285750"/>
                <a:gd name="connsiteX13" fmla="*/ 167878 w 285841"/>
                <a:gd name="connsiteY13" fmla="*/ 5953 h 285750"/>
                <a:gd name="connsiteX14" fmla="*/ 160139 w 285841"/>
                <a:gd name="connsiteY14" fmla="*/ 0 h 285750"/>
                <a:gd name="connsiteX15" fmla="*/ 126802 w 285841"/>
                <a:gd name="connsiteY15" fmla="*/ 0 h 285750"/>
                <a:gd name="connsiteX16" fmla="*/ 119063 w 285841"/>
                <a:gd name="connsiteY16" fmla="*/ 5953 h 285750"/>
                <a:gd name="connsiteX17" fmla="*/ 114300 w 285841"/>
                <a:gd name="connsiteY17" fmla="*/ 29170 h 285750"/>
                <a:gd name="connsiteX18" fmla="*/ 108942 w 285841"/>
                <a:gd name="connsiteY18" fmla="*/ 35123 h 285750"/>
                <a:gd name="connsiteX19" fmla="*/ 91678 w 285841"/>
                <a:gd name="connsiteY19" fmla="*/ 42267 h 285750"/>
                <a:gd name="connsiteX20" fmla="*/ 83939 w 285841"/>
                <a:gd name="connsiteY20" fmla="*/ 41672 h 285750"/>
                <a:gd name="connsiteX21" fmla="*/ 63698 w 285841"/>
                <a:gd name="connsiteY21" fmla="*/ 28575 h 285750"/>
                <a:gd name="connsiteX22" fmla="*/ 54173 w 285841"/>
                <a:gd name="connsiteY22" fmla="*/ 29766 h 285750"/>
                <a:gd name="connsiteX23" fmla="*/ 30361 w 285841"/>
                <a:gd name="connsiteY23" fmla="*/ 53578 h 285750"/>
                <a:gd name="connsiteX24" fmla="*/ 29170 w 285841"/>
                <a:gd name="connsiteY24" fmla="*/ 63103 h 285750"/>
                <a:gd name="connsiteX25" fmla="*/ 42267 w 285841"/>
                <a:gd name="connsiteY25" fmla="*/ 83344 h 285750"/>
                <a:gd name="connsiteX26" fmla="*/ 42862 w 285841"/>
                <a:gd name="connsiteY26" fmla="*/ 91083 h 285750"/>
                <a:gd name="connsiteX27" fmla="*/ 35123 w 285841"/>
                <a:gd name="connsiteY27" fmla="*/ 108347 h 285750"/>
                <a:gd name="connsiteX28" fmla="*/ 29170 w 285841"/>
                <a:gd name="connsiteY28" fmla="*/ 113705 h 285750"/>
                <a:gd name="connsiteX29" fmla="*/ 5953 w 285841"/>
                <a:gd name="connsiteY29" fmla="*/ 118467 h 285750"/>
                <a:gd name="connsiteX30" fmla="*/ 0 w 285841"/>
                <a:gd name="connsiteY30" fmla="*/ 126206 h 285750"/>
                <a:gd name="connsiteX31" fmla="*/ 0 w 285841"/>
                <a:gd name="connsiteY31" fmla="*/ 159544 h 285750"/>
                <a:gd name="connsiteX32" fmla="*/ 5953 w 285841"/>
                <a:gd name="connsiteY32" fmla="*/ 167283 h 285750"/>
                <a:gd name="connsiteX33" fmla="*/ 29170 w 285841"/>
                <a:gd name="connsiteY33" fmla="*/ 172045 h 285750"/>
                <a:gd name="connsiteX34" fmla="*/ 35123 w 285841"/>
                <a:gd name="connsiteY34" fmla="*/ 177403 h 285750"/>
                <a:gd name="connsiteX35" fmla="*/ 42267 w 285841"/>
                <a:gd name="connsiteY35" fmla="*/ 194667 h 285750"/>
                <a:gd name="connsiteX36" fmla="*/ 41672 w 285841"/>
                <a:gd name="connsiteY36" fmla="*/ 202406 h 285750"/>
                <a:gd name="connsiteX37" fmla="*/ 28575 w 285841"/>
                <a:gd name="connsiteY37" fmla="*/ 222647 h 285750"/>
                <a:gd name="connsiteX38" fmla="*/ 29766 w 285841"/>
                <a:gd name="connsiteY38" fmla="*/ 232172 h 285750"/>
                <a:gd name="connsiteX39" fmla="*/ 53578 w 285841"/>
                <a:gd name="connsiteY39" fmla="*/ 255984 h 285750"/>
                <a:gd name="connsiteX40" fmla="*/ 63103 w 285841"/>
                <a:gd name="connsiteY40" fmla="*/ 257175 h 285750"/>
                <a:gd name="connsiteX41" fmla="*/ 83344 w 285841"/>
                <a:gd name="connsiteY41" fmla="*/ 244078 h 285750"/>
                <a:gd name="connsiteX42" fmla="*/ 91083 w 285841"/>
                <a:gd name="connsiteY42" fmla="*/ 243483 h 285750"/>
                <a:gd name="connsiteX43" fmla="*/ 108347 w 285841"/>
                <a:gd name="connsiteY43" fmla="*/ 250627 h 285750"/>
                <a:gd name="connsiteX44" fmla="*/ 113705 w 285841"/>
                <a:gd name="connsiteY44" fmla="*/ 256580 h 285750"/>
                <a:gd name="connsiteX45" fmla="*/ 118467 w 285841"/>
                <a:gd name="connsiteY45" fmla="*/ 279797 h 285750"/>
                <a:gd name="connsiteX46" fmla="*/ 126206 w 285841"/>
                <a:gd name="connsiteY46" fmla="*/ 285750 h 285750"/>
                <a:gd name="connsiteX47" fmla="*/ 159544 w 285841"/>
                <a:gd name="connsiteY47" fmla="*/ 285750 h 285750"/>
                <a:gd name="connsiteX48" fmla="*/ 167283 w 285841"/>
                <a:gd name="connsiteY48" fmla="*/ 279797 h 285750"/>
                <a:gd name="connsiteX49" fmla="*/ 172045 w 285841"/>
                <a:gd name="connsiteY49" fmla="*/ 256580 h 285750"/>
                <a:gd name="connsiteX50" fmla="*/ 177403 w 285841"/>
                <a:gd name="connsiteY50" fmla="*/ 250627 h 285750"/>
                <a:gd name="connsiteX51" fmla="*/ 194667 w 285841"/>
                <a:gd name="connsiteY51" fmla="*/ 243483 h 285750"/>
                <a:gd name="connsiteX52" fmla="*/ 202406 w 285841"/>
                <a:gd name="connsiteY52" fmla="*/ 244078 h 285750"/>
                <a:gd name="connsiteX53" fmla="*/ 222647 w 285841"/>
                <a:gd name="connsiteY53" fmla="*/ 257175 h 285750"/>
                <a:gd name="connsiteX54" fmla="*/ 232172 w 285841"/>
                <a:gd name="connsiteY54" fmla="*/ 255984 h 285750"/>
                <a:gd name="connsiteX55" fmla="*/ 255984 w 285841"/>
                <a:gd name="connsiteY55" fmla="*/ 232172 h 285750"/>
                <a:gd name="connsiteX56" fmla="*/ 257175 w 285841"/>
                <a:gd name="connsiteY56" fmla="*/ 222647 h 285750"/>
                <a:gd name="connsiteX57" fmla="*/ 244078 w 285841"/>
                <a:gd name="connsiteY57" fmla="*/ 202406 h 285750"/>
                <a:gd name="connsiteX58" fmla="*/ 243483 w 285841"/>
                <a:gd name="connsiteY58" fmla="*/ 194667 h 285750"/>
                <a:gd name="connsiteX59" fmla="*/ 250627 w 285841"/>
                <a:gd name="connsiteY59" fmla="*/ 177403 h 285750"/>
                <a:gd name="connsiteX60" fmla="*/ 256580 w 285841"/>
                <a:gd name="connsiteY60" fmla="*/ 172045 h 285750"/>
                <a:gd name="connsiteX61" fmla="*/ 279797 w 285841"/>
                <a:gd name="connsiteY61" fmla="*/ 167283 h 285750"/>
                <a:gd name="connsiteX62" fmla="*/ 285750 w 285841"/>
                <a:gd name="connsiteY62" fmla="*/ 159544 h 285750"/>
                <a:gd name="connsiteX63" fmla="*/ 285750 w 285841"/>
                <a:gd name="connsiteY63" fmla="*/ 126206 h 285750"/>
                <a:gd name="connsiteX64" fmla="*/ 280392 w 285841"/>
                <a:gd name="connsiteY64" fmla="*/ 118467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85841" h="285750">
                  <a:moveTo>
                    <a:pt x="280392" y="118467"/>
                  </a:moveTo>
                  <a:lnTo>
                    <a:pt x="257175" y="113705"/>
                  </a:lnTo>
                  <a:cubicBezTo>
                    <a:pt x="254198" y="113109"/>
                    <a:pt x="252413" y="111323"/>
                    <a:pt x="251222" y="108347"/>
                  </a:cubicBezTo>
                  <a:cubicBezTo>
                    <a:pt x="249436" y="102394"/>
                    <a:pt x="247055" y="96441"/>
                    <a:pt x="244078" y="91083"/>
                  </a:cubicBezTo>
                  <a:cubicBezTo>
                    <a:pt x="242887" y="88702"/>
                    <a:pt x="242887" y="85725"/>
                    <a:pt x="244673" y="83344"/>
                  </a:cubicBezTo>
                  <a:lnTo>
                    <a:pt x="257770" y="63103"/>
                  </a:lnTo>
                  <a:cubicBezTo>
                    <a:pt x="259556" y="60127"/>
                    <a:pt x="259556" y="55959"/>
                    <a:pt x="256580" y="53578"/>
                  </a:cubicBezTo>
                  <a:lnTo>
                    <a:pt x="232767" y="29766"/>
                  </a:lnTo>
                  <a:cubicBezTo>
                    <a:pt x="230386" y="27384"/>
                    <a:pt x="226219" y="26789"/>
                    <a:pt x="223242" y="28575"/>
                  </a:cubicBezTo>
                  <a:lnTo>
                    <a:pt x="203002" y="41672"/>
                  </a:lnTo>
                  <a:cubicBezTo>
                    <a:pt x="200620" y="43458"/>
                    <a:pt x="197644" y="43458"/>
                    <a:pt x="195262" y="42267"/>
                  </a:cubicBezTo>
                  <a:cubicBezTo>
                    <a:pt x="189905" y="39291"/>
                    <a:pt x="183952" y="36909"/>
                    <a:pt x="177998" y="35123"/>
                  </a:cubicBezTo>
                  <a:cubicBezTo>
                    <a:pt x="175617" y="34528"/>
                    <a:pt x="173236" y="32147"/>
                    <a:pt x="172641" y="29170"/>
                  </a:cubicBezTo>
                  <a:lnTo>
                    <a:pt x="167878" y="5953"/>
                  </a:lnTo>
                  <a:cubicBezTo>
                    <a:pt x="167283" y="2381"/>
                    <a:pt x="163711" y="0"/>
                    <a:pt x="160139" y="0"/>
                  </a:cubicBezTo>
                  <a:lnTo>
                    <a:pt x="126802" y="0"/>
                  </a:lnTo>
                  <a:cubicBezTo>
                    <a:pt x="123230" y="0"/>
                    <a:pt x="120253" y="2381"/>
                    <a:pt x="119063" y="5953"/>
                  </a:cubicBezTo>
                  <a:lnTo>
                    <a:pt x="114300" y="29170"/>
                  </a:lnTo>
                  <a:cubicBezTo>
                    <a:pt x="113705" y="32147"/>
                    <a:pt x="111919" y="33933"/>
                    <a:pt x="108942" y="35123"/>
                  </a:cubicBezTo>
                  <a:cubicBezTo>
                    <a:pt x="102989" y="36909"/>
                    <a:pt x="97036" y="39291"/>
                    <a:pt x="91678" y="42267"/>
                  </a:cubicBezTo>
                  <a:cubicBezTo>
                    <a:pt x="89297" y="43458"/>
                    <a:pt x="86320" y="43458"/>
                    <a:pt x="83939" y="41672"/>
                  </a:cubicBezTo>
                  <a:lnTo>
                    <a:pt x="63698" y="28575"/>
                  </a:lnTo>
                  <a:cubicBezTo>
                    <a:pt x="60722" y="26789"/>
                    <a:pt x="56555" y="26789"/>
                    <a:pt x="54173" y="29766"/>
                  </a:cubicBezTo>
                  <a:lnTo>
                    <a:pt x="30361" y="53578"/>
                  </a:lnTo>
                  <a:cubicBezTo>
                    <a:pt x="27980" y="55959"/>
                    <a:pt x="27384" y="60127"/>
                    <a:pt x="29170" y="63103"/>
                  </a:cubicBezTo>
                  <a:lnTo>
                    <a:pt x="42267" y="83344"/>
                  </a:lnTo>
                  <a:cubicBezTo>
                    <a:pt x="44053" y="85725"/>
                    <a:pt x="44053" y="88702"/>
                    <a:pt x="42862" y="91083"/>
                  </a:cubicBezTo>
                  <a:cubicBezTo>
                    <a:pt x="39291" y="96441"/>
                    <a:pt x="36909" y="102394"/>
                    <a:pt x="35123" y="108347"/>
                  </a:cubicBezTo>
                  <a:cubicBezTo>
                    <a:pt x="34528" y="110728"/>
                    <a:pt x="32147" y="113109"/>
                    <a:pt x="29170" y="113705"/>
                  </a:cubicBezTo>
                  <a:lnTo>
                    <a:pt x="5953" y="118467"/>
                  </a:lnTo>
                  <a:cubicBezTo>
                    <a:pt x="2381" y="119063"/>
                    <a:pt x="0" y="122634"/>
                    <a:pt x="0" y="126206"/>
                  </a:cubicBezTo>
                  <a:lnTo>
                    <a:pt x="0" y="159544"/>
                  </a:lnTo>
                  <a:cubicBezTo>
                    <a:pt x="0" y="163116"/>
                    <a:pt x="2381" y="166092"/>
                    <a:pt x="5953" y="167283"/>
                  </a:cubicBezTo>
                  <a:lnTo>
                    <a:pt x="29170" y="172045"/>
                  </a:lnTo>
                  <a:cubicBezTo>
                    <a:pt x="32147" y="172641"/>
                    <a:pt x="33933" y="174427"/>
                    <a:pt x="35123" y="177403"/>
                  </a:cubicBezTo>
                  <a:cubicBezTo>
                    <a:pt x="36909" y="183356"/>
                    <a:pt x="39291" y="189309"/>
                    <a:pt x="42267" y="194667"/>
                  </a:cubicBezTo>
                  <a:cubicBezTo>
                    <a:pt x="43458" y="197048"/>
                    <a:pt x="43458" y="200025"/>
                    <a:pt x="41672" y="202406"/>
                  </a:cubicBezTo>
                  <a:lnTo>
                    <a:pt x="28575" y="222647"/>
                  </a:lnTo>
                  <a:cubicBezTo>
                    <a:pt x="26789" y="225623"/>
                    <a:pt x="26789" y="229791"/>
                    <a:pt x="29766" y="232172"/>
                  </a:cubicBezTo>
                  <a:lnTo>
                    <a:pt x="53578" y="255984"/>
                  </a:lnTo>
                  <a:cubicBezTo>
                    <a:pt x="55959" y="258366"/>
                    <a:pt x="60127" y="258961"/>
                    <a:pt x="63103" y="257175"/>
                  </a:cubicBezTo>
                  <a:lnTo>
                    <a:pt x="83344" y="244078"/>
                  </a:lnTo>
                  <a:cubicBezTo>
                    <a:pt x="85725" y="242292"/>
                    <a:pt x="88702" y="242292"/>
                    <a:pt x="91083" y="243483"/>
                  </a:cubicBezTo>
                  <a:cubicBezTo>
                    <a:pt x="96441" y="246459"/>
                    <a:pt x="102394" y="248841"/>
                    <a:pt x="108347" y="250627"/>
                  </a:cubicBezTo>
                  <a:cubicBezTo>
                    <a:pt x="110728" y="251222"/>
                    <a:pt x="113109" y="253603"/>
                    <a:pt x="113705" y="256580"/>
                  </a:cubicBezTo>
                  <a:lnTo>
                    <a:pt x="118467" y="279797"/>
                  </a:lnTo>
                  <a:cubicBezTo>
                    <a:pt x="119063" y="283369"/>
                    <a:pt x="122634" y="285750"/>
                    <a:pt x="126206" y="285750"/>
                  </a:cubicBezTo>
                  <a:lnTo>
                    <a:pt x="159544" y="285750"/>
                  </a:lnTo>
                  <a:cubicBezTo>
                    <a:pt x="163116" y="285750"/>
                    <a:pt x="166092" y="283369"/>
                    <a:pt x="167283" y="279797"/>
                  </a:cubicBezTo>
                  <a:lnTo>
                    <a:pt x="172045" y="256580"/>
                  </a:lnTo>
                  <a:cubicBezTo>
                    <a:pt x="172641" y="253603"/>
                    <a:pt x="174427" y="251817"/>
                    <a:pt x="177403" y="250627"/>
                  </a:cubicBezTo>
                  <a:cubicBezTo>
                    <a:pt x="183356" y="248841"/>
                    <a:pt x="189309" y="246459"/>
                    <a:pt x="194667" y="243483"/>
                  </a:cubicBezTo>
                  <a:cubicBezTo>
                    <a:pt x="197048" y="242292"/>
                    <a:pt x="200025" y="242292"/>
                    <a:pt x="202406" y="244078"/>
                  </a:cubicBezTo>
                  <a:lnTo>
                    <a:pt x="222647" y="257175"/>
                  </a:lnTo>
                  <a:cubicBezTo>
                    <a:pt x="225623" y="258961"/>
                    <a:pt x="229791" y="258961"/>
                    <a:pt x="232172" y="255984"/>
                  </a:cubicBezTo>
                  <a:lnTo>
                    <a:pt x="255984" y="232172"/>
                  </a:lnTo>
                  <a:cubicBezTo>
                    <a:pt x="258366" y="229791"/>
                    <a:pt x="258961" y="225623"/>
                    <a:pt x="257175" y="222647"/>
                  </a:cubicBezTo>
                  <a:lnTo>
                    <a:pt x="244078" y="202406"/>
                  </a:lnTo>
                  <a:cubicBezTo>
                    <a:pt x="242292" y="200025"/>
                    <a:pt x="242292" y="197048"/>
                    <a:pt x="243483" y="194667"/>
                  </a:cubicBezTo>
                  <a:cubicBezTo>
                    <a:pt x="246459" y="189309"/>
                    <a:pt x="248841" y="183356"/>
                    <a:pt x="250627" y="177403"/>
                  </a:cubicBezTo>
                  <a:cubicBezTo>
                    <a:pt x="251222" y="175022"/>
                    <a:pt x="253603" y="172641"/>
                    <a:pt x="256580" y="172045"/>
                  </a:cubicBezTo>
                  <a:lnTo>
                    <a:pt x="279797" y="167283"/>
                  </a:lnTo>
                  <a:cubicBezTo>
                    <a:pt x="283369" y="166688"/>
                    <a:pt x="285750" y="163116"/>
                    <a:pt x="285750" y="159544"/>
                  </a:cubicBezTo>
                  <a:lnTo>
                    <a:pt x="285750" y="126206"/>
                  </a:lnTo>
                  <a:cubicBezTo>
                    <a:pt x="286345" y="122634"/>
                    <a:pt x="283964" y="119658"/>
                    <a:pt x="280392" y="118467"/>
                  </a:cubicBezTo>
                  <a:close/>
                </a:path>
              </a:pathLst>
            </a:custGeom>
            <a:solidFill>
              <a:srgbClr val="535E6F"/>
            </a:solidFill>
            <a:ln w="5953"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7D8A4A49-3373-4321-BFA8-2BC2B26F9228}"/>
                </a:ext>
              </a:extLst>
            </p:cNvPr>
            <p:cNvSpPr/>
            <p:nvPr/>
          </p:nvSpPr>
          <p:spPr>
            <a:xfrm>
              <a:off x="918572" y="3733520"/>
              <a:ext cx="157162" cy="157162"/>
            </a:xfrm>
            <a:custGeom>
              <a:avLst/>
              <a:gdLst>
                <a:gd name="connsiteX0" fmla="*/ 157162 w 157162"/>
                <a:gd name="connsiteY0" fmla="*/ 78581 h 157162"/>
                <a:gd name="connsiteX1" fmla="*/ 78581 w 157162"/>
                <a:gd name="connsiteY1" fmla="*/ 157163 h 157162"/>
                <a:gd name="connsiteX2" fmla="*/ 0 w 157162"/>
                <a:gd name="connsiteY2" fmla="*/ 78581 h 157162"/>
                <a:gd name="connsiteX3" fmla="*/ 78581 w 157162"/>
                <a:gd name="connsiteY3" fmla="*/ 0 h 157162"/>
                <a:gd name="connsiteX4" fmla="*/ 157162 w 157162"/>
                <a:gd name="connsiteY4" fmla="*/ 78581 h 157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162" h="157162">
                  <a:moveTo>
                    <a:pt x="157162" y="78581"/>
                  </a:moveTo>
                  <a:cubicBezTo>
                    <a:pt x="157162" y="121980"/>
                    <a:pt x="121980" y="157163"/>
                    <a:pt x="78581" y="157163"/>
                  </a:cubicBezTo>
                  <a:cubicBezTo>
                    <a:pt x="35182" y="157163"/>
                    <a:pt x="0" y="121980"/>
                    <a:pt x="0" y="78581"/>
                  </a:cubicBezTo>
                  <a:cubicBezTo>
                    <a:pt x="0" y="35182"/>
                    <a:pt x="35182" y="0"/>
                    <a:pt x="78581" y="0"/>
                  </a:cubicBezTo>
                  <a:cubicBezTo>
                    <a:pt x="121980" y="0"/>
                    <a:pt x="157162" y="35182"/>
                    <a:pt x="157162" y="78581"/>
                  </a:cubicBezTo>
                  <a:close/>
                </a:path>
              </a:pathLst>
            </a:custGeom>
            <a:solidFill>
              <a:srgbClr val="FFFFFF"/>
            </a:solidFill>
            <a:ln w="5953"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DE53EAA3-1C99-4FEA-A5C1-5F3E0C620CA6}"/>
                </a:ext>
              </a:extLst>
            </p:cNvPr>
            <p:cNvSpPr/>
            <p:nvPr/>
          </p:nvSpPr>
          <p:spPr>
            <a:xfrm>
              <a:off x="881067" y="3975217"/>
              <a:ext cx="220358" cy="220265"/>
            </a:xfrm>
            <a:custGeom>
              <a:avLst/>
              <a:gdLst>
                <a:gd name="connsiteX0" fmla="*/ 216098 w 220358"/>
                <a:gd name="connsiteY0" fmla="*/ 91083 h 220265"/>
                <a:gd name="connsiteX1" fmla="*/ 198239 w 220358"/>
                <a:gd name="connsiteY1" fmla="*/ 87511 h 220265"/>
                <a:gd name="connsiteX2" fmla="*/ 194072 w 220358"/>
                <a:gd name="connsiteY2" fmla="*/ 83344 h 220265"/>
                <a:gd name="connsiteX3" fmla="*/ 188714 w 220358"/>
                <a:gd name="connsiteY3" fmla="*/ 69652 h 220265"/>
                <a:gd name="connsiteX4" fmla="*/ 188714 w 220358"/>
                <a:gd name="connsiteY4" fmla="*/ 63698 h 220265"/>
                <a:gd name="connsiteX5" fmla="*/ 198834 w 220358"/>
                <a:gd name="connsiteY5" fmla="*/ 48220 h 220265"/>
                <a:gd name="connsiteX6" fmla="*/ 198239 w 220358"/>
                <a:gd name="connsiteY6" fmla="*/ 41077 h 220265"/>
                <a:gd name="connsiteX7" fmla="*/ 179189 w 220358"/>
                <a:gd name="connsiteY7" fmla="*/ 22622 h 220265"/>
                <a:gd name="connsiteX8" fmla="*/ 172045 w 220358"/>
                <a:gd name="connsiteY8" fmla="*/ 22027 h 220265"/>
                <a:gd name="connsiteX9" fmla="*/ 156567 w 220358"/>
                <a:gd name="connsiteY9" fmla="*/ 32147 h 220265"/>
                <a:gd name="connsiteX10" fmla="*/ 150614 w 220358"/>
                <a:gd name="connsiteY10" fmla="*/ 32147 h 220265"/>
                <a:gd name="connsiteX11" fmla="*/ 136922 w 220358"/>
                <a:gd name="connsiteY11" fmla="*/ 26789 h 220265"/>
                <a:gd name="connsiteX12" fmla="*/ 132755 w 220358"/>
                <a:gd name="connsiteY12" fmla="*/ 22622 h 220265"/>
                <a:gd name="connsiteX13" fmla="*/ 129183 w 220358"/>
                <a:gd name="connsiteY13" fmla="*/ 4763 h 220265"/>
                <a:gd name="connsiteX14" fmla="*/ 123230 w 220358"/>
                <a:gd name="connsiteY14" fmla="*/ 0 h 220265"/>
                <a:gd name="connsiteX15" fmla="*/ 97036 w 220358"/>
                <a:gd name="connsiteY15" fmla="*/ 0 h 220265"/>
                <a:gd name="connsiteX16" fmla="*/ 91083 w 220358"/>
                <a:gd name="connsiteY16" fmla="*/ 4763 h 220265"/>
                <a:gd name="connsiteX17" fmla="*/ 87511 w 220358"/>
                <a:gd name="connsiteY17" fmla="*/ 22622 h 220265"/>
                <a:gd name="connsiteX18" fmla="*/ 83344 w 220358"/>
                <a:gd name="connsiteY18" fmla="*/ 26789 h 220265"/>
                <a:gd name="connsiteX19" fmla="*/ 69652 w 220358"/>
                <a:gd name="connsiteY19" fmla="*/ 32147 h 220265"/>
                <a:gd name="connsiteX20" fmla="*/ 63698 w 220358"/>
                <a:gd name="connsiteY20" fmla="*/ 32147 h 220265"/>
                <a:gd name="connsiteX21" fmla="*/ 48220 w 220358"/>
                <a:gd name="connsiteY21" fmla="*/ 22027 h 220265"/>
                <a:gd name="connsiteX22" fmla="*/ 41077 w 220358"/>
                <a:gd name="connsiteY22" fmla="*/ 22622 h 220265"/>
                <a:gd name="connsiteX23" fmla="*/ 22622 w 220358"/>
                <a:gd name="connsiteY23" fmla="*/ 41077 h 220265"/>
                <a:gd name="connsiteX24" fmla="*/ 22027 w 220358"/>
                <a:gd name="connsiteY24" fmla="*/ 48220 h 220265"/>
                <a:gd name="connsiteX25" fmla="*/ 32147 w 220358"/>
                <a:gd name="connsiteY25" fmla="*/ 63698 h 220265"/>
                <a:gd name="connsiteX26" fmla="*/ 32147 w 220358"/>
                <a:gd name="connsiteY26" fmla="*/ 69652 h 220265"/>
                <a:gd name="connsiteX27" fmla="*/ 26789 w 220358"/>
                <a:gd name="connsiteY27" fmla="*/ 83344 h 220265"/>
                <a:gd name="connsiteX28" fmla="*/ 22622 w 220358"/>
                <a:gd name="connsiteY28" fmla="*/ 87511 h 220265"/>
                <a:gd name="connsiteX29" fmla="*/ 4762 w 220358"/>
                <a:gd name="connsiteY29" fmla="*/ 91083 h 220265"/>
                <a:gd name="connsiteX30" fmla="*/ 0 w 220358"/>
                <a:gd name="connsiteY30" fmla="*/ 97036 h 220265"/>
                <a:gd name="connsiteX31" fmla="*/ 0 w 220358"/>
                <a:gd name="connsiteY31" fmla="*/ 123230 h 220265"/>
                <a:gd name="connsiteX32" fmla="*/ 4762 w 220358"/>
                <a:gd name="connsiteY32" fmla="*/ 129183 h 220265"/>
                <a:gd name="connsiteX33" fmla="*/ 22622 w 220358"/>
                <a:gd name="connsiteY33" fmla="*/ 132755 h 220265"/>
                <a:gd name="connsiteX34" fmla="*/ 26789 w 220358"/>
                <a:gd name="connsiteY34" fmla="*/ 136922 h 220265"/>
                <a:gd name="connsiteX35" fmla="*/ 32147 w 220358"/>
                <a:gd name="connsiteY35" fmla="*/ 150614 h 220265"/>
                <a:gd name="connsiteX36" fmla="*/ 32147 w 220358"/>
                <a:gd name="connsiteY36" fmla="*/ 156567 h 220265"/>
                <a:gd name="connsiteX37" fmla="*/ 22027 w 220358"/>
                <a:gd name="connsiteY37" fmla="*/ 172045 h 220265"/>
                <a:gd name="connsiteX38" fmla="*/ 22622 w 220358"/>
                <a:gd name="connsiteY38" fmla="*/ 179189 h 220265"/>
                <a:gd name="connsiteX39" fmla="*/ 41077 w 220358"/>
                <a:gd name="connsiteY39" fmla="*/ 197644 h 220265"/>
                <a:gd name="connsiteX40" fmla="*/ 48220 w 220358"/>
                <a:gd name="connsiteY40" fmla="*/ 198239 h 220265"/>
                <a:gd name="connsiteX41" fmla="*/ 63698 w 220358"/>
                <a:gd name="connsiteY41" fmla="*/ 188119 h 220265"/>
                <a:gd name="connsiteX42" fmla="*/ 69652 w 220358"/>
                <a:gd name="connsiteY42" fmla="*/ 188119 h 220265"/>
                <a:gd name="connsiteX43" fmla="*/ 83344 w 220358"/>
                <a:gd name="connsiteY43" fmla="*/ 193477 h 220265"/>
                <a:gd name="connsiteX44" fmla="*/ 87511 w 220358"/>
                <a:gd name="connsiteY44" fmla="*/ 197644 h 220265"/>
                <a:gd name="connsiteX45" fmla="*/ 91083 w 220358"/>
                <a:gd name="connsiteY45" fmla="*/ 215503 h 220265"/>
                <a:gd name="connsiteX46" fmla="*/ 97036 w 220358"/>
                <a:gd name="connsiteY46" fmla="*/ 220266 h 220265"/>
                <a:gd name="connsiteX47" fmla="*/ 123230 w 220358"/>
                <a:gd name="connsiteY47" fmla="*/ 220266 h 220265"/>
                <a:gd name="connsiteX48" fmla="*/ 129183 w 220358"/>
                <a:gd name="connsiteY48" fmla="*/ 215503 h 220265"/>
                <a:gd name="connsiteX49" fmla="*/ 132755 w 220358"/>
                <a:gd name="connsiteY49" fmla="*/ 197644 h 220265"/>
                <a:gd name="connsiteX50" fmla="*/ 136922 w 220358"/>
                <a:gd name="connsiteY50" fmla="*/ 193477 h 220265"/>
                <a:gd name="connsiteX51" fmla="*/ 150614 w 220358"/>
                <a:gd name="connsiteY51" fmla="*/ 188119 h 220265"/>
                <a:gd name="connsiteX52" fmla="*/ 156567 w 220358"/>
                <a:gd name="connsiteY52" fmla="*/ 188119 h 220265"/>
                <a:gd name="connsiteX53" fmla="*/ 172045 w 220358"/>
                <a:gd name="connsiteY53" fmla="*/ 198239 h 220265"/>
                <a:gd name="connsiteX54" fmla="*/ 179189 w 220358"/>
                <a:gd name="connsiteY54" fmla="*/ 197644 h 220265"/>
                <a:gd name="connsiteX55" fmla="*/ 197644 w 220358"/>
                <a:gd name="connsiteY55" fmla="*/ 179189 h 220265"/>
                <a:gd name="connsiteX56" fmla="*/ 198239 w 220358"/>
                <a:gd name="connsiteY56" fmla="*/ 172045 h 220265"/>
                <a:gd name="connsiteX57" fmla="*/ 188119 w 220358"/>
                <a:gd name="connsiteY57" fmla="*/ 156567 h 220265"/>
                <a:gd name="connsiteX58" fmla="*/ 188119 w 220358"/>
                <a:gd name="connsiteY58" fmla="*/ 150614 h 220265"/>
                <a:gd name="connsiteX59" fmla="*/ 193477 w 220358"/>
                <a:gd name="connsiteY59" fmla="*/ 136922 h 220265"/>
                <a:gd name="connsiteX60" fmla="*/ 197644 w 220358"/>
                <a:gd name="connsiteY60" fmla="*/ 132755 h 220265"/>
                <a:gd name="connsiteX61" fmla="*/ 215503 w 220358"/>
                <a:gd name="connsiteY61" fmla="*/ 129183 h 220265"/>
                <a:gd name="connsiteX62" fmla="*/ 220266 w 220358"/>
                <a:gd name="connsiteY62" fmla="*/ 123230 h 220265"/>
                <a:gd name="connsiteX63" fmla="*/ 220266 w 220358"/>
                <a:gd name="connsiteY63" fmla="*/ 97036 h 220265"/>
                <a:gd name="connsiteX64" fmla="*/ 216098 w 220358"/>
                <a:gd name="connsiteY64" fmla="*/ 91083 h 22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20358" h="220265">
                  <a:moveTo>
                    <a:pt x="216098" y="91083"/>
                  </a:moveTo>
                  <a:lnTo>
                    <a:pt x="198239" y="87511"/>
                  </a:lnTo>
                  <a:cubicBezTo>
                    <a:pt x="195858" y="86916"/>
                    <a:pt x="194667" y="85725"/>
                    <a:pt x="194072" y="83344"/>
                  </a:cubicBezTo>
                  <a:cubicBezTo>
                    <a:pt x="192286" y="78581"/>
                    <a:pt x="190500" y="74414"/>
                    <a:pt x="188714" y="69652"/>
                  </a:cubicBezTo>
                  <a:cubicBezTo>
                    <a:pt x="187523" y="67866"/>
                    <a:pt x="187523" y="65484"/>
                    <a:pt x="188714" y="63698"/>
                  </a:cubicBezTo>
                  <a:lnTo>
                    <a:pt x="198834" y="48220"/>
                  </a:lnTo>
                  <a:cubicBezTo>
                    <a:pt x="200620" y="45839"/>
                    <a:pt x="200025" y="42863"/>
                    <a:pt x="198239" y="41077"/>
                  </a:cubicBezTo>
                  <a:lnTo>
                    <a:pt x="179189" y="22622"/>
                  </a:lnTo>
                  <a:cubicBezTo>
                    <a:pt x="177403" y="20836"/>
                    <a:pt x="174427" y="20241"/>
                    <a:pt x="172045" y="22027"/>
                  </a:cubicBezTo>
                  <a:lnTo>
                    <a:pt x="156567" y="32147"/>
                  </a:lnTo>
                  <a:cubicBezTo>
                    <a:pt x="154781" y="33338"/>
                    <a:pt x="152400" y="33338"/>
                    <a:pt x="150614" y="32147"/>
                  </a:cubicBezTo>
                  <a:cubicBezTo>
                    <a:pt x="146447" y="29766"/>
                    <a:pt x="141684" y="27980"/>
                    <a:pt x="136922" y="26789"/>
                  </a:cubicBezTo>
                  <a:cubicBezTo>
                    <a:pt x="135136" y="26194"/>
                    <a:pt x="133350" y="24408"/>
                    <a:pt x="132755" y="22622"/>
                  </a:cubicBezTo>
                  <a:lnTo>
                    <a:pt x="129183" y="4763"/>
                  </a:lnTo>
                  <a:cubicBezTo>
                    <a:pt x="128587" y="1786"/>
                    <a:pt x="126206" y="0"/>
                    <a:pt x="123230" y="0"/>
                  </a:cubicBezTo>
                  <a:lnTo>
                    <a:pt x="97036" y="0"/>
                  </a:lnTo>
                  <a:cubicBezTo>
                    <a:pt x="94059" y="0"/>
                    <a:pt x="91678" y="1786"/>
                    <a:pt x="91083" y="4763"/>
                  </a:cubicBezTo>
                  <a:lnTo>
                    <a:pt x="87511" y="22622"/>
                  </a:lnTo>
                  <a:cubicBezTo>
                    <a:pt x="86916" y="25003"/>
                    <a:pt x="85725" y="26194"/>
                    <a:pt x="83344" y="26789"/>
                  </a:cubicBezTo>
                  <a:cubicBezTo>
                    <a:pt x="78581" y="28575"/>
                    <a:pt x="74414" y="30361"/>
                    <a:pt x="69652" y="32147"/>
                  </a:cubicBezTo>
                  <a:cubicBezTo>
                    <a:pt x="67866" y="33338"/>
                    <a:pt x="65484" y="33338"/>
                    <a:pt x="63698" y="32147"/>
                  </a:cubicBezTo>
                  <a:lnTo>
                    <a:pt x="48220" y="22027"/>
                  </a:lnTo>
                  <a:cubicBezTo>
                    <a:pt x="45839" y="20241"/>
                    <a:pt x="42863" y="20836"/>
                    <a:pt x="41077" y="22622"/>
                  </a:cubicBezTo>
                  <a:lnTo>
                    <a:pt x="22622" y="41077"/>
                  </a:lnTo>
                  <a:cubicBezTo>
                    <a:pt x="20836" y="42863"/>
                    <a:pt x="20241" y="45839"/>
                    <a:pt x="22027" y="48220"/>
                  </a:cubicBezTo>
                  <a:lnTo>
                    <a:pt x="32147" y="63698"/>
                  </a:lnTo>
                  <a:cubicBezTo>
                    <a:pt x="33337" y="65484"/>
                    <a:pt x="33337" y="67866"/>
                    <a:pt x="32147" y="69652"/>
                  </a:cubicBezTo>
                  <a:cubicBezTo>
                    <a:pt x="29766" y="73819"/>
                    <a:pt x="27980" y="78581"/>
                    <a:pt x="26789" y="83344"/>
                  </a:cubicBezTo>
                  <a:cubicBezTo>
                    <a:pt x="26194" y="85130"/>
                    <a:pt x="24408" y="86916"/>
                    <a:pt x="22622" y="87511"/>
                  </a:cubicBezTo>
                  <a:lnTo>
                    <a:pt x="4762" y="91083"/>
                  </a:lnTo>
                  <a:cubicBezTo>
                    <a:pt x="1786" y="91678"/>
                    <a:pt x="0" y="94059"/>
                    <a:pt x="0" y="97036"/>
                  </a:cubicBezTo>
                  <a:lnTo>
                    <a:pt x="0" y="123230"/>
                  </a:lnTo>
                  <a:cubicBezTo>
                    <a:pt x="0" y="126206"/>
                    <a:pt x="1786" y="128588"/>
                    <a:pt x="4762" y="129183"/>
                  </a:cubicBezTo>
                  <a:lnTo>
                    <a:pt x="22622" y="132755"/>
                  </a:lnTo>
                  <a:cubicBezTo>
                    <a:pt x="25003" y="133350"/>
                    <a:pt x="26194" y="134541"/>
                    <a:pt x="26789" y="136922"/>
                  </a:cubicBezTo>
                  <a:cubicBezTo>
                    <a:pt x="28575" y="141684"/>
                    <a:pt x="30361" y="145852"/>
                    <a:pt x="32147" y="150614"/>
                  </a:cubicBezTo>
                  <a:cubicBezTo>
                    <a:pt x="33337" y="152400"/>
                    <a:pt x="33337" y="154781"/>
                    <a:pt x="32147" y="156567"/>
                  </a:cubicBezTo>
                  <a:lnTo>
                    <a:pt x="22027" y="172045"/>
                  </a:lnTo>
                  <a:cubicBezTo>
                    <a:pt x="20241" y="174427"/>
                    <a:pt x="20836" y="177403"/>
                    <a:pt x="22622" y="179189"/>
                  </a:cubicBezTo>
                  <a:lnTo>
                    <a:pt x="41077" y="197644"/>
                  </a:lnTo>
                  <a:cubicBezTo>
                    <a:pt x="42863" y="199430"/>
                    <a:pt x="45839" y="200025"/>
                    <a:pt x="48220" y="198239"/>
                  </a:cubicBezTo>
                  <a:lnTo>
                    <a:pt x="63698" y="188119"/>
                  </a:lnTo>
                  <a:cubicBezTo>
                    <a:pt x="65484" y="186928"/>
                    <a:pt x="67866" y="186928"/>
                    <a:pt x="69652" y="188119"/>
                  </a:cubicBezTo>
                  <a:cubicBezTo>
                    <a:pt x="73819" y="190500"/>
                    <a:pt x="78581" y="192286"/>
                    <a:pt x="83344" y="193477"/>
                  </a:cubicBezTo>
                  <a:cubicBezTo>
                    <a:pt x="85130" y="194072"/>
                    <a:pt x="86916" y="195858"/>
                    <a:pt x="87511" y="197644"/>
                  </a:cubicBezTo>
                  <a:lnTo>
                    <a:pt x="91083" y="215503"/>
                  </a:lnTo>
                  <a:cubicBezTo>
                    <a:pt x="91678" y="218480"/>
                    <a:pt x="94059" y="220266"/>
                    <a:pt x="97036" y="220266"/>
                  </a:cubicBezTo>
                  <a:lnTo>
                    <a:pt x="123230" y="220266"/>
                  </a:lnTo>
                  <a:cubicBezTo>
                    <a:pt x="126206" y="220266"/>
                    <a:pt x="128587" y="218480"/>
                    <a:pt x="129183" y="215503"/>
                  </a:cubicBezTo>
                  <a:lnTo>
                    <a:pt x="132755" y="197644"/>
                  </a:lnTo>
                  <a:cubicBezTo>
                    <a:pt x="133350" y="195263"/>
                    <a:pt x="134541" y="194072"/>
                    <a:pt x="136922" y="193477"/>
                  </a:cubicBezTo>
                  <a:cubicBezTo>
                    <a:pt x="141684" y="191691"/>
                    <a:pt x="145852" y="189905"/>
                    <a:pt x="150614" y="188119"/>
                  </a:cubicBezTo>
                  <a:cubicBezTo>
                    <a:pt x="152400" y="186928"/>
                    <a:pt x="154781" y="186928"/>
                    <a:pt x="156567" y="188119"/>
                  </a:cubicBezTo>
                  <a:lnTo>
                    <a:pt x="172045" y="198239"/>
                  </a:lnTo>
                  <a:cubicBezTo>
                    <a:pt x="174427" y="200025"/>
                    <a:pt x="177403" y="199430"/>
                    <a:pt x="179189" y="197644"/>
                  </a:cubicBezTo>
                  <a:lnTo>
                    <a:pt x="197644" y="179189"/>
                  </a:lnTo>
                  <a:cubicBezTo>
                    <a:pt x="199430" y="177403"/>
                    <a:pt x="200025" y="174427"/>
                    <a:pt x="198239" y="172045"/>
                  </a:cubicBezTo>
                  <a:lnTo>
                    <a:pt x="188119" y="156567"/>
                  </a:lnTo>
                  <a:cubicBezTo>
                    <a:pt x="186928" y="154781"/>
                    <a:pt x="186928" y="152400"/>
                    <a:pt x="188119" y="150614"/>
                  </a:cubicBezTo>
                  <a:cubicBezTo>
                    <a:pt x="190500" y="146447"/>
                    <a:pt x="192286" y="141684"/>
                    <a:pt x="193477" y="136922"/>
                  </a:cubicBezTo>
                  <a:cubicBezTo>
                    <a:pt x="194072" y="135136"/>
                    <a:pt x="195858" y="133350"/>
                    <a:pt x="197644" y="132755"/>
                  </a:cubicBezTo>
                  <a:lnTo>
                    <a:pt x="215503" y="129183"/>
                  </a:lnTo>
                  <a:cubicBezTo>
                    <a:pt x="218480" y="128588"/>
                    <a:pt x="220266" y="126206"/>
                    <a:pt x="220266" y="123230"/>
                  </a:cubicBezTo>
                  <a:lnTo>
                    <a:pt x="220266" y="97036"/>
                  </a:lnTo>
                  <a:cubicBezTo>
                    <a:pt x="220861" y="94059"/>
                    <a:pt x="218480" y="91678"/>
                    <a:pt x="216098" y="91083"/>
                  </a:cubicBezTo>
                  <a:close/>
                </a:path>
              </a:pathLst>
            </a:custGeom>
            <a:solidFill>
              <a:srgbClr val="535E6F"/>
            </a:solidFill>
            <a:ln w="5953"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687895BB-2BF8-4BF6-9671-D1209DA0E217}"/>
                </a:ext>
              </a:extLst>
            </p:cNvPr>
            <p:cNvSpPr/>
            <p:nvPr/>
          </p:nvSpPr>
          <p:spPr>
            <a:xfrm>
              <a:off x="930478" y="4024628"/>
              <a:ext cx="121443" cy="121443"/>
            </a:xfrm>
            <a:custGeom>
              <a:avLst/>
              <a:gdLst>
                <a:gd name="connsiteX0" fmla="*/ 121444 w 121443"/>
                <a:gd name="connsiteY0" fmla="*/ 60722 h 121443"/>
                <a:gd name="connsiteX1" fmla="*/ 60722 w 121443"/>
                <a:gd name="connsiteY1" fmla="*/ 121444 h 121443"/>
                <a:gd name="connsiteX2" fmla="*/ 0 w 121443"/>
                <a:gd name="connsiteY2" fmla="*/ 60722 h 121443"/>
                <a:gd name="connsiteX3" fmla="*/ 60722 w 121443"/>
                <a:gd name="connsiteY3" fmla="*/ 0 h 121443"/>
                <a:gd name="connsiteX4" fmla="*/ 121444 w 121443"/>
                <a:gd name="connsiteY4" fmla="*/ 60722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43" h="121443">
                  <a:moveTo>
                    <a:pt x="121444" y="60722"/>
                  </a:moveTo>
                  <a:cubicBezTo>
                    <a:pt x="121444" y="94258"/>
                    <a:pt x="94258" y="121444"/>
                    <a:pt x="60722" y="121444"/>
                  </a:cubicBezTo>
                  <a:cubicBezTo>
                    <a:pt x="27186" y="121444"/>
                    <a:pt x="0" y="94258"/>
                    <a:pt x="0" y="60722"/>
                  </a:cubicBezTo>
                  <a:cubicBezTo>
                    <a:pt x="0" y="27186"/>
                    <a:pt x="27186" y="0"/>
                    <a:pt x="60722" y="0"/>
                  </a:cubicBezTo>
                  <a:cubicBezTo>
                    <a:pt x="94258" y="0"/>
                    <a:pt x="121444" y="27186"/>
                    <a:pt x="121444" y="60722"/>
                  </a:cubicBezTo>
                  <a:close/>
                </a:path>
              </a:pathLst>
            </a:custGeom>
            <a:solidFill>
              <a:srgbClr val="FFFFFF"/>
            </a:solidFill>
            <a:ln w="5953" cap="flat">
              <a:no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16802068-CEC9-46B2-95DF-DFB04C4E8C42}"/>
                </a:ext>
              </a:extLst>
            </p:cNvPr>
            <p:cNvSpPr/>
            <p:nvPr/>
          </p:nvSpPr>
          <p:spPr>
            <a:xfrm>
              <a:off x="962625" y="3757589"/>
              <a:ext cx="68460" cy="109281"/>
            </a:xfrm>
            <a:custGeom>
              <a:avLst/>
              <a:gdLst>
                <a:gd name="connsiteX0" fmla="*/ 38695 w 68460"/>
                <a:gd name="connsiteY0" fmla="*/ 1530 h 109281"/>
                <a:gd name="connsiteX1" fmla="*/ 32742 w 68460"/>
                <a:gd name="connsiteY1" fmla="*/ 3316 h 109281"/>
                <a:gd name="connsiteX2" fmla="*/ 32742 w 68460"/>
                <a:gd name="connsiteY2" fmla="*/ 22366 h 109281"/>
                <a:gd name="connsiteX3" fmla="*/ 32742 w 68460"/>
                <a:gd name="connsiteY3" fmla="*/ 24152 h 109281"/>
                <a:gd name="connsiteX4" fmla="*/ 32742 w 68460"/>
                <a:gd name="connsiteY4" fmla="*/ 60466 h 109281"/>
                <a:gd name="connsiteX5" fmla="*/ 25003 w 68460"/>
                <a:gd name="connsiteY5" fmla="*/ 59275 h 109281"/>
                <a:gd name="connsiteX6" fmla="*/ 0 w 68460"/>
                <a:gd name="connsiteY6" fmla="*/ 84278 h 109281"/>
                <a:gd name="connsiteX7" fmla="*/ 25003 w 68460"/>
                <a:gd name="connsiteY7" fmla="*/ 109281 h 109281"/>
                <a:gd name="connsiteX8" fmla="*/ 50006 w 68460"/>
                <a:gd name="connsiteY8" fmla="*/ 84278 h 109281"/>
                <a:gd name="connsiteX9" fmla="*/ 50006 w 68460"/>
                <a:gd name="connsiteY9" fmla="*/ 84278 h 109281"/>
                <a:gd name="connsiteX10" fmla="*/ 50006 w 68460"/>
                <a:gd name="connsiteY10" fmla="*/ 84278 h 109281"/>
                <a:gd name="connsiteX11" fmla="*/ 50006 w 68460"/>
                <a:gd name="connsiteY11" fmla="*/ 24152 h 109281"/>
                <a:gd name="connsiteX12" fmla="*/ 68461 w 68460"/>
                <a:gd name="connsiteY12" fmla="*/ 22366 h 109281"/>
                <a:gd name="connsiteX13" fmla="*/ 38695 w 68460"/>
                <a:gd name="connsiteY13" fmla="*/ 1530 h 109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460" h="109281">
                  <a:moveTo>
                    <a:pt x="38695" y="1530"/>
                  </a:moveTo>
                  <a:cubicBezTo>
                    <a:pt x="36909" y="-1447"/>
                    <a:pt x="32742" y="339"/>
                    <a:pt x="32742" y="3316"/>
                  </a:cubicBezTo>
                  <a:lnTo>
                    <a:pt x="32742" y="22366"/>
                  </a:lnTo>
                  <a:lnTo>
                    <a:pt x="32742" y="24152"/>
                  </a:lnTo>
                  <a:lnTo>
                    <a:pt x="32742" y="60466"/>
                  </a:lnTo>
                  <a:cubicBezTo>
                    <a:pt x="30361" y="59870"/>
                    <a:pt x="27384" y="59275"/>
                    <a:pt x="25003" y="59275"/>
                  </a:cubicBezTo>
                  <a:cubicBezTo>
                    <a:pt x="11311" y="59275"/>
                    <a:pt x="0" y="70586"/>
                    <a:pt x="0" y="84278"/>
                  </a:cubicBezTo>
                  <a:cubicBezTo>
                    <a:pt x="0" y="97970"/>
                    <a:pt x="11311" y="109281"/>
                    <a:pt x="25003" y="109281"/>
                  </a:cubicBezTo>
                  <a:cubicBezTo>
                    <a:pt x="38695" y="109281"/>
                    <a:pt x="50006" y="97970"/>
                    <a:pt x="50006" y="84278"/>
                  </a:cubicBezTo>
                  <a:lnTo>
                    <a:pt x="50006" y="84278"/>
                  </a:lnTo>
                  <a:lnTo>
                    <a:pt x="50006" y="84278"/>
                  </a:lnTo>
                  <a:lnTo>
                    <a:pt x="50006" y="24152"/>
                  </a:lnTo>
                  <a:lnTo>
                    <a:pt x="68461" y="22366"/>
                  </a:lnTo>
                  <a:cubicBezTo>
                    <a:pt x="55364" y="19389"/>
                    <a:pt x="44648" y="11650"/>
                    <a:pt x="38695" y="1530"/>
                  </a:cubicBezTo>
                  <a:close/>
                </a:path>
              </a:pathLst>
            </a:custGeom>
            <a:solidFill>
              <a:schemeClr val="bg1">
                <a:lumMod val="75000"/>
              </a:schemeClr>
            </a:solidFill>
            <a:ln w="5953" cap="flat">
              <a:noFill/>
              <a:prstDash val="solid"/>
              <a:miter/>
            </a:ln>
          </p:spPr>
          <p:txBody>
            <a:bodyPr rtlCol="0" anchor="ctr"/>
            <a:lstStyle/>
            <a:p>
              <a:endParaRPr lang="en-GB"/>
            </a:p>
          </p:txBody>
        </p:sp>
        <p:sp>
          <p:nvSpPr>
            <p:cNvPr id="40" name="Freeform: Shape 39">
              <a:extLst>
                <a:ext uri="{FF2B5EF4-FFF2-40B4-BE49-F238E27FC236}">
                  <a16:creationId xmlns:a16="http://schemas.microsoft.com/office/drawing/2014/main" id="{DA2A8391-94A2-43C1-A643-34011CCF9901}"/>
                </a:ext>
              </a:extLst>
            </p:cNvPr>
            <p:cNvSpPr/>
            <p:nvPr/>
          </p:nvSpPr>
          <p:spPr>
            <a:xfrm>
              <a:off x="953100" y="4066300"/>
              <a:ext cx="75604" cy="37504"/>
            </a:xfrm>
            <a:custGeom>
              <a:avLst/>
              <a:gdLst>
                <a:gd name="connsiteX0" fmla="*/ 75605 w 75604"/>
                <a:gd name="connsiteY0" fmla="*/ 37505 h 37504"/>
                <a:gd name="connsiteX1" fmla="*/ 51197 w 75604"/>
                <a:gd name="connsiteY1" fmla="*/ 0 h 37504"/>
                <a:gd name="connsiteX2" fmla="*/ 36314 w 75604"/>
                <a:gd name="connsiteY2" fmla="*/ 22622 h 37504"/>
                <a:gd name="connsiteX3" fmla="*/ 24408 w 75604"/>
                <a:gd name="connsiteY3" fmla="*/ 8334 h 37504"/>
                <a:gd name="connsiteX4" fmla="*/ 0 w 75604"/>
                <a:gd name="connsiteY4" fmla="*/ 37505 h 37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04" h="37504">
                  <a:moveTo>
                    <a:pt x="75605" y="37505"/>
                  </a:moveTo>
                  <a:lnTo>
                    <a:pt x="51197" y="0"/>
                  </a:lnTo>
                  <a:lnTo>
                    <a:pt x="36314" y="22622"/>
                  </a:lnTo>
                  <a:lnTo>
                    <a:pt x="24408" y="8334"/>
                  </a:lnTo>
                  <a:lnTo>
                    <a:pt x="0" y="37505"/>
                  </a:lnTo>
                  <a:close/>
                </a:path>
              </a:pathLst>
            </a:custGeom>
            <a:solidFill>
              <a:schemeClr val="bg1">
                <a:lumMod val="75000"/>
              </a:schemeClr>
            </a:solidFill>
            <a:ln w="5953" cap="flat">
              <a:noFill/>
              <a:prstDash val="solid"/>
              <a:miter/>
            </a:ln>
          </p:spPr>
          <p:txBody>
            <a:bodyPr rtlCol="0" anchor="ctr"/>
            <a:lstStyle/>
            <a:p>
              <a:endParaRPr lang="en-GB"/>
            </a:p>
          </p:txBody>
        </p:sp>
      </p:grpSp>
      <p:grpSp>
        <p:nvGrpSpPr>
          <p:cNvPr id="44" name="Graphic 23" descr="{&quot;Key&quot;:&quot;POWER_USER_SHAPE_ICON&quot;,&quot;Value&quot;:&quot;POWER_USER_SHAPE_ICON_STYLE_1&quot;}">
            <a:extLst>
              <a:ext uri="{FF2B5EF4-FFF2-40B4-BE49-F238E27FC236}">
                <a16:creationId xmlns:a16="http://schemas.microsoft.com/office/drawing/2014/main" id="{6271199A-7AB6-4B81-BB8C-2CB990151017}"/>
              </a:ext>
            </a:extLst>
          </p:cNvPr>
          <p:cNvGrpSpPr/>
          <p:nvPr/>
        </p:nvGrpSpPr>
        <p:grpSpPr>
          <a:xfrm>
            <a:off x="773807" y="2149553"/>
            <a:ext cx="430410" cy="497681"/>
            <a:chOff x="773316" y="2075855"/>
            <a:chExt cx="430410" cy="497681"/>
          </a:xfrm>
        </p:grpSpPr>
        <p:sp>
          <p:nvSpPr>
            <p:cNvPr id="45" name="Freeform: Shape 44">
              <a:extLst>
                <a:ext uri="{FF2B5EF4-FFF2-40B4-BE49-F238E27FC236}">
                  <a16:creationId xmlns:a16="http://schemas.microsoft.com/office/drawing/2014/main" id="{AC099FFD-FED8-491F-99BA-B0DA244F1E99}"/>
                </a:ext>
              </a:extLst>
            </p:cNvPr>
            <p:cNvSpPr/>
            <p:nvPr/>
          </p:nvSpPr>
          <p:spPr>
            <a:xfrm>
              <a:off x="773316" y="2075855"/>
              <a:ext cx="317301" cy="497681"/>
            </a:xfrm>
            <a:custGeom>
              <a:avLst/>
              <a:gdLst>
                <a:gd name="connsiteX0" fmla="*/ 254794 w 317301"/>
                <a:gd name="connsiteY0" fmla="*/ 0 h 497681"/>
                <a:gd name="connsiteX1" fmla="*/ 62508 w 317301"/>
                <a:gd name="connsiteY1" fmla="*/ 0 h 497681"/>
                <a:gd name="connsiteX2" fmla="*/ 0 w 317301"/>
                <a:gd name="connsiteY2" fmla="*/ 62508 h 497681"/>
                <a:gd name="connsiteX3" fmla="*/ 0 w 317301"/>
                <a:gd name="connsiteY3" fmla="*/ 435173 h 497681"/>
                <a:gd name="connsiteX4" fmla="*/ 62508 w 317301"/>
                <a:gd name="connsiteY4" fmla="*/ 497681 h 497681"/>
                <a:gd name="connsiteX5" fmla="*/ 254794 w 317301"/>
                <a:gd name="connsiteY5" fmla="*/ 497681 h 497681"/>
                <a:gd name="connsiteX6" fmla="*/ 317302 w 317301"/>
                <a:gd name="connsiteY6" fmla="*/ 435173 h 497681"/>
                <a:gd name="connsiteX7" fmla="*/ 317302 w 317301"/>
                <a:gd name="connsiteY7" fmla="*/ 62508 h 497681"/>
                <a:gd name="connsiteX8" fmla="*/ 254794 w 317301"/>
                <a:gd name="connsiteY8" fmla="*/ 0 h 497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301" h="497681">
                  <a:moveTo>
                    <a:pt x="254794" y="0"/>
                  </a:moveTo>
                  <a:lnTo>
                    <a:pt x="62508" y="0"/>
                  </a:lnTo>
                  <a:cubicBezTo>
                    <a:pt x="27980" y="0"/>
                    <a:pt x="0" y="27980"/>
                    <a:pt x="0" y="62508"/>
                  </a:cubicBezTo>
                  <a:lnTo>
                    <a:pt x="0" y="435173"/>
                  </a:lnTo>
                  <a:cubicBezTo>
                    <a:pt x="0" y="469702"/>
                    <a:pt x="27980" y="497681"/>
                    <a:pt x="62508" y="497681"/>
                  </a:cubicBezTo>
                  <a:lnTo>
                    <a:pt x="254794" y="497681"/>
                  </a:lnTo>
                  <a:cubicBezTo>
                    <a:pt x="289322" y="497681"/>
                    <a:pt x="317302" y="469702"/>
                    <a:pt x="317302" y="435173"/>
                  </a:cubicBezTo>
                  <a:lnTo>
                    <a:pt x="317302" y="62508"/>
                  </a:lnTo>
                  <a:cubicBezTo>
                    <a:pt x="317302" y="27980"/>
                    <a:pt x="289322" y="0"/>
                    <a:pt x="254794" y="0"/>
                  </a:cubicBezTo>
                  <a:close/>
                </a:path>
              </a:pathLst>
            </a:custGeom>
            <a:solidFill>
              <a:srgbClr val="535E6F"/>
            </a:solidFill>
            <a:ln w="5953"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18713A33-B870-4994-9E2D-1032ED4E15DE}"/>
                </a:ext>
              </a:extLst>
            </p:cNvPr>
            <p:cNvSpPr/>
            <p:nvPr/>
          </p:nvSpPr>
          <p:spPr>
            <a:xfrm>
              <a:off x="794152" y="2131219"/>
              <a:ext cx="275629" cy="356592"/>
            </a:xfrm>
            <a:custGeom>
              <a:avLst/>
              <a:gdLst>
                <a:gd name="connsiteX0" fmla="*/ 0 w 275629"/>
                <a:gd name="connsiteY0" fmla="*/ 0 h 356592"/>
                <a:gd name="connsiteX1" fmla="*/ 275630 w 275629"/>
                <a:gd name="connsiteY1" fmla="*/ 0 h 356592"/>
                <a:gd name="connsiteX2" fmla="*/ 275630 w 275629"/>
                <a:gd name="connsiteY2" fmla="*/ 356592 h 356592"/>
                <a:gd name="connsiteX3" fmla="*/ 0 w 275629"/>
                <a:gd name="connsiteY3" fmla="*/ 356592 h 356592"/>
              </a:gdLst>
              <a:ahLst/>
              <a:cxnLst>
                <a:cxn ang="0">
                  <a:pos x="connsiteX0" y="connsiteY0"/>
                </a:cxn>
                <a:cxn ang="0">
                  <a:pos x="connsiteX1" y="connsiteY1"/>
                </a:cxn>
                <a:cxn ang="0">
                  <a:pos x="connsiteX2" y="connsiteY2"/>
                </a:cxn>
                <a:cxn ang="0">
                  <a:pos x="connsiteX3" y="connsiteY3"/>
                </a:cxn>
              </a:cxnLst>
              <a:rect l="l" t="t" r="r" b="b"/>
              <a:pathLst>
                <a:path w="275629" h="356592">
                  <a:moveTo>
                    <a:pt x="0" y="0"/>
                  </a:moveTo>
                  <a:lnTo>
                    <a:pt x="275630" y="0"/>
                  </a:lnTo>
                  <a:lnTo>
                    <a:pt x="275630" y="356592"/>
                  </a:lnTo>
                  <a:lnTo>
                    <a:pt x="0" y="356592"/>
                  </a:lnTo>
                  <a:close/>
                </a:path>
              </a:pathLst>
            </a:custGeom>
            <a:solidFill>
              <a:srgbClr val="0BB6EA"/>
            </a:solidFill>
            <a:ln w="5953"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DD2DA6E5-F8EE-43CA-8DAA-EC851C4F8537}"/>
                </a:ext>
              </a:extLst>
            </p:cNvPr>
            <p:cNvSpPr/>
            <p:nvPr/>
          </p:nvSpPr>
          <p:spPr>
            <a:xfrm>
              <a:off x="901903" y="2499122"/>
              <a:ext cx="59531" cy="59531"/>
            </a:xfrm>
            <a:custGeom>
              <a:avLst/>
              <a:gdLst>
                <a:gd name="connsiteX0" fmla="*/ 59531 w 59531"/>
                <a:gd name="connsiteY0" fmla="*/ 29766 h 59531"/>
                <a:gd name="connsiteX1" fmla="*/ 29766 w 59531"/>
                <a:gd name="connsiteY1" fmla="*/ 59531 h 59531"/>
                <a:gd name="connsiteX2" fmla="*/ 0 w 59531"/>
                <a:gd name="connsiteY2" fmla="*/ 29766 h 59531"/>
                <a:gd name="connsiteX3" fmla="*/ 29766 w 59531"/>
                <a:gd name="connsiteY3" fmla="*/ 0 h 59531"/>
                <a:gd name="connsiteX4" fmla="*/ 59531 w 59531"/>
                <a:gd name="connsiteY4" fmla="*/ 29766 h 59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31" h="59531">
                  <a:moveTo>
                    <a:pt x="59531" y="29766"/>
                  </a:moveTo>
                  <a:cubicBezTo>
                    <a:pt x="59531" y="46205"/>
                    <a:pt x="46205" y="59531"/>
                    <a:pt x="29766" y="59531"/>
                  </a:cubicBezTo>
                  <a:cubicBezTo>
                    <a:pt x="13327" y="59531"/>
                    <a:pt x="0" y="46205"/>
                    <a:pt x="0" y="29766"/>
                  </a:cubicBezTo>
                  <a:cubicBezTo>
                    <a:pt x="0" y="13327"/>
                    <a:pt x="13327" y="0"/>
                    <a:pt x="29766" y="0"/>
                  </a:cubicBezTo>
                  <a:cubicBezTo>
                    <a:pt x="46205" y="0"/>
                    <a:pt x="59531" y="13327"/>
                    <a:pt x="59531" y="29766"/>
                  </a:cubicBezTo>
                  <a:close/>
                </a:path>
              </a:pathLst>
            </a:custGeom>
            <a:solidFill>
              <a:srgbClr val="E5E8EC"/>
            </a:solidFill>
            <a:ln w="5953"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4F79C3A3-1F8E-411C-98A5-5842ED9788DA}"/>
                </a:ext>
              </a:extLst>
            </p:cNvPr>
            <p:cNvSpPr/>
            <p:nvPr/>
          </p:nvSpPr>
          <p:spPr>
            <a:xfrm>
              <a:off x="915595" y="2512814"/>
              <a:ext cx="32146" cy="32146"/>
            </a:xfrm>
            <a:custGeom>
              <a:avLst/>
              <a:gdLst>
                <a:gd name="connsiteX0" fmla="*/ 32147 w 32146"/>
                <a:gd name="connsiteY0" fmla="*/ 16073 h 32146"/>
                <a:gd name="connsiteX1" fmla="*/ 16073 w 32146"/>
                <a:gd name="connsiteY1" fmla="*/ 32147 h 32146"/>
                <a:gd name="connsiteX2" fmla="*/ 0 w 32146"/>
                <a:gd name="connsiteY2" fmla="*/ 16073 h 32146"/>
                <a:gd name="connsiteX3" fmla="*/ 16073 w 32146"/>
                <a:gd name="connsiteY3" fmla="*/ 0 h 32146"/>
                <a:gd name="connsiteX4" fmla="*/ 32147 w 32146"/>
                <a:gd name="connsiteY4" fmla="*/ 16073 h 3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46" h="32146">
                  <a:moveTo>
                    <a:pt x="32147" y="16073"/>
                  </a:moveTo>
                  <a:cubicBezTo>
                    <a:pt x="32147" y="24951"/>
                    <a:pt x="24951" y="32147"/>
                    <a:pt x="16073" y="32147"/>
                  </a:cubicBezTo>
                  <a:cubicBezTo>
                    <a:pt x="7196" y="32147"/>
                    <a:pt x="0" y="24951"/>
                    <a:pt x="0" y="16073"/>
                  </a:cubicBezTo>
                  <a:cubicBezTo>
                    <a:pt x="0" y="7196"/>
                    <a:pt x="7196" y="0"/>
                    <a:pt x="16073" y="0"/>
                  </a:cubicBezTo>
                  <a:cubicBezTo>
                    <a:pt x="24951" y="0"/>
                    <a:pt x="32147" y="7196"/>
                    <a:pt x="32147" y="16073"/>
                  </a:cubicBezTo>
                  <a:close/>
                </a:path>
              </a:pathLst>
            </a:custGeom>
            <a:solidFill>
              <a:srgbClr val="444D5B"/>
            </a:solidFill>
            <a:ln w="5953" cap="flat">
              <a:noFill/>
              <a:prstDash val="solid"/>
              <a:miter/>
            </a:ln>
          </p:spPr>
          <p:txBody>
            <a:bodyPr rtlCol="0" anchor="ctr"/>
            <a:lstStyle/>
            <a:p>
              <a:endParaRPr lang="en-GB"/>
            </a:p>
          </p:txBody>
        </p:sp>
        <p:grpSp>
          <p:nvGrpSpPr>
            <p:cNvPr id="49" name="Graphic 23" descr="{&quot;Key&quot;:&quot;POWER_USER_SHAPE_ICON&quot;,&quot;Value&quot;:&quot;POWER_USER_SHAPE_ICON_STYLE_1&quot;}">
              <a:extLst>
                <a:ext uri="{FF2B5EF4-FFF2-40B4-BE49-F238E27FC236}">
                  <a16:creationId xmlns:a16="http://schemas.microsoft.com/office/drawing/2014/main" id="{6271199A-7AB6-4B81-BB8C-2CB990151017}"/>
                </a:ext>
              </a:extLst>
            </p:cNvPr>
            <p:cNvGrpSpPr/>
            <p:nvPr/>
          </p:nvGrpSpPr>
          <p:grpSpPr>
            <a:xfrm>
              <a:off x="889402" y="2100263"/>
              <a:ext cx="85221" cy="10120"/>
              <a:chOff x="889402" y="2100263"/>
              <a:chExt cx="85221" cy="10120"/>
            </a:xfrm>
            <a:solidFill>
              <a:srgbClr val="CED4DF"/>
            </a:solidFill>
          </p:grpSpPr>
          <p:sp>
            <p:nvSpPr>
              <p:cNvPr id="50" name="Freeform: Shape 49">
                <a:extLst>
                  <a:ext uri="{FF2B5EF4-FFF2-40B4-BE49-F238E27FC236}">
                    <a16:creationId xmlns:a16="http://schemas.microsoft.com/office/drawing/2014/main" id="{888EAD87-EF1E-47CD-990E-9C2CABB18BCB}"/>
                  </a:ext>
                </a:extLst>
              </p:cNvPr>
              <p:cNvSpPr/>
              <p:nvPr/>
            </p:nvSpPr>
            <p:spPr>
              <a:xfrm>
                <a:off x="912619" y="2100263"/>
                <a:ext cx="62004" cy="10120"/>
              </a:xfrm>
              <a:custGeom>
                <a:avLst/>
                <a:gdLst>
                  <a:gd name="connsiteX0" fmla="*/ 57150 w 62004"/>
                  <a:gd name="connsiteY0" fmla="*/ 10120 h 10120"/>
                  <a:gd name="connsiteX1" fmla="*/ 4762 w 62004"/>
                  <a:gd name="connsiteY1" fmla="*/ 10120 h 10120"/>
                  <a:gd name="connsiteX2" fmla="*/ 0 w 62004"/>
                  <a:gd name="connsiteY2" fmla="*/ 5358 h 10120"/>
                  <a:gd name="connsiteX3" fmla="*/ 0 w 62004"/>
                  <a:gd name="connsiteY3" fmla="*/ 4763 h 10120"/>
                  <a:gd name="connsiteX4" fmla="*/ 4762 w 62004"/>
                  <a:gd name="connsiteY4" fmla="*/ 0 h 10120"/>
                  <a:gd name="connsiteX5" fmla="*/ 57150 w 62004"/>
                  <a:gd name="connsiteY5" fmla="*/ 0 h 10120"/>
                  <a:gd name="connsiteX6" fmla="*/ 61912 w 62004"/>
                  <a:gd name="connsiteY6" fmla="*/ 4763 h 10120"/>
                  <a:gd name="connsiteX7" fmla="*/ 61912 w 62004"/>
                  <a:gd name="connsiteY7" fmla="*/ 5358 h 10120"/>
                  <a:gd name="connsiteX8" fmla="*/ 57150 w 62004"/>
                  <a:gd name="connsiteY8" fmla="*/ 10120 h 10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04" h="10120">
                    <a:moveTo>
                      <a:pt x="57150" y="10120"/>
                    </a:moveTo>
                    <a:lnTo>
                      <a:pt x="4762" y="10120"/>
                    </a:lnTo>
                    <a:cubicBezTo>
                      <a:pt x="1786" y="10120"/>
                      <a:pt x="0" y="7739"/>
                      <a:pt x="0" y="5358"/>
                    </a:cubicBezTo>
                    <a:lnTo>
                      <a:pt x="0" y="4763"/>
                    </a:lnTo>
                    <a:cubicBezTo>
                      <a:pt x="0" y="1786"/>
                      <a:pt x="2381" y="0"/>
                      <a:pt x="4762" y="0"/>
                    </a:cubicBezTo>
                    <a:lnTo>
                      <a:pt x="57150" y="0"/>
                    </a:lnTo>
                    <a:cubicBezTo>
                      <a:pt x="60127" y="0"/>
                      <a:pt x="61912" y="2381"/>
                      <a:pt x="61912" y="4763"/>
                    </a:cubicBezTo>
                    <a:lnTo>
                      <a:pt x="61912" y="5358"/>
                    </a:lnTo>
                    <a:cubicBezTo>
                      <a:pt x="62508" y="7739"/>
                      <a:pt x="60127" y="10120"/>
                      <a:pt x="57150" y="10120"/>
                    </a:cubicBezTo>
                    <a:close/>
                  </a:path>
                </a:pathLst>
              </a:custGeom>
              <a:solidFill>
                <a:srgbClr val="CED4DF"/>
              </a:solidFill>
              <a:ln w="5953"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A01AA950-5F25-4EBC-AEB1-ED61DAA929C5}"/>
                  </a:ext>
                </a:extLst>
              </p:cNvPr>
              <p:cNvSpPr/>
              <p:nvPr/>
            </p:nvSpPr>
            <p:spPr>
              <a:xfrm>
                <a:off x="889402" y="2100263"/>
                <a:ext cx="11906" cy="10120"/>
              </a:xfrm>
              <a:custGeom>
                <a:avLst/>
                <a:gdLst>
                  <a:gd name="connsiteX0" fmla="*/ 7144 w 11906"/>
                  <a:gd name="connsiteY0" fmla="*/ 10120 h 10120"/>
                  <a:gd name="connsiteX1" fmla="*/ 4762 w 11906"/>
                  <a:gd name="connsiteY1" fmla="*/ 10120 h 10120"/>
                  <a:gd name="connsiteX2" fmla="*/ 0 w 11906"/>
                  <a:gd name="connsiteY2" fmla="*/ 5358 h 10120"/>
                  <a:gd name="connsiteX3" fmla="*/ 0 w 11906"/>
                  <a:gd name="connsiteY3" fmla="*/ 4763 h 10120"/>
                  <a:gd name="connsiteX4" fmla="*/ 4762 w 11906"/>
                  <a:gd name="connsiteY4" fmla="*/ 0 h 10120"/>
                  <a:gd name="connsiteX5" fmla="*/ 7144 w 11906"/>
                  <a:gd name="connsiteY5" fmla="*/ 0 h 10120"/>
                  <a:gd name="connsiteX6" fmla="*/ 11906 w 11906"/>
                  <a:gd name="connsiteY6" fmla="*/ 4763 h 10120"/>
                  <a:gd name="connsiteX7" fmla="*/ 11906 w 11906"/>
                  <a:gd name="connsiteY7" fmla="*/ 5358 h 10120"/>
                  <a:gd name="connsiteX8" fmla="*/ 7144 w 11906"/>
                  <a:gd name="connsiteY8" fmla="*/ 10120 h 10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6" h="10120">
                    <a:moveTo>
                      <a:pt x="7144" y="10120"/>
                    </a:moveTo>
                    <a:lnTo>
                      <a:pt x="4762" y="10120"/>
                    </a:lnTo>
                    <a:cubicBezTo>
                      <a:pt x="1786" y="10120"/>
                      <a:pt x="0" y="7739"/>
                      <a:pt x="0" y="5358"/>
                    </a:cubicBezTo>
                    <a:lnTo>
                      <a:pt x="0" y="4763"/>
                    </a:lnTo>
                    <a:cubicBezTo>
                      <a:pt x="0" y="1786"/>
                      <a:pt x="2381" y="0"/>
                      <a:pt x="4762" y="0"/>
                    </a:cubicBezTo>
                    <a:lnTo>
                      <a:pt x="7144" y="0"/>
                    </a:lnTo>
                    <a:cubicBezTo>
                      <a:pt x="10120" y="0"/>
                      <a:pt x="11906" y="2381"/>
                      <a:pt x="11906" y="4763"/>
                    </a:cubicBezTo>
                    <a:lnTo>
                      <a:pt x="11906" y="5358"/>
                    </a:lnTo>
                    <a:cubicBezTo>
                      <a:pt x="11906" y="7739"/>
                      <a:pt x="9525" y="10120"/>
                      <a:pt x="7144" y="10120"/>
                    </a:cubicBezTo>
                    <a:close/>
                  </a:path>
                </a:pathLst>
              </a:custGeom>
              <a:solidFill>
                <a:srgbClr val="CED4DF"/>
              </a:solidFill>
              <a:ln w="5953" cap="flat">
                <a:noFill/>
                <a:prstDash val="solid"/>
                <a:miter/>
              </a:ln>
            </p:spPr>
            <p:txBody>
              <a:bodyPr rtlCol="0" anchor="ctr"/>
              <a:lstStyle/>
              <a:p>
                <a:endParaRPr lang="en-GB"/>
              </a:p>
            </p:txBody>
          </p:sp>
        </p:grpSp>
        <p:sp>
          <p:nvSpPr>
            <p:cNvPr id="52" name="Freeform: Shape 51">
              <a:extLst>
                <a:ext uri="{FF2B5EF4-FFF2-40B4-BE49-F238E27FC236}">
                  <a16:creationId xmlns:a16="http://schemas.microsoft.com/office/drawing/2014/main" id="{431F61EE-819E-4430-A445-AF9443002DD2}"/>
                </a:ext>
              </a:extLst>
            </p:cNvPr>
            <p:cNvSpPr/>
            <p:nvPr/>
          </p:nvSpPr>
          <p:spPr>
            <a:xfrm>
              <a:off x="935241" y="2180035"/>
              <a:ext cx="268485" cy="232524"/>
            </a:xfrm>
            <a:custGeom>
              <a:avLst/>
              <a:gdLst>
                <a:gd name="connsiteX0" fmla="*/ 134541 w 268485"/>
                <a:gd name="connsiteY0" fmla="*/ 0 h 232524"/>
                <a:gd name="connsiteX1" fmla="*/ 0 w 268485"/>
                <a:gd name="connsiteY1" fmla="*/ 116086 h 232524"/>
                <a:gd name="connsiteX2" fmla="*/ 33337 w 268485"/>
                <a:gd name="connsiteY2" fmla="*/ 192881 h 232524"/>
                <a:gd name="connsiteX3" fmla="*/ 0 w 268485"/>
                <a:gd name="connsiteY3" fmla="*/ 232172 h 232524"/>
                <a:gd name="connsiteX4" fmla="*/ 48816 w 268485"/>
                <a:gd name="connsiteY4" fmla="*/ 226219 h 232524"/>
                <a:gd name="connsiteX5" fmla="*/ 69056 w 268485"/>
                <a:gd name="connsiteY5" fmla="*/ 217884 h 232524"/>
                <a:gd name="connsiteX6" fmla="*/ 133945 w 268485"/>
                <a:gd name="connsiteY6" fmla="*/ 232172 h 232524"/>
                <a:gd name="connsiteX7" fmla="*/ 268486 w 268485"/>
                <a:gd name="connsiteY7" fmla="*/ 116086 h 232524"/>
                <a:gd name="connsiteX8" fmla="*/ 134541 w 268485"/>
                <a:gd name="connsiteY8" fmla="*/ 0 h 232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8485" h="232524">
                  <a:moveTo>
                    <a:pt x="134541" y="0"/>
                  </a:moveTo>
                  <a:cubicBezTo>
                    <a:pt x="60127" y="0"/>
                    <a:pt x="0" y="51792"/>
                    <a:pt x="0" y="116086"/>
                  </a:cubicBezTo>
                  <a:cubicBezTo>
                    <a:pt x="0" y="145256"/>
                    <a:pt x="12502" y="172045"/>
                    <a:pt x="33337" y="192881"/>
                  </a:cubicBezTo>
                  <a:cubicBezTo>
                    <a:pt x="25003" y="207764"/>
                    <a:pt x="13692" y="221456"/>
                    <a:pt x="0" y="232172"/>
                  </a:cubicBezTo>
                  <a:cubicBezTo>
                    <a:pt x="16073" y="233363"/>
                    <a:pt x="32742" y="231577"/>
                    <a:pt x="48816" y="226219"/>
                  </a:cubicBezTo>
                  <a:cubicBezTo>
                    <a:pt x="55959" y="223838"/>
                    <a:pt x="63103" y="220861"/>
                    <a:pt x="69056" y="217884"/>
                  </a:cubicBezTo>
                  <a:cubicBezTo>
                    <a:pt x="88106" y="227409"/>
                    <a:pt x="110728" y="232172"/>
                    <a:pt x="133945" y="232172"/>
                  </a:cubicBezTo>
                  <a:cubicBezTo>
                    <a:pt x="208359" y="232172"/>
                    <a:pt x="268486" y="180380"/>
                    <a:pt x="268486" y="116086"/>
                  </a:cubicBezTo>
                  <a:cubicBezTo>
                    <a:pt x="268486" y="51792"/>
                    <a:pt x="208955" y="0"/>
                    <a:pt x="134541" y="0"/>
                  </a:cubicBezTo>
                  <a:close/>
                </a:path>
              </a:pathLst>
            </a:custGeom>
            <a:solidFill>
              <a:srgbClr val="FFFFFF"/>
            </a:solidFill>
            <a:ln w="5953"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673F19C1-E429-467C-A462-E06AA86F6F57}"/>
                </a:ext>
              </a:extLst>
            </p:cNvPr>
            <p:cNvSpPr/>
            <p:nvPr/>
          </p:nvSpPr>
          <p:spPr>
            <a:xfrm>
              <a:off x="997748" y="2222897"/>
              <a:ext cx="144065" cy="137517"/>
            </a:xfrm>
            <a:custGeom>
              <a:avLst/>
              <a:gdLst>
                <a:gd name="connsiteX0" fmla="*/ 72033 w 144065"/>
                <a:gd name="connsiteY0" fmla="*/ 0 h 137517"/>
                <a:gd name="connsiteX1" fmla="*/ 49411 w 144065"/>
                <a:gd name="connsiteY1" fmla="*/ 45244 h 137517"/>
                <a:gd name="connsiteX2" fmla="*/ 0 w 144065"/>
                <a:gd name="connsiteY2" fmla="*/ 52387 h 137517"/>
                <a:gd name="connsiteX3" fmla="*/ 35719 w 144065"/>
                <a:gd name="connsiteY3" fmla="*/ 87511 h 137517"/>
                <a:gd name="connsiteX4" fmla="*/ 27384 w 144065"/>
                <a:gd name="connsiteY4" fmla="*/ 137517 h 137517"/>
                <a:gd name="connsiteX5" fmla="*/ 72033 w 144065"/>
                <a:gd name="connsiteY5" fmla="*/ 113705 h 137517"/>
                <a:gd name="connsiteX6" fmla="*/ 116681 w 144065"/>
                <a:gd name="connsiteY6" fmla="*/ 137517 h 137517"/>
                <a:gd name="connsiteX7" fmla="*/ 107752 w 144065"/>
                <a:gd name="connsiteY7" fmla="*/ 87511 h 137517"/>
                <a:gd name="connsiteX8" fmla="*/ 144066 w 144065"/>
                <a:gd name="connsiteY8" fmla="*/ 52387 h 137517"/>
                <a:gd name="connsiteX9" fmla="*/ 94059 w 144065"/>
                <a:gd name="connsiteY9" fmla="*/ 45244 h 13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065" h="137517">
                  <a:moveTo>
                    <a:pt x="72033" y="0"/>
                  </a:moveTo>
                  <a:lnTo>
                    <a:pt x="49411" y="45244"/>
                  </a:lnTo>
                  <a:lnTo>
                    <a:pt x="0" y="52387"/>
                  </a:lnTo>
                  <a:lnTo>
                    <a:pt x="35719" y="87511"/>
                  </a:lnTo>
                  <a:lnTo>
                    <a:pt x="27384" y="137517"/>
                  </a:lnTo>
                  <a:lnTo>
                    <a:pt x="72033" y="113705"/>
                  </a:lnTo>
                  <a:lnTo>
                    <a:pt x="116681" y="137517"/>
                  </a:lnTo>
                  <a:lnTo>
                    <a:pt x="107752" y="87511"/>
                  </a:lnTo>
                  <a:lnTo>
                    <a:pt x="144066" y="52387"/>
                  </a:lnTo>
                  <a:lnTo>
                    <a:pt x="94059" y="45244"/>
                  </a:lnTo>
                  <a:close/>
                </a:path>
              </a:pathLst>
            </a:custGeom>
            <a:solidFill>
              <a:schemeClr val="bg1">
                <a:lumMod val="75000"/>
              </a:schemeClr>
            </a:solidFill>
            <a:ln w="5953" cap="flat">
              <a:noFill/>
              <a:prstDash val="solid"/>
              <a:miter/>
            </a:ln>
          </p:spPr>
          <p:txBody>
            <a:bodyPr rtlCol="0" anchor="ctr"/>
            <a:lstStyle/>
            <a:p>
              <a:endParaRPr lang="en-GB"/>
            </a:p>
          </p:txBody>
        </p:sp>
      </p:grpSp>
    </p:spTree>
    <p:extLst>
      <p:ext uri="{BB962C8B-B14F-4D97-AF65-F5344CB8AC3E}">
        <p14:creationId xmlns:p14="http://schemas.microsoft.com/office/powerpoint/2010/main" val="400555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Rectangle 221">
            <a:extLst>
              <a:ext uri="{FF2B5EF4-FFF2-40B4-BE49-F238E27FC236}">
                <a16:creationId xmlns:a16="http://schemas.microsoft.com/office/drawing/2014/main" id="{F1E114DC-6294-4878-BB39-8896D5FA7D7D}"/>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9" name="Group 268">
            <a:extLst>
              <a:ext uri="{FF2B5EF4-FFF2-40B4-BE49-F238E27FC236}">
                <a16:creationId xmlns:a16="http://schemas.microsoft.com/office/drawing/2014/main" id="{668381E7-5F3A-4741-AF69-FF224A83504F}"/>
              </a:ext>
            </a:extLst>
          </p:cNvPr>
          <p:cNvGrpSpPr/>
          <p:nvPr/>
        </p:nvGrpSpPr>
        <p:grpSpPr>
          <a:xfrm>
            <a:off x="65515" y="52817"/>
            <a:ext cx="307865" cy="238659"/>
            <a:chOff x="12605240" y="-37073"/>
            <a:chExt cx="6681054" cy="5179185"/>
          </a:xfrm>
          <a:solidFill>
            <a:srgbClr val="00162F"/>
          </a:solidFill>
        </p:grpSpPr>
        <p:sp>
          <p:nvSpPr>
            <p:cNvPr id="274" name="Rectangle 273">
              <a:extLst>
                <a:ext uri="{FF2B5EF4-FFF2-40B4-BE49-F238E27FC236}">
                  <a16:creationId xmlns:a16="http://schemas.microsoft.com/office/drawing/2014/main" id="{A5B58F0C-BE6F-4ACC-B002-23A865F26338}"/>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5" name="Rectangle 274">
              <a:extLst>
                <a:ext uri="{FF2B5EF4-FFF2-40B4-BE49-F238E27FC236}">
                  <a16:creationId xmlns:a16="http://schemas.microsoft.com/office/drawing/2014/main" id="{C0743DE2-7111-4F29-BF2A-84D23D57B06B}"/>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6" name="Rectangle 275">
              <a:extLst>
                <a:ext uri="{FF2B5EF4-FFF2-40B4-BE49-F238E27FC236}">
                  <a16:creationId xmlns:a16="http://schemas.microsoft.com/office/drawing/2014/main" id="{6F47D75F-504A-4592-96A0-190CC0479113}"/>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7" name="Rectangle 276">
              <a:extLst>
                <a:ext uri="{FF2B5EF4-FFF2-40B4-BE49-F238E27FC236}">
                  <a16:creationId xmlns:a16="http://schemas.microsoft.com/office/drawing/2014/main" id="{B1DD397A-F063-47A8-A769-4155BB41638D}"/>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78" name="Rectangle 277">
              <a:extLst>
                <a:ext uri="{FF2B5EF4-FFF2-40B4-BE49-F238E27FC236}">
                  <a16:creationId xmlns:a16="http://schemas.microsoft.com/office/drawing/2014/main" id="{451BB493-F0FC-4E06-8889-CDC04E0E7DB6}"/>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79" name="Rectangle 278">
              <a:extLst>
                <a:ext uri="{FF2B5EF4-FFF2-40B4-BE49-F238E27FC236}">
                  <a16:creationId xmlns:a16="http://schemas.microsoft.com/office/drawing/2014/main" id="{75923D11-5B8E-45A0-B9EA-0130FCE09C3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0" name="Rectangle 279">
              <a:extLst>
                <a:ext uri="{FF2B5EF4-FFF2-40B4-BE49-F238E27FC236}">
                  <a16:creationId xmlns:a16="http://schemas.microsoft.com/office/drawing/2014/main" id="{E9DA3F44-E1A0-4EA2-B6C9-0B78D67CA9A0}"/>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81" name="Isosceles Triangle 280">
              <a:extLst>
                <a:ext uri="{FF2B5EF4-FFF2-40B4-BE49-F238E27FC236}">
                  <a16:creationId xmlns:a16="http://schemas.microsoft.com/office/drawing/2014/main" id="{7BF9A10C-BD3C-429F-A6D9-434332A131D6}"/>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295" name="TextBox 294">
            <a:extLst>
              <a:ext uri="{FF2B5EF4-FFF2-40B4-BE49-F238E27FC236}">
                <a16:creationId xmlns:a16="http://schemas.microsoft.com/office/drawing/2014/main" id="{2A96B037-7E2F-48CF-A256-A05F13825A91}"/>
              </a:ext>
            </a:extLst>
          </p:cNvPr>
          <p:cNvSpPr txBox="1"/>
          <p:nvPr/>
        </p:nvSpPr>
        <p:spPr>
          <a:xfrm>
            <a:off x="11824981" y="6573307"/>
            <a:ext cx="242374" cy="230832"/>
          </a:xfrm>
          <a:prstGeom prst="rect">
            <a:avLst/>
          </a:prstGeom>
          <a:noFill/>
        </p:spPr>
        <p:txBody>
          <a:bodyPr wrap="none" rtlCol="0">
            <a:spAutoFit/>
          </a:bodyPr>
          <a:lstStyle/>
          <a:p>
            <a:r>
              <a:rPr lang="en-GB" sz="900" dirty="0"/>
              <a:t>8</a:t>
            </a:r>
            <a:endParaRPr lang="en-GB" dirty="0"/>
          </a:p>
        </p:txBody>
      </p:sp>
      <p:sp>
        <p:nvSpPr>
          <p:cNvPr id="2" name="Rectangle: Top Corners Rounded 1">
            <a:extLst>
              <a:ext uri="{FF2B5EF4-FFF2-40B4-BE49-F238E27FC236}">
                <a16:creationId xmlns:a16="http://schemas.microsoft.com/office/drawing/2014/main" id="{712B0982-13CB-4C41-8ACA-47C4263D85D3}"/>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3" name="Rectangle: Top Corners Rounded 2">
            <a:extLst>
              <a:ext uri="{FF2B5EF4-FFF2-40B4-BE49-F238E27FC236}">
                <a16:creationId xmlns:a16="http://schemas.microsoft.com/office/drawing/2014/main" id="{F28417C3-4AD1-47F3-80EC-32CFFB551C45}"/>
              </a:ext>
            </a:extLst>
          </p:cNvPr>
          <p:cNvSpPr/>
          <p:nvPr/>
        </p:nvSpPr>
        <p:spPr>
          <a:xfrm rot="5400000">
            <a:off x="3783504" y="-495289"/>
            <a:ext cx="180301"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4" name="Rectangle: Top Corners Rounded 3">
            <a:extLst>
              <a:ext uri="{FF2B5EF4-FFF2-40B4-BE49-F238E27FC236}">
                <a16:creationId xmlns:a16="http://schemas.microsoft.com/office/drawing/2014/main" id="{65C08745-3571-4D23-858B-E8EA8409B1E5}"/>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5" name="Rectangle: Top Corners Rounded 4">
            <a:extLst>
              <a:ext uri="{FF2B5EF4-FFF2-40B4-BE49-F238E27FC236}">
                <a16:creationId xmlns:a16="http://schemas.microsoft.com/office/drawing/2014/main" id="{F33C58CF-529D-4B63-AB4F-8D5F98DAFC35}"/>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6" name="Arrow: Chevron 5">
            <a:extLst>
              <a:ext uri="{FF2B5EF4-FFF2-40B4-BE49-F238E27FC236}">
                <a16:creationId xmlns:a16="http://schemas.microsoft.com/office/drawing/2014/main" id="{09CDA6D6-F791-458D-A78B-72412907CB5F}"/>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43B55776-091A-45A4-8479-CAFF919059A0}"/>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Arrow: Chevron 9">
            <a:extLst>
              <a:ext uri="{FF2B5EF4-FFF2-40B4-BE49-F238E27FC236}">
                <a16:creationId xmlns:a16="http://schemas.microsoft.com/office/drawing/2014/main" id="{17975AB0-2767-412D-8AAA-7058DEDA7BC4}"/>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Rectangle: Top Corners Rounded 10">
            <a:extLst>
              <a:ext uri="{FF2B5EF4-FFF2-40B4-BE49-F238E27FC236}">
                <a16:creationId xmlns:a16="http://schemas.microsoft.com/office/drawing/2014/main" id="{EA984AF8-6802-48C1-969C-B78058D34597}"/>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2" name="Arrow: Chevron 11">
            <a:extLst>
              <a:ext uri="{FF2B5EF4-FFF2-40B4-BE49-F238E27FC236}">
                <a16:creationId xmlns:a16="http://schemas.microsoft.com/office/drawing/2014/main" id="{B34BB400-4CBC-4F6D-B607-DC8B4A51E630}"/>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Arrow: Chevron 12">
            <a:extLst>
              <a:ext uri="{FF2B5EF4-FFF2-40B4-BE49-F238E27FC236}">
                <a16:creationId xmlns:a16="http://schemas.microsoft.com/office/drawing/2014/main" id="{4DAD801E-A904-4BDA-B9FB-EED66E06E8FA}"/>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13">
            <a:extLst>
              <a:ext uri="{FF2B5EF4-FFF2-40B4-BE49-F238E27FC236}">
                <a16:creationId xmlns:a16="http://schemas.microsoft.com/office/drawing/2014/main" id="{C7A8FFAC-FB3D-4282-8776-559FF9D7FF75}"/>
              </a:ext>
            </a:extLst>
          </p:cNvPr>
          <p:cNvSpPr/>
          <p:nvPr/>
        </p:nvSpPr>
        <p:spPr>
          <a:xfrm>
            <a:off x="65515" y="343007"/>
            <a:ext cx="12001840" cy="400110"/>
          </a:xfrm>
          <a:prstGeom prst="rect">
            <a:avLst/>
          </a:prstGeom>
        </p:spPr>
        <p:txBody>
          <a:bodyPr wrap="square">
            <a:spAutoFit/>
          </a:bodyPr>
          <a:lstStyle/>
          <a:p>
            <a:r>
              <a:rPr lang="en-IN" sz="2000" b="1" dirty="0">
                <a:solidFill>
                  <a:srgbClr val="00162F"/>
                </a:solidFill>
                <a:latin typeface="Calibri" panose="020F0502020204030204" pitchFamily="34" charset="0"/>
              </a:rPr>
              <a:t>Benchmarking existing practices as per competitors reveal great scope for improvement</a:t>
            </a:r>
          </a:p>
        </p:txBody>
      </p:sp>
      <p:pic>
        <p:nvPicPr>
          <p:cNvPr id="31" name="Picture 2" descr="Go Mechanic, IFFCO Chowk - Car Repair &amp; Services in Gurgaon, Delhi ...">
            <a:extLst>
              <a:ext uri="{FF2B5EF4-FFF2-40B4-BE49-F238E27FC236}">
                <a16:creationId xmlns:a16="http://schemas.microsoft.com/office/drawing/2014/main" id="{6723AF9D-EF3F-45C7-8F96-568E4BCDE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489" y="1050929"/>
            <a:ext cx="1013015" cy="9903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2" name="Table 18">
            <a:extLst>
              <a:ext uri="{FF2B5EF4-FFF2-40B4-BE49-F238E27FC236}">
                <a16:creationId xmlns:a16="http://schemas.microsoft.com/office/drawing/2014/main" id="{ED06A6B7-FA0B-4945-8B8B-E86C45D29965}"/>
              </a:ext>
            </a:extLst>
          </p:cNvPr>
          <p:cNvGraphicFramePr>
            <a:graphicFrameLocks noGrp="1"/>
          </p:cNvGraphicFramePr>
          <p:nvPr/>
        </p:nvGraphicFramePr>
        <p:xfrm>
          <a:off x="160201" y="1962564"/>
          <a:ext cx="8212012" cy="791011"/>
        </p:xfrm>
        <a:graphic>
          <a:graphicData uri="http://schemas.openxmlformats.org/drawingml/2006/table">
            <a:tbl>
              <a:tblPr firstRow="1" bandRow="1">
                <a:tableStyleId>{69012ECD-51FC-41F1-AA8D-1B2483CD663E}</a:tableStyleId>
              </a:tblPr>
              <a:tblGrid>
                <a:gridCol w="633000">
                  <a:extLst>
                    <a:ext uri="{9D8B030D-6E8A-4147-A177-3AD203B41FA5}">
                      <a16:colId xmlns:a16="http://schemas.microsoft.com/office/drawing/2014/main" val="3031300729"/>
                    </a:ext>
                  </a:extLst>
                </a:gridCol>
                <a:gridCol w="1482426">
                  <a:extLst>
                    <a:ext uri="{9D8B030D-6E8A-4147-A177-3AD203B41FA5}">
                      <a16:colId xmlns:a16="http://schemas.microsoft.com/office/drawing/2014/main" val="1023840564"/>
                    </a:ext>
                  </a:extLst>
                </a:gridCol>
                <a:gridCol w="1539777">
                  <a:extLst>
                    <a:ext uri="{9D8B030D-6E8A-4147-A177-3AD203B41FA5}">
                      <a16:colId xmlns:a16="http://schemas.microsoft.com/office/drawing/2014/main" val="399874311"/>
                    </a:ext>
                  </a:extLst>
                </a:gridCol>
                <a:gridCol w="1696895">
                  <a:extLst>
                    <a:ext uri="{9D8B030D-6E8A-4147-A177-3AD203B41FA5}">
                      <a16:colId xmlns:a16="http://schemas.microsoft.com/office/drawing/2014/main" val="1591646591"/>
                    </a:ext>
                  </a:extLst>
                </a:gridCol>
                <a:gridCol w="1392354">
                  <a:extLst>
                    <a:ext uri="{9D8B030D-6E8A-4147-A177-3AD203B41FA5}">
                      <a16:colId xmlns:a16="http://schemas.microsoft.com/office/drawing/2014/main" val="1319340216"/>
                    </a:ext>
                  </a:extLst>
                </a:gridCol>
                <a:gridCol w="1467560">
                  <a:extLst>
                    <a:ext uri="{9D8B030D-6E8A-4147-A177-3AD203B41FA5}">
                      <a16:colId xmlns:a16="http://schemas.microsoft.com/office/drawing/2014/main" val="1663573720"/>
                    </a:ext>
                  </a:extLst>
                </a:gridCol>
              </a:tblGrid>
              <a:tr h="791011">
                <a:tc>
                  <a:txBody>
                    <a:bodyPr/>
                    <a:lstStyle/>
                    <a:p>
                      <a:pPr algn="ctr"/>
                      <a:r>
                        <a:rPr lang="en-IN" sz="1100" dirty="0">
                          <a:solidFill>
                            <a:schemeClr val="bg1"/>
                          </a:solidFill>
                          <a:latin typeface="+mn-lt"/>
                          <a:cs typeface="Times New Roman" panose="02020603050405020304" pitchFamily="18" charset="0"/>
                        </a:rPr>
                        <a:t>Service</a:t>
                      </a:r>
                    </a:p>
                    <a:p>
                      <a:pPr algn="ctr"/>
                      <a:r>
                        <a:rPr lang="en-IN" sz="1100" dirty="0">
                          <a:solidFill>
                            <a:schemeClr val="bg1"/>
                          </a:solidFill>
                          <a:latin typeface="+mn-lt"/>
                          <a:cs typeface="Times New Roman" panose="02020603050405020304" pitchFamily="18" charset="0"/>
                        </a:rPr>
                        <a:t> Offering</a:t>
                      </a:r>
                    </a:p>
                  </a:txBody>
                  <a:tcPr marL="45720" marR="4572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62F"/>
                    </a:solid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38627"/>
                  </a:ext>
                </a:extLst>
              </a:tr>
            </a:tbl>
          </a:graphicData>
        </a:graphic>
      </p:graphicFrame>
      <p:sp>
        <p:nvSpPr>
          <p:cNvPr id="33" name="Rectangle: Rounded Corners 32">
            <a:extLst>
              <a:ext uri="{FF2B5EF4-FFF2-40B4-BE49-F238E27FC236}">
                <a16:creationId xmlns:a16="http://schemas.microsoft.com/office/drawing/2014/main" id="{80B1CF40-041A-4F21-8CD0-18F7CFDD725C}"/>
              </a:ext>
            </a:extLst>
          </p:cNvPr>
          <p:cNvSpPr/>
          <p:nvPr/>
        </p:nvSpPr>
        <p:spPr>
          <a:xfrm>
            <a:off x="1022053" y="2363555"/>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998E9815-C5AA-4DE8-B4CC-86A39FDBC5D8}"/>
              </a:ext>
            </a:extLst>
          </p:cNvPr>
          <p:cNvSpPr/>
          <p:nvPr/>
        </p:nvSpPr>
        <p:spPr>
          <a:xfrm>
            <a:off x="1325162" y="2363555"/>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822D81A6-D52C-4006-A0A5-063ADB090E69}"/>
              </a:ext>
            </a:extLst>
          </p:cNvPr>
          <p:cNvSpPr/>
          <p:nvPr/>
        </p:nvSpPr>
        <p:spPr>
          <a:xfrm>
            <a:off x="1628271" y="2363555"/>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B7B28FF6-C03E-4BA3-AF69-87C7A0D31FA3}"/>
              </a:ext>
            </a:extLst>
          </p:cNvPr>
          <p:cNvSpPr txBox="1"/>
          <p:nvPr/>
        </p:nvSpPr>
        <p:spPr>
          <a:xfrm>
            <a:off x="1121764" y="2108932"/>
            <a:ext cx="728048" cy="276999"/>
          </a:xfrm>
          <a:prstGeom prst="rect">
            <a:avLst/>
          </a:prstGeom>
          <a:noFill/>
        </p:spPr>
        <p:txBody>
          <a:bodyPr wrap="square" rtlCol="0">
            <a:spAutoFit/>
          </a:bodyPr>
          <a:lstStyle/>
          <a:p>
            <a:r>
              <a:rPr lang="en-US" sz="1200" dirty="0"/>
              <a:t>Medium</a:t>
            </a:r>
            <a:endParaRPr lang="en-IN" sz="1200" dirty="0"/>
          </a:p>
        </p:txBody>
      </p:sp>
      <p:sp>
        <p:nvSpPr>
          <p:cNvPr id="37" name="TextBox 36">
            <a:extLst>
              <a:ext uri="{FF2B5EF4-FFF2-40B4-BE49-F238E27FC236}">
                <a16:creationId xmlns:a16="http://schemas.microsoft.com/office/drawing/2014/main" id="{9FA25EFD-EBF6-4E63-8ECB-DF540A37EF75}"/>
              </a:ext>
            </a:extLst>
          </p:cNvPr>
          <p:cNvSpPr txBox="1"/>
          <p:nvPr/>
        </p:nvSpPr>
        <p:spPr>
          <a:xfrm>
            <a:off x="2717071" y="2093777"/>
            <a:ext cx="1013015" cy="276999"/>
          </a:xfrm>
          <a:prstGeom prst="rect">
            <a:avLst/>
          </a:prstGeom>
          <a:noFill/>
        </p:spPr>
        <p:txBody>
          <a:bodyPr wrap="square" rtlCol="0">
            <a:spAutoFit/>
          </a:bodyPr>
          <a:lstStyle/>
          <a:p>
            <a:r>
              <a:rPr lang="en-US" sz="1200" dirty="0"/>
              <a:t>High</a:t>
            </a:r>
            <a:endParaRPr lang="en-IN" sz="1200" dirty="0"/>
          </a:p>
        </p:txBody>
      </p:sp>
      <p:sp>
        <p:nvSpPr>
          <p:cNvPr id="38" name="Rectangle: Rounded Corners 37">
            <a:extLst>
              <a:ext uri="{FF2B5EF4-FFF2-40B4-BE49-F238E27FC236}">
                <a16:creationId xmlns:a16="http://schemas.microsoft.com/office/drawing/2014/main" id="{908BC74F-CF5D-432E-A8F5-034FA371654A}"/>
              </a:ext>
            </a:extLst>
          </p:cNvPr>
          <p:cNvSpPr/>
          <p:nvPr/>
        </p:nvSpPr>
        <p:spPr>
          <a:xfrm>
            <a:off x="2617361" y="2373342"/>
            <a:ext cx="268448" cy="10066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92F4400E-E9C3-47BE-BBE5-FDEF9A6235CB}"/>
              </a:ext>
            </a:extLst>
          </p:cNvPr>
          <p:cNvSpPr/>
          <p:nvPr/>
        </p:nvSpPr>
        <p:spPr>
          <a:xfrm>
            <a:off x="2920470" y="2373342"/>
            <a:ext cx="268448" cy="10066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D293F2C4-DA7B-43AC-91E8-0AF829CB22D8}"/>
              </a:ext>
            </a:extLst>
          </p:cNvPr>
          <p:cNvSpPr/>
          <p:nvPr/>
        </p:nvSpPr>
        <p:spPr>
          <a:xfrm>
            <a:off x="3223579" y="2373342"/>
            <a:ext cx="268448" cy="10066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Picture 4" descr="GOBUMPR.COM - Reviews | online | Ratings | Free">
            <a:extLst>
              <a:ext uri="{FF2B5EF4-FFF2-40B4-BE49-F238E27FC236}">
                <a16:creationId xmlns:a16="http://schemas.microsoft.com/office/drawing/2014/main" id="{FC781420-01E9-4A1F-B7CB-DF978D1D23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2055" y="1401966"/>
            <a:ext cx="1151293" cy="34306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Complete - Carpathy Services Online">
            <a:extLst>
              <a:ext uri="{FF2B5EF4-FFF2-40B4-BE49-F238E27FC236}">
                <a16:creationId xmlns:a16="http://schemas.microsoft.com/office/drawing/2014/main" id="{45F014E1-9D1D-43F5-A416-BC3FB70D01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5960" y="1477359"/>
            <a:ext cx="908398" cy="183335"/>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Rounded Corners 42">
            <a:extLst>
              <a:ext uri="{FF2B5EF4-FFF2-40B4-BE49-F238E27FC236}">
                <a16:creationId xmlns:a16="http://schemas.microsoft.com/office/drawing/2014/main" id="{045787C7-9CAE-4AF3-BF60-9F2929349F66}"/>
              </a:ext>
            </a:extLst>
          </p:cNvPr>
          <p:cNvSpPr/>
          <p:nvPr/>
        </p:nvSpPr>
        <p:spPr>
          <a:xfrm>
            <a:off x="4162335" y="2374740"/>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Rounded Corners 43">
            <a:extLst>
              <a:ext uri="{FF2B5EF4-FFF2-40B4-BE49-F238E27FC236}">
                <a16:creationId xmlns:a16="http://schemas.microsoft.com/office/drawing/2014/main" id="{2FA8B70F-7201-4E80-8322-36948C6EE46C}"/>
              </a:ext>
            </a:extLst>
          </p:cNvPr>
          <p:cNvSpPr/>
          <p:nvPr/>
        </p:nvSpPr>
        <p:spPr>
          <a:xfrm>
            <a:off x="4465444" y="2374740"/>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2CFFAE24-2560-4FB5-BBBC-A33543B80454}"/>
              </a:ext>
            </a:extLst>
          </p:cNvPr>
          <p:cNvSpPr/>
          <p:nvPr/>
        </p:nvSpPr>
        <p:spPr>
          <a:xfrm>
            <a:off x="4768553" y="237474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53CACED2-6629-4FF7-8E13-061DD25CA22B}"/>
              </a:ext>
            </a:extLst>
          </p:cNvPr>
          <p:cNvSpPr txBox="1"/>
          <p:nvPr/>
        </p:nvSpPr>
        <p:spPr>
          <a:xfrm>
            <a:off x="4262045" y="2118798"/>
            <a:ext cx="1013015" cy="276999"/>
          </a:xfrm>
          <a:prstGeom prst="rect">
            <a:avLst/>
          </a:prstGeom>
          <a:noFill/>
        </p:spPr>
        <p:txBody>
          <a:bodyPr wrap="square" rtlCol="0">
            <a:spAutoFit/>
          </a:bodyPr>
          <a:lstStyle/>
          <a:p>
            <a:r>
              <a:rPr lang="en-US" sz="1200" dirty="0"/>
              <a:t>Medium</a:t>
            </a:r>
            <a:endParaRPr lang="en-IN" sz="1200" dirty="0"/>
          </a:p>
        </p:txBody>
      </p:sp>
      <p:graphicFrame>
        <p:nvGraphicFramePr>
          <p:cNvPr id="47" name="Table 18">
            <a:extLst>
              <a:ext uri="{FF2B5EF4-FFF2-40B4-BE49-F238E27FC236}">
                <a16:creationId xmlns:a16="http://schemas.microsoft.com/office/drawing/2014/main" id="{E8EAF6F7-20C4-4744-96AB-14B5AF43A0D2}"/>
              </a:ext>
            </a:extLst>
          </p:cNvPr>
          <p:cNvGraphicFramePr>
            <a:graphicFrameLocks noGrp="1"/>
          </p:cNvGraphicFramePr>
          <p:nvPr/>
        </p:nvGraphicFramePr>
        <p:xfrm>
          <a:off x="160200" y="2854559"/>
          <a:ext cx="8220402" cy="809289"/>
        </p:xfrm>
        <a:graphic>
          <a:graphicData uri="http://schemas.openxmlformats.org/drawingml/2006/table">
            <a:tbl>
              <a:tblPr firstRow="1" bandRow="1">
                <a:tableStyleId>{69012ECD-51FC-41F1-AA8D-1B2483CD663E}</a:tableStyleId>
              </a:tblPr>
              <a:tblGrid>
                <a:gridCol w="633000">
                  <a:extLst>
                    <a:ext uri="{9D8B030D-6E8A-4147-A177-3AD203B41FA5}">
                      <a16:colId xmlns:a16="http://schemas.microsoft.com/office/drawing/2014/main" val="3031300729"/>
                    </a:ext>
                  </a:extLst>
                </a:gridCol>
                <a:gridCol w="1482426">
                  <a:extLst>
                    <a:ext uri="{9D8B030D-6E8A-4147-A177-3AD203B41FA5}">
                      <a16:colId xmlns:a16="http://schemas.microsoft.com/office/drawing/2014/main" val="1023840564"/>
                    </a:ext>
                  </a:extLst>
                </a:gridCol>
                <a:gridCol w="1539778">
                  <a:extLst>
                    <a:ext uri="{9D8B030D-6E8A-4147-A177-3AD203B41FA5}">
                      <a16:colId xmlns:a16="http://schemas.microsoft.com/office/drawing/2014/main" val="399874311"/>
                    </a:ext>
                  </a:extLst>
                </a:gridCol>
                <a:gridCol w="1696895">
                  <a:extLst>
                    <a:ext uri="{9D8B030D-6E8A-4147-A177-3AD203B41FA5}">
                      <a16:colId xmlns:a16="http://schemas.microsoft.com/office/drawing/2014/main" val="1591646591"/>
                    </a:ext>
                  </a:extLst>
                </a:gridCol>
                <a:gridCol w="1401782">
                  <a:extLst>
                    <a:ext uri="{9D8B030D-6E8A-4147-A177-3AD203B41FA5}">
                      <a16:colId xmlns:a16="http://schemas.microsoft.com/office/drawing/2014/main" val="1319340216"/>
                    </a:ext>
                  </a:extLst>
                </a:gridCol>
                <a:gridCol w="1466521">
                  <a:extLst>
                    <a:ext uri="{9D8B030D-6E8A-4147-A177-3AD203B41FA5}">
                      <a16:colId xmlns:a16="http://schemas.microsoft.com/office/drawing/2014/main" val="1294846461"/>
                    </a:ext>
                  </a:extLst>
                </a:gridCol>
              </a:tblGrid>
              <a:tr h="809289">
                <a:tc>
                  <a:txBody>
                    <a:bodyPr/>
                    <a:lstStyle/>
                    <a:p>
                      <a:pPr algn="ctr"/>
                      <a:endParaRPr lang="en-IN" sz="1100" dirty="0">
                        <a:solidFill>
                          <a:schemeClr val="bg1"/>
                        </a:solidFill>
                        <a:latin typeface="+mn-lt"/>
                        <a:cs typeface="Times New Roman" panose="02020603050405020304" pitchFamily="18" charset="0"/>
                      </a:endParaRPr>
                    </a:p>
                    <a:p>
                      <a:pPr algn="ctr"/>
                      <a:r>
                        <a:rPr lang="en-IN" sz="1100" dirty="0">
                          <a:solidFill>
                            <a:schemeClr val="bg1"/>
                          </a:solidFill>
                          <a:latin typeface="+mn-lt"/>
                          <a:cs typeface="Times New Roman" panose="02020603050405020304" pitchFamily="18" charset="0"/>
                        </a:rPr>
                        <a:t> Popularity</a:t>
                      </a:r>
                    </a:p>
                  </a:txBody>
                  <a:tcPr marL="45720" marR="4572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62F"/>
                    </a:solid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38627"/>
                  </a:ext>
                </a:extLst>
              </a:tr>
            </a:tbl>
          </a:graphicData>
        </a:graphic>
      </p:graphicFrame>
      <p:sp>
        <p:nvSpPr>
          <p:cNvPr id="48" name="Rectangle: Rounded Corners 47">
            <a:extLst>
              <a:ext uri="{FF2B5EF4-FFF2-40B4-BE49-F238E27FC236}">
                <a16:creationId xmlns:a16="http://schemas.microsoft.com/office/drawing/2014/main" id="{87887670-B576-421E-BA27-F14D43743563}"/>
              </a:ext>
            </a:extLst>
          </p:cNvPr>
          <p:cNvSpPr/>
          <p:nvPr/>
        </p:nvSpPr>
        <p:spPr>
          <a:xfrm>
            <a:off x="1023451" y="3296132"/>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D5779AC8-086A-4F32-A829-187787F8C21A}"/>
              </a:ext>
            </a:extLst>
          </p:cNvPr>
          <p:cNvSpPr/>
          <p:nvPr/>
        </p:nvSpPr>
        <p:spPr>
          <a:xfrm>
            <a:off x="1326560" y="3296132"/>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Rounded Corners 49">
            <a:extLst>
              <a:ext uri="{FF2B5EF4-FFF2-40B4-BE49-F238E27FC236}">
                <a16:creationId xmlns:a16="http://schemas.microsoft.com/office/drawing/2014/main" id="{75F39775-E181-4A7C-B570-49A975A12A30}"/>
              </a:ext>
            </a:extLst>
          </p:cNvPr>
          <p:cNvSpPr/>
          <p:nvPr/>
        </p:nvSpPr>
        <p:spPr>
          <a:xfrm>
            <a:off x="1629669" y="3296132"/>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95408353-7077-44D9-936C-A9E914198286}"/>
              </a:ext>
            </a:extLst>
          </p:cNvPr>
          <p:cNvSpPr txBox="1"/>
          <p:nvPr/>
        </p:nvSpPr>
        <p:spPr>
          <a:xfrm>
            <a:off x="1257385" y="3041701"/>
            <a:ext cx="1013015" cy="276999"/>
          </a:xfrm>
          <a:prstGeom prst="rect">
            <a:avLst/>
          </a:prstGeom>
          <a:noFill/>
        </p:spPr>
        <p:txBody>
          <a:bodyPr wrap="square" rtlCol="0">
            <a:spAutoFit/>
          </a:bodyPr>
          <a:lstStyle/>
          <a:p>
            <a:r>
              <a:rPr lang="en-US" sz="1200" dirty="0"/>
              <a:t>High</a:t>
            </a:r>
            <a:endParaRPr lang="en-IN" sz="1200" dirty="0"/>
          </a:p>
        </p:txBody>
      </p:sp>
      <p:sp>
        <p:nvSpPr>
          <p:cNvPr id="52" name="TextBox 51">
            <a:extLst>
              <a:ext uri="{FF2B5EF4-FFF2-40B4-BE49-F238E27FC236}">
                <a16:creationId xmlns:a16="http://schemas.microsoft.com/office/drawing/2014/main" id="{5116026C-193C-483E-B038-44CD6EF7901D}"/>
              </a:ext>
            </a:extLst>
          </p:cNvPr>
          <p:cNvSpPr txBox="1"/>
          <p:nvPr/>
        </p:nvSpPr>
        <p:spPr>
          <a:xfrm>
            <a:off x="2701691" y="3024143"/>
            <a:ext cx="1013015" cy="276999"/>
          </a:xfrm>
          <a:prstGeom prst="rect">
            <a:avLst/>
          </a:prstGeom>
          <a:noFill/>
        </p:spPr>
        <p:txBody>
          <a:bodyPr wrap="square" rtlCol="0">
            <a:spAutoFit/>
          </a:bodyPr>
          <a:lstStyle/>
          <a:p>
            <a:r>
              <a:rPr lang="en-US" sz="1200" dirty="0"/>
              <a:t>Medium</a:t>
            </a:r>
            <a:endParaRPr lang="en-IN" sz="1200" dirty="0"/>
          </a:p>
        </p:txBody>
      </p:sp>
      <p:sp>
        <p:nvSpPr>
          <p:cNvPr id="53" name="Rectangle: Rounded Corners 52">
            <a:extLst>
              <a:ext uri="{FF2B5EF4-FFF2-40B4-BE49-F238E27FC236}">
                <a16:creationId xmlns:a16="http://schemas.microsoft.com/office/drawing/2014/main" id="{674B40E3-EE6E-47B9-A179-6B5CA66F4BF3}"/>
              </a:ext>
            </a:extLst>
          </p:cNvPr>
          <p:cNvSpPr/>
          <p:nvPr/>
        </p:nvSpPr>
        <p:spPr>
          <a:xfrm>
            <a:off x="2601981" y="3305919"/>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ectangle: Rounded Corners 53">
            <a:extLst>
              <a:ext uri="{FF2B5EF4-FFF2-40B4-BE49-F238E27FC236}">
                <a16:creationId xmlns:a16="http://schemas.microsoft.com/office/drawing/2014/main" id="{DF5EFBD1-B8DA-4570-9E75-460DB5256C7B}"/>
              </a:ext>
            </a:extLst>
          </p:cNvPr>
          <p:cNvSpPr/>
          <p:nvPr/>
        </p:nvSpPr>
        <p:spPr>
          <a:xfrm>
            <a:off x="2905090" y="3305919"/>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Rounded Corners 54">
            <a:extLst>
              <a:ext uri="{FF2B5EF4-FFF2-40B4-BE49-F238E27FC236}">
                <a16:creationId xmlns:a16="http://schemas.microsoft.com/office/drawing/2014/main" id="{CF2398CE-DC9F-436B-B0A8-1FCB89E3A81E}"/>
              </a:ext>
            </a:extLst>
          </p:cNvPr>
          <p:cNvSpPr/>
          <p:nvPr/>
        </p:nvSpPr>
        <p:spPr>
          <a:xfrm>
            <a:off x="3208199" y="330591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Rounded Corners 55">
            <a:extLst>
              <a:ext uri="{FF2B5EF4-FFF2-40B4-BE49-F238E27FC236}">
                <a16:creationId xmlns:a16="http://schemas.microsoft.com/office/drawing/2014/main" id="{DF6263B1-5E18-4483-88FD-CFA0856B353E}"/>
              </a:ext>
            </a:extLst>
          </p:cNvPr>
          <p:cNvSpPr/>
          <p:nvPr/>
        </p:nvSpPr>
        <p:spPr>
          <a:xfrm>
            <a:off x="4152331" y="3322076"/>
            <a:ext cx="268448" cy="100668"/>
          </a:xfrm>
          <a:prstGeom prst="roundRect">
            <a:avLst/>
          </a:prstGeom>
          <a:solidFill>
            <a:srgbClr val="C00000"/>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Rounded Corners 56">
            <a:extLst>
              <a:ext uri="{FF2B5EF4-FFF2-40B4-BE49-F238E27FC236}">
                <a16:creationId xmlns:a16="http://schemas.microsoft.com/office/drawing/2014/main" id="{1FB5F2CE-64A4-4994-B1DE-C9A52D872678}"/>
              </a:ext>
            </a:extLst>
          </p:cNvPr>
          <p:cNvSpPr/>
          <p:nvPr/>
        </p:nvSpPr>
        <p:spPr>
          <a:xfrm>
            <a:off x="4455440" y="332207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Rounded Corners 57">
            <a:extLst>
              <a:ext uri="{FF2B5EF4-FFF2-40B4-BE49-F238E27FC236}">
                <a16:creationId xmlns:a16="http://schemas.microsoft.com/office/drawing/2014/main" id="{58969884-F4FA-4576-B17F-EA8A740092B5}"/>
              </a:ext>
            </a:extLst>
          </p:cNvPr>
          <p:cNvSpPr/>
          <p:nvPr/>
        </p:nvSpPr>
        <p:spPr>
          <a:xfrm>
            <a:off x="4758549" y="332207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C4DEC4F7-DC76-43BD-8E7D-A1FDE5700CFB}"/>
              </a:ext>
            </a:extLst>
          </p:cNvPr>
          <p:cNvSpPr txBox="1"/>
          <p:nvPr/>
        </p:nvSpPr>
        <p:spPr>
          <a:xfrm>
            <a:off x="4388466" y="3049437"/>
            <a:ext cx="1013015" cy="276999"/>
          </a:xfrm>
          <a:prstGeom prst="rect">
            <a:avLst/>
          </a:prstGeom>
          <a:noFill/>
        </p:spPr>
        <p:txBody>
          <a:bodyPr wrap="square" rtlCol="0">
            <a:spAutoFit/>
          </a:bodyPr>
          <a:lstStyle/>
          <a:p>
            <a:r>
              <a:rPr lang="en-US" sz="1200" dirty="0"/>
              <a:t>Low</a:t>
            </a:r>
            <a:endParaRPr lang="en-IN" sz="1200" dirty="0"/>
          </a:p>
        </p:txBody>
      </p:sp>
      <p:graphicFrame>
        <p:nvGraphicFramePr>
          <p:cNvPr id="60" name="Table 18">
            <a:extLst>
              <a:ext uri="{FF2B5EF4-FFF2-40B4-BE49-F238E27FC236}">
                <a16:creationId xmlns:a16="http://schemas.microsoft.com/office/drawing/2014/main" id="{E464906D-3826-456F-9719-C813C8EDC7F2}"/>
              </a:ext>
            </a:extLst>
          </p:cNvPr>
          <p:cNvGraphicFramePr>
            <a:graphicFrameLocks noGrp="1"/>
          </p:cNvGraphicFramePr>
          <p:nvPr/>
        </p:nvGraphicFramePr>
        <p:xfrm>
          <a:off x="160200" y="3738712"/>
          <a:ext cx="8228791" cy="791011"/>
        </p:xfrm>
        <a:graphic>
          <a:graphicData uri="http://schemas.openxmlformats.org/drawingml/2006/table">
            <a:tbl>
              <a:tblPr firstRow="1" bandRow="1">
                <a:tableStyleId>{69012ECD-51FC-41F1-AA8D-1B2483CD663E}</a:tableStyleId>
              </a:tblPr>
              <a:tblGrid>
                <a:gridCol w="633000">
                  <a:extLst>
                    <a:ext uri="{9D8B030D-6E8A-4147-A177-3AD203B41FA5}">
                      <a16:colId xmlns:a16="http://schemas.microsoft.com/office/drawing/2014/main" val="3031300729"/>
                    </a:ext>
                  </a:extLst>
                </a:gridCol>
                <a:gridCol w="1482426">
                  <a:extLst>
                    <a:ext uri="{9D8B030D-6E8A-4147-A177-3AD203B41FA5}">
                      <a16:colId xmlns:a16="http://schemas.microsoft.com/office/drawing/2014/main" val="1023840564"/>
                    </a:ext>
                  </a:extLst>
                </a:gridCol>
                <a:gridCol w="1539779">
                  <a:extLst>
                    <a:ext uri="{9D8B030D-6E8A-4147-A177-3AD203B41FA5}">
                      <a16:colId xmlns:a16="http://schemas.microsoft.com/office/drawing/2014/main" val="399874311"/>
                    </a:ext>
                  </a:extLst>
                </a:gridCol>
                <a:gridCol w="1696895">
                  <a:extLst>
                    <a:ext uri="{9D8B030D-6E8A-4147-A177-3AD203B41FA5}">
                      <a16:colId xmlns:a16="http://schemas.microsoft.com/office/drawing/2014/main" val="1591646591"/>
                    </a:ext>
                  </a:extLst>
                </a:gridCol>
                <a:gridCol w="1401782">
                  <a:extLst>
                    <a:ext uri="{9D8B030D-6E8A-4147-A177-3AD203B41FA5}">
                      <a16:colId xmlns:a16="http://schemas.microsoft.com/office/drawing/2014/main" val="1319340216"/>
                    </a:ext>
                  </a:extLst>
                </a:gridCol>
                <a:gridCol w="1474909">
                  <a:extLst>
                    <a:ext uri="{9D8B030D-6E8A-4147-A177-3AD203B41FA5}">
                      <a16:colId xmlns:a16="http://schemas.microsoft.com/office/drawing/2014/main" val="3452631946"/>
                    </a:ext>
                  </a:extLst>
                </a:gridCol>
              </a:tblGrid>
              <a:tr h="791011">
                <a:tc>
                  <a:txBody>
                    <a:bodyPr/>
                    <a:lstStyle/>
                    <a:p>
                      <a:pPr algn="ctr"/>
                      <a:endParaRPr lang="en-IN" sz="1100" dirty="0">
                        <a:solidFill>
                          <a:schemeClr val="bg1"/>
                        </a:solidFill>
                        <a:latin typeface="+mn-lt"/>
                        <a:cs typeface="Times New Roman" panose="02020603050405020304" pitchFamily="18" charset="0"/>
                      </a:endParaRPr>
                    </a:p>
                    <a:p>
                      <a:pPr algn="ctr"/>
                      <a:r>
                        <a:rPr lang="en-IN" sz="1100" dirty="0">
                          <a:solidFill>
                            <a:schemeClr val="bg1"/>
                          </a:solidFill>
                          <a:latin typeface="+mn-lt"/>
                          <a:cs typeface="Times New Roman" panose="02020603050405020304" pitchFamily="18" charset="0"/>
                        </a:rPr>
                        <a:t> Reach</a:t>
                      </a:r>
                    </a:p>
                  </a:txBody>
                  <a:tcPr marL="45720" marR="4572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62F"/>
                    </a:solid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38627"/>
                  </a:ext>
                </a:extLst>
              </a:tr>
            </a:tbl>
          </a:graphicData>
        </a:graphic>
      </p:graphicFrame>
      <p:sp>
        <p:nvSpPr>
          <p:cNvPr id="61" name="Rectangle: Rounded Corners 60">
            <a:extLst>
              <a:ext uri="{FF2B5EF4-FFF2-40B4-BE49-F238E27FC236}">
                <a16:creationId xmlns:a16="http://schemas.microsoft.com/office/drawing/2014/main" id="{172AA12E-93C5-4CAA-938C-DC5CFB0857B5}"/>
              </a:ext>
            </a:extLst>
          </p:cNvPr>
          <p:cNvSpPr/>
          <p:nvPr/>
        </p:nvSpPr>
        <p:spPr>
          <a:xfrm>
            <a:off x="1007507" y="4121273"/>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ectangle: Rounded Corners 61">
            <a:extLst>
              <a:ext uri="{FF2B5EF4-FFF2-40B4-BE49-F238E27FC236}">
                <a16:creationId xmlns:a16="http://schemas.microsoft.com/office/drawing/2014/main" id="{92B2CE7F-DDA6-4A31-B81D-90ED9478BF1C}"/>
              </a:ext>
            </a:extLst>
          </p:cNvPr>
          <p:cNvSpPr/>
          <p:nvPr/>
        </p:nvSpPr>
        <p:spPr>
          <a:xfrm>
            <a:off x="1310616" y="4121273"/>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Rounded Corners 62">
            <a:extLst>
              <a:ext uri="{FF2B5EF4-FFF2-40B4-BE49-F238E27FC236}">
                <a16:creationId xmlns:a16="http://schemas.microsoft.com/office/drawing/2014/main" id="{9503FE20-69E1-4489-B3B5-985B909FD899}"/>
              </a:ext>
            </a:extLst>
          </p:cNvPr>
          <p:cNvSpPr/>
          <p:nvPr/>
        </p:nvSpPr>
        <p:spPr>
          <a:xfrm>
            <a:off x="1613725" y="4121273"/>
            <a:ext cx="268448" cy="99988"/>
          </a:xfrm>
          <a:prstGeom prst="roundRect">
            <a:avLst/>
          </a:prstGeom>
          <a:solidFill>
            <a:schemeClr val="accent6">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TextBox 63">
            <a:extLst>
              <a:ext uri="{FF2B5EF4-FFF2-40B4-BE49-F238E27FC236}">
                <a16:creationId xmlns:a16="http://schemas.microsoft.com/office/drawing/2014/main" id="{E460E3AC-781F-4207-A885-8FA488338271}"/>
              </a:ext>
            </a:extLst>
          </p:cNvPr>
          <p:cNvSpPr txBox="1"/>
          <p:nvPr/>
        </p:nvSpPr>
        <p:spPr>
          <a:xfrm>
            <a:off x="1241441" y="3858453"/>
            <a:ext cx="1013015" cy="276999"/>
          </a:xfrm>
          <a:prstGeom prst="rect">
            <a:avLst/>
          </a:prstGeom>
          <a:noFill/>
        </p:spPr>
        <p:txBody>
          <a:bodyPr wrap="square" rtlCol="0">
            <a:spAutoFit/>
          </a:bodyPr>
          <a:lstStyle/>
          <a:p>
            <a:r>
              <a:rPr lang="en-US" sz="1200" dirty="0"/>
              <a:t>High</a:t>
            </a:r>
            <a:endParaRPr lang="en-IN" sz="1200" dirty="0"/>
          </a:p>
        </p:txBody>
      </p:sp>
      <p:sp>
        <p:nvSpPr>
          <p:cNvPr id="65" name="Rectangle: Rounded Corners 64">
            <a:extLst>
              <a:ext uri="{FF2B5EF4-FFF2-40B4-BE49-F238E27FC236}">
                <a16:creationId xmlns:a16="http://schemas.microsoft.com/office/drawing/2014/main" id="{64E50B95-741E-437A-8E2A-D45242243121}"/>
              </a:ext>
            </a:extLst>
          </p:cNvPr>
          <p:cNvSpPr/>
          <p:nvPr/>
        </p:nvSpPr>
        <p:spPr>
          <a:xfrm>
            <a:off x="2547784" y="4123244"/>
            <a:ext cx="268448" cy="100668"/>
          </a:xfrm>
          <a:prstGeom prst="roundRect">
            <a:avLst/>
          </a:prstGeom>
          <a:solidFill>
            <a:srgbClr val="C00000"/>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ectangle: Rounded Corners 65">
            <a:extLst>
              <a:ext uri="{FF2B5EF4-FFF2-40B4-BE49-F238E27FC236}">
                <a16:creationId xmlns:a16="http://schemas.microsoft.com/office/drawing/2014/main" id="{1FF1F7B3-6CD0-4525-A7D0-5F06B7855A22}"/>
              </a:ext>
            </a:extLst>
          </p:cNvPr>
          <p:cNvSpPr/>
          <p:nvPr/>
        </p:nvSpPr>
        <p:spPr>
          <a:xfrm>
            <a:off x="2850893" y="4123244"/>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A96388CC-2972-4EA0-9B8D-5C965C5C856F}"/>
              </a:ext>
            </a:extLst>
          </p:cNvPr>
          <p:cNvSpPr/>
          <p:nvPr/>
        </p:nvSpPr>
        <p:spPr>
          <a:xfrm>
            <a:off x="3154002" y="4123244"/>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a:extLst>
              <a:ext uri="{FF2B5EF4-FFF2-40B4-BE49-F238E27FC236}">
                <a16:creationId xmlns:a16="http://schemas.microsoft.com/office/drawing/2014/main" id="{435191BB-8AB9-4A80-B278-C7EAC472F9BE}"/>
              </a:ext>
            </a:extLst>
          </p:cNvPr>
          <p:cNvSpPr txBox="1"/>
          <p:nvPr/>
        </p:nvSpPr>
        <p:spPr>
          <a:xfrm>
            <a:off x="2791722" y="3874640"/>
            <a:ext cx="1013015" cy="276999"/>
          </a:xfrm>
          <a:prstGeom prst="rect">
            <a:avLst/>
          </a:prstGeom>
          <a:noFill/>
        </p:spPr>
        <p:txBody>
          <a:bodyPr wrap="square" rtlCol="0">
            <a:spAutoFit/>
          </a:bodyPr>
          <a:lstStyle/>
          <a:p>
            <a:r>
              <a:rPr lang="en-US" sz="1200" dirty="0"/>
              <a:t>Low</a:t>
            </a:r>
            <a:endParaRPr lang="en-IN" sz="1200" dirty="0"/>
          </a:p>
        </p:txBody>
      </p:sp>
      <p:sp>
        <p:nvSpPr>
          <p:cNvPr id="69" name="TextBox 68">
            <a:extLst>
              <a:ext uri="{FF2B5EF4-FFF2-40B4-BE49-F238E27FC236}">
                <a16:creationId xmlns:a16="http://schemas.microsoft.com/office/drawing/2014/main" id="{871FBDEC-4D10-4161-9442-4C00CEB8E946}"/>
              </a:ext>
            </a:extLst>
          </p:cNvPr>
          <p:cNvSpPr txBox="1"/>
          <p:nvPr/>
        </p:nvSpPr>
        <p:spPr>
          <a:xfrm>
            <a:off x="4262045" y="3874640"/>
            <a:ext cx="1013015" cy="276999"/>
          </a:xfrm>
          <a:prstGeom prst="rect">
            <a:avLst/>
          </a:prstGeom>
          <a:noFill/>
        </p:spPr>
        <p:txBody>
          <a:bodyPr wrap="square" rtlCol="0">
            <a:spAutoFit/>
          </a:bodyPr>
          <a:lstStyle/>
          <a:p>
            <a:r>
              <a:rPr lang="en-US" sz="1200" dirty="0"/>
              <a:t>Medium</a:t>
            </a:r>
            <a:endParaRPr lang="en-IN" sz="1200" dirty="0"/>
          </a:p>
        </p:txBody>
      </p:sp>
      <p:sp>
        <p:nvSpPr>
          <p:cNvPr id="70" name="Rectangle: Rounded Corners 69">
            <a:extLst>
              <a:ext uri="{FF2B5EF4-FFF2-40B4-BE49-F238E27FC236}">
                <a16:creationId xmlns:a16="http://schemas.microsoft.com/office/drawing/2014/main" id="{C2425652-D325-4B33-AFD3-6CF6CAE88C02}"/>
              </a:ext>
            </a:extLst>
          </p:cNvPr>
          <p:cNvSpPr/>
          <p:nvPr/>
        </p:nvSpPr>
        <p:spPr>
          <a:xfrm>
            <a:off x="4162335" y="4156416"/>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Rounded Corners 70">
            <a:extLst>
              <a:ext uri="{FF2B5EF4-FFF2-40B4-BE49-F238E27FC236}">
                <a16:creationId xmlns:a16="http://schemas.microsoft.com/office/drawing/2014/main" id="{9ECC783A-2567-4F6C-AE01-BB41C3A36A24}"/>
              </a:ext>
            </a:extLst>
          </p:cNvPr>
          <p:cNvSpPr/>
          <p:nvPr/>
        </p:nvSpPr>
        <p:spPr>
          <a:xfrm>
            <a:off x="4465444" y="4156416"/>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Rectangle: Rounded Corners 71">
            <a:extLst>
              <a:ext uri="{FF2B5EF4-FFF2-40B4-BE49-F238E27FC236}">
                <a16:creationId xmlns:a16="http://schemas.microsoft.com/office/drawing/2014/main" id="{0D3EC8DF-404B-44D1-87D4-461FF53A5A47}"/>
              </a:ext>
            </a:extLst>
          </p:cNvPr>
          <p:cNvSpPr/>
          <p:nvPr/>
        </p:nvSpPr>
        <p:spPr>
          <a:xfrm>
            <a:off x="4768553" y="415641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3" name="Picture 8" descr="Most Trusted Car Service | Car Repair | Car Detailing - Pitstop">
            <a:extLst>
              <a:ext uri="{FF2B5EF4-FFF2-40B4-BE49-F238E27FC236}">
                <a16:creationId xmlns:a16="http://schemas.microsoft.com/office/drawing/2014/main" id="{F44F1018-693A-430F-AFD9-57A7DC9194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0130" y="1244521"/>
            <a:ext cx="652610" cy="652610"/>
          </a:xfrm>
          <a:prstGeom prst="rect">
            <a:avLst/>
          </a:prstGeom>
          <a:noFill/>
          <a:extLst>
            <a:ext uri="{909E8E84-426E-40DD-AFC4-6F175D3DCCD1}">
              <a14:hiddenFill xmlns:a14="http://schemas.microsoft.com/office/drawing/2010/main">
                <a:solidFill>
                  <a:srgbClr val="FFFFFF"/>
                </a:solidFill>
              </a14:hiddenFill>
            </a:ext>
          </a:extLst>
        </p:spPr>
      </p:pic>
      <p:sp>
        <p:nvSpPr>
          <p:cNvPr id="74" name="Rectangle: Rounded Corners 73">
            <a:extLst>
              <a:ext uri="{FF2B5EF4-FFF2-40B4-BE49-F238E27FC236}">
                <a16:creationId xmlns:a16="http://schemas.microsoft.com/office/drawing/2014/main" id="{98F5EF5D-7EBC-4016-9915-C7180DF812D3}"/>
              </a:ext>
            </a:extLst>
          </p:cNvPr>
          <p:cNvSpPr/>
          <p:nvPr/>
        </p:nvSpPr>
        <p:spPr>
          <a:xfrm>
            <a:off x="5668254" y="2401481"/>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Rounded Corners 74">
            <a:extLst>
              <a:ext uri="{FF2B5EF4-FFF2-40B4-BE49-F238E27FC236}">
                <a16:creationId xmlns:a16="http://schemas.microsoft.com/office/drawing/2014/main" id="{B2C5A819-3071-452E-AD2A-29BAB2E46766}"/>
              </a:ext>
            </a:extLst>
          </p:cNvPr>
          <p:cNvSpPr/>
          <p:nvPr/>
        </p:nvSpPr>
        <p:spPr>
          <a:xfrm>
            <a:off x="6274472" y="2401481"/>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B03F9C87-9161-4F81-BF29-B797BA819966}"/>
              </a:ext>
            </a:extLst>
          </p:cNvPr>
          <p:cNvSpPr txBox="1"/>
          <p:nvPr/>
        </p:nvSpPr>
        <p:spPr>
          <a:xfrm>
            <a:off x="5767964" y="2146858"/>
            <a:ext cx="1013015" cy="276999"/>
          </a:xfrm>
          <a:prstGeom prst="rect">
            <a:avLst/>
          </a:prstGeom>
          <a:noFill/>
        </p:spPr>
        <p:txBody>
          <a:bodyPr wrap="square" rtlCol="0">
            <a:spAutoFit/>
          </a:bodyPr>
          <a:lstStyle/>
          <a:p>
            <a:r>
              <a:rPr lang="en-US" sz="1200" dirty="0"/>
              <a:t>Medium</a:t>
            </a:r>
            <a:endParaRPr lang="en-IN" sz="1200" dirty="0"/>
          </a:p>
        </p:txBody>
      </p:sp>
      <p:sp>
        <p:nvSpPr>
          <p:cNvPr id="77" name="Rectangle: Rounded Corners 76">
            <a:extLst>
              <a:ext uri="{FF2B5EF4-FFF2-40B4-BE49-F238E27FC236}">
                <a16:creationId xmlns:a16="http://schemas.microsoft.com/office/drawing/2014/main" id="{53894CEB-E427-470D-A037-C68EA7AA1EBE}"/>
              </a:ext>
            </a:extLst>
          </p:cNvPr>
          <p:cNvSpPr/>
          <p:nvPr/>
        </p:nvSpPr>
        <p:spPr>
          <a:xfrm>
            <a:off x="5971363" y="2403158"/>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TextBox 77">
            <a:extLst>
              <a:ext uri="{FF2B5EF4-FFF2-40B4-BE49-F238E27FC236}">
                <a16:creationId xmlns:a16="http://schemas.microsoft.com/office/drawing/2014/main" id="{22348084-23FE-4D98-9923-21675EDA821F}"/>
              </a:ext>
            </a:extLst>
          </p:cNvPr>
          <p:cNvSpPr txBox="1"/>
          <p:nvPr/>
        </p:nvSpPr>
        <p:spPr>
          <a:xfrm>
            <a:off x="5793627" y="3040921"/>
            <a:ext cx="1013015" cy="276999"/>
          </a:xfrm>
          <a:prstGeom prst="rect">
            <a:avLst/>
          </a:prstGeom>
          <a:noFill/>
        </p:spPr>
        <p:txBody>
          <a:bodyPr wrap="square" rtlCol="0">
            <a:spAutoFit/>
          </a:bodyPr>
          <a:lstStyle/>
          <a:p>
            <a:r>
              <a:rPr lang="en-US" sz="1200" dirty="0"/>
              <a:t>Medium</a:t>
            </a:r>
            <a:endParaRPr lang="en-IN" sz="1200" dirty="0"/>
          </a:p>
        </p:txBody>
      </p:sp>
      <p:sp>
        <p:nvSpPr>
          <p:cNvPr id="79" name="Rectangle: Rounded Corners 78">
            <a:extLst>
              <a:ext uri="{FF2B5EF4-FFF2-40B4-BE49-F238E27FC236}">
                <a16:creationId xmlns:a16="http://schemas.microsoft.com/office/drawing/2014/main" id="{491F51BE-181B-4A6C-B140-C40B1B9A7846}"/>
              </a:ext>
            </a:extLst>
          </p:cNvPr>
          <p:cNvSpPr/>
          <p:nvPr/>
        </p:nvSpPr>
        <p:spPr>
          <a:xfrm>
            <a:off x="5693917" y="3322697"/>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Rectangle: Rounded Corners 79">
            <a:extLst>
              <a:ext uri="{FF2B5EF4-FFF2-40B4-BE49-F238E27FC236}">
                <a16:creationId xmlns:a16="http://schemas.microsoft.com/office/drawing/2014/main" id="{FEBC29CC-EA70-48A1-9FFA-3BCD238B11B6}"/>
              </a:ext>
            </a:extLst>
          </p:cNvPr>
          <p:cNvSpPr/>
          <p:nvPr/>
        </p:nvSpPr>
        <p:spPr>
          <a:xfrm>
            <a:off x="5997026" y="3322697"/>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Rectangle: Rounded Corners 80">
            <a:extLst>
              <a:ext uri="{FF2B5EF4-FFF2-40B4-BE49-F238E27FC236}">
                <a16:creationId xmlns:a16="http://schemas.microsoft.com/office/drawing/2014/main" id="{3649C70F-AFD1-408E-AB9E-E05F7ED7AB43}"/>
              </a:ext>
            </a:extLst>
          </p:cNvPr>
          <p:cNvSpPr/>
          <p:nvPr/>
        </p:nvSpPr>
        <p:spPr>
          <a:xfrm>
            <a:off x="6300135" y="3322697"/>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a:extLst>
              <a:ext uri="{FF2B5EF4-FFF2-40B4-BE49-F238E27FC236}">
                <a16:creationId xmlns:a16="http://schemas.microsoft.com/office/drawing/2014/main" id="{A187D957-44DD-4E53-9001-AC7AEA9D01D4}"/>
              </a:ext>
            </a:extLst>
          </p:cNvPr>
          <p:cNvSpPr txBox="1"/>
          <p:nvPr/>
        </p:nvSpPr>
        <p:spPr>
          <a:xfrm>
            <a:off x="5767964" y="3874640"/>
            <a:ext cx="1013015" cy="276999"/>
          </a:xfrm>
          <a:prstGeom prst="rect">
            <a:avLst/>
          </a:prstGeom>
          <a:noFill/>
        </p:spPr>
        <p:txBody>
          <a:bodyPr wrap="square" rtlCol="0">
            <a:spAutoFit/>
          </a:bodyPr>
          <a:lstStyle/>
          <a:p>
            <a:r>
              <a:rPr lang="en-US" sz="1200" dirty="0"/>
              <a:t>Medium</a:t>
            </a:r>
            <a:endParaRPr lang="en-IN" sz="1200" dirty="0"/>
          </a:p>
        </p:txBody>
      </p:sp>
      <p:sp>
        <p:nvSpPr>
          <p:cNvPr id="83" name="Rectangle: Rounded Corners 82">
            <a:extLst>
              <a:ext uri="{FF2B5EF4-FFF2-40B4-BE49-F238E27FC236}">
                <a16:creationId xmlns:a16="http://schemas.microsoft.com/office/drawing/2014/main" id="{1779093B-581F-48CD-9408-73748A19B003}"/>
              </a:ext>
            </a:extLst>
          </p:cNvPr>
          <p:cNvSpPr/>
          <p:nvPr/>
        </p:nvSpPr>
        <p:spPr>
          <a:xfrm>
            <a:off x="5668254" y="4156416"/>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Rectangle: Rounded Corners 83">
            <a:extLst>
              <a:ext uri="{FF2B5EF4-FFF2-40B4-BE49-F238E27FC236}">
                <a16:creationId xmlns:a16="http://schemas.microsoft.com/office/drawing/2014/main" id="{814F9A03-F516-409C-9297-B5A7C70FFD77}"/>
              </a:ext>
            </a:extLst>
          </p:cNvPr>
          <p:cNvSpPr/>
          <p:nvPr/>
        </p:nvSpPr>
        <p:spPr>
          <a:xfrm>
            <a:off x="5971363" y="4156416"/>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Rounded Corners 84">
            <a:extLst>
              <a:ext uri="{FF2B5EF4-FFF2-40B4-BE49-F238E27FC236}">
                <a16:creationId xmlns:a16="http://schemas.microsoft.com/office/drawing/2014/main" id="{A0ED61B9-44E8-4966-BC16-BD88836B8AAC}"/>
              </a:ext>
            </a:extLst>
          </p:cNvPr>
          <p:cNvSpPr/>
          <p:nvPr/>
        </p:nvSpPr>
        <p:spPr>
          <a:xfrm>
            <a:off x="6274472" y="415641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6" name="Table 18">
            <a:extLst>
              <a:ext uri="{FF2B5EF4-FFF2-40B4-BE49-F238E27FC236}">
                <a16:creationId xmlns:a16="http://schemas.microsoft.com/office/drawing/2014/main" id="{3EF39E32-ECDA-440B-890D-6A1FA0C15343}"/>
              </a:ext>
            </a:extLst>
          </p:cNvPr>
          <p:cNvGraphicFramePr>
            <a:graphicFrameLocks noGrp="1"/>
          </p:cNvGraphicFramePr>
          <p:nvPr/>
        </p:nvGraphicFramePr>
        <p:xfrm>
          <a:off x="143422" y="5459082"/>
          <a:ext cx="8245569" cy="791011"/>
        </p:xfrm>
        <a:graphic>
          <a:graphicData uri="http://schemas.openxmlformats.org/drawingml/2006/table">
            <a:tbl>
              <a:tblPr firstRow="1" bandRow="1">
                <a:tableStyleId>{69012ECD-51FC-41F1-AA8D-1B2483CD663E}</a:tableStyleId>
              </a:tblPr>
              <a:tblGrid>
                <a:gridCol w="633000">
                  <a:extLst>
                    <a:ext uri="{9D8B030D-6E8A-4147-A177-3AD203B41FA5}">
                      <a16:colId xmlns:a16="http://schemas.microsoft.com/office/drawing/2014/main" val="3031300729"/>
                    </a:ext>
                  </a:extLst>
                </a:gridCol>
                <a:gridCol w="1482426">
                  <a:extLst>
                    <a:ext uri="{9D8B030D-6E8A-4147-A177-3AD203B41FA5}">
                      <a16:colId xmlns:a16="http://schemas.microsoft.com/office/drawing/2014/main" val="1023840564"/>
                    </a:ext>
                  </a:extLst>
                </a:gridCol>
                <a:gridCol w="1539779">
                  <a:extLst>
                    <a:ext uri="{9D8B030D-6E8A-4147-A177-3AD203B41FA5}">
                      <a16:colId xmlns:a16="http://schemas.microsoft.com/office/drawing/2014/main" val="399874311"/>
                    </a:ext>
                  </a:extLst>
                </a:gridCol>
                <a:gridCol w="1696895">
                  <a:extLst>
                    <a:ext uri="{9D8B030D-6E8A-4147-A177-3AD203B41FA5}">
                      <a16:colId xmlns:a16="http://schemas.microsoft.com/office/drawing/2014/main" val="1591646591"/>
                    </a:ext>
                  </a:extLst>
                </a:gridCol>
                <a:gridCol w="1401782">
                  <a:extLst>
                    <a:ext uri="{9D8B030D-6E8A-4147-A177-3AD203B41FA5}">
                      <a16:colId xmlns:a16="http://schemas.microsoft.com/office/drawing/2014/main" val="1319340216"/>
                    </a:ext>
                  </a:extLst>
                </a:gridCol>
                <a:gridCol w="1491687">
                  <a:extLst>
                    <a:ext uri="{9D8B030D-6E8A-4147-A177-3AD203B41FA5}">
                      <a16:colId xmlns:a16="http://schemas.microsoft.com/office/drawing/2014/main" val="4004962172"/>
                    </a:ext>
                  </a:extLst>
                </a:gridCol>
              </a:tblGrid>
              <a:tr h="791011">
                <a:tc>
                  <a:txBody>
                    <a:bodyPr/>
                    <a:lstStyle/>
                    <a:p>
                      <a:pPr algn="ctr"/>
                      <a:endParaRPr lang="en-IN" sz="1100" dirty="0">
                        <a:solidFill>
                          <a:schemeClr val="bg1"/>
                        </a:solidFill>
                        <a:latin typeface="+mn-lt"/>
                        <a:cs typeface="Times New Roman" panose="02020603050405020304" pitchFamily="18" charset="0"/>
                      </a:endParaRPr>
                    </a:p>
                    <a:p>
                      <a:pPr algn="ctr"/>
                      <a:r>
                        <a:rPr lang="en-IN" sz="1100" dirty="0">
                          <a:solidFill>
                            <a:schemeClr val="bg1"/>
                          </a:solidFill>
                          <a:latin typeface="+mn-lt"/>
                          <a:cs typeface="Times New Roman" panose="02020603050405020304" pitchFamily="18" charset="0"/>
                        </a:rPr>
                        <a:t> User </a:t>
                      </a:r>
                    </a:p>
                    <a:p>
                      <a:pPr algn="ctr"/>
                      <a:r>
                        <a:rPr lang="en-IN" sz="1100" dirty="0">
                          <a:solidFill>
                            <a:schemeClr val="bg1"/>
                          </a:solidFill>
                          <a:latin typeface="+mn-lt"/>
                          <a:cs typeface="Times New Roman" panose="02020603050405020304" pitchFamily="18" charset="0"/>
                        </a:rPr>
                        <a:t>Ratings</a:t>
                      </a:r>
                    </a:p>
                  </a:txBody>
                  <a:tcPr marL="45720" marR="4572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62F"/>
                    </a:solidFill>
                  </a:tcPr>
                </a:tc>
                <a:tc>
                  <a:txBody>
                    <a:bodyPr/>
                    <a:lstStyle/>
                    <a:p>
                      <a:pPr algn="ctr"/>
                      <a:r>
                        <a:rPr lang="en-US" sz="1100" b="0" dirty="0">
                          <a:solidFill>
                            <a:schemeClr val="tx1"/>
                          </a:solidFill>
                          <a:latin typeface="+mn-lt"/>
                          <a:cs typeface="Times New Roman" panose="02020603050405020304" pitchFamily="18" charset="0"/>
                        </a:rPr>
                        <a:t>4.3</a:t>
                      </a: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38627"/>
                  </a:ext>
                </a:extLst>
              </a:tr>
            </a:tbl>
          </a:graphicData>
        </a:graphic>
      </p:graphicFrame>
      <p:graphicFrame>
        <p:nvGraphicFramePr>
          <p:cNvPr id="87" name="Table 18">
            <a:extLst>
              <a:ext uri="{FF2B5EF4-FFF2-40B4-BE49-F238E27FC236}">
                <a16:creationId xmlns:a16="http://schemas.microsoft.com/office/drawing/2014/main" id="{FFD44521-8A4A-4455-86A4-EBCC3080562C}"/>
              </a:ext>
            </a:extLst>
          </p:cNvPr>
          <p:cNvGraphicFramePr>
            <a:graphicFrameLocks noGrp="1"/>
          </p:cNvGraphicFramePr>
          <p:nvPr/>
        </p:nvGraphicFramePr>
        <p:xfrm>
          <a:off x="160200" y="4586169"/>
          <a:ext cx="8228791" cy="791011"/>
        </p:xfrm>
        <a:graphic>
          <a:graphicData uri="http://schemas.openxmlformats.org/drawingml/2006/table">
            <a:tbl>
              <a:tblPr firstRow="1" bandRow="1">
                <a:tableStyleId>{69012ECD-51FC-41F1-AA8D-1B2483CD663E}</a:tableStyleId>
              </a:tblPr>
              <a:tblGrid>
                <a:gridCol w="633000">
                  <a:extLst>
                    <a:ext uri="{9D8B030D-6E8A-4147-A177-3AD203B41FA5}">
                      <a16:colId xmlns:a16="http://schemas.microsoft.com/office/drawing/2014/main" val="3031300729"/>
                    </a:ext>
                  </a:extLst>
                </a:gridCol>
                <a:gridCol w="1482426">
                  <a:extLst>
                    <a:ext uri="{9D8B030D-6E8A-4147-A177-3AD203B41FA5}">
                      <a16:colId xmlns:a16="http://schemas.microsoft.com/office/drawing/2014/main" val="1023840564"/>
                    </a:ext>
                  </a:extLst>
                </a:gridCol>
                <a:gridCol w="1539779">
                  <a:extLst>
                    <a:ext uri="{9D8B030D-6E8A-4147-A177-3AD203B41FA5}">
                      <a16:colId xmlns:a16="http://schemas.microsoft.com/office/drawing/2014/main" val="399874311"/>
                    </a:ext>
                  </a:extLst>
                </a:gridCol>
                <a:gridCol w="1696895">
                  <a:extLst>
                    <a:ext uri="{9D8B030D-6E8A-4147-A177-3AD203B41FA5}">
                      <a16:colId xmlns:a16="http://schemas.microsoft.com/office/drawing/2014/main" val="1591646591"/>
                    </a:ext>
                  </a:extLst>
                </a:gridCol>
                <a:gridCol w="1401782">
                  <a:extLst>
                    <a:ext uri="{9D8B030D-6E8A-4147-A177-3AD203B41FA5}">
                      <a16:colId xmlns:a16="http://schemas.microsoft.com/office/drawing/2014/main" val="1319340216"/>
                    </a:ext>
                  </a:extLst>
                </a:gridCol>
                <a:gridCol w="1474909">
                  <a:extLst>
                    <a:ext uri="{9D8B030D-6E8A-4147-A177-3AD203B41FA5}">
                      <a16:colId xmlns:a16="http://schemas.microsoft.com/office/drawing/2014/main" val="819920585"/>
                    </a:ext>
                  </a:extLst>
                </a:gridCol>
              </a:tblGrid>
              <a:tr h="791011">
                <a:tc>
                  <a:txBody>
                    <a:bodyPr/>
                    <a:lstStyle/>
                    <a:p>
                      <a:pPr algn="ctr"/>
                      <a:endParaRPr lang="en-IN" sz="1100" dirty="0">
                        <a:solidFill>
                          <a:schemeClr val="bg1"/>
                        </a:solidFill>
                        <a:latin typeface="+mn-lt"/>
                        <a:cs typeface="Times New Roman" panose="02020603050405020304" pitchFamily="18" charset="0"/>
                      </a:endParaRPr>
                    </a:p>
                    <a:p>
                      <a:pPr algn="ctr"/>
                      <a:r>
                        <a:rPr lang="en-IN" sz="1100" dirty="0">
                          <a:solidFill>
                            <a:schemeClr val="bg1"/>
                          </a:solidFill>
                          <a:latin typeface="+mn-lt"/>
                          <a:cs typeface="Times New Roman" panose="02020603050405020304" pitchFamily="18" charset="0"/>
                        </a:rPr>
                        <a:t> Funding</a:t>
                      </a:r>
                    </a:p>
                  </a:txBody>
                  <a:tcPr marL="45720" marR="4572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62F"/>
                    </a:solidFill>
                  </a:tcPr>
                </a:tc>
                <a:tc>
                  <a:txBody>
                    <a:bodyPr/>
                    <a:lstStyle/>
                    <a:p>
                      <a:pPr algn="ctr"/>
                      <a:r>
                        <a:rPr lang="en-US" sz="1100" b="0" dirty="0">
                          <a:solidFill>
                            <a:schemeClr val="tx1"/>
                          </a:solidFill>
                          <a:latin typeface="+mn-lt"/>
                          <a:cs typeface="Times New Roman" panose="02020603050405020304" pitchFamily="18" charset="0"/>
                        </a:rPr>
                        <a:t>$27.6 M</a:t>
                      </a: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0" dirty="0">
                          <a:solidFill>
                            <a:schemeClr val="tx1"/>
                          </a:solidFill>
                          <a:latin typeface="+mn-lt"/>
                          <a:cs typeface="Times New Roman" panose="02020603050405020304" pitchFamily="18" charset="0"/>
                        </a:rPr>
                        <a:t>$1.3 M</a:t>
                      </a: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0" dirty="0">
                          <a:solidFill>
                            <a:schemeClr val="tx1"/>
                          </a:solidFill>
                          <a:latin typeface="+mn-lt"/>
                          <a:cs typeface="Times New Roman" panose="02020603050405020304" pitchFamily="18" charset="0"/>
                        </a:rPr>
                        <a:t>$46.3K</a:t>
                      </a: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0" dirty="0">
                          <a:solidFill>
                            <a:schemeClr val="tx1"/>
                          </a:solidFill>
                          <a:latin typeface="+mn-lt"/>
                          <a:cs typeface="Times New Roman" panose="02020603050405020304" pitchFamily="18" charset="0"/>
                        </a:rPr>
                        <a:t>$8.3M</a:t>
                      </a: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1100" b="0" dirty="0">
                        <a:solidFill>
                          <a:schemeClr val="tx1"/>
                        </a:solidFill>
                        <a:latin typeface="+mn-lt"/>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38627"/>
                  </a:ext>
                </a:extLst>
              </a:tr>
            </a:tbl>
          </a:graphicData>
        </a:graphic>
      </p:graphicFrame>
      <p:sp>
        <p:nvSpPr>
          <p:cNvPr id="88" name="TextBox 87">
            <a:extLst>
              <a:ext uri="{FF2B5EF4-FFF2-40B4-BE49-F238E27FC236}">
                <a16:creationId xmlns:a16="http://schemas.microsoft.com/office/drawing/2014/main" id="{5BD81679-2A95-4725-98A8-E0F1DC16148C}"/>
              </a:ext>
            </a:extLst>
          </p:cNvPr>
          <p:cNvSpPr txBox="1"/>
          <p:nvPr/>
        </p:nvSpPr>
        <p:spPr>
          <a:xfrm>
            <a:off x="734302" y="2510200"/>
            <a:ext cx="1576311" cy="215444"/>
          </a:xfrm>
          <a:prstGeom prst="rect">
            <a:avLst/>
          </a:prstGeom>
          <a:noFill/>
        </p:spPr>
        <p:txBody>
          <a:bodyPr wrap="square" rtlCol="0">
            <a:spAutoFit/>
          </a:bodyPr>
          <a:lstStyle/>
          <a:p>
            <a:r>
              <a:rPr lang="en-US" sz="800" dirty="0"/>
              <a:t>Car Servicing/Packaged Services</a:t>
            </a:r>
            <a:endParaRPr lang="en-IN" sz="800" dirty="0"/>
          </a:p>
        </p:txBody>
      </p:sp>
      <p:sp>
        <p:nvSpPr>
          <p:cNvPr id="89" name="TextBox 88">
            <a:extLst>
              <a:ext uri="{FF2B5EF4-FFF2-40B4-BE49-F238E27FC236}">
                <a16:creationId xmlns:a16="http://schemas.microsoft.com/office/drawing/2014/main" id="{8ACAD1D6-51CA-4D15-BAF8-5E5EC4442996}"/>
              </a:ext>
            </a:extLst>
          </p:cNvPr>
          <p:cNvSpPr txBox="1"/>
          <p:nvPr/>
        </p:nvSpPr>
        <p:spPr>
          <a:xfrm>
            <a:off x="2310613" y="2511658"/>
            <a:ext cx="1576311" cy="215444"/>
          </a:xfrm>
          <a:prstGeom prst="rect">
            <a:avLst/>
          </a:prstGeom>
          <a:noFill/>
        </p:spPr>
        <p:txBody>
          <a:bodyPr wrap="square" rtlCol="0">
            <a:spAutoFit/>
          </a:bodyPr>
          <a:lstStyle/>
          <a:p>
            <a:r>
              <a:rPr lang="en-US" sz="800" dirty="0"/>
              <a:t>Car Servicing/ bike servicing</a:t>
            </a:r>
            <a:endParaRPr lang="en-IN" sz="800" dirty="0"/>
          </a:p>
        </p:txBody>
      </p:sp>
      <p:sp>
        <p:nvSpPr>
          <p:cNvPr id="90" name="TextBox 89">
            <a:extLst>
              <a:ext uri="{FF2B5EF4-FFF2-40B4-BE49-F238E27FC236}">
                <a16:creationId xmlns:a16="http://schemas.microsoft.com/office/drawing/2014/main" id="{839E9F59-900C-4605-923B-118780C72AA9}"/>
              </a:ext>
            </a:extLst>
          </p:cNvPr>
          <p:cNvSpPr txBox="1"/>
          <p:nvPr/>
        </p:nvSpPr>
        <p:spPr>
          <a:xfrm>
            <a:off x="3929085" y="2537985"/>
            <a:ext cx="1576311" cy="215444"/>
          </a:xfrm>
          <a:prstGeom prst="rect">
            <a:avLst/>
          </a:prstGeom>
          <a:noFill/>
        </p:spPr>
        <p:txBody>
          <a:bodyPr wrap="square" rtlCol="0">
            <a:spAutoFit/>
          </a:bodyPr>
          <a:lstStyle/>
          <a:p>
            <a:r>
              <a:rPr lang="en-US" sz="800" dirty="0"/>
              <a:t>Limited car servicing options</a:t>
            </a:r>
            <a:endParaRPr lang="en-IN" sz="800" dirty="0"/>
          </a:p>
        </p:txBody>
      </p:sp>
      <p:sp>
        <p:nvSpPr>
          <p:cNvPr id="91" name="TextBox 90">
            <a:extLst>
              <a:ext uri="{FF2B5EF4-FFF2-40B4-BE49-F238E27FC236}">
                <a16:creationId xmlns:a16="http://schemas.microsoft.com/office/drawing/2014/main" id="{5D6861D5-CC12-4B6B-B432-6421DE9B2C10}"/>
              </a:ext>
            </a:extLst>
          </p:cNvPr>
          <p:cNvSpPr txBox="1"/>
          <p:nvPr/>
        </p:nvSpPr>
        <p:spPr>
          <a:xfrm>
            <a:off x="739589" y="3396342"/>
            <a:ext cx="1576311" cy="215444"/>
          </a:xfrm>
          <a:prstGeom prst="rect">
            <a:avLst/>
          </a:prstGeom>
          <a:noFill/>
        </p:spPr>
        <p:txBody>
          <a:bodyPr wrap="square" rtlCol="0">
            <a:spAutoFit/>
          </a:bodyPr>
          <a:lstStyle/>
          <a:p>
            <a:pPr algn="ctr"/>
            <a:r>
              <a:rPr lang="en-US" sz="800" dirty="0"/>
              <a:t>750K+ downloads</a:t>
            </a:r>
            <a:endParaRPr lang="en-IN" sz="800" dirty="0"/>
          </a:p>
        </p:txBody>
      </p:sp>
      <p:sp>
        <p:nvSpPr>
          <p:cNvPr id="92" name="TextBox 91">
            <a:extLst>
              <a:ext uri="{FF2B5EF4-FFF2-40B4-BE49-F238E27FC236}">
                <a16:creationId xmlns:a16="http://schemas.microsoft.com/office/drawing/2014/main" id="{1477F09E-E3EB-45C1-826C-16995B89DDFF}"/>
              </a:ext>
            </a:extLst>
          </p:cNvPr>
          <p:cNvSpPr txBox="1"/>
          <p:nvPr/>
        </p:nvSpPr>
        <p:spPr>
          <a:xfrm>
            <a:off x="2344135" y="3396342"/>
            <a:ext cx="1576311" cy="215444"/>
          </a:xfrm>
          <a:prstGeom prst="rect">
            <a:avLst/>
          </a:prstGeom>
          <a:noFill/>
        </p:spPr>
        <p:txBody>
          <a:bodyPr wrap="square" rtlCol="0">
            <a:spAutoFit/>
          </a:bodyPr>
          <a:lstStyle/>
          <a:p>
            <a:pPr algn="ctr"/>
            <a:r>
              <a:rPr lang="en-US" sz="800" dirty="0"/>
              <a:t>300K+ downloads</a:t>
            </a:r>
            <a:endParaRPr lang="en-IN" sz="800" dirty="0"/>
          </a:p>
        </p:txBody>
      </p:sp>
      <p:sp>
        <p:nvSpPr>
          <p:cNvPr id="93" name="TextBox 92">
            <a:extLst>
              <a:ext uri="{FF2B5EF4-FFF2-40B4-BE49-F238E27FC236}">
                <a16:creationId xmlns:a16="http://schemas.microsoft.com/office/drawing/2014/main" id="{E4010442-EB30-456A-9B3B-FA5A6BEC7CFD}"/>
              </a:ext>
            </a:extLst>
          </p:cNvPr>
          <p:cNvSpPr txBox="1"/>
          <p:nvPr/>
        </p:nvSpPr>
        <p:spPr>
          <a:xfrm>
            <a:off x="5431994" y="3396342"/>
            <a:ext cx="1576311" cy="215444"/>
          </a:xfrm>
          <a:prstGeom prst="rect">
            <a:avLst/>
          </a:prstGeom>
          <a:noFill/>
        </p:spPr>
        <p:txBody>
          <a:bodyPr wrap="square" rtlCol="0">
            <a:spAutoFit/>
          </a:bodyPr>
          <a:lstStyle/>
          <a:p>
            <a:pPr algn="ctr"/>
            <a:r>
              <a:rPr lang="en-US" sz="800" dirty="0"/>
              <a:t>50K+ downloads</a:t>
            </a:r>
            <a:endParaRPr lang="en-IN" sz="800" dirty="0"/>
          </a:p>
        </p:txBody>
      </p:sp>
      <p:sp>
        <p:nvSpPr>
          <p:cNvPr id="94" name="TextBox 93">
            <a:extLst>
              <a:ext uri="{FF2B5EF4-FFF2-40B4-BE49-F238E27FC236}">
                <a16:creationId xmlns:a16="http://schemas.microsoft.com/office/drawing/2014/main" id="{6E5AD89B-5467-4AE2-8B66-976CD56337EA}"/>
              </a:ext>
            </a:extLst>
          </p:cNvPr>
          <p:cNvSpPr txBox="1"/>
          <p:nvPr/>
        </p:nvSpPr>
        <p:spPr>
          <a:xfrm>
            <a:off x="6849556" y="3396342"/>
            <a:ext cx="1576311" cy="215444"/>
          </a:xfrm>
          <a:prstGeom prst="rect">
            <a:avLst/>
          </a:prstGeom>
          <a:noFill/>
        </p:spPr>
        <p:txBody>
          <a:bodyPr wrap="square" rtlCol="0">
            <a:spAutoFit/>
          </a:bodyPr>
          <a:lstStyle/>
          <a:p>
            <a:pPr algn="ctr"/>
            <a:r>
              <a:rPr lang="en-US" sz="800" dirty="0"/>
              <a:t>1K+ downloads</a:t>
            </a:r>
            <a:endParaRPr lang="en-IN" sz="800" dirty="0"/>
          </a:p>
        </p:txBody>
      </p:sp>
      <p:sp>
        <p:nvSpPr>
          <p:cNvPr id="95" name="TextBox 94">
            <a:extLst>
              <a:ext uri="{FF2B5EF4-FFF2-40B4-BE49-F238E27FC236}">
                <a16:creationId xmlns:a16="http://schemas.microsoft.com/office/drawing/2014/main" id="{F9CA4672-2E32-48CA-B646-88947554926D}"/>
              </a:ext>
            </a:extLst>
          </p:cNvPr>
          <p:cNvSpPr txBox="1"/>
          <p:nvPr/>
        </p:nvSpPr>
        <p:spPr>
          <a:xfrm>
            <a:off x="1057530" y="4241884"/>
            <a:ext cx="1576311" cy="215444"/>
          </a:xfrm>
          <a:prstGeom prst="rect">
            <a:avLst/>
          </a:prstGeom>
          <a:noFill/>
        </p:spPr>
        <p:txBody>
          <a:bodyPr wrap="square" rtlCol="0">
            <a:spAutoFit/>
          </a:bodyPr>
          <a:lstStyle/>
          <a:p>
            <a:endParaRPr lang="en-IN" sz="800" dirty="0"/>
          </a:p>
        </p:txBody>
      </p:sp>
      <p:sp>
        <p:nvSpPr>
          <p:cNvPr id="96" name="Oval 95">
            <a:extLst>
              <a:ext uri="{FF2B5EF4-FFF2-40B4-BE49-F238E27FC236}">
                <a16:creationId xmlns:a16="http://schemas.microsoft.com/office/drawing/2014/main" id="{1C02E412-ECD0-4404-A036-DE1EC0AD4078}"/>
              </a:ext>
            </a:extLst>
          </p:cNvPr>
          <p:cNvSpPr/>
          <p:nvPr/>
        </p:nvSpPr>
        <p:spPr>
          <a:xfrm>
            <a:off x="1191751" y="4652717"/>
            <a:ext cx="652610" cy="657914"/>
          </a:xfrm>
          <a:prstGeom prst="ellipse">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4A25BC09-1B62-41E8-B324-398BEDB5935D}"/>
              </a:ext>
            </a:extLst>
          </p:cNvPr>
          <p:cNvSpPr/>
          <p:nvPr/>
        </p:nvSpPr>
        <p:spPr>
          <a:xfrm>
            <a:off x="2682008" y="4652717"/>
            <a:ext cx="652610" cy="657914"/>
          </a:xfrm>
          <a:prstGeom prst="ellipse">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Oval 97">
            <a:extLst>
              <a:ext uri="{FF2B5EF4-FFF2-40B4-BE49-F238E27FC236}">
                <a16:creationId xmlns:a16="http://schemas.microsoft.com/office/drawing/2014/main" id="{CD24F13C-3EC2-45DC-85F9-9D5C97087F34}"/>
              </a:ext>
            </a:extLst>
          </p:cNvPr>
          <p:cNvSpPr/>
          <p:nvPr/>
        </p:nvSpPr>
        <p:spPr>
          <a:xfrm>
            <a:off x="4357548" y="4661435"/>
            <a:ext cx="652610" cy="657914"/>
          </a:xfrm>
          <a:prstGeom prst="ellipse">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65B6BAB4-0FDA-474B-857D-B16D44728085}"/>
              </a:ext>
            </a:extLst>
          </p:cNvPr>
          <p:cNvSpPr/>
          <p:nvPr/>
        </p:nvSpPr>
        <p:spPr>
          <a:xfrm>
            <a:off x="5847805" y="4650347"/>
            <a:ext cx="652610" cy="657914"/>
          </a:xfrm>
          <a:prstGeom prst="ellipse">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4B5FBA68-7FD5-4244-B8CB-DA60240D5392}"/>
              </a:ext>
            </a:extLst>
          </p:cNvPr>
          <p:cNvSpPr/>
          <p:nvPr/>
        </p:nvSpPr>
        <p:spPr>
          <a:xfrm>
            <a:off x="1130455" y="5511040"/>
            <a:ext cx="693533" cy="69032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4.3</a:t>
            </a:r>
            <a:endParaRPr lang="en-IN" sz="1400" dirty="0"/>
          </a:p>
        </p:txBody>
      </p:sp>
      <p:sp>
        <p:nvSpPr>
          <p:cNvPr id="101" name="Oval 100">
            <a:extLst>
              <a:ext uri="{FF2B5EF4-FFF2-40B4-BE49-F238E27FC236}">
                <a16:creationId xmlns:a16="http://schemas.microsoft.com/office/drawing/2014/main" id="{3A4FEA78-2FBB-44A9-8CFD-22F1CA01C1CE}"/>
              </a:ext>
            </a:extLst>
          </p:cNvPr>
          <p:cNvSpPr/>
          <p:nvPr/>
        </p:nvSpPr>
        <p:spPr>
          <a:xfrm>
            <a:off x="2688491" y="5523884"/>
            <a:ext cx="693533" cy="690326"/>
          </a:xfrm>
          <a:prstGeom prst="ellipse">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3.8</a:t>
            </a:r>
            <a:endParaRPr lang="en-IN" sz="1400" dirty="0"/>
          </a:p>
        </p:txBody>
      </p:sp>
      <p:sp>
        <p:nvSpPr>
          <p:cNvPr id="102" name="Oval 101">
            <a:extLst>
              <a:ext uri="{FF2B5EF4-FFF2-40B4-BE49-F238E27FC236}">
                <a16:creationId xmlns:a16="http://schemas.microsoft.com/office/drawing/2014/main" id="{1ED9912C-B6D8-4E26-85B2-BC95E4954A3D}"/>
              </a:ext>
            </a:extLst>
          </p:cNvPr>
          <p:cNvSpPr/>
          <p:nvPr/>
        </p:nvSpPr>
        <p:spPr>
          <a:xfrm>
            <a:off x="4313393" y="5523884"/>
            <a:ext cx="693533" cy="69032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3.4</a:t>
            </a:r>
            <a:endParaRPr lang="en-IN" sz="1400" dirty="0"/>
          </a:p>
        </p:txBody>
      </p:sp>
      <p:sp>
        <p:nvSpPr>
          <p:cNvPr id="103" name="Oval 102">
            <a:extLst>
              <a:ext uri="{FF2B5EF4-FFF2-40B4-BE49-F238E27FC236}">
                <a16:creationId xmlns:a16="http://schemas.microsoft.com/office/drawing/2014/main" id="{5DC5D88C-D731-4B38-B1B9-EAB49C0AB73B}"/>
              </a:ext>
            </a:extLst>
          </p:cNvPr>
          <p:cNvSpPr/>
          <p:nvPr/>
        </p:nvSpPr>
        <p:spPr>
          <a:xfrm>
            <a:off x="5822998" y="5511040"/>
            <a:ext cx="693533" cy="69032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4.4</a:t>
            </a:r>
            <a:endParaRPr lang="en-IN" sz="1400" dirty="0"/>
          </a:p>
        </p:txBody>
      </p:sp>
      <p:pic>
        <p:nvPicPr>
          <p:cNvPr id="104" name="Picture 4" descr="CarEasy Coupons: Offers and Promo code For Jul 2020">
            <a:extLst>
              <a:ext uri="{FF2B5EF4-FFF2-40B4-BE49-F238E27FC236}">
                <a16:creationId xmlns:a16="http://schemas.microsoft.com/office/drawing/2014/main" id="{72BF0D9D-7CB3-423A-98BD-E948BFBE8F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9587" y="1424257"/>
            <a:ext cx="1182185" cy="472874"/>
          </a:xfrm>
          <a:prstGeom prst="rect">
            <a:avLst/>
          </a:prstGeom>
          <a:noFill/>
          <a:extLst>
            <a:ext uri="{909E8E84-426E-40DD-AFC4-6F175D3DCCD1}">
              <a14:hiddenFill xmlns:a14="http://schemas.microsoft.com/office/drawing/2010/main">
                <a:solidFill>
                  <a:srgbClr val="FFFFFF"/>
                </a:solidFill>
              </a14:hiddenFill>
            </a:ext>
          </a:extLst>
        </p:spPr>
      </p:pic>
      <p:sp>
        <p:nvSpPr>
          <p:cNvPr id="105" name="Oval 104">
            <a:extLst>
              <a:ext uri="{FF2B5EF4-FFF2-40B4-BE49-F238E27FC236}">
                <a16:creationId xmlns:a16="http://schemas.microsoft.com/office/drawing/2014/main" id="{A3C7D404-2143-4767-A4E7-E68F0DBDE1E2}"/>
              </a:ext>
            </a:extLst>
          </p:cNvPr>
          <p:cNvSpPr/>
          <p:nvPr/>
        </p:nvSpPr>
        <p:spPr>
          <a:xfrm>
            <a:off x="7205661" y="4663727"/>
            <a:ext cx="652610" cy="657914"/>
          </a:xfrm>
          <a:prstGeom prst="ellipse">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F76168D6-54F7-4E13-87A8-AD8233964A7B}"/>
              </a:ext>
            </a:extLst>
          </p:cNvPr>
          <p:cNvSpPr/>
          <p:nvPr/>
        </p:nvSpPr>
        <p:spPr>
          <a:xfrm>
            <a:off x="7205661" y="5523884"/>
            <a:ext cx="693533" cy="69032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4.2</a:t>
            </a:r>
            <a:endParaRPr lang="en-IN" sz="1400" dirty="0"/>
          </a:p>
        </p:txBody>
      </p:sp>
      <p:sp>
        <p:nvSpPr>
          <p:cNvPr id="107" name="TextBox 106">
            <a:extLst>
              <a:ext uri="{FF2B5EF4-FFF2-40B4-BE49-F238E27FC236}">
                <a16:creationId xmlns:a16="http://schemas.microsoft.com/office/drawing/2014/main" id="{546E7490-B578-4C44-8318-7E065BEDA69F}"/>
              </a:ext>
            </a:extLst>
          </p:cNvPr>
          <p:cNvSpPr txBox="1"/>
          <p:nvPr/>
        </p:nvSpPr>
        <p:spPr>
          <a:xfrm>
            <a:off x="7185449" y="2150725"/>
            <a:ext cx="1013015" cy="276999"/>
          </a:xfrm>
          <a:prstGeom prst="rect">
            <a:avLst/>
          </a:prstGeom>
          <a:noFill/>
        </p:spPr>
        <p:txBody>
          <a:bodyPr wrap="square" rtlCol="0">
            <a:spAutoFit/>
          </a:bodyPr>
          <a:lstStyle/>
          <a:p>
            <a:r>
              <a:rPr lang="en-US" sz="1200" dirty="0"/>
              <a:t>Medium</a:t>
            </a:r>
            <a:endParaRPr lang="en-IN" sz="1200" dirty="0"/>
          </a:p>
        </p:txBody>
      </p:sp>
      <p:sp>
        <p:nvSpPr>
          <p:cNvPr id="108" name="Rectangle: Rounded Corners 107">
            <a:extLst>
              <a:ext uri="{FF2B5EF4-FFF2-40B4-BE49-F238E27FC236}">
                <a16:creationId xmlns:a16="http://schemas.microsoft.com/office/drawing/2014/main" id="{A3FFBA75-4502-48ED-B401-47A3D433226A}"/>
              </a:ext>
            </a:extLst>
          </p:cNvPr>
          <p:cNvSpPr/>
          <p:nvPr/>
        </p:nvSpPr>
        <p:spPr>
          <a:xfrm>
            <a:off x="7068499" y="2398481"/>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Rectangle: Rounded Corners 108">
            <a:extLst>
              <a:ext uri="{FF2B5EF4-FFF2-40B4-BE49-F238E27FC236}">
                <a16:creationId xmlns:a16="http://schemas.microsoft.com/office/drawing/2014/main" id="{794A771D-821B-420C-8FE3-B957656D7D2F}"/>
              </a:ext>
            </a:extLst>
          </p:cNvPr>
          <p:cNvSpPr/>
          <p:nvPr/>
        </p:nvSpPr>
        <p:spPr>
          <a:xfrm>
            <a:off x="7672373" y="2398481"/>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Rectangle: Rounded Corners 109">
            <a:extLst>
              <a:ext uri="{FF2B5EF4-FFF2-40B4-BE49-F238E27FC236}">
                <a16:creationId xmlns:a16="http://schemas.microsoft.com/office/drawing/2014/main" id="{E0852A48-385C-4595-94C8-D6065A2C7A87}"/>
              </a:ext>
            </a:extLst>
          </p:cNvPr>
          <p:cNvSpPr/>
          <p:nvPr/>
        </p:nvSpPr>
        <p:spPr>
          <a:xfrm>
            <a:off x="7369264" y="2400158"/>
            <a:ext cx="268448" cy="100668"/>
          </a:xfrm>
          <a:prstGeom prst="roundRect">
            <a:avLst/>
          </a:prstGeom>
          <a:solidFill>
            <a:schemeClr val="accent4">
              <a:lumMod val="75000"/>
            </a:schemeClr>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Rectangle: Rounded Corners 110">
            <a:extLst>
              <a:ext uri="{FF2B5EF4-FFF2-40B4-BE49-F238E27FC236}">
                <a16:creationId xmlns:a16="http://schemas.microsoft.com/office/drawing/2014/main" id="{2070A914-3099-4539-AF38-CC8C9F7398E5}"/>
              </a:ext>
            </a:extLst>
          </p:cNvPr>
          <p:cNvSpPr/>
          <p:nvPr/>
        </p:nvSpPr>
        <p:spPr>
          <a:xfrm>
            <a:off x="7160697" y="3299988"/>
            <a:ext cx="268448" cy="100668"/>
          </a:xfrm>
          <a:prstGeom prst="roundRect">
            <a:avLst/>
          </a:prstGeom>
          <a:solidFill>
            <a:srgbClr val="C00000"/>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Rectangle: Rounded Corners 111">
            <a:extLst>
              <a:ext uri="{FF2B5EF4-FFF2-40B4-BE49-F238E27FC236}">
                <a16:creationId xmlns:a16="http://schemas.microsoft.com/office/drawing/2014/main" id="{83764E6A-7D66-43C8-B315-C3F079BF7B6A}"/>
              </a:ext>
            </a:extLst>
          </p:cNvPr>
          <p:cNvSpPr/>
          <p:nvPr/>
        </p:nvSpPr>
        <p:spPr>
          <a:xfrm>
            <a:off x="7463806" y="3299988"/>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Rectangle: Rounded Corners 112">
            <a:extLst>
              <a:ext uri="{FF2B5EF4-FFF2-40B4-BE49-F238E27FC236}">
                <a16:creationId xmlns:a16="http://schemas.microsoft.com/office/drawing/2014/main" id="{D946F764-7560-46B9-8616-446F94C5A055}"/>
              </a:ext>
            </a:extLst>
          </p:cNvPr>
          <p:cNvSpPr/>
          <p:nvPr/>
        </p:nvSpPr>
        <p:spPr>
          <a:xfrm>
            <a:off x="7766915" y="3299988"/>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TextBox 113">
            <a:extLst>
              <a:ext uri="{FF2B5EF4-FFF2-40B4-BE49-F238E27FC236}">
                <a16:creationId xmlns:a16="http://schemas.microsoft.com/office/drawing/2014/main" id="{D8E4D978-4786-4644-9463-8E9DA43C7ADC}"/>
              </a:ext>
            </a:extLst>
          </p:cNvPr>
          <p:cNvSpPr txBox="1"/>
          <p:nvPr/>
        </p:nvSpPr>
        <p:spPr>
          <a:xfrm>
            <a:off x="3862172" y="3396342"/>
            <a:ext cx="1576311" cy="215444"/>
          </a:xfrm>
          <a:prstGeom prst="rect">
            <a:avLst/>
          </a:prstGeom>
          <a:noFill/>
        </p:spPr>
        <p:txBody>
          <a:bodyPr wrap="square" rtlCol="0">
            <a:spAutoFit/>
          </a:bodyPr>
          <a:lstStyle/>
          <a:p>
            <a:pPr algn="ctr"/>
            <a:r>
              <a:rPr lang="en-US" sz="800" dirty="0"/>
              <a:t>10K+ downloads</a:t>
            </a:r>
            <a:endParaRPr lang="en-IN" sz="800" dirty="0"/>
          </a:p>
        </p:txBody>
      </p:sp>
      <p:sp>
        <p:nvSpPr>
          <p:cNvPr id="115" name="TextBox 114">
            <a:extLst>
              <a:ext uri="{FF2B5EF4-FFF2-40B4-BE49-F238E27FC236}">
                <a16:creationId xmlns:a16="http://schemas.microsoft.com/office/drawing/2014/main" id="{65470298-FC9C-44A2-929C-95C3450F5A49}"/>
              </a:ext>
            </a:extLst>
          </p:cNvPr>
          <p:cNvSpPr txBox="1"/>
          <p:nvPr/>
        </p:nvSpPr>
        <p:spPr>
          <a:xfrm>
            <a:off x="7406886" y="3028949"/>
            <a:ext cx="1013015" cy="276999"/>
          </a:xfrm>
          <a:prstGeom prst="rect">
            <a:avLst/>
          </a:prstGeom>
          <a:noFill/>
        </p:spPr>
        <p:txBody>
          <a:bodyPr wrap="square" rtlCol="0">
            <a:spAutoFit/>
          </a:bodyPr>
          <a:lstStyle/>
          <a:p>
            <a:r>
              <a:rPr lang="en-US" sz="1200" dirty="0"/>
              <a:t>Low</a:t>
            </a:r>
            <a:endParaRPr lang="en-IN" sz="1200" dirty="0"/>
          </a:p>
        </p:txBody>
      </p:sp>
      <p:sp>
        <p:nvSpPr>
          <p:cNvPr id="116" name="Rectangle: Rounded Corners 115">
            <a:extLst>
              <a:ext uri="{FF2B5EF4-FFF2-40B4-BE49-F238E27FC236}">
                <a16:creationId xmlns:a16="http://schemas.microsoft.com/office/drawing/2014/main" id="{0C85A075-6C90-42D0-BCF6-DADA57A71B0F}"/>
              </a:ext>
            </a:extLst>
          </p:cNvPr>
          <p:cNvSpPr/>
          <p:nvPr/>
        </p:nvSpPr>
        <p:spPr>
          <a:xfrm>
            <a:off x="7133462" y="4162886"/>
            <a:ext cx="268448" cy="100668"/>
          </a:xfrm>
          <a:prstGeom prst="roundRect">
            <a:avLst/>
          </a:prstGeom>
          <a:solidFill>
            <a:srgbClr val="C00000"/>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Rectangle: Rounded Corners 116">
            <a:extLst>
              <a:ext uri="{FF2B5EF4-FFF2-40B4-BE49-F238E27FC236}">
                <a16:creationId xmlns:a16="http://schemas.microsoft.com/office/drawing/2014/main" id="{B0470D97-5AB2-48B8-9563-6041EA2C1F38}"/>
              </a:ext>
            </a:extLst>
          </p:cNvPr>
          <p:cNvSpPr/>
          <p:nvPr/>
        </p:nvSpPr>
        <p:spPr>
          <a:xfrm>
            <a:off x="7739680" y="416288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TextBox 117">
            <a:extLst>
              <a:ext uri="{FF2B5EF4-FFF2-40B4-BE49-F238E27FC236}">
                <a16:creationId xmlns:a16="http://schemas.microsoft.com/office/drawing/2014/main" id="{5A0A6E61-2389-4E4B-AB0C-E7555549B6A7}"/>
              </a:ext>
            </a:extLst>
          </p:cNvPr>
          <p:cNvSpPr txBox="1"/>
          <p:nvPr/>
        </p:nvSpPr>
        <p:spPr>
          <a:xfrm>
            <a:off x="7379651" y="3891847"/>
            <a:ext cx="1013015" cy="276999"/>
          </a:xfrm>
          <a:prstGeom prst="rect">
            <a:avLst/>
          </a:prstGeom>
          <a:noFill/>
        </p:spPr>
        <p:txBody>
          <a:bodyPr wrap="square" rtlCol="0">
            <a:spAutoFit/>
          </a:bodyPr>
          <a:lstStyle/>
          <a:p>
            <a:r>
              <a:rPr lang="en-US" sz="1200" dirty="0"/>
              <a:t>Low</a:t>
            </a:r>
            <a:endParaRPr lang="en-IN" sz="1200" dirty="0"/>
          </a:p>
        </p:txBody>
      </p:sp>
      <p:sp>
        <p:nvSpPr>
          <p:cNvPr id="119" name="Rectangle: Rounded Corners 118">
            <a:extLst>
              <a:ext uri="{FF2B5EF4-FFF2-40B4-BE49-F238E27FC236}">
                <a16:creationId xmlns:a16="http://schemas.microsoft.com/office/drawing/2014/main" id="{A4E6868A-89E1-464F-BE76-87FE4E00809C}"/>
              </a:ext>
            </a:extLst>
          </p:cNvPr>
          <p:cNvSpPr/>
          <p:nvPr/>
        </p:nvSpPr>
        <p:spPr>
          <a:xfrm>
            <a:off x="7436571" y="4162886"/>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Rectangle 119">
            <a:extLst>
              <a:ext uri="{FF2B5EF4-FFF2-40B4-BE49-F238E27FC236}">
                <a16:creationId xmlns:a16="http://schemas.microsoft.com/office/drawing/2014/main" id="{A221FE56-E6DD-45B9-B6C7-3EE7ACAC33DA}"/>
              </a:ext>
            </a:extLst>
          </p:cNvPr>
          <p:cNvSpPr/>
          <p:nvPr/>
        </p:nvSpPr>
        <p:spPr>
          <a:xfrm>
            <a:off x="9084972" y="1703988"/>
            <a:ext cx="2697913" cy="44251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dirty="0" err="1">
                <a:solidFill>
                  <a:schemeClr val="tx1"/>
                </a:solidFill>
              </a:rPr>
              <a:t>CarEasy</a:t>
            </a:r>
            <a:r>
              <a:rPr lang="en-US" sz="1600" dirty="0">
                <a:solidFill>
                  <a:schemeClr val="tx1"/>
                </a:solidFill>
              </a:rPr>
              <a:t> today offers limited car servicing options with reach only in limited cities compared to competitors. To capture the market share </a:t>
            </a:r>
            <a:r>
              <a:rPr lang="en-US" sz="1600" dirty="0" err="1">
                <a:solidFill>
                  <a:schemeClr val="tx1"/>
                </a:solidFill>
              </a:rPr>
              <a:t>CarEasy</a:t>
            </a:r>
            <a:r>
              <a:rPr lang="en-US" sz="1600" dirty="0">
                <a:solidFill>
                  <a:schemeClr val="tx1"/>
                </a:solidFill>
              </a:rPr>
              <a:t> needs to follow one of the two strategies</a:t>
            </a:r>
          </a:p>
          <a:p>
            <a:endParaRPr lang="en-US" sz="1600" dirty="0">
              <a:solidFill>
                <a:schemeClr val="tx1"/>
              </a:solidFill>
            </a:endParaRPr>
          </a:p>
          <a:p>
            <a:pPr marL="171450" indent="-171450">
              <a:buFont typeface="Arial" panose="020B0604020202020204" pitchFamily="34" charset="0"/>
              <a:buChar char="•"/>
            </a:pPr>
            <a:r>
              <a:rPr lang="en-US" sz="1600" dirty="0">
                <a:solidFill>
                  <a:schemeClr val="tx1"/>
                </a:solidFill>
              </a:rPr>
              <a:t>Expand extensively in services through more collaboration with garages in the same city</a:t>
            </a:r>
          </a:p>
          <a:p>
            <a:pPr marL="171450" indent="-171450">
              <a:buFont typeface="Arial" panose="020B0604020202020204" pitchFamily="34" charset="0"/>
              <a:buChar char="•"/>
            </a:pPr>
            <a:endParaRPr lang="en-US" sz="1600" dirty="0">
              <a:solidFill>
                <a:schemeClr val="tx1"/>
              </a:solidFill>
            </a:endParaRPr>
          </a:p>
          <a:p>
            <a:pPr marL="171450" indent="-171450">
              <a:buFont typeface="Arial" panose="020B0604020202020204" pitchFamily="34" charset="0"/>
              <a:buChar char="•"/>
            </a:pPr>
            <a:r>
              <a:rPr lang="en-US" sz="1600" dirty="0">
                <a:solidFill>
                  <a:schemeClr val="tx1"/>
                </a:solidFill>
              </a:rPr>
              <a:t>Expand to other cities collaborating with garages for the same set of services </a:t>
            </a:r>
            <a:endParaRPr lang="en-IN" sz="1600" dirty="0">
              <a:solidFill>
                <a:schemeClr val="tx1"/>
              </a:solidFill>
            </a:endParaRPr>
          </a:p>
        </p:txBody>
      </p:sp>
      <p:sp>
        <p:nvSpPr>
          <p:cNvPr id="121" name="Rectangle 120">
            <a:extLst>
              <a:ext uri="{FF2B5EF4-FFF2-40B4-BE49-F238E27FC236}">
                <a16:creationId xmlns:a16="http://schemas.microsoft.com/office/drawing/2014/main" id="{6C3F3439-7778-4567-989A-93BC69B0AD75}"/>
              </a:ext>
            </a:extLst>
          </p:cNvPr>
          <p:cNvSpPr/>
          <p:nvPr/>
        </p:nvSpPr>
        <p:spPr>
          <a:xfrm>
            <a:off x="9073759" y="1399793"/>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1" dirty="0"/>
              <a:t>Competitor Strategy</a:t>
            </a:r>
          </a:p>
        </p:txBody>
      </p:sp>
      <p:sp>
        <p:nvSpPr>
          <p:cNvPr id="122" name="Rectangle 121">
            <a:extLst>
              <a:ext uri="{FF2B5EF4-FFF2-40B4-BE49-F238E27FC236}">
                <a16:creationId xmlns:a16="http://schemas.microsoft.com/office/drawing/2014/main" id="{6283FF5B-B0F8-4BDC-B165-C298FD2FAE1B}"/>
              </a:ext>
            </a:extLst>
          </p:cNvPr>
          <p:cNvSpPr/>
          <p:nvPr/>
        </p:nvSpPr>
        <p:spPr>
          <a:xfrm>
            <a:off x="9196396" y="1828487"/>
            <a:ext cx="2407858" cy="307777"/>
          </a:xfrm>
          <a:prstGeom prst="rect">
            <a:avLst/>
          </a:prstGeom>
        </p:spPr>
        <p:txBody>
          <a:bodyPr wrap="square">
            <a:spAutoFit/>
          </a:bodyPr>
          <a:lstStyle/>
          <a:p>
            <a:r>
              <a:rPr lang="en-US" sz="1400" dirty="0"/>
              <a:t> </a:t>
            </a:r>
          </a:p>
        </p:txBody>
      </p:sp>
      <p:sp>
        <p:nvSpPr>
          <p:cNvPr id="123" name="TextBox 122">
            <a:extLst>
              <a:ext uri="{FF2B5EF4-FFF2-40B4-BE49-F238E27FC236}">
                <a16:creationId xmlns:a16="http://schemas.microsoft.com/office/drawing/2014/main" id="{9D364C7E-570F-464E-AD9E-3E3589CCF9CD}"/>
              </a:ext>
            </a:extLst>
          </p:cNvPr>
          <p:cNvSpPr txBox="1"/>
          <p:nvPr/>
        </p:nvSpPr>
        <p:spPr>
          <a:xfrm>
            <a:off x="7396373" y="4766588"/>
            <a:ext cx="303109" cy="369332"/>
          </a:xfrm>
          <a:prstGeom prst="rect">
            <a:avLst/>
          </a:prstGeom>
          <a:noFill/>
        </p:spPr>
        <p:txBody>
          <a:bodyPr wrap="square" rtlCol="0">
            <a:spAutoFit/>
          </a:bodyPr>
          <a:lstStyle/>
          <a:p>
            <a:r>
              <a:rPr lang="en-US" dirty="0"/>
              <a:t>-</a:t>
            </a:r>
            <a:endParaRPr lang="en-IN" dirty="0"/>
          </a:p>
        </p:txBody>
      </p:sp>
      <p:sp>
        <p:nvSpPr>
          <p:cNvPr id="124" name="Isosceles Triangle 12">
            <a:extLst>
              <a:ext uri="{FF2B5EF4-FFF2-40B4-BE49-F238E27FC236}">
                <a16:creationId xmlns:a16="http://schemas.microsoft.com/office/drawing/2014/main" id="{DC2AB966-21B3-485A-8B77-AD9F562912A0}"/>
              </a:ext>
            </a:extLst>
          </p:cNvPr>
          <p:cNvSpPr/>
          <p:nvPr/>
        </p:nvSpPr>
        <p:spPr>
          <a:xfrm rot="5400000">
            <a:off x="8163589" y="3655928"/>
            <a:ext cx="1109679" cy="165568"/>
          </a:xfrm>
          <a:prstGeom prst="triangl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TextBox 125">
            <a:extLst>
              <a:ext uri="{FF2B5EF4-FFF2-40B4-BE49-F238E27FC236}">
                <a16:creationId xmlns:a16="http://schemas.microsoft.com/office/drawing/2014/main" id="{7DB0D62F-481C-4F21-9717-F0A51F98A44E}"/>
              </a:ext>
            </a:extLst>
          </p:cNvPr>
          <p:cNvSpPr txBox="1"/>
          <p:nvPr/>
        </p:nvSpPr>
        <p:spPr>
          <a:xfrm>
            <a:off x="5513276" y="2555115"/>
            <a:ext cx="1576311" cy="215444"/>
          </a:xfrm>
          <a:prstGeom prst="rect">
            <a:avLst/>
          </a:prstGeom>
          <a:noFill/>
        </p:spPr>
        <p:txBody>
          <a:bodyPr wrap="square" rtlCol="0">
            <a:spAutoFit/>
          </a:bodyPr>
          <a:lstStyle/>
          <a:p>
            <a:r>
              <a:rPr lang="en-US" sz="800" dirty="0"/>
              <a:t>Limited car servicing options</a:t>
            </a:r>
            <a:endParaRPr lang="en-IN" sz="800" dirty="0"/>
          </a:p>
        </p:txBody>
      </p:sp>
      <p:sp>
        <p:nvSpPr>
          <p:cNvPr id="127" name="TextBox 126">
            <a:extLst>
              <a:ext uri="{FF2B5EF4-FFF2-40B4-BE49-F238E27FC236}">
                <a16:creationId xmlns:a16="http://schemas.microsoft.com/office/drawing/2014/main" id="{D4913C83-699F-43E1-8ECD-745BDBBC4C6E}"/>
              </a:ext>
            </a:extLst>
          </p:cNvPr>
          <p:cNvSpPr txBox="1"/>
          <p:nvPr/>
        </p:nvSpPr>
        <p:spPr>
          <a:xfrm>
            <a:off x="6925874" y="2547336"/>
            <a:ext cx="1576311" cy="215444"/>
          </a:xfrm>
          <a:prstGeom prst="rect">
            <a:avLst/>
          </a:prstGeom>
          <a:noFill/>
        </p:spPr>
        <p:txBody>
          <a:bodyPr wrap="square" rtlCol="0">
            <a:spAutoFit/>
          </a:bodyPr>
          <a:lstStyle/>
          <a:p>
            <a:r>
              <a:rPr lang="en-US" sz="800" dirty="0"/>
              <a:t>Limited car servicing options</a:t>
            </a:r>
            <a:endParaRPr lang="en-IN" sz="800" dirty="0"/>
          </a:p>
        </p:txBody>
      </p:sp>
      <p:sp>
        <p:nvSpPr>
          <p:cNvPr id="128" name="TextBox 127">
            <a:extLst>
              <a:ext uri="{FF2B5EF4-FFF2-40B4-BE49-F238E27FC236}">
                <a16:creationId xmlns:a16="http://schemas.microsoft.com/office/drawing/2014/main" id="{81413692-C8EF-4ED7-89F4-6055278D4D64}"/>
              </a:ext>
            </a:extLst>
          </p:cNvPr>
          <p:cNvSpPr txBox="1"/>
          <p:nvPr/>
        </p:nvSpPr>
        <p:spPr>
          <a:xfrm>
            <a:off x="85105" y="817880"/>
            <a:ext cx="3048466" cy="338554"/>
          </a:xfrm>
          <a:prstGeom prst="rect">
            <a:avLst/>
          </a:prstGeom>
          <a:noFill/>
        </p:spPr>
        <p:txBody>
          <a:bodyPr wrap="square" rtlCol="0">
            <a:spAutoFit/>
          </a:bodyPr>
          <a:lstStyle/>
          <a:p>
            <a:r>
              <a:rPr lang="en-GB" sz="1600" b="1" dirty="0"/>
              <a:t>Competitor Benchmarking</a:t>
            </a:r>
          </a:p>
        </p:txBody>
      </p:sp>
      <p:sp>
        <p:nvSpPr>
          <p:cNvPr id="125" name="TextBox 124">
            <a:extLst>
              <a:ext uri="{FF2B5EF4-FFF2-40B4-BE49-F238E27FC236}">
                <a16:creationId xmlns:a16="http://schemas.microsoft.com/office/drawing/2014/main" id="{177ABA25-F3C3-4B6A-B9F2-698EF50E3078}"/>
              </a:ext>
            </a:extLst>
          </p:cNvPr>
          <p:cNvSpPr txBox="1"/>
          <p:nvPr/>
        </p:nvSpPr>
        <p:spPr>
          <a:xfrm>
            <a:off x="-75374" y="6604343"/>
            <a:ext cx="5734192" cy="215444"/>
          </a:xfrm>
          <a:prstGeom prst="rect">
            <a:avLst/>
          </a:prstGeom>
          <a:noFill/>
        </p:spPr>
        <p:txBody>
          <a:bodyPr wrap="square" rtlCol="0">
            <a:spAutoFit/>
          </a:bodyPr>
          <a:lstStyle/>
          <a:p>
            <a:r>
              <a:rPr lang="en-GB" sz="800" i="1" dirty="0"/>
              <a:t>Sources: Google Play Store and company website</a:t>
            </a:r>
          </a:p>
        </p:txBody>
      </p:sp>
    </p:spTree>
    <p:extLst>
      <p:ext uri="{BB962C8B-B14F-4D97-AF65-F5344CB8AC3E}">
        <p14:creationId xmlns:p14="http://schemas.microsoft.com/office/powerpoint/2010/main" val="413172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Top Corners Rounded 77">
            <a:extLst>
              <a:ext uri="{FF2B5EF4-FFF2-40B4-BE49-F238E27FC236}">
                <a16:creationId xmlns:a16="http://schemas.microsoft.com/office/drawing/2014/main" id="{B536935D-8CB4-409E-ACC0-7868A8E05930}"/>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79" name="Rectangle: Top Corners Rounded 78">
            <a:extLst>
              <a:ext uri="{FF2B5EF4-FFF2-40B4-BE49-F238E27FC236}">
                <a16:creationId xmlns:a16="http://schemas.microsoft.com/office/drawing/2014/main" id="{0D002348-67F6-42E1-B8C4-DED9605B608E}"/>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80" name="Rectangle: Top Corners Rounded 79">
            <a:extLst>
              <a:ext uri="{FF2B5EF4-FFF2-40B4-BE49-F238E27FC236}">
                <a16:creationId xmlns:a16="http://schemas.microsoft.com/office/drawing/2014/main" id="{1B2D422A-CF35-483E-8723-50F53C915A56}"/>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131" name="Rectangle: Top Corners Rounded 130">
            <a:extLst>
              <a:ext uri="{FF2B5EF4-FFF2-40B4-BE49-F238E27FC236}">
                <a16:creationId xmlns:a16="http://schemas.microsoft.com/office/drawing/2014/main" id="{04582E9A-2BBB-44F2-BAAE-E35B5EDD21BA}"/>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32" name="Arrow: Chevron 131">
            <a:extLst>
              <a:ext uri="{FF2B5EF4-FFF2-40B4-BE49-F238E27FC236}">
                <a16:creationId xmlns:a16="http://schemas.microsoft.com/office/drawing/2014/main" id="{70FF8F96-769F-40A6-A81D-52345B396944}"/>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2" name="Arrow: Chevron 141">
            <a:extLst>
              <a:ext uri="{FF2B5EF4-FFF2-40B4-BE49-F238E27FC236}">
                <a16:creationId xmlns:a16="http://schemas.microsoft.com/office/drawing/2014/main" id="{7141B18E-67D6-4468-8439-A472180CD0DF}"/>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3" name="Arrow: Chevron 142">
            <a:extLst>
              <a:ext uri="{FF2B5EF4-FFF2-40B4-BE49-F238E27FC236}">
                <a16:creationId xmlns:a16="http://schemas.microsoft.com/office/drawing/2014/main" id="{1D87D7E4-B81E-4C2D-B81B-2FA22A880E2C}"/>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Rectangle: Top Corners Rounded 10">
            <a:extLst>
              <a:ext uri="{FF2B5EF4-FFF2-40B4-BE49-F238E27FC236}">
                <a16:creationId xmlns:a16="http://schemas.microsoft.com/office/drawing/2014/main" id="{539C4FDF-17F2-4704-9566-2F242937C76A}"/>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12" name="Rectangle: Top Corners Rounded 11">
            <a:extLst>
              <a:ext uri="{FF2B5EF4-FFF2-40B4-BE49-F238E27FC236}">
                <a16:creationId xmlns:a16="http://schemas.microsoft.com/office/drawing/2014/main" id="{55C86E7C-F774-4841-A6A0-5028CF0CB669}"/>
              </a:ext>
            </a:extLst>
          </p:cNvPr>
          <p:cNvSpPr/>
          <p:nvPr/>
        </p:nvSpPr>
        <p:spPr>
          <a:xfrm rot="5400000">
            <a:off x="3783504" y="-495289"/>
            <a:ext cx="180301"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13" name="Rectangle: Top Corners Rounded 12">
            <a:extLst>
              <a:ext uri="{FF2B5EF4-FFF2-40B4-BE49-F238E27FC236}">
                <a16:creationId xmlns:a16="http://schemas.microsoft.com/office/drawing/2014/main" id="{8E306E3D-26F5-4E0D-9CE1-1097BB5AAC48}"/>
              </a:ext>
            </a:extLst>
          </p:cNvPr>
          <p:cNvSpPr/>
          <p:nvPr/>
        </p:nvSpPr>
        <p:spPr>
          <a:xfrm rot="5400000">
            <a:off x="2404833" y="-502360"/>
            <a:ext cx="194444" cy="1371600"/>
          </a:xfrm>
          <a:prstGeom prst="round2SameRect">
            <a:avLst>
              <a:gd name="adj1" fmla="val 0"/>
              <a:gd name="adj2" fmla="val 0"/>
            </a:avLst>
          </a:prstGeom>
          <a:solidFill>
            <a:srgbClr val="44546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14" name="Rectangle: Top Corners Rounded 13">
            <a:extLst>
              <a:ext uri="{FF2B5EF4-FFF2-40B4-BE49-F238E27FC236}">
                <a16:creationId xmlns:a16="http://schemas.microsoft.com/office/drawing/2014/main" id="{FCFBFB1A-A0B1-49BE-B649-E3E124AA6A17}"/>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15" name="Arrow: Chevron 14">
            <a:extLst>
              <a:ext uri="{FF2B5EF4-FFF2-40B4-BE49-F238E27FC236}">
                <a16:creationId xmlns:a16="http://schemas.microsoft.com/office/drawing/2014/main" id="{8B4834CD-CCE2-4058-8C8D-C88E4BC3274C}"/>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Arrow: Chevron 15">
            <a:extLst>
              <a:ext uri="{FF2B5EF4-FFF2-40B4-BE49-F238E27FC236}">
                <a16:creationId xmlns:a16="http://schemas.microsoft.com/office/drawing/2014/main" id="{4175CB3B-F2A4-474E-9AE4-655618E0233A}"/>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7" name="Arrow: Chevron 16">
            <a:extLst>
              <a:ext uri="{FF2B5EF4-FFF2-40B4-BE49-F238E27FC236}">
                <a16:creationId xmlns:a16="http://schemas.microsoft.com/office/drawing/2014/main" id="{68F7F32B-7337-4041-ABC1-39D0676924C1}"/>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Rectangle: Top Corners Rounded 17">
            <a:extLst>
              <a:ext uri="{FF2B5EF4-FFF2-40B4-BE49-F238E27FC236}">
                <a16:creationId xmlns:a16="http://schemas.microsoft.com/office/drawing/2014/main" id="{24CF37F3-CB49-4B35-98D3-B84E3A436EED}"/>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9" name="Arrow: Chevron 18">
            <a:extLst>
              <a:ext uri="{FF2B5EF4-FFF2-40B4-BE49-F238E27FC236}">
                <a16:creationId xmlns:a16="http://schemas.microsoft.com/office/drawing/2014/main" id="{79AC3D02-7885-4837-916C-E7CED7547758}"/>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Arrow: Chevron 19">
            <a:extLst>
              <a:ext uri="{FF2B5EF4-FFF2-40B4-BE49-F238E27FC236}">
                <a16:creationId xmlns:a16="http://schemas.microsoft.com/office/drawing/2014/main" id="{5DA07A70-FEBF-46D3-8AE4-947F5D87DEC6}"/>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Rectangle 20">
            <a:extLst>
              <a:ext uri="{FF2B5EF4-FFF2-40B4-BE49-F238E27FC236}">
                <a16:creationId xmlns:a16="http://schemas.microsoft.com/office/drawing/2014/main" id="{7956E5AA-22AD-4A06-8758-C3F3F4EBAB87}"/>
              </a:ext>
            </a:extLst>
          </p:cNvPr>
          <p:cNvSpPr/>
          <p:nvPr/>
        </p:nvSpPr>
        <p:spPr>
          <a:xfrm>
            <a:off x="65515" y="343007"/>
            <a:ext cx="12001840" cy="400110"/>
          </a:xfrm>
          <a:prstGeom prst="rect">
            <a:avLst/>
          </a:prstGeom>
        </p:spPr>
        <p:txBody>
          <a:bodyPr wrap="square">
            <a:spAutoFit/>
          </a:bodyPr>
          <a:lstStyle/>
          <a:p>
            <a:r>
              <a:rPr lang="en-IN" sz="2000" b="1" dirty="0">
                <a:solidFill>
                  <a:srgbClr val="00162F"/>
                </a:solidFill>
                <a:latin typeface="Calibri" panose="020F0502020204030204" pitchFamily="34" charset="0"/>
              </a:rPr>
              <a:t>The application being the primary touchpoint must follow best-in-class recommendations</a:t>
            </a:r>
          </a:p>
        </p:txBody>
      </p:sp>
      <p:sp>
        <p:nvSpPr>
          <p:cNvPr id="31" name="TextBox 4">
            <a:extLst>
              <a:ext uri="{FF2B5EF4-FFF2-40B4-BE49-F238E27FC236}">
                <a16:creationId xmlns:a16="http://schemas.microsoft.com/office/drawing/2014/main" id="{23581DA7-BA12-4680-96CA-80C05A2F4442}"/>
              </a:ext>
            </a:extLst>
          </p:cNvPr>
          <p:cNvSpPr txBox="1"/>
          <p:nvPr/>
        </p:nvSpPr>
        <p:spPr>
          <a:xfrm>
            <a:off x="353176" y="1329567"/>
            <a:ext cx="2749298" cy="307777"/>
          </a:xfrm>
          <a:prstGeom prst="rect">
            <a:avLst/>
          </a:prstGeom>
          <a:solidFill>
            <a:srgbClr val="00162F"/>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chemeClr val="bg1"/>
                </a:solidFill>
              </a:rPr>
              <a:t>Application Priority Framework</a:t>
            </a:r>
            <a:endParaRPr lang="en-GB" sz="1400" b="1" dirty="0">
              <a:solidFill>
                <a:schemeClr val="bg1"/>
              </a:solidFill>
            </a:endParaRPr>
          </a:p>
        </p:txBody>
      </p:sp>
      <p:grpSp>
        <p:nvGrpSpPr>
          <p:cNvPr id="32" name="Group 31">
            <a:extLst>
              <a:ext uri="{FF2B5EF4-FFF2-40B4-BE49-F238E27FC236}">
                <a16:creationId xmlns:a16="http://schemas.microsoft.com/office/drawing/2014/main" id="{8784232B-5C80-4AD8-8835-2232F3B0FD7D}"/>
              </a:ext>
            </a:extLst>
          </p:cNvPr>
          <p:cNvGrpSpPr/>
          <p:nvPr/>
        </p:nvGrpSpPr>
        <p:grpSpPr>
          <a:xfrm>
            <a:off x="89616" y="1833056"/>
            <a:ext cx="2914203" cy="758205"/>
            <a:chOff x="4434423" y="1724050"/>
            <a:chExt cx="2914203" cy="758205"/>
          </a:xfrm>
        </p:grpSpPr>
        <p:sp>
          <p:nvSpPr>
            <p:cNvPr id="33" name="Trapezoid 32">
              <a:extLst>
                <a:ext uri="{FF2B5EF4-FFF2-40B4-BE49-F238E27FC236}">
                  <a16:creationId xmlns:a16="http://schemas.microsoft.com/office/drawing/2014/main" id="{02573908-2620-44C2-8800-DE78A96A7A39}"/>
                </a:ext>
              </a:extLst>
            </p:cNvPr>
            <p:cNvSpPr/>
            <p:nvPr/>
          </p:nvSpPr>
          <p:spPr>
            <a:xfrm rot="16200000">
              <a:off x="4748821" y="2020798"/>
              <a:ext cx="467170" cy="429040"/>
            </a:xfrm>
            <a:prstGeom prst="trapezoid">
              <a:avLst>
                <a:gd name="adj" fmla="val 10772"/>
              </a:avLst>
            </a:pr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34" name="Rectangle 33">
              <a:extLst>
                <a:ext uri="{FF2B5EF4-FFF2-40B4-BE49-F238E27FC236}">
                  <a16:creationId xmlns:a16="http://schemas.microsoft.com/office/drawing/2014/main" id="{AB1E210F-BF60-4475-99D7-35D3A4B2BF87}"/>
                </a:ext>
              </a:extLst>
            </p:cNvPr>
            <p:cNvSpPr/>
            <p:nvPr/>
          </p:nvSpPr>
          <p:spPr>
            <a:xfrm>
              <a:off x="5192628" y="1866644"/>
              <a:ext cx="2155998" cy="603885"/>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dirty="0">
                  <a:solidFill>
                    <a:schemeClr val="tx1"/>
                  </a:solidFill>
                </a:rPr>
                <a:t>Is your Application easily available?</a:t>
              </a:r>
            </a:p>
          </p:txBody>
        </p:sp>
        <p:sp>
          <p:nvSpPr>
            <p:cNvPr id="35" name="Rectangle 34">
              <a:extLst>
                <a:ext uri="{FF2B5EF4-FFF2-40B4-BE49-F238E27FC236}">
                  <a16:creationId xmlns:a16="http://schemas.microsoft.com/office/drawing/2014/main" id="{6B29536D-DD8B-4957-B61C-2BA67743F52C}"/>
                </a:ext>
              </a:extLst>
            </p:cNvPr>
            <p:cNvSpPr/>
            <p:nvPr/>
          </p:nvSpPr>
          <p:spPr>
            <a:xfrm>
              <a:off x="4930140" y="1748369"/>
              <a:ext cx="1985010" cy="253365"/>
            </a:xfrm>
            <a:prstGeom prst="rect">
              <a:avLst/>
            </a:prstGeom>
            <a:solidFill>
              <a:srgbClr val="00162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dirty="0">
                  <a:solidFill>
                    <a:schemeClr val="bg1"/>
                  </a:solidFill>
                </a:rPr>
                <a:t>Availability</a:t>
              </a:r>
            </a:p>
          </p:txBody>
        </p:sp>
        <p:sp>
          <p:nvSpPr>
            <p:cNvPr id="36" name="Oval 35">
              <a:extLst>
                <a:ext uri="{FF2B5EF4-FFF2-40B4-BE49-F238E27FC236}">
                  <a16:creationId xmlns:a16="http://schemas.microsoft.com/office/drawing/2014/main" id="{3001E6C2-8557-49BD-A707-B04DED7A264A}"/>
                </a:ext>
              </a:extLst>
            </p:cNvPr>
            <p:cNvSpPr/>
            <p:nvPr/>
          </p:nvSpPr>
          <p:spPr>
            <a:xfrm>
              <a:off x="4434423" y="1724050"/>
              <a:ext cx="758205" cy="758205"/>
            </a:xfrm>
            <a:prstGeom prst="ellipse">
              <a:avLst/>
            </a:prstGeom>
            <a:solidFill>
              <a:schemeClr val="bg1"/>
            </a:solidFill>
            <a:ln w="28575" cap="flat" cmpd="sng" algn="ctr">
              <a:solidFill>
                <a:schemeClr val="accent5"/>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grpSp>
      <p:grpSp>
        <p:nvGrpSpPr>
          <p:cNvPr id="37" name="Group 36">
            <a:extLst>
              <a:ext uri="{FF2B5EF4-FFF2-40B4-BE49-F238E27FC236}">
                <a16:creationId xmlns:a16="http://schemas.microsoft.com/office/drawing/2014/main" id="{843506F6-A592-4317-899E-B0C13634A506}"/>
              </a:ext>
            </a:extLst>
          </p:cNvPr>
          <p:cNvGrpSpPr/>
          <p:nvPr/>
        </p:nvGrpSpPr>
        <p:grpSpPr>
          <a:xfrm>
            <a:off x="89616" y="2708619"/>
            <a:ext cx="2914203" cy="887101"/>
            <a:chOff x="4434423" y="2726085"/>
            <a:chExt cx="2914203" cy="887101"/>
          </a:xfrm>
        </p:grpSpPr>
        <p:sp>
          <p:nvSpPr>
            <p:cNvPr id="38" name="Trapezoid 48">
              <a:extLst>
                <a:ext uri="{FF2B5EF4-FFF2-40B4-BE49-F238E27FC236}">
                  <a16:creationId xmlns:a16="http://schemas.microsoft.com/office/drawing/2014/main" id="{D00D7F04-64B1-4D41-AAF7-24B41A1A8320}"/>
                </a:ext>
              </a:extLst>
            </p:cNvPr>
            <p:cNvSpPr/>
            <p:nvPr/>
          </p:nvSpPr>
          <p:spPr>
            <a:xfrm rot="16200000">
              <a:off x="4623369" y="3043927"/>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39" name="Rectangle 38">
              <a:extLst>
                <a:ext uri="{FF2B5EF4-FFF2-40B4-BE49-F238E27FC236}">
                  <a16:creationId xmlns:a16="http://schemas.microsoft.com/office/drawing/2014/main" id="{1B7F1A46-65DE-4650-B332-16C5EF8B5EF8}"/>
                </a:ext>
              </a:extLst>
            </p:cNvPr>
            <p:cNvSpPr/>
            <p:nvPr/>
          </p:nvSpPr>
          <p:spPr>
            <a:xfrm>
              <a:off x="4813300" y="2854981"/>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40" name="Rectangle 39">
              <a:extLst>
                <a:ext uri="{FF2B5EF4-FFF2-40B4-BE49-F238E27FC236}">
                  <a16:creationId xmlns:a16="http://schemas.microsoft.com/office/drawing/2014/main" id="{6874FE40-A672-4B98-AE3D-78F1EA798CF6}"/>
                </a:ext>
              </a:extLst>
            </p:cNvPr>
            <p:cNvSpPr/>
            <p:nvPr/>
          </p:nvSpPr>
          <p:spPr>
            <a:xfrm>
              <a:off x="5192628" y="2868679"/>
              <a:ext cx="2155998" cy="744507"/>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dirty="0">
                  <a:solidFill>
                    <a:schemeClr val="tx1"/>
                  </a:solidFill>
                </a:rPr>
                <a:t>Easy to use; Access to most services in 2-3 clicks. Final booking in no more than 5 clicks</a:t>
              </a:r>
            </a:p>
          </p:txBody>
        </p:sp>
        <p:sp>
          <p:nvSpPr>
            <p:cNvPr id="41" name="Rectangle 40">
              <a:extLst>
                <a:ext uri="{FF2B5EF4-FFF2-40B4-BE49-F238E27FC236}">
                  <a16:creationId xmlns:a16="http://schemas.microsoft.com/office/drawing/2014/main" id="{856BBFB6-FBEA-4D55-84A2-442C4D8B3871}"/>
                </a:ext>
              </a:extLst>
            </p:cNvPr>
            <p:cNvSpPr/>
            <p:nvPr/>
          </p:nvSpPr>
          <p:spPr>
            <a:xfrm>
              <a:off x="4930140" y="2750404"/>
              <a:ext cx="1985010" cy="253365"/>
            </a:xfrm>
            <a:prstGeom prst="rect">
              <a:avLst/>
            </a:prstGeom>
            <a:solidFill>
              <a:srgbClr val="00357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dirty="0">
                  <a:solidFill>
                    <a:schemeClr val="bg1"/>
                  </a:solidFill>
                </a:rPr>
                <a:t>Usability</a:t>
              </a:r>
            </a:p>
          </p:txBody>
        </p:sp>
        <p:sp>
          <p:nvSpPr>
            <p:cNvPr id="42" name="Oval 41">
              <a:extLst>
                <a:ext uri="{FF2B5EF4-FFF2-40B4-BE49-F238E27FC236}">
                  <a16:creationId xmlns:a16="http://schemas.microsoft.com/office/drawing/2014/main" id="{57068C15-BA37-48D7-9C15-86CE7B394A43}"/>
                </a:ext>
              </a:extLst>
            </p:cNvPr>
            <p:cNvSpPr/>
            <p:nvPr/>
          </p:nvSpPr>
          <p:spPr>
            <a:xfrm>
              <a:off x="4434423" y="2726085"/>
              <a:ext cx="758205" cy="758205"/>
            </a:xfrm>
            <a:prstGeom prst="ellipse">
              <a:avLst/>
            </a:prstGeom>
            <a:solidFill>
              <a:schemeClr val="bg1"/>
            </a:solidFill>
            <a:ln w="28575" cap="flat" cmpd="sng" algn="ctr">
              <a:solidFill>
                <a:schemeClr val="accent5"/>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grpSp>
      <p:grpSp>
        <p:nvGrpSpPr>
          <p:cNvPr id="43" name="Group 42">
            <a:extLst>
              <a:ext uri="{FF2B5EF4-FFF2-40B4-BE49-F238E27FC236}">
                <a16:creationId xmlns:a16="http://schemas.microsoft.com/office/drawing/2014/main" id="{104588AA-A4B5-4A76-8071-41CF8018F0CE}"/>
              </a:ext>
            </a:extLst>
          </p:cNvPr>
          <p:cNvGrpSpPr/>
          <p:nvPr/>
        </p:nvGrpSpPr>
        <p:grpSpPr>
          <a:xfrm>
            <a:off x="89616" y="3708506"/>
            <a:ext cx="2914203" cy="887101"/>
            <a:chOff x="4434423" y="3768986"/>
            <a:chExt cx="2914203" cy="887101"/>
          </a:xfrm>
        </p:grpSpPr>
        <p:sp>
          <p:nvSpPr>
            <p:cNvPr id="44" name="Trapezoid 48">
              <a:extLst>
                <a:ext uri="{FF2B5EF4-FFF2-40B4-BE49-F238E27FC236}">
                  <a16:creationId xmlns:a16="http://schemas.microsoft.com/office/drawing/2014/main" id="{FC51C094-4ACE-4A57-BD06-C9125091FB7F}"/>
                </a:ext>
              </a:extLst>
            </p:cNvPr>
            <p:cNvSpPr/>
            <p:nvPr/>
          </p:nvSpPr>
          <p:spPr>
            <a:xfrm rot="16200000">
              <a:off x="4623369" y="4086828"/>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45" name="Rectangle 44">
              <a:extLst>
                <a:ext uri="{FF2B5EF4-FFF2-40B4-BE49-F238E27FC236}">
                  <a16:creationId xmlns:a16="http://schemas.microsoft.com/office/drawing/2014/main" id="{8D778493-5609-4EE7-BD19-7C5D49D8C988}"/>
                </a:ext>
              </a:extLst>
            </p:cNvPr>
            <p:cNvSpPr/>
            <p:nvPr/>
          </p:nvSpPr>
          <p:spPr>
            <a:xfrm>
              <a:off x="4813300" y="3897882"/>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46" name="Rectangle 45">
              <a:extLst>
                <a:ext uri="{FF2B5EF4-FFF2-40B4-BE49-F238E27FC236}">
                  <a16:creationId xmlns:a16="http://schemas.microsoft.com/office/drawing/2014/main" id="{2F859499-4F1C-4C78-8DF6-E50921E8A2ED}"/>
                </a:ext>
              </a:extLst>
            </p:cNvPr>
            <p:cNvSpPr/>
            <p:nvPr/>
          </p:nvSpPr>
          <p:spPr>
            <a:xfrm>
              <a:off x="5192628" y="3911580"/>
              <a:ext cx="2155998" cy="744507"/>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dirty="0">
                  <a:solidFill>
                    <a:schemeClr val="tx1"/>
                  </a:solidFill>
                </a:rPr>
                <a:t>Easy to reach helpdesk; chatbots; FAQs</a:t>
              </a:r>
            </a:p>
          </p:txBody>
        </p:sp>
        <p:sp>
          <p:nvSpPr>
            <p:cNvPr id="47" name="Rectangle 46">
              <a:extLst>
                <a:ext uri="{FF2B5EF4-FFF2-40B4-BE49-F238E27FC236}">
                  <a16:creationId xmlns:a16="http://schemas.microsoft.com/office/drawing/2014/main" id="{EE4DA5B0-571E-4F16-95A6-6A25E121EC4B}"/>
                </a:ext>
              </a:extLst>
            </p:cNvPr>
            <p:cNvSpPr/>
            <p:nvPr/>
          </p:nvSpPr>
          <p:spPr>
            <a:xfrm>
              <a:off x="4930140" y="3793305"/>
              <a:ext cx="1985010" cy="253365"/>
            </a:xfrm>
            <a:prstGeom prst="rect">
              <a:avLst/>
            </a:prstGeom>
            <a:solidFill>
              <a:srgbClr val="0071E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dirty="0">
                  <a:solidFill>
                    <a:schemeClr val="bg1"/>
                  </a:solidFill>
                </a:rPr>
                <a:t>Supportive Features</a:t>
              </a:r>
            </a:p>
          </p:txBody>
        </p:sp>
        <p:sp>
          <p:nvSpPr>
            <p:cNvPr id="48" name="Oval 47">
              <a:extLst>
                <a:ext uri="{FF2B5EF4-FFF2-40B4-BE49-F238E27FC236}">
                  <a16:creationId xmlns:a16="http://schemas.microsoft.com/office/drawing/2014/main" id="{B4E778D9-0530-4B47-9399-D183BB798021}"/>
                </a:ext>
              </a:extLst>
            </p:cNvPr>
            <p:cNvSpPr/>
            <p:nvPr/>
          </p:nvSpPr>
          <p:spPr>
            <a:xfrm>
              <a:off x="4434423" y="3768986"/>
              <a:ext cx="758205" cy="758205"/>
            </a:xfrm>
            <a:prstGeom prst="ellipse">
              <a:avLst/>
            </a:prstGeom>
            <a:solidFill>
              <a:schemeClr val="bg1"/>
            </a:solidFill>
            <a:ln w="28575" cap="flat" cmpd="sng" algn="ctr">
              <a:solidFill>
                <a:schemeClr val="accent5"/>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grpSp>
      <p:grpSp>
        <p:nvGrpSpPr>
          <p:cNvPr id="49" name="Group 48">
            <a:extLst>
              <a:ext uri="{FF2B5EF4-FFF2-40B4-BE49-F238E27FC236}">
                <a16:creationId xmlns:a16="http://schemas.microsoft.com/office/drawing/2014/main" id="{BE5E4042-009F-4362-8B97-83F3726EEA9B}"/>
              </a:ext>
            </a:extLst>
          </p:cNvPr>
          <p:cNvGrpSpPr/>
          <p:nvPr/>
        </p:nvGrpSpPr>
        <p:grpSpPr>
          <a:xfrm>
            <a:off x="89616" y="4691628"/>
            <a:ext cx="2914203" cy="887101"/>
            <a:chOff x="4434423" y="4841332"/>
            <a:chExt cx="2914203" cy="887101"/>
          </a:xfrm>
        </p:grpSpPr>
        <p:sp>
          <p:nvSpPr>
            <p:cNvPr id="50" name="Trapezoid 48">
              <a:extLst>
                <a:ext uri="{FF2B5EF4-FFF2-40B4-BE49-F238E27FC236}">
                  <a16:creationId xmlns:a16="http://schemas.microsoft.com/office/drawing/2014/main" id="{C816296E-2395-4EE4-86B7-82BF42C3BCAF}"/>
                </a:ext>
              </a:extLst>
            </p:cNvPr>
            <p:cNvSpPr/>
            <p:nvPr/>
          </p:nvSpPr>
          <p:spPr>
            <a:xfrm rot="16200000">
              <a:off x="4623369" y="5159174"/>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51" name="Rectangle 50">
              <a:extLst>
                <a:ext uri="{FF2B5EF4-FFF2-40B4-BE49-F238E27FC236}">
                  <a16:creationId xmlns:a16="http://schemas.microsoft.com/office/drawing/2014/main" id="{9386D820-C1D3-41C4-A0CD-68FFA1B6E97F}"/>
                </a:ext>
              </a:extLst>
            </p:cNvPr>
            <p:cNvSpPr/>
            <p:nvPr/>
          </p:nvSpPr>
          <p:spPr>
            <a:xfrm>
              <a:off x="4813300" y="4970228"/>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sp>
          <p:nvSpPr>
            <p:cNvPr id="52" name="Rectangle 51">
              <a:extLst>
                <a:ext uri="{FF2B5EF4-FFF2-40B4-BE49-F238E27FC236}">
                  <a16:creationId xmlns:a16="http://schemas.microsoft.com/office/drawing/2014/main" id="{561EB007-E0FC-4653-A7E2-3BBCCC64B1EE}"/>
                </a:ext>
              </a:extLst>
            </p:cNvPr>
            <p:cNvSpPr/>
            <p:nvPr/>
          </p:nvSpPr>
          <p:spPr>
            <a:xfrm>
              <a:off x="5192628" y="4983926"/>
              <a:ext cx="2155998" cy="744507"/>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dirty="0">
                  <a:solidFill>
                    <a:schemeClr val="tx1"/>
                  </a:solidFill>
                </a:rPr>
                <a:t>One stop solution for all the needs of the target market; attractive user interface</a:t>
              </a:r>
            </a:p>
          </p:txBody>
        </p:sp>
        <p:sp>
          <p:nvSpPr>
            <p:cNvPr id="53" name="Rectangle 52">
              <a:extLst>
                <a:ext uri="{FF2B5EF4-FFF2-40B4-BE49-F238E27FC236}">
                  <a16:creationId xmlns:a16="http://schemas.microsoft.com/office/drawing/2014/main" id="{B088ECAF-A5D7-4D6B-B9C1-952545241D3B}"/>
                </a:ext>
              </a:extLst>
            </p:cNvPr>
            <p:cNvSpPr/>
            <p:nvPr/>
          </p:nvSpPr>
          <p:spPr>
            <a:xfrm>
              <a:off x="4930140" y="4865651"/>
              <a:ext cx="1985010" cy="253365"/>
            </a:xfrm>
            <a:prstGeom prst="rect">
              <a:avLst/>
            </a:pr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dirty="0">
                  <a:solidFill>
                    <a:schemeClr val="bg1"/>
                  </a:solidFill>
                </a:rPr>
                <a:t>Desirability</a:t>
              </a:r>
            </a:p>
          </p:txBody>
        </p:sp>
        <p:sp>
          <p:nvSpPr>
            <p:cNvPr id="54" name="Oval 53">
              <a:extLst>
                <a:ext uri="{FF2B5EF4-FFF2-40B4-BE49-F238E27FC236}">
                  <a16:creationId xmlns:a16="http://schemas.microsoft.com/office/drawing/2014/main" id="{422A45FB-1484-4E77-BB5D-B1246DD65393}"/>
                </a:ext>
              </a:extLst>
            </p:cNvPr>
            <p:cNvSpPr/>
            <p:nvPr/>
          </p:nvSpPr>
          <p:spPr>
            <a:xfrm>
              <a:off x="4434423" y="4841332"/>
              <a:ext cx="758205" cy="758205"/>
            </a:xfrm>
            <a:prstGeom prst="ellipse">
              <a:avLst/>
            </a:prstGeom>
            <a:solidFill>
              <a:schemeClr val="bg1"/>
            </a:solidFill>
            <a:ln w="28575" cap="flat" cmpd="sng" algn="ctr">
              <a:solidFill>
                <a:srgbClr val="5B9BD5"/>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err="1">
                <a:solidFill>
                  <a:schemeClr val="tx1"/>
                </a:solidFill>
              </a:endParaRPr>
            </a:p>
          </p:txBody>
        </p:sp>
      </p:grpSp>
      <p:cxnSp>
        <p:nvCxnSpPr>
          <p:cNvPr id="55" name="Straight Connector 54">
            <a:extLst>
              <a:ext uri="{FF2B5EF4-FFF2-40B4-BE49-F238E27FC236}">
                <a16:creationId xmlns:a16="http://schemas.microsoft.com/office/drawing/2014/main" id="{A4DB4B82-8D68-4BB9-90E9-8F119AD89846}"/>
              </a:ext>
            </a:extLst>
          </p:cNvPr>
          <p:cNvCxnSpPr>
            <a:cxnSpLocks/>
            <a:stCxn id="40" idx="3"/>
          </p:cNvCxnSpPr>
          <p:nvPr/>
        </p:nvCxnSpPr>
        <p:spPr>
          <a:xfrm>
            <a:off x="3003819" y="3223467"/>
            <a:ext cx="501879" cy="0"/>
          </a:xfrm>
          <a:prstGeom prst="line">
            <a:avLst/>
          </a:prstGeom>
          <a:ln w="12700">
            <a:solidFill>
              <a:schemeClr val="accent5">
                <a:lumMod val="60000"/>
                <a:lumOff val="40000"/>
              </a:schemeClr>
            </a:solidFill>
            <a:prstDash val="lgDash"/>
          </a:ln>
        </p:spPr>
        <p:style>
          <a:lnRef idx="1">
            <a:schemeClr val="accent6"/>
          </a:lnRef>
          <a:fillRef idx="0">
            <a:schemeClr val="accent6"/>
          </a:fillRef>
          <a:effectRef idx="0">
            <a:schemeClr val="accent6"/>
          </a:effectRef>
          <a:fontRef idx="minor">
            <a:schemeClr val="tx1"/>
          </a:fontRef>
        </p:style>
      </p:cxnSp>
      <p:cxnSp>
        <p:nvCxnSpPr>
          <p:cNvPr id="56" name="Straight Connector 55">
            <a:extLst>
              <a:ext uri="{FF2B5EF4-FFF2-40B4-BE49-F238E27FC236}">
                <a16:creationId xmlns:a16="http://schemas.microsoft.com/office/drawing/2014/main" id="{C84E8AF2-C4A1-4F35-B864-E877F36DBF1A}"/>
              </a:ext>
            </a:extLst>
          </p:cNvPr>
          <p:cNvCxnSpPr>
            <a:cxnSpLocks/>
            <a:stCxn id="46" idx="3"/>
          </p:cNvCxnSpPr>
          <p:nvPr/>
        </p:nvCxnSpPr>
        <p:spPr>
          <a:xfrm>
            <a:off x="3003819" y="4223354"/>
            <a:ext cx="520929" cy="0"/>
          </a:xfrm>
          <a:prstGeom prst="line">
            <a:avLst/>
          </a:prstGeom>
          <a:ln w="12700">
            <a:solidFill>
              <a:schemeClr val="accent5">
                <a:lumMod val="40000"/>
                <a:lumOff val="60000"/>
              </a:schemeClr>
            </a:solidFill>
            <a:prstDash val="lgDash"/>
          </a:ln>
        </p:spPr>
        <p:style>
          <a:lnRef idx="1">
            <a:schemeClr val="accent6"/>
          </a:lnRef>
          <a:fillRef idx="0">
            <a:schemeClr val="accent6"/>
          </a:fillRef>
          <a:effectRef idx="0">
            <a:schemeClr val="accent6"/>
          </a:effectRef>
          <a:fontRef idx="minor">
            <a:schemeClr val="tx1"/>
          </a:fontRef>
        </p:style>
      </p:cxnSp>
      <p:cxnSp>
        <p:nvCxnSpPr>
          <p:cNvPr id="57" name="Straight Connector 56">
            <a:extLst>
              <a:ext uri="{FF2B5EF4-FFF2-40B4-BE49-F238E27FC236}">
                <a16:creationId xmlns:a16="http://schemas.microsoft.com/office/drawing/2014/main" id="{D8EA7B69-8AD9-4287-A64B-E6F32890BDD2}"/>
              </a:ext>
            </a:extLst>
          </p:cNvPr>
          <p:cNvCxnSpPr>
            <a:cxnSpLocks/>
            <a:stCxn id="52" idx="3"/>
          </p:cNvCxnSpPr>
          <p:nvPr/>
        </p:nvCxnSpPr>
        <p:spPr>
          <a:xfrm>
            <a:off x="3003819" y="5206476"/>
            <a:ext cx="501879" cy="0"/>
          </a:xfrm>
          <a:prstGeom prst="line">
            <a:avLst/>
          </a:prstGeom>
          <a:ln w="12700">
            <a:solidFill>
              <a:schemeClr val="accent5">
                <a:lumMod val="20000"/>
                <a:lumOff val="80000"/>
              </a:schemeClr>
            </a:solidFill>
            <a:prstDash val="lgDash"/>
          </a:ln>
        </p:spPr>
        <p:style>
          <a:lnRef idx="1">
            <a:schemeClr val="accent6"/>
          </a:lnRef>
          <a:fillRef idx="0">
            <a:schemeClr val="accent6"/>
          </a:fillRef>
          <a:effectRef idx="0">
            <a:schemeClr val="accent6"/>
          </a:effectRef>
          <a:fontRef idx="minor">
            <a:schemeClr val="tx1"/>
          </a:fontRef>
        </p:style>
      </p:cxnSp>
      <p:pic>
        <p:nvPicPr>
          <p:cNvPr id="58" name="Graphic 38">
            <a:extLst>
              <a:ext uri="{FF2B5EF4-FFF2-40B4-BE49-F238E27FC236}">
                <a16:creationId xmlns:a16="http://schemas.microsoft.com/office/drawing/2014/main" id="{7664B8AA-61FB-458C-92DE-B0423E0BA0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293" y="2009271"/>
            <a:ext cx="410899" cy="513624"/>
          </a:xfrm>
          <a:prstGeom prst="rect">
            <a:avLst/>
          </a:prstGeom>
        </p:spPr>
      </p:pic>
      <p:pic>
        <p:nvPicPr>
          <p:cNvPr id="59" name="Graphic 39">
            <a:extLst>
              <a:ext uri="{FF2B5EF4-FFF2-40B4-BE49-F238E27FC236}">
                <a16:creationId xmlns:a16="http://schemas.microsoft.com/office/drawing/2014/main" id="{57D383DC-19E0-4EDE-8288-311CE6580E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8358" y="2844132"/>
            <a:ext cx="494767" cy="618459"/>
          </a:xfrm>
          <a:prstGeom prst="rect">
            <a:avLst/>
          </a:prstGeom>
        </p:spPr>
      </p:pic>
      <p:grpSp>
        <p:nvGrpSpPr>
          <p:cNvPr id="60" name="Graphic 185">
            <a:extLst>
              <a:ext uri="{FF2B5EF4-FFF2-40B4-BE49-F238E27FC236}">
                <a16:creationId xmlns:a16="http://schemas.microsoft.com/office/drawing/2014/main" id="{F13D1236-19C9-4AD0-B9CA-B1DC56D55E45}"/>
              </a:ext>
            </a:extLst>
          </p:cNvPr>
          <p:cNvGrpSpPr/>
          <p:nvPr/>
        </p:nvGrpSpPr>
        <p:grpSpPr>
          <a:xfrm>
            <a:off x="242617" y="3874721"/>
            <a:ext cx="437851" cy="416177"/>
            <a:chOff x="4620902" y="3768291"/>
            <a:chExt cx="437851" cy="416177"/>
          </a:xfrm>
          <a:solidFill>
            <a:schemeClr val="accent5"/>
          </a:solidFill>
        </p:grpSpPr>
        <p:sp>
          <p:nvSpPr>
            <p:cNvPr id="61" name="Freeform: Shape 60">
              <a:extLst>
                <a:ext uri="{FF2B5EF4-FFF2-40B4-BE49-F238E27FC236}">
                  <a16:creationId xmlns:a16="http://schemas.microsoft.com/office/drawing/2014/main" id="{0C27C9DF-3EF1-41D7-90B3-197950F7F1AC}"/>
                </a:ext>
              </a:extLst>
            </p:cNvPr>
            <p:cNvSpPr/>
            <p:nvPr/>
          </p:nvSpPr>
          <p:spPr>
            <a:xfrm>
              <a:off x="4620902" y="3768291"/>
              <a:ext cx="437851" cy="416177"/>
            </a:xfrm>
            <a:custGeom>
              <a:avLst/>
              <a:gdLst>
                <a:gd name="connsiteX0" fmla="*/ 427869 w 437851"/>
                <a:gd name="connsiteY0" fmla="*/ 159599 h 416177"/>
                <a:gd name="connsiteX1" fmla="*/ 410332 w 437851"/>
                <a:gd name="connsiteY1" fmla="*/ 155559 h 416177"/>
                <a:gd name="connsiteX2" fmla="*/ 410332 w 437851"/>
                <a:gd name="connsiteY2" fmla="*/ 148576 h 416177"/>
                <a:gd name="connsiteX3" fmla="*/ 398054 w 437851"/>
                <a:gd name="connsiteY3" fmla="*/ 134146 h 416177"/>
                <a:gd name="connsiteX4" fmla="*/ 265299 w 437851"/>
                <a:gd name="connsiteY4" fmla="*/ 149955 h 416177"/>
                <a:gd name="connsiteX5" fmla="*/ 276414 w 437851"/>
                <a:gd name="connsiteY5" fmla="*/ 134402 h 416177"/>
                <a:gd name="connsiteX6" fmla="*/ 273591 w 437851"/>
                <a:gd name="connsiteY6" fmla="*/ 21907 h 416177"/>
                <a:gd name="connsiteX7" fmla="*/ 219603 w 437851"/>
                <a:gd name="connsiteY7" fmla="*/ 0 h 416177"/>
                <a:gd name="connsiteX8" fmla="*/ 218801 w 437851"/>
                <a:gd name="connsiteY8" fmla="*/ 0 h 416177"/>
                <a:gd name="connsiteX9" fmla="*/ 139270 w 437851"/>
                <a:gd name="connsiteY9" fmla="*/ 76232 h 416177"/>
                <a:gd name="connsiteX10" fmla="*/ 160451 w 437851"/>
                <a:gd name="connsiteY10" fmla="*/ 133713 h 416177"/>
                <a:gd name="connsiteX11" fmla="*/ 171827 w 437851"/>
                <a:gd name="connsiteY11" fmla="*/ 149674 h 416177"/>
                <a:gd name="connsiteX12" fmla="*/ 39805 w 437851"/>
                <a:gd name="connsiteY12" fmla="*/ 134126 h 416177"/>
                <a:gd name="connsiteX13" fmla="*/ 27523 w 437851"/>
                <a:gd name="connsiteY13" fmla="*/ 148556 h 416177"/>
                <a:gd name="connsiteX14" fmla="*/ 27523 w 437851"/>
                <a:gd name="connsiteY14" fmla="*/ 155567 h 416177"/>
                <a:gd name="connsiteX15" fmla="*/ 9987 w 437851"/>
                <a:gd name="connsiteY15" fmla="*/ 159599 h 416177"/>
                <a:gd name="connsiteX16" fmla="*/ 2 w 437851"/>
                <a:gd name="connsiteY16" fmla="*/ 173320 h 416177"/>
                <a:gd name="connsiteX17" fmla="*/ 2 w 437851"/>
                <a:gd name="connsiteY17" fmla="*/ 378743 h 416177"/>
                <a:gd name="connsiteX18" fmla="*/ 5469 w 437851"/>
                <a:gd name="connsiteY18" fmla="*/ 390091 h 416177"/>
                <a:gd name="connsiteX19" fmla="*/ 17178 w 437851"/>
                <a:gd name="connsiteY19" fmla="*/ 392569 h 416177"/>
                <a:gd name="connsiteX20" fmla="*/ 207514 w 437851"/>
                <a:gd name="connsiteY20" fmla="*/ 413116 h 416177"/>
                <a:gd name="connsiteX21" fmla="*/ 230338 w 437851"/>
                <a:gd name="connsiteY21" fmla="*/ 413116 h 416177"/>
                <a:gd name="connsiteX22" fmla="*/ 420674 w 437851"/>
                <a:gd name="connsiteY22" fmla="*/ 392569 h 416177"/>
                <a:gd name="connsiteX23" fmla="*/ 432382 w 437851"/>
                <a:gd name="connsiteY23" fmla="*/ 390091 h 416177"/>
                <a:gd name="connsiteX24" fmla="*/ 437850 w 437851"/>
                <a:gd name="connsiteY24" fmla="*/ 378743 h 416177"/>
                <a:gd name="connsiteX25" fmla="*/ 437850 w 437851"/>
                <a:gd name="connsiteY25" fmla="*/ 173320 h 416177"/>
                <a:gd name="connsiteX26" fmla="*/ 427869 w 437851"/>
                <a:gd name="connsiteY26" fmla="*/ 159599 h 416177"/>
                <a:gd name="connsiteX27" fmla="*/ 396775 w 437851"/>
                <a:gd name="connsiteY27" fmla="*/ 142038 h 416177"/>
                <a:gd name="connsiteX28" fmla="*/ 402315 w 437851"/>
                <a:gd name="connsiteY28" fmla="*/ 148576 h 416177"/>
                <a:gd name="connsiteX29" fmla="*/ 402315 w 437851"/>
                <a:gd name="connsiteY29" fmla="*/ 341958 h 416177"/>
                <a:gd name="connsiteX30" fmla="*/ 395519 w 437851"/>
                <a:gd name="connsiteY30" fmla="*/ 348540 h 416177"/>
                <a:gd name="connsiteX31" fmla="*/ 395501 w 437851"/>
                <a:gd name="connsiteY31" fmla="*/ 348540 h 416177"/>
                <a:gd name="connsiteX32" fmla="*/ 222946 w 437851"/>
                <a:gd name="connsiteY32" fmla="*/ 395439 h 416177"/>
                <a:gd name="connsiteX33" fmla="*/ 222946 w 437851"/>
                <a:gd name="connsiteY33" fmla="*/ 222275 h 416177"/>
                <a:gd name="connsiteX34" fmla="*/ 245281 w 437851"/>
                <a:gd name="connsiteY34" fmla="*/ 211853 h 416177"/>
                <a:gd name="connsiteX35" fmla="*/ 245726 w 437851"/>
                <a:gd name="connsiteY35" fmla="*/ 229149 h 416177"/>
                <a:gd name="connsiteX36" fmla="*/ 249374 w 437851"/>
                <a:gd name="connsiteY36" fmla="*/ 235426 h 416177"/>
                <a:gd name="connsiteX37" fmla="*/ 255418 w 437851"/>
                <a:gd name="connsiteY37" fmla="*/ 237182 h 416177"/>
                <a:gd name="connsiteX38" fmla="*/ 259571 w 437851"/>
                <a:gd name="connsiteY38" fmla="*/ 236497 h 416177"/>
                <a:gd name="connsiteX39" fmla="*/ 261519 w 437851"/>
                <a:gd name="connsiteY39" fmla="*/ 235863 h 416177"/>
                <a:gd name="connsiteX40" fmla="*/ 279461 w 437851"/>
                <a:gd name="connsiteY40" fmla="*/ 228648 h 416177"/>
                <a:gd name="connsiteX41" fmla="*/ 284940 w 437851"/>
                <a:gd name="connsiteY41" fmla="*/ 219357 h 416177"/>
                <a:gd name="connsiteX42" fmla="*/ 285341 w 437851"/>
                <a:gd name="connsiteY42" fmla="*/ 196910 h 416177"/>
                <a:gd name="connsiteX43" fmla="*/ 281890 w 437851"/>
                <a:gd name="connsiteY43" fmla="*/ 189859 h 416177"/>
                <a:gd name="connsiteX44" fmla="*/ 273007 w 437851"/>
                <a:gd name="connsiteY44" fmla="*/ 188207 h 416177"/>
                <a:gd name="connsiteX45" fmla="*/ 255843 w 437851"/>
                <a:gd name="connsiteY45" fmla="*/ 194160 h 416177"/>
                <a:gd name="connsiteX46" fmla="*/ 257422 w 437851"/>
                <a:gd name="connsiteY46" fmla="*/ 182856 h 416177"/>
                <a:gd name="connsiteX47" fmla="*/ 257423 w 437851"/>
                <a:gd name="connsiteY47" fmla="*/ 182824 h 416177"/>
                <a:gd name="connsiteX48" fmla="*/ 257423 w 437851"/>
                <a:gd name="connsiteY48" fmla="*/ 182780 h 416177"/>
                <a:gd name="connsiteX49" fmla="*/ 257423 w 437851"/>
                <a:gd name="connsiteY49" fmla="*/ 182155 h 416177"/>
                <a:gd name="connsiteX50" fmla="*/ 260834 w 437851"/>
                <a:gd name="connsiteY50" fmla="*/ 160750 h 416177"/>
                <a:gd name="connsiteX51" fmla="*/ 396775 w 437851"/>
                <a:gd name="connsiteY51" fmla="*/ 142038 h 416177"/>
                <a:gd name="connsiteX52" fmla="*/ 147279 w 437851"/>
                <a:gd name="connsiteY52" fmla="*/ 76557 h 416177"/>
                <a:gd name="connsiteX53" fmla="*/ 218801 w 437851"/>
                <a:gd name="connsiteY53" fmla="*/ 8013 h 416177"/>
                <a:gd name="connsiteX54" fmla="*/ 219515 w 437851"/>
                <a:gd name="connsiteY54" fmla="*/ 8013 h 416177"/>
                <a:gd name="connsiteX55" fmla="*/ 290335 w 437851"/>
                <a:gd name="connsiteY55" fmla="*/ 80294 h 416177"/>
                <a:gd name="connsiteX56" fmla="*/ 270626 w 437851"/>
                <a:gd name="connsiteY56" fmla="*/ 128883 h 416177"/>
                <a:gd name="connsiteX57" fmla="*/ 249522 w 437851"/>
                <a:gd name="connsiteY57" fmla="*/ 179742 h 416177"/>
                <a:gd name="connsiteX58" fmla="*/ 222766 w 437851"/>
                <a:gd name="connsiteY58" fmla="*/ 184267 h 416177"/>
                <a:gd name="connsiteX59" fmla="*/ 222766 w 437851"/>
                <a:gd name="connsiteY59" fmla="*/ 145201 h 416177"/>
                <a:gd name="connsiteX60" fmla="*/ 218757 w 437851"/>
                <a:gd name="connsiteY60" fmla="*/ 141193 h 416177"/>
                <a:gd name="connsiteX61" fmla="*/ 214749 w 437851"/>
                <a:gd name="connsiteY61" fmla="*/ 145201 h 416177"/>
                <a:gd name="connsiteX62" fmla="*/ 214749 w 437851"/>
                <a:gd name="connsiteY62" fmla="*/ 184271 h 416177"/>
                <a:gd name="connsiteX63" fmla="*/ 188017 w 437851"/>
                <a:gd name="connsiteY63" fmla="*/ 179742 h 416177"/>
                <a:gd name="connsiteX64" fmla="*/ 166323 w 437851"/>
                <a:gd name="connsiteY64" fmla="*/ 128257 h 416177"/>
                <a:gd name="connsiteX65" fmla="*/ 147279 w 437851"/>
                <a:gd name="connsiteY65" fmla="*/ 76557 h 416177"/>
                <a:gd name="connsiteX66" fmla="*/ 35540 w 437851"/>
                <a:gd name="connsiteY66" fmla="*/ 148576 h 416177"/>
                <a:gd name="connsiteX67" fmla="*/ 41080 w 437851"/>
                <a:gd name="connsiteY67" fmla="*/ 142038 h 416177"/>
                <a:gd name="connsiteX68" fmla="*/ 73705 w 437851"/>
                <a:gd name="connsiteY68" fmla="*/ 139605 h 416177"/>
                <a:gd name="connsiteX69" fmla="*/ 176505 w 437851"/>
                <a:gd name="connsiteY69" fmla="*/ 160609 h 416177"/>
                <a:gd name="connsiteX70" fmla="*/ 180112 w 437851"/>
                <a:gd name="connsiteY70" fmla="*/ 182151 h 416177"/>
                <a:gd name="connsiteX71" fmla="*/ 180112 w 437851"/>
                <a:gd name="connsiteY71" fmla="*/ 182636 h 416177"/>
                <a:gd name="connsiteX72" fmla="*/ 180084 w 437851"/>
                <a:gd name="connsiteY72" fmla="*/ 182764 h 416177"/>
                <a:gd name="connsiteX73" fmla="*/ 214913 w 437851"/>
                <a:gd name="connsiteY73" fmla="*/ 222323 h 416177"/>
                <a:gd name="connsiteX74" fmla="*/ 214913 w 437851"/>
                <a:gd name="connsiteY74" fmla="*/ 395487 h 416177"/>
                <a:gd name="connsiteX75" fmla="*/ 42106 w 437851"/>
                <a:gd name="connsiteY75" fmla="*/ 348552 h 416177"/>
                <a:gd name="connsiteX76" fmla="*/ 35532 w 437851"/>
                <a:gd name="connsiteY76" fmla="*/ 342679 h 416177"/>
                <a:gd name="connsiteX77" fmla="*/ 35532 w 437851"/>
                <a:gd name="connsiteY77" fmla="*/ 341978 h 4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37851" h="416177">
                  <a:moveTo>
                    <a:pt x="427869" y="159599"/>
                  </a:moveTo>
                  <a:cubicBezTo>
                    <a:pt x="422121" y="157968"/>
                    <a:pt x="416244" y="156673"/>
                    <a:pt x="410332" y="155559"/>
                  </a:cubicBezTo>
                  <a:lnTo>
                    <a:pt x="410332" y="148576"/>
                  </a:lnTo>
                  <a:cubicBezTo>
                    <a:pt x="410355" y="141397"/>
                    <a:pt x="405144" y="135272"/>
                    <a:pt x="398054" y="134146"/>
                  </a:cubicBezTo>
                  <a:cubicBezTo>
                    <a:pt x="353178" y="128044"/>
                    <a:pt x="307487" y="133485"/>
                    <a:pt x="265299" y="149955"/>
                  </a:cubicBezTo>
                  <a:cubicBezTo>
                    <a:pt x="268265" y="144280"/>
                    <a:pt x="272006" y="139046"/>
                    <a:pt x="276414" y="134402"/>
                  </a:cubicBezTo>
                  <a:cubicBezTo>
                    <a:pt x="306699" y="102558"/>
                    <a:pt x="305435" y="52192"/>
                    <a:pt x="273591" y="21907"/>
                  </a:cubicBezTo>
                  <a:cubicBezTo>
                    <a:pt x="259012" y="8042"/>
                    <a:pt x="239721" y="214"/>
                    <a:pt x="219603" y="0"/>
                  </a:cubicBezTo>
                  <a:lnTo>
                    <a:pt x="218801" y="0"/>
                  </a:lnTo>
                  <a:cubicBezTo>
                    <a:pt x="176265" y="287"/>
                    <a:pt x="141358" y="33746"/>
                    <a:pt x="139270" y="76232"/>
                  </a:cubicBezTo>
                  <a:cubicBezTo>
                    <a:pt x="138326" y="97459"/>
                    <a:pt x="145959" y="118174"/>
                    <a:pt x="160451" y="133713"/>
                  </a:cubicBezTo>
                  <a:cubicBezTo>
                    <a:pt x="164916" y="138519"/>
                    <a:pt x="168740" y="143885"/>
                    <a:pt x="171827" y="149674"/>
                  </a:cubicBezTo>
                  <a:cubicBezTo>
                    <a:pt x="129840" y="133421"/>
                    <a:pt x="84419" y="128072"/>
                    <a:pt x="39805" y="134126"/>
                  </a:cubicBezTo>
                  <a:cubicBezTo>
                    <a:pt x="32715" y="135252"/>
                    <a:pt x="27502" y="141376"/>
                    <a:pt x="27523" y="148556"/>
                  </a:cubicBezTo>
                  <a:lnTo>
                    <a:pt x="27523" y="155567"/>
                  </a:lnTo>
                  <a:cubicBezTo>
                    <a:pt x="21603" y="156673"/>
                    <a:pt x="15739" y="157972"/>
                    <a:pt x="9987" y="159599"/>
                  </a:cubicBezTo>
                  <a:cubicBezTo>
                    <a:pt x="3976" y="161441"/>
                    <a:pt x="-94" y="167034"/>
                    <a:pt x="2" y="173320"/>
                  </a:cubicBezTo>
                  <a:lnTo>
                    <a:pt x="2" y="378743"/>
                  </a:lnTo>
                  <a:cubicBezTo>
                    <a:pt x="-36" y="383170"/>
                    <a:pt x="1984" y="387362"/>
                    <a:pt x="5469" y="390091"/>
                  </a:cubicBezTo>
                  <a:cubicBezTo>
                    <a:pt x="8777" y="392688"/>
                    <a:pt x="13102" y="393603"/>
                    <a:pt x="17178" y="392569"/>
                  </a:cubicBezTo>
                  <a:cubicBezTo>
                    <a:pt x="80254" y="376679"/>
                    <a:pt x="158523" y="385133"/>
                    <a:pt x="207514" y="413116"/>
                  </a:cubicBezTo>
                  <a:cubicBezTo>
                    <a:pt x="214574" y="417199"/>
                    <a:pt x="223277" y="417199"/>
                    <a:pt x="230338" y="413116"/>
                  </a:cubicBezTo>
                  <a:cubicBezTo>
                    <a:pt x="279329" y="385133"/>
                    <a:pt x="357593" y="376687"/>
                    <a:pt x="420674" y="392569"/>
                  </a:cubicBezTo>
                  <a:cubicBezTo>
                    <a:pt x="424749" y="393602"/>
                    <a:pt x="429074" y="392687"/>
                    <a:pt x="432382" y="390091"/>
                  </a:cubicBezTo>
                  <a:cubicBezTo>
                    <a:pt x="435867" y="387362"/>
                    <a:pt x="437887" y="383170"/>
                    <a:pt x="437850" y="378743"/>
                  </a:cubicBezTo>
                  <a:lnTo>
                    <a:pt x="437850" y="173320"/>
                  </a:lnTo>
                  <a:cubicBezTo>
                    <a:pt x="437946" y="167035"/>
                    <a:pt x="433878" y="161443"/>
                    <a:pt x="427869" y="159599"/>
                  </a:cubicBezTo>
                  <a:close/>
                  <a:moveTo>
                    <a:pt x="396775" y="142038"/>
                  </a:moveTo>
                  <a:cubicBezTo>
                    <a:pt x="399983" y="142551"/>
                    <a:pt x="402336" y="145328"/>
                    <a:pt x="402315" y="148576"/>
                  </a:cubicBezTo>
                  <a:lnTo>
                    <a:pt x="402315" y="341958"/>
                  </a:lnTo>
                  <a:cubicBezTo>
                    <a:pt x="402256" y="345653"/>
                    <a:pt x="399213" y="348599"/>
                    <a:pt x="395519" y="348540"/>
                  </a:cubicBezTo>
                  <a:cubicBezTo>
                    <a:pt x="395513" y="348540"/>
                    <a:pt x="395507" y="348540"/>
                    <a:pt x="395501" y="348540"/>
                  </a:cubicBezTo>
                  <a:cubicBezTo>
                    <a:pt x="311636" y="351887"/>
                    <a:pt x="252400" y="368049"/>
                    <a:pt x="222946" y="395439"/>
                  </a:cubicBezTo>
                  <a:lnTo>
                    <a:pt x="222946" y="222275"/>
                  </a:lnTo>
                  <a:cubicBezTo>
                    <a:pt x="231345" y="221390"/>
                    <a:pt x="239207" y="217722"/>
                    <a:pt x="245281" y="211853"/>
                  </a:cubicBezTo>
                  <a:cubicBezTo>
                    <a:pt x="245177" y="217890"/>
                    <a:pt x="245429" y="224215"/>
                    <a:pt x="245726" y="229149"/>
                  </a:cubicBezTo>
                  <a:cubicBezTo>
                    <a:pt x="245878" y="231702"/>
                    <a:pt x="247231" y="234031"/>
                    <a:pt x="249374" y="235426"/>
                  </a:cubicBezTo>
                  <a:cubicBezTo>
                    <a:pt x="251168" y="236602"/>
                    <a:pt x="253273" y="237213"/>
                    <a:pt x="255418" y="237182"/>
                  </a:cubicBezTo>
                  <a:cubicBezTo>
                    <a:pt x="256830" y="237177"/>
                    <a:pt x="258232" y="236945"/>
                    <a:pt x="259571" y="236497"/>
                  </a:cubicBezTo>
                  <a:lnTo>
                    <a:pt x="261519" y="235863"/>
                  </a:lnTo>
                  <a:cubicBezTo>
                    <a:pt x="267728" y="234072"/>
                    <a:pt x="273740" y="231654"/>
                    <a:pt x="279461" y="228648"/>
                  </a:cubicBezTo>
                  <a:cubicBezTo>
                    <a:pt x="282555" y="226499"/>
                    <a:pt x="284557" y="223105"/>
                    <a:pt x="284940" y="219357"/>
                  </a:cubicBezTo>
                  <a:cubicBezTo>
                    <a:pt x="285369" y="212218"/>
                    <a:pt x="285377" y="204353"/>
                    <a:pt x="285341" y="196910"/>
                  </a:cubicBezTo>
                  <a:cubicBezTo>
                    <a:pt x="285348" y="194151"/>
                    <a:pt x="284073" y="191546"/>
                    <a:pt x="281890" y="189859"/>
                  </a:cubicBezTo>
                  <a:cubicBezTo>
                    <a:pt x="279345" y="187962"/>
                    <a:pt x="276064" y="187352"/>
                    <a:pt x="273007" y="188207"/>
                  </a:cubicBezTo>
                  <a:cubicBezTo>
                    <a:pt x="267147" y="189766"/>
                    <a:pt x="261410" y="191756"/>
                    <a:pt x="255843" y="194160"/>
                  </a:cubicBezTo>
                  <a:cubicBezTo>
                    <a:pt x="256883" y="190482"/>
                    <a:pt x="257414" y="186678"/>
                    <a:pt x="257422" y="182856"/>
                  </a:cubicBezTo>
                  <a:lnTo>
                    <a:pt x="257423" y="182824"/>
                  </a:lnTo>
                  <a:lnTo>
                    <a:pt x="257423" y="182780"/>
                  </a:lnTo>
                  <a:lnTo>
                    <a:pt x="257423" y="182155"/>
                  </a:lnTo>
                  <a:cubicBezTo>
                    <a:pt x="257436" y="174885"/>
                    <a:pt x="258587" y="167663"/>
                    <a:pt x="260834" y="160750"/>
                  </a:cubicBezTo>
                  <a:cubicBezTo>
                    <a:pt x="303622" y="142334"/>
                    <a:pt x="350603" y="135868"/>
                    <a:pt x="396775" y="142038"/>
                  </a:cubicBezTo>
                  <a:close/>
                  <a:moveTo>
                    <a:pt x="147279" y="76557"/>
                  </a:moveTo>
                  <a:cubicBezTo>
                    <a:pt x="149153" y="38349"/>
                    <a:pt x="180549" y="8261"/>
                    <a:pt x="218801" y="8013"/>
                  </a:cubicBezTo>
                  <a:lnTo>
                    <a:pt x="219515" y="8013"/>
                  </a:lnTo>
                  <a:cubicBezTo>
                    <a:pt x="259031" y="8417"/>
                    <a:pt x="290738" y="40778"/>
                    <a:pt x="290335" y="80294"/>
                  </a:cubicBezTo>
                  <a:cubicBezTo>
                    <a:pt x="290150" y="98401"/>
                    <a:pt x="283107" y="115764"/>
                    <a:pt x="270626" y="128883"/>
                  </a:cubicBezTo>
                  <a:cubicBezTo>
                    <a:pt x="257551" y="142647"/>
                    <a:pt x="250034" y="160764"/>
                    <a:pt x="249522" y="179742"/>
                  </a:cubicBezTo>
                  <a:cubicBezTo>
                    <a:pt x="240835" y="182394"/>
                    <a:pt x="231842" y="183915"/>
                    <a:pt x="222766" y="184267"/>
                  </a:cubicBezTo>
                  <a:lnTo>
                    <a:pt x="222766" y="145201"/>
                  </a:lnTo>
                  <a:cubicBezTo>
                    <a:pt x="222766" y="142987"/>
                    <a:pt x="220971" y="141193"/>
                    <a:pt x="218757" y="141193"/>
                  </a:cubicBezTo>
                  <a:cubicBezTo>
                    <a:pt x="216543" y="141193"/>
                    <a:pt x="214749" y="142987"/>
                    <a:pt x="214749" y="145201"/>
                  </a:cubicBezTo>
                  <a:lnTo>
                    <a:pt x="214749" y="184271"/>
                  </a:lnTo>
                  <a:cubicBezTo>
                    <a:pt x="205680" y="183920"/>
                    <a:pt x="196695" y="182398"/>
                    <a:pt x="188017" y="179742"/>
                  </a:cubicBezTo>
                  <a:cubicBezTo>
                    <a:pt x="187254" y="160520"/>
                    <a:pt x="179546" y="142228"/>
                    <a:pt x="166323" y="128257"/>
                  </a:cubicBezTo>
                  <a:cubicBezTo>
                    <a:pt x="153291" y="114280"/>
                    <a:pt x="146428" y="95648"/>
                    <a:pt x="147279" y="76557"/>
                  </a:cubicBezTo>
                  <a:close/>
                  <a:moveTo>
                    <a:pt x="35540" y="148576"/>
                  </a:moveTo>
                  <a:cubicBezTo>
                    <a:pt x="35519" y="145328"/>
                    <a:pt x="37873" y="142551"/>
                    <a:pt x="41080" y="142038"/>
                  </a:cubicBezTo>
                  <a:cubicBezTo>
                    <a:pt x="51873" y="140366"/>
                    <a:pt x="62782" y="139553"/>
                    <a:pt x="73705" y="139605"/>
                  </a:cubicBezTo>
                  <a:cubicBezTo>
                    <a:pt x="109046" y="139515"/>
                    <a:pt x="144031" y="146663"/>
                    <a:pt x="176505" y="160609"/>
                  </a:cubicBezTo>
                  <a:cubicBezTo>
                    <a:pt x="178863" y="167548"/>
                    <a:pt x="180081" y="174822"/>
                    <a:pt x="180112" y="182151"/>
                  </a:cubicBezTo>
                  <a:lnTo>
                    <a:pt x="180112" y="182636"/>
                  </a:lnTo>
                  <a:cubicBezTo>
                    <a:pt x="180100" y="182678"/>
                    <a:pt x="180091" y="182721"/>
                    <a:pt x="180084" y="182764"/>
                  </a:cubicBezTo>
                  <a:cubicBezTo>
                    <a:pt x="179621" y="203008"/>
                    <a:pt x="194774" y="220218"/>
                    <a:pt x="214913" y="222323"/>
                  </a:cubicBezTo>
                  <a:lnTo>
                    <a:pt x="214913" y="395487"/>
                  </a:lnTo>
                  <a:cubicBezTo>
                    <a:pt x="173390" y="356982"/>
                    <a:pt x="81433" y="349815"/>
                    <a:pt x="42106" y="348552"/>
                  </a:cubicBezTo>
                  <a:cubicBezTo>
                    <a:pt x="38669" y="348746"/>
                    <a:pt x="35726" y="346116"/>
                    <a:pt x="35532" y="342679"/>
                  </a:cubicBezTo>
                  <a:cubicBezTo>
                    <a:pt x="35519" y="342446"/>
                    <a:pt x="35519" y="342212"/>
                    <a:pt x="35532" y="341978"/>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62" name="Freeform: Shape 61">
              <a:extLst>
                <a:ext uri="{FF2B5EF4-FFF2-40B4-BE49-F238E27FC236}">
                  <a16:creationId xmlns:a16="http://schemas.microsoft.com/office/drawing/2014/main" id="{C711390C-2957-45FC-883A-6AF736915207}"/>
                </a:ext>
              </a:extLst>
            </p:cNvPr>
            <p:cNvSpPr/>
            <p:nvPr/>
          </p:nvSpPr>
          <p:spPr>
            <a:xfrm>
              <a:off x="4922401" y="3943439"/>
              <a:ext cx="57800" cy="14615"/>
            </a:xfrm>
            <a:custGeom>
              <a:avLst/>
              <a:gdLst>
                <a:gd name="connsiteX0" fmla="*/ 3997 w 57800"/>
                <a:gd name="connsiteY0" fmla="*/ 14615 h 14615"/>
                <a:gd name="connsiteX1" fmla="*/ 4991 w 57800"/>
                <a:gd name="connsiteY1" fmla="*/ 14487 h 14615"/>
                <a:gd name="connsiteX2" fmla="*/ 53657 w 57800"/>
                <a:gd name="connsiteY2" fmla="*/ 8009 h 14615"/>
                <a:gd name="connsiteX3" fmla="*/ 57788 w 57800"/>
                <a:gd name="connsiteY3" fmla="*/ 4432 h 14615"/>
                <a:gd name="connsiteX4" fmla="*/ 57798 w 57800"/>
                <a:gd name="connsiteY4" fmla="*/ 4137 h 14615"/>
                <a:gd name="connsiteX5" fmla="*/ 53926 w 57800"/>
                <a:gd name="connsiteY5" fmla="*/ 1 h 14615"/>
                <a:gd name="connsiteX6" fmla="*/ 3019 w 57800"/>
                <a:gd name="connsiteY6" fmla="*/ 6723 h 14615"/>
                <a:gd name="connsiteX7" fmla="*/ 125 w 57800"/>
                <a:gd name="connsiteY7" fmla="*/ 11597 h 14615"/>
                <a:gd name="connsiteX8" fmla="*/ 4005 w 57800"/>
                <a:gd name="connsiteY8" fmla="*/ 14615 h 1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00" h="14615">
                  <a:moveTo>
                    <a:pt x="3997" y="14615"/>
                  </a:moveTo>
                  <a:cubicBezTo>
                    <a:pt x="4333" y="14616"/>
                    <a:pt x="4667" y="14573"/>
                    <a:pt x="4991" y="14487"/>
                  </a:cubicBezTo>
                  <a:cubicBezTo>
                    <a:pt x="20860" y="10208"/>
                    <a:pt x="37222" y="8030"/>
                    <a:pt x="53657" y="8009"/>
                  </a:cubicBezTo>
                  <a:cubicBezTo>
                    <a:pt x="55786" y="8162"/>
                    <a:pt x="57635" y="6560"/>
                    <a:pt x="57788" y="4432"/>
                  </a:cubicBezTo>
                  <a:cubicBezTo>
                    <a:pt x="57795" y="4334"/>
                    <a:pt x="57799" y="4235"/>
                    <a:pt x="57798" y="4137"/>
                  </a:cubicBezTo>
                  <a:cubicBezTo>
                    <a:pt x="57870" y="1926"/>
                    <a:pt x="56137" y="75"/>
                    <a:pt x="53926" y="1"/>
                  </a:cubicBezTo>
                  <a:cubicBezTo>
                    <a:pt x="36733" y="-39"/>
                    <a:pt x="19612" y="2222"/>
                    <a:pt x="3019" y="6723"/>
                  </a:cubicBezTo>
                  <a:cubicBezTo>
                    <a:pt x="874" y="7270"/>
                    <a:pt x="-422" y="9452"/>
                    <a:pt x="125" y="11597"/>
                  </a:cubicBezTo>
                  <a:cubicBezTo>
                    <a:pt x="578" y="13371"/>
                    <a:pt x="2174" y="14613"/>
                    <a:pt x="4005" y="1461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63" name="Freeform: Shape 62">
              <a:extLst>
                <a:ext uri="{FF2B5EF4-FFF2-40B4-BE49-F238E27FC236}">
                  <a16:creationId xmlns:a16="http://schemas.microsoft.com/office/drawing/2014/main" id="{54D631B0-729A-44FB-A50F-E431CB3CA68F}"/>
                </a:ext>
              </a:extLst>
            </p:cNvPr>
            <p:cNvSpPr/>
            <p:nvPr/>
          </p:nvSpPr>
          <p:spPr>
            <a:xfrm>
              <a:off x="4922401" y="3966836"/>
              <a:ext cx="57800" cy="14615"/>
            </a:xfrm>
            <a:custGeom>
              <a:avLst/>
              <a:gdLst>
                <a:gd name="connsiteX0" fmla="*/ 3997 w 57800"/>
                <a:gd name="connsiteY0" fmla="*/ 14615 h 14615"/>
                <a:gd name="connsiteX1" fmla="*/ 4991 w 57800"/>
                <a:gd name="connsiteY1" fmla="*/ 14487 h 14615"/>
                <a:gd name="connsiteX2" fmla="*/ 53657 w 57800"/>
                <a:gd name="connsiteY2" fmla="*/ 8009 h 14615"/>
                <a:gd name="connsiteX3" fmla="*/ 57788 w 57800"/>
                <a:gd name="connsiteY3" fmla="*/ 4449 h 14615"/>
                <a:gd name="connsiteX4" fmla="*/ 57798 w 57800"/>
                <a:gd name="connsiteY4" fmla="*/ 4137 h 14615"/>
                <a:gd name="connsiteX5" fmla="*/ 53926 w 57800"/>
                <a:gd name="connsiteY5" fmla="*/ 1 h 14615"/>
                <a:gd name="connsiteX6" fmla="*/ 3019 w 57800"/>
                <a:gd name="connsiteY6" fmla="*/ 6723 h 14615"/>
                <a:gd name="connsiteX7" fmla="*/ 125 w 57800"/>
                <a:gd name="connsiteY7" fmla="*/ 11597 h 14615"/>
                <a:gd name="connsiteX8" fmla="*/ 4009 w 57800"/>
                <a:gd name="connsiteY8" fmla="*/ 14615 h 1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00" h="14615">
                  <a:moveTo>
                    <a:pt x="3997" y="14615"/>
                  </a:moveTo>
                  <a:cubicBezTo>
                    <a:pt x="4333" y="14616"/>
                    <a:pt x="4667" y="14573"/>
                    <a:pt x="4991" y="14487"/>
                  </a:cubicBezTo>
                  <a:cubicBezTo>
                    <a:pt x="20859" y="10203"/>
                    <a:pt x="37222" y="8025"/>
                    <a:pt x="53657" y="8009"/>
                  </a:cubicBezTo>
                  <a:cubicBezTo>
                    <a:pt x="55781" y="8167"/>
                    <a:pt x="57631" y="6572"/>
                    <a:pt x="57788" y="4449"/>
                  </a:cubicBezTo>
                  <a:cubicBezTo>
                    <a:pt x="57795" y="4345"/>
                    <a:pt x="57799" y="4241"/>
                    <a:pt x="57798" y="4137"/>
                  </a:cubicBezTo>
                  <a:cubicBezTo>
                    <a:pt x="57870" y="1926"/>
                    <a:pt x="56137" y="75"/>
                    <a:pt x="53926" y="1"/>
                  </a:cubicBezTo>
                  <a:cubicBezTo>
                    <a:pt x="36733" y="-42"/>
                    <a:pt x="19612" y="2219"/>
                    <a:pt x="3019" y="6723"/>
                  </a:cubicBezTo>
                  <a:cubicBezTo>
                    <a:pt x="874" y="7270"/>
                    <a:pt x="-422" y="9452"/>
                    <a:pt x="125" y="11597"/>
                  </a:cubicBezTo>
                  <a:cubicBezTo>
                    <a:pt x="578" y="13373"/>
                    <a:pt x="2177" y="14615"/>
                    <a:pt x="4009" y="1461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4" name="Freeform: Shape 63">
              <a:extLst>
                <a:ext uri="{FF2B5EF4-FFF2-40B4-BE49-F238E27FC236}">
                  <a16:creationId xmlns:a16="http://schemas.microsoft.com/office/drawing/2014/main" id="{B5C74CC4-CE9C-457B-ACFF-A131626CA2C9}"/>
                </a:ext>
              </a:extLst>
            </p:cNvPr>
            <p:cNvSpPr/>
            <p:nvPr/>
          </p:nvSpPr>
          <p:spPr>
            <a:xfrm>
              <a:off x="4866237" y="4005555"/>
              <a:ext cx="113991" cy="34494"/>
            </a:xfrm>
            <a:custGeom>
              <a:avLst/>
              <a:gdLst>
                <a:gd name="connsiteX0" fmla="*/ 110009 w 113991"/>
                <a:gd name="connsiteY0" fmla="*/ 19 h 34494"/>
                <a:gd name="connsiteX1" fmla="*/ 1838 w 113991"/>
                <a:gd name="connsiteY1" fmla="*/ 27116 h 34494"/>
                <a:gd name="connsiteX2" fmla="*/ 639 w 113991"/>
                <a:gd name="connsiteY2" fmla="*/ 32656 h 34494"/>
                <a:gd name="connsiteX3" fmla="*/ 5982 w 113991"/>
                <a:gd name="connsiteY3" fmla="*/ 33974 h 34494"/>
                <a:gd name="connsiteX4" fmla="*/ 109901 w 113991"/>
                <a:gd name="connsiteY4" fmla="*/ 8036 h 34494"/>
                <a:gd name="connsiteX5" fmla="*/ 109957 w 113991"/>
                <a:gd name="connsiteY5" fmla="*/ 8036 h 34494"/>
                <a:gd name="connsiteX6" fmla="*/ 113991 w 113991"/>
                <a:gd name="connsiteY6" fmla="*/ 4053 h 34494"/>
                <a:gd name="connsiteX7" fmla="*/ 110009 w 113991"/>
                <a:gd name="connsiteY7" fmla="*/ 19 h 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991" h="34494">
                  <a:moveTo>
                    <a:pt x="110009" y="19"/>
                  </a:moveTo>
                  <a:cubicBezTo>
                    <a:pt x="73669" y="-522"/>
                    <a:pt x="29083" y="10653"/>
                    <a:pt x="1838" y="27116"/>
                  </a:cubicBezTo>
                  <a:cubicBezTo>
                    <a:pt x="-23" y="28315"/>
                    <a:pt x="-560" y="30796"/>
                    <a:pt x="639" y="32656"/>
                  </a:cubicBezTo>
                  <a:cubicBezTo>
                    <a:pt x="1790" y="34442"/>
                    <a:pt x="4134" y="35020"/>
                    <a:pt x="5982" y="33974"/>
                  </a:cubicBezTo>
                  <a:cubicBezTo>
                    <a:pt x="32069" y="18217"/>
                    <a:pt x="74787" y="7519"/>
                    <a:pt x="109901" y="8036"/>
                  </a:cubicBezTo>
                  <a:lnTo>
                    <a:pt x="109957" y="8036"/>
                  </a:lnTo>
                  <a:cubicBezTo>
                    <a:pt x="112171" y="8050"/>
                    <a:pt x="113977" y="6267"/>
                    <a:pt x="113991" y="4053"/>
                  </a:cubicBezTo>
                  <a:cubicBezTo>
                    <a:pt x="114006" y="1840"/>
                    <a:pt x="112223" y="33"/>
                    <a:pt x="110009" y="19"/>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5" name="Freeform: Shape 64">
              <a:extLst>
                <a:ext uri="{FF2B5EF4-FFF2-40B4-BE49-F238E27FC236}">
                  <a16:creationId xmlns:a16="http://schemas.microsoft.com/office/drawing/2014/main" id="{6CA9FDD8-62A5-4A8A-BB4C-67ED68FBFDE0}"/>
                </a:ext>
              </a:extLst>
            </p:cNvPr>
            <p:cNvSpPr/>
            <p:nvPr/>
          </p:nvSpPr>
          <p:spPr>
            <a:xfrm>
              <a:off x="4869275" y="4041376"/>
              <a:ext cx="111054" cy="34633"/>
            </a:xfrm>
            <a:custGeom>
              <a:avLst/>
              <a:gdLst>
                <a:gd name="connsiteX0" fmla="*/ 107516 w 111054"/>
                <a:gd name="connsiteY0" fmla="*/ 522 h 34633"/>
                <a:gd name="connsiteX1" fmla="*/ 1954 w 111054"/>
                <a:gd name="connsiteY1" fmla="*/ 27182 h 34633"/>
                <a:gd name="connsiteX2" fmla="*/ 567 w 111054"/>
                <a:gd name="connsiteY2" fmla="*/ 32679 h 34633"/>
                <a:gd name="connsiteX3" fmla="*/ 6011 w 111054"/>
                <a:gd name="connsiteY3" fmla="*/ 34097 h 34633"/>
                <a:gd name="connsiteX4" fmla="*/ 106298 w 111054"/>
                <a:gd name="connsiteY4" fmla="*/ 8443 h 34633"/>
                <a:gd name="connsiteX5" fmla="*/ 110983 w 111054"/>
                <a:gd name="connsiteY5" fmla="*/ 5252 h 34633"/>
                <a:gd name="connsiteX6" fmla="*/ 107792 w 111054"/>
                <a:gd name="connsiteY6" fmla="*/ 567 h 34633"/>
                <a:gd name="connsiteX7" fmla="*/ 107500 w 111054"/>
                <a:gd name="connsiteY7" fmla="*/ 522 h 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54" h="34633">
                  <a:moveTo>
                    <a:pt x="107516" y="522"/>
                  </a:moveTo>
                  <a:cubicBezTo>
                    <a:pt x="86508" y="-2684"/>
                    <a:pt x="32595" y="9201"/>
                    <a:pt x="1954" y="27182"/>
                  </a:cubicBezTo>
                  <a:cubicBezTo>
                    <a:pt x="54" y="28317"/>
                    <a:pt x="-567" y="30778"/>
                    <a:pt x="567" y="32679"/>
                  </a:cubicBezTo>
                  <a:cubicBezTo>
                    <a:pt x="1690" y="34559"/>
                    <a:pt x="4114" y="35191"/>
                    <a:pt x="6011" y="34097"/>
                  </a:cubicBezTo>
                  <a:cubicBezTo>
                    <a:pt x="36611" y="16135"/>
                    <a:pt x="88585" y="5709"/>
                    <a:pt x="106298" y="8443"/>
                  </a:cubicBezTo>
                  <a:cubicBezTo>
                    <a:pt x="108473" y="8856"/>
                    <a:pt x="110570" y="7427"/>
                    <a:pt x="110983" y="5252"/>
                  </a:cubicBezTo>
                  <a:cubicBezTo>
                    <a:pt x="111396" y="3077"/>
                    <a:pt x="109967" y="979"/>
                    <a:pt x="107792" y="567"/>
                  </a:cubicBezTo>
                  <a:cubicBezTo>
                    <a:pt x="107695" y="548"/>
                    <a:pt x="107598" y="534"/>
                    <a:pt x="107500" y="522"/>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6" name="Freeform: Shape 65">
              <a:extLst>
                <a:ext uri="{FF2B5EF4-FFF2-40B4-BE49-F238E27FC236}">
                  <a16:creationId xmlns:a16="http://schemas.microsoft.com/office/drawing/2014/main" id="{94D2665B-AB5B-449E-85AE-A05D15EC990E}"/>
                </a:ext>
              </a:extLst>
            </p:cNvPr>
            <p:cNvSpPr/>
            <p:nvPr/>
          </p:nvSpPr>
          <p:spPr>
            <a:xfrm>
              <a:off x="4867728" y="4077291"/>
              <a:ext cx="111054" cy="34633"/>
            </a:xfrm>
            <a:custGeom>
              <a:avLst/>
              <a:gdLst>
                <a:gd name="connsiteX0" fmla="*/ 107512 w 111054"/>
                <a:gd name="connsiteY0" fmla="*/ 522 h 34633"/>
                <a:gd name="connsiteX1" fmla="*/ 1954 w 111054"/>
                <a:gd name="connsiteY1" fmla="*/ 27182 h 34633"/>
                <a:gd name="connsiteX2" fmla="*/ 567 w 111054"/>
                <a:gd name="connsiteY2" fmla="*/ 32679 h 34633"/>
                <a:gd name="connsiteX3" fmla="*/ 6011 w 111054"/>
                <a:gd name="connsiteY3" fmla="*/ 34097 h 34633"/>
                <a:gd name="connsiteX4" fmla="*/ 106298 w 111054"/>
                <a:gd name="connsiteY4" fmla="*/ 8443 h 34633"/>
                <a:gd name="connsiteX5" fmla="*/ 110983 w 111054"/>
                <a:gd name="connsiteY5" fmla="*/ 5252 h 34633"/>
                <a:gd name="connsiteX6" fmla="*/ 107792 w 111054"/>
                <a:gd name="connsiteY6" fmla="*/ 567 h 34633"/>
                <a:gd name="connsiteX7" fmla="*/ 107500 w 111054"/>
                <a:gd name="connsiteY7" fmla="*/ 522 h 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54" h="34633">
                  <a:moveTo>
                    <a:pt x="107512" y="522"/>
                  </a:moveTo>
                  <a:cubicBezTo>
                    <a:pt x="86488" y="-2684"/>
                    <a:pt x="32591" y="9201"/>
                    <a:pt x="1954" y="27182"/>
                  </a:cubicBezTo>
                  <a:cubicBezTo>
                    <a:pt x="54" y="28317"/>
                    <a:pt x="-567" y="30778"/>
                    <a:pt x="567" y="32679"/>
                  </a:cubicBezTo>
                  <a:cubicBezTo>
                    <a:pt x="1690" y="34559"/>
                    <a:pt x="4114" y="35191"/>
                    <a:pt x="6011" y="34097"/>
                  </a:cubicBezTo>
                  <a:cubicBezTo>
                    <a:pt x="36611" y="16131"/>
                    <a:pt x="88585" y="5721"/>
                    <a:pt x="106298" y="8443"/>
                  </a:cubicBezTo>
                  <a:cubicBezTo>
                    <a:pt x="108473" y="8856"/>
                    <a:pt x="110570" y="7427"/>
                    <a:pt x="110983" y="5252"/>
                  </a:cubicBezTo>
                  <a:cubicBezTo>
                    <a:pt x="111396" y="3077"/>
                    <a:pt x="109967" y="979"/>
                    <a:pt x="107792" y="567"/>
                  </a:cubicBezTo>
                  <a:cubicBezTo>
                    <a:pt x="107695" y="548"/>
                    <a:pt x="107598" y="534"/>
                    <a:pt x="107500" y="522"/>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7" name="Freeform: Shape 66">
              <a:extLst>
                <a:ext uri="{FF2B5EF4-FFF2-40B4-BE49-F238E27FC236}">
                  <a16:creationId xmlns:a16="http://schemas.microsoft.com/office/drawing/2014/main" id="{5E0B233B-0004-453E-A159-908FB8AFFD05}"/>
                </a:ext>
              </a:extLst>
            </p:cNvPr>
            <p:cNvSpPr/>
            <p:nvPr/>
          </p:nvSpPr>
          <p:spPr>
            <a:xfrm>
              <a:off x="4695446" y="4002527"/>
              <a:ext cx="118131" cy="37617"/>
            </a:xfrm>
            <a:custGeom>
              <a:avLst/>
              <a:gdLst>
                <a:gd name="connsiteX0" fmla="*/ 116231 w 118131"/>
                <a:gd name="connsiteY0" fmla="*/ 30200 h 37617"/>
                <a:gd name="connsiteX1" fmla="*/ 4324 w 118131"/>
                <a:gd name="connsiteY1" fmla="*/ 13 h 37617"/>
                <a:gd name="connsiteX2" fmla="*/ 13 w 118131"/>
                <a:gd name="connsiteY2" fmla="*/ 3694 h 37617"/>
                <a:gd name="connsiteX3" fmla="*/ 3694 w 118131"/>
                <a:gd name="connsiteY3" fmla="*/ 8005 h 37617"/>
                <a:gd name="connsiteX4" fmla="*/ 111902 w 118131"/>
                <a:gd name="connsiteY4" fmla="*/ 36946 h 37617"/>
                <a:gd name="connsiteX5" fmla="*/ 117459 w 118131"/>
                <a:gd name="connsiteY5" fmla="*/ 35830 h 37617"/>
                <a:gd name="connsiteX6" fmla="*/ 116343 w 118131"/>
                <a:gd name="connsiteY6" fmla="*/ 30272 h 37617"/>
                <a:gd name="connsiteX7" fmla="*/ 116231 w 118131"/>
                <a:gd name="connsiteY7" fmla="*/ 30200 h 37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131" h="37617">
                  <a:moveTo>
                    <a:pt x="116231" y="30200"/>
                  </a:moveTo>
                  <a:cubicBezTo>
                    <a:pt x="91314" y="14214"/>
                    <a:pt x="41073" y="2915"/>
                    <a:pt x="4324" y="13"/>
                  </a:cubicBezTo>
                  <a:cubicBezTo>
                    <a:pt x="2116" y="-161"/>
                    <a:pt x="186" y="1487"/>
                    <a:pt x="13" y="3694"/>
                  </a:cubicBezTo>
                  <a:cubicBezTo>
                    <a:pt x="-161" y="5901"/>
                    <a:pt x="1487" y="7832"/>
                    <a:pt x="3694" y="8005"/>
                  </a:cubicBezTo>
                  <a:cubicBezTo>
                    <a:pt x="44712" y="11244"/>
                    <a:pt x="91230" y="23686"/>
                    <a:pt x="111902" y="36946"/>
                  </a:cubicBezTo>
                  <a:cubicBezTo>
                    <a:pt x="113745" y="38173"/>
                    <a:pt x="116233" y="37673"/>
                    <a:pt x="117459" y="35830"/>
                  </a:cubicBezTo>
                  <a:cubicBezTo>
                    <a:pt x="118686" y="33987"/>
                    <a:pt x="118186" y="31499"/>
                    <a:pt x="116343" y="30272"/>
                  </a:cubicBezTo>
                  <a:cubicBezTo>
                    <a:pt x="116306" y="30247"/>
                    <a:pt x="116269" y="30223"/>
                    <a:pt x="116231" y="30200"/>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68" name="Freeform: Shape 67">
              <a:extLst>
                <a:ext uri="{FF2B5EF4-FFF2-40B4-BE49-F238E27FC236}">
                  <a16:creationId xmlns:a16="http://schemas.microsoft.com/office/drawing/2014/main" id="{211FFA3E-4475-4985-AF24-75B43826ECE7}"/>
                </a:ext>
              </a:extLst>
            </p:cNvPr>
            <p:cNvSpPr/>
            <p:nvPr/>
          </p:nvSpPr>
          <p:spPr>
            <a:xfrm>
              <a:off x="4695490" y="3969690"/>
              <a:ext cx="118031" cy="36632"/>
            </a:xfrm>
            <a:custGeom>
              <a:avLst/>
              <a:gdLst>
                <a:gd name="connsiteX0" fmla="*/ 3971 w 118031"/>
                <a:gd name="connsiteY0" fmla="*/ 8029 h 36632"/>
                <a:gd name="connsiteX1" fmla="*/ 4051 w 118031"/>
                <a:gd name="connsiteY1" fmla="*/ 8029 h 36632"/>
                <a:gd name="connsiteX2" fmla="*/ 112006 w 118031"/>
                <a:gd name="connsiteY2" fmla="*/ 36088 h 36632"/>
                <a:gd name="connsiteX3" fmla="*/ 117487 w 118031"/>
                <a:gd name="connsiteY3" fmla="*/ 34639 h 36632"/>
                <a:gd name="connsiteX4" fmla="*/ 116038 w 118031"/>
                <a:gd name="connsiteY4" fmla="*/ 29157 h 36632"/>
                <a:gd name="connsiteX5" fmla="*/ 4047 w 118031"/>
                <a:gd name="connsiteY5" fmla="*/ 0 h 36632"/>
                <a:gd name="connsiteX6" fmla="*/ 0 w 118031"/>
                <a:gd name="connsiteY6" fmla="*/ 3971 h 36632"/>
                <a:gd name="connsiteX7" fmla="*/ 3971 w 118031"/>
                <a:gd name="connsiteY7" fmla="*/ 8017 h 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31" h="36632">
                  <a:moveTo>
                    <a:pt x="3971" y="8029"/>
                  </a:moveTo>
                  <a:lnTo>
                    <a:pt x="4051" y="8029"/>
                  </a:lnTo>
                  <a:cubicBezTo>
                    <a:pt x="41827" y="8122"/>
                    <a:pt x="78965" y="17775"/>
                    <a:pt x="112006" y="36088"/>
                  </a:cubicBezTo>
                  <a:cubicBezTo>
                    <a:pt x="113919" y="37202"/>
                    <a:pt x="116374" y="36553"/>
                    <a:pt x="117487" y="34639"/>
                  </a:cubicBezTo>
                  <a:cubicBezTo>
                    <a:pt x="118601" y="32725"/>
                    <a:pt x="117952" y="30271"/>
                    <a:pt x="116038" y="29157"/>
                  </a:cubicBezTo>
                  <a:cubicBezTo>
                    <a:pt x="81766" y="10144"/>
                    <a:pt x="43239" y="113"/>
                    <a:pt x="4047" y="0"/>
                  </a:cubicBezTo>
                  <a:cubicBezTo>
                    <a:pt x="1833" y="-21"/>
                    <a:pt x="21" y="1757"/>
                    <a:pt x="0" y="3971"/>
                  </a:cubicBezTo>
                  <a:cubicBezTo>
                    <a:pt x="-21" y="6184"/>
                    <a:pt x="1757" y="7996"/>
                    <a:pt x="3971" y="8017"/>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9" name="Freeform: Shape 68">
              <a:extLst>
                <a:ext uri="{FF2B5EF4-FFF2-40B4-BE49-F238E27FC236}">
                  <a16:creationId xmlns:a16="http://schemas.microsoft.com/office/drawing/2014/main" id="{2AE5DE36-ED25-4B7E-8949-104B97AAD85A}"/>
                </a:ext>
              </a:extLst>
            </p:cNvPr>
            <p:cNvSpPr/>
            <p:nvPr/>
          </p:nvSpPr>
          <p:spPr>
            <a:xfrm>
              <a:off x="4697351" y="3940937"/>
              <a:ext cx="78571" cy="19611"/>
            </a:xfrm>
            <a:custGeom>
              <a:avLst/>
              <a:gdLst>
                <a:gd name="connsiteX0" fmla="*/ 4298 w 78571"/>
                <a:gd name="connsiteY0" fmla="*/ 8238 h 19611"/>
                <a:gd name="connsiteX1" fmla="*/ 73019 w 78571"/>
                <a:gd name="connsiteY1" fmla="*/ 19301 h 19611"/>
                <a:gd name="connsiteX2" fmla="*/ 78261 w 78571"/>
                <a:gd name="connsiteY2" fmla="*/ 17146 h 19611"/>
                <a:gd name="connsiteX3" fmla="*/ 76106 w 78571"/>
                <a:gd name="connsiteY3" fmla="*/ 11903 h 19611"/>
                <a:gd name="connsiteX4" fmla="*/ 75824 w 78571"/>
                <a:gd name="connsiteY4" fmla="*/ 11798 h 19611"/>
                <a:gd name="connsiteX5" fmla="*/ 3749 w 78571"/>
                <a:gd name="connsiteY5" fmla="*/ 237 h 19611"/>
                <a:gd name="connsiteX6" fmla="*/ 9 w 78571"/>
                <a:gd name="connsiteY6" fmla="*/ 4514 h 19611"/>
                <a:gd name="connsiteX7" fmla="*/ 4286 w 78571"/>
                <a:gd name="connsiteY7" fmla="*/ 8254 h 19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71" h="19611">
                  <a:moveTo>
                    <a:pt x="4298" y="8238"/>
                  </a:moveTo>
                  <a:cubicBezTo>
                    <a:pt x="27262" y="6699"/>
                    <a:pt x="58308" y="13782"/>
                    <a:pt x="73019" y="19301"/>
                  </a:cubicBezTo>
                  <a:cubicBezTo>
                    <a:pt x="75062" y="20154"/>
                    <a:pt x="77409" y="19189"/>
                    <a:pt x="78261" y="17146"/>
                  </a:cubicBezTo>
                  <a:cubicBezTo>
                    <a:pt x="79114" y="15103"/>
                    <a:pt x="78149" y="12755"/>
                    <a:pt x="76106" y="11903"/>
                  </a:cubicBezTo>
                  <a:cubicBezTo>
                    <a:pt x="76013" y="11864"/>
                    <a:pt x="75919" y="11829"/>
                    <a:pt x="75824" y="11798"/>
                  </a:cubicBezTo>
                  <a:cubicBezTo>
                    <a:pt x="61498" y="6418"/>
                    <a:pt x="29263" y="-1470"/>
                    <a:pt x="3749" y="237"/>
                  </a:cubicBezTo>
                  <a:cubicBezTo>
                    <a:pt x="1535" y="386"/>
                    <a:pt x="-139" y="2300"/>
                    <a:pt x="9" y="4514"/>
                  </a:cubicBezTo>
                  <a:cubicBezTo>
                    <a:pt x="157" y="6728"/>
                    <a:pt x="2072" y="8402"/>
                    <a:pt x="4286" y="8254"/>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0" name="Freeform: Shape 69">
              <a:extLst>
                <a:ext uri="{FF2B5EF4-FFF2-40B4-BE49-F238E27FC236}">
                  <a16:creationId xmlns:a16="http://schemas.microsoft.com/office/drawing/2014/main" id="{C5ADAF9C-719D-4672-9114-B901FE615510}"/>
                </a:ext>
              </a:extLst>
            </p:cNvPr>
            <p:cNvSpPr/>
            <p:nvPr/>
          </p:nvSpPr>
          <p:spPr>
            <a:xfrm>
              <a:off x="4735269" y="4044647"/>
              <a:ext cx="75142" cy="31382"/>
            </a:xfrm>
            <a:custGeom>
              <a:avLst/>
              <a:gdLst>
                <a:gd name="connsiteX0" fmla="*/ 69092 w 75142"/>
                <a:gd name="connsiteY0" fmla="*/ 30826 h 31382"/>
                <a:gd name="connsiteX1" fmla="*/ 74586 w 75142"/>
                <a:gd name="connsiteY1" fmla="*/ 29409 h 31382"/>
                <a:gd name="connsiteX2" fmla="*/ 73169 w 75142"/>
                <a:gd name="connsiteY2" fmla="*/ 23915 h 31382"/>
                <a:gd name="connsiteX3" fmla="*/ 4917 w 75142"/>
                <a:gd name="connsiteY3" fmla="*/ 105 h 31382"/>
                <a:gd name="connsiteX4" fmla="*/ 105 w 75142"/>
                <a:gd name="connsiteY4" fmla="*/ 3101 h 31382"/>
                <a:gd name="connsiteX5" fmla="*/ 3101 w 75142"/>
                <a:gd name="connsiteY5" fmla="*/ 7914 h 31382"/>
                <a:gd name="connsiteX6" fmla="*/ 3390 w 75142"/>
                <a:gd name="connsiteY6" fmla="*/ 7970 h 31382"/>
                <a:gd name="connsiteX7" fmla="*/ 69092 w 75142"/>
                <a:gd name="connsiteY7" fmla="*/ 30826 h 3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142" h="31382">
                  <a:moveTo>
                    <a:pt x="69092" y="30826"/>
                  </a:moveTo>
                  <a:cubicBezTo>
                    <a:pt x="71001" y="31951"/>
                    <a:pt x="73460" y="31317"/>
                    <a:pt x="74586" y="29409"/>
                  </a:cubicBezTo>
                  <a:cubicBezTo>
                    <a:pt x="75712" y="27500"/>
                    <a:pt x="75077" y="25041"/>
                    <a:pt x="73169" y="23915"/>
                  </a:cubicBezTo>
                  <a:cubicBezTo>
                    <a:pt x="51816" y="12430"/>
                    <a:pt x="28781" y="4395"/>
                    <a:pt x="4917" y="105"/>
                  </a:cubicBezTo>
                  <a:cubicBezTo>
                    <a:pt x="2761" y="-396"/>
                    <a:pt x="607" y="945"/>
                    <a:pt x="105" y="3101"/>
                  </a:cubicBezTo>
                  <a:cubicBezTo>
                    <a:pt x="-396" y="5257"/>
                    <a:pt x="945" y="7412"/>
                    <a:pt x="3101" y="7914"/>
                  </a:cubicBezTo>
                  <a:cubicBezTo>
                    <a:pt x="3197" y="7936"/>
                    <a:pt x="3293" y="7954"/>
                    <a:pt x="3390" y="7970"/>
                  </a:cubicBezTo>
                  <a:cubicBezTo>
                    <a:pt x="26342" y="12140"/>
                    <a:pt x="48507" y="19850"/>
                    <a:pt x="69092" y="30826"/>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1" name="Freeform: Shape 70">
              <a:extLst>
                <a:ext uri="{FF2B5EF4-FFF2-40B4-BE49-F238E27FC236}">
                  <a16:creationId xmlns:a16="http://schemas.microsoft.com/office/drawing/2014/main" id="{E68CE5DF-A851-49D6-879B-8B3BB24AAD02}"/>
                </a:ext>
              </a:extLst>
            </p:cNvPr>
            <p:cNvSpPr/>
            <p:nvPr/>
          </p:nvSpPr>
          <p:spPr>
            <a:xfrm>
              <a:off x="4735416" y="4080290"/>
              <a:ext cx="76548" cy="31650"/>
            </a:xfrm>
            <a:custGeom>
              <a:avLst/>
              <a:gdLst>
                <a:gd name="connsiteX0" fmla="*/ 74565 w 76548"/>
                <a:gd name="connsiteY0" fmla="*/ 24183 h 31650"/>
                <a:gd name="connsiteX1" fmla="*/ 4747 w 76548"/>
                <a:gd name="connsiteY1" fmla="*/ 69 h 31650"/>
                <a:gd name="connsiteX2" fmla="*/ 69 w 76548"/>
                <a:gd name="connsiteY2" fmla="*/ 3275 h 31650"/>
                <a:gd name="connsiteX3" fmla="*/ 3275 w 76548"/>
                <a:gd name="connsiteY3" fmla="*/ 7953 h 31650"/>
                <a:gd name="connsiteX4" fmla="*/ 70509 w 76548"/>
                <a:gd name="connsiteY4" fmla="*/ 31098 h 31650"/>
                <a:gd name="connsiteX5" fmla="*/ 75996 w 76548"/>
                <a:gd name="connsiteY5" fmla="*/ 29671 h 31650"/>
                <a:gd name="connsiteX6" fmla="*/ 74569 w 76548"/>
                <a:gd name="connsiteY6" fmla="*/ 24183 h 3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548" h="31650">
                  <a:moveTo>
                    <a:pt x="74565" y="24183"/>
                  </a:moveTo>
                  <a:cubicBezTo>
                    <a:pt x="54215" y="12234"/>
                    <a:pt x="25153" y="3889"/>
                    <a:pt x="4747" y="69"/>
                  </a:cubicBezTo>
                  <a:cubicBezTo>
                    <a:pt x="2569" y="-337"/>
                    <a:pt x="475" y="1098"/>
                    <a:pt x="69" y="3275"/>
                  </a:cubicBezTo>
                  <a:cubicBezTo>
                    <a:pt x="-337" y="5453"/>
                    <a:pt x="1098" y="7547"/>
                    <a:pt x="3275" y="7953"/>
                  </a:cubicBezTo>
                  <a:cubicBezTo>
                    <a:pt x="23017" y="11649"/>
                    <a:pt x="51048" y="19670"/>
                    <a:pt x="70509" y="31098"/>
                  </a:cubicBezTo>
                  <a:cubicBezTo>
                    <a:pt x="72418" y="32219"/>
                    <a:pt x="74875" y="31580"/>
                    <a:pt x="75996" y="29671"/>
                  </a:cubicBezTo>
                  <a:cubicBezTo>
                    <a:pt x="77118" y="27761"/>
                    <a:pt x="76479" y="25305"/>
                    <a:pt x="74569" y="24183"/>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2" name="Freeform: Shape 71">
              <a:extLst>
                <a:ext uri="{FF2B5EF4-FFF2-40B4-BE49-F238E27FC236}">
                  <a16:creationId xmlns:a16="http://schemas.microsoft.com/office/drawing/2014/main" id="{5B057563-5BBB-4361-B6E2-4D0848AB7AB1}"/>
                </a:ext>
              </a:extLst>
            </p:cNvPr>
            <p:cNvSpPr/>
            <p:nvPr/>
          </p:nvSpPr>
          <p:spPr>
            <a:xfrm>
              <a:off x="4695197" y="4031794"/>
              <a:ext cx="37006" cy="56979"/>
            </a:xfrm>
            <a:custGeom>
              <a:avLst/>
              <a:gdLst>
                <a:gd name="connsiteX0" fmla="*/ 8305 w 37006"/>
                <a:gd name="connsiteY0" fmla="*/ 54538 h 56979"/>
                <a:gd name="connsiteX1" fmla="*/ 26130 w 37006"/>
                <a:gd name="connsiteY1" fmla="*/ 56943 h 56979"/>
                <a:gd name="connsiteX2" fmla="*/ 26130 w 37006"/>
                <a:gd name="connsiteY2" fmla="*/ 56943 h 56979"/>
                <a:gd name="connsiteX3" fmla="*/ 27012 w 37006"/>
                <a:gd name="connsiteY3" fmla="*/ 56979 h 56979"/>
                <a:gd name="connsiteX4" fmla="*/ 33542 w 37006"/>
                <a:gd name="connsiteY4" fmla="*/ 54630 h 56979"/>
                <a:gd name="connsiteX5" fmla="*/ 36624 w 37006"/>
                <a:gd name="connsiteY5" fmla="*/ 48148 h 56979"/>
                <a:gd name="connsiteX6" fmla="*/ 36985 w 37006"/>
                <a:gd name="connsiteY6" fmla="*/ 22290 h 56979"/>
                <a:gd name="connsiteX7" fmla="*/ 37005 w 37006"/>
                <a:gd name="connsiteY7" fmla="*/ 12225 h 56979"/>
                <a:gd name="connsiteX8" fmla="*/ 30303 w 37006"/>
                <a:gd name="connsiteY8" fmla="*/ 3098 h 56979"/>
                <a:gd name="connsiteX9" fmla="*/ 10180 w 37006"/>
                <a:gd name="connsiteY9" fmla="*/ 19 h 56979"/>
                <a:gd name="connsiteX10" fmla="*/ 3863 w 37006"/>
                <a:gd name="connsiteY10" fmla="*/ 2200 h 56979"/>
                <a:gd name="connsiteX11" fmla="*/ 624 w 37006"/>
                <a:gd name="connsiteY11" fmla="*/ 9014 h 56979"/>
                <a:gd name="connsiteX12" fmla="*/ 252 w 37006"/>
                <a:gd name="connsiteY12" fmla="*/ 45491 h 56979"/>
                <a:gd name="connsiteX13" fmla="*/ 8305 w 37006"/>
                <a:gd name="connsiteY13" fmla="*/ 54538 h 5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006" h="56979">
                  <a:moveTo>
                    <a:pt x="8305" y="54538"/>
                  </a:moveTo>
                  <a:cubicBezTo>
                    <a:pt x="14194" y="55688"/>
                    <a:pt x="20146" y="56491"/>
                    <a:pt x="26130" y="56943"/>
                  </a:cubicBezTo>
                  <a:lnTo>
                    <a:pt x="26130" y="56943"/>
                  </a:lnTo>
                  <a:cubicBezTo>
                    <a:pt x="26423" y="56967"/>
                    <a:pt x="26719" y="56979"/>
                    <a:pt x="27012" y="56979"/>
                  </a:cubicBezTo>
                  <a:cubicBezTo>
                    <a:pt x="29402" y="57017"/>
                    <a:pt x="31724" y="56182"/>
                    <a:pt x="33542" y="54630"/>
                  </a:cubicBezTo>
                  <a:cubicBezTo>
                    <a:pt x="35402" y="52974"/>
                    <a:pt x="36514" y="50636"/>
                    <a:pt x="36624" y="48148"/>
                  </a:cubicBezTo>
                  <a:cubicBezTo>
                    <a:pt x="37001" y="41803"/>
                    <a:pt x="36989" y="31433"/>
                    <a:pt x="36985" y="22290"/>
                  </a:cubicBezTo>
                  <a:cubicBezTo>
                    <a:pt x="36985" y="18446"/>
                    <a:pt x="36985" y="14926"/>
                    <a:pt x="37005" y="12225"/>
                  </a:cubicBezTo>
                  <a:cubicBezTo>
                    <a:pt x="37079" y="8021"/>
                    <a:pt x="34336" y="4286"/>
                    <a:pt x="30303" y="3098"/>
                  </a:cubicBezTo>
                  <a:cubicBezTo>
                    <a:pt x="23722" y="1368"/>
                    <a:pt x="16977" y="336"/>
                    <a:pt x="10180" y="19"/>
                  </a:cubicBezTo>
                  <a:cubicBezTo>
                    <a:pt x="7867" y="-135"/>
                    <a:pt x="5589" y="651"/>
                    <a:pt x="3863" y="2200"/>
                  </a:cubicBezTo>
                  <a:cubicBezTo>
                    <a:pt x="1927" y="3955"/>
                    <a:pt x="763" y="6404"/>
                    <a:pt x="624" y="9014"/>
                  </a:cubicBezTo>
                  <a:cubicBezTo>
                    <a:pt x="47" y="18634"/>
                    <a:pt x="-241" y="36652"/>
                    <a:pt x="252" y="45491"/>
                  </a:cubicBezTo>
                  <a:cubicBezTo>
                    <a:pt x="462" y="50030"/>
                    <a:pt x="3820" y="53802"/>
                    <a:pt x="8305" y="54538"/>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3" name="Freeform: Shape 72">
              <a:extLst>
                <a:ext uri="{FF2B5EF4-FFF2-40B4-BE49-F238E27FC236}">
                  <a16:creationId xmlns:a16="http://schemas.microsoft.com/office/drawing/2014/main" id="{983862C6-21CB-49DB-AD95-67B5031FF9C7}"/>
                </a:ext>
              </a:extLst>
            </p:cNvPr>
            <p:cNvSpPr/>
            <p:nvPr/>
          </p:nvSpPr>
          <p:spPr>
            <a:xfrm>
              <a:off x="4835378" y="3888159"/>
              <a:ext cx="8537" cy="8537"/>
            </a:xfrm>
            <a:custGeom>
              <a:avLst/>
              <a:gdLst>
                <a:gd name="connsiteX0" fmla="*/ 4273 w 8537"/>
                <a:gd name="connsiteY0" fmla="*/ 0 h 8537"/>
                <a:gd name="connsiteX1" fmla="*/ 0 w 8537"/>
                <a:gd name="connsiteY1" fmla="*/ 4265 h 8537"/>
                <a:gd name="connsiteX2" fmla="*/ 4265 w 8537"/>
                <a:gd name="connsiteY2" fmla="*/ 8538 h 8537"/>
                <a:gd name="connsiteX3" fmla="*/ 8538 w 8537"/>
                <a:gd name="connsiteY3" fmla="*/ 4273 h 8537"/>
                <a:gd name="connsiteX4" fmla="*/ 8538 w 8537"/>
                <a:gd name="connsiteY4" fmla="*/ 4265 h 8537"/>
                <a:gd name="connsiteX5" fmla="*/ 4273 w 8537"/>
                <a:gd name="connsiteY5" fmla="*/ 0 h 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7" h="8537">
                  <a:moveTo>
                    <a:pt x="4273" y="0"/>
                  </a:moveTo>
                  <a:cubicBezTo>
                    <a:pt x="1915" y="-2"/>
                    <a:pt x="2" y="1907"/>
                    <a:pt x="0" y="4265"/>
                  </a:cubicBezTo>
                  <a:cubicBezTo>
                    <a:pt x="-2" y="6623"/>
                    <a:pt x="1907" y="8536"/>
                    <a:pt x="4265" y="8538"/>
                  </a:cubicBezTo>
                  <a:cubicBezTo>
                    <a:pt x="6623" y="8540"/>
                    <a:pt x="8536" y="6631"/>
                    <a:pt x="8538" y="4273"/>
                  </a:cubicBezTo>
                  <a:cubicBezTo>
                    <a:pt x="8538" y="4270"/>
                    <a:pt x="8538" y="4268"/>
                    <a:pt x="8538" y="4265"/>
                  </a:cubicBezTo>
                  <a:cubicBezTo>
                    <a:pt x="8538" y="1909"/>
                    <a:pt x="6628" y="0"/>
                    <a:pt x="4273" y="0"/>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4" name="Freeform: Shape 73">
              <a:extLst>
                <a:ext uri="{FF2B5EF4-FFF2-40B4-BE49-F238E27FC236}">
                  <a16:creationId xmlns:a16="http://schemas.microsoft.com/office/drawing/2014/main" id="{72A22022-1D8A-4DCD-9CBB-C7207EBD6DDC}"/>
                </a:ext>
              </a:extLst>
            </p:cNvPr>
            <p:cNvSpPr/>
            <p:nvPr/>
          </p:nvSpPr>
          <p:spPr>
            <a:xfrm>
              <a:off x="4793080" y="3833115"/>
              <a:ext cx="93159" cy="46973"/>
            </a:xfrm>
            <a:custGeom>
              <a:avLst/>
              <a:gdLst>
                <a:gd name="connsiteX0" fmla="*/ 23936 w 93159"/>
                <a:gd name="connsiteY0" fmla="*/ 46967 h 46973"/>
                <a:gd name="connsiteX1" fmla="*/ 46752 w 93159"/>
                <a:gd name="connsiteY1" fmla="*/ 32292 h 46973"/>
                <a:gd name="connsiteX2" fmla="*/ 69199 w 93159"/>
                <a:gd name="connsiteY2" fmla="*/ 46971 h 46973"/>
                <a:gd name="connsiteX3" fmla="*/ 69227 w 93159"/>
                <a:gd name="connsiteY3" fmla="*/ 46971 h 46973"/>
                <a:gd name="connsiteX4" fmla="*/ 86431 w 93159"/>
                <a:gd name="connsiteY4" fmla="*/ 39916 h 46973"/>
                <a:gd name="connsiteX5" fmla="*/ 93121 w 93159"/>
                <a:gd name="connsiteY5" fmla="*/ 22881 h 46973"/>
                <a:gd name="connsiteX6" fmla="*/ 72836 w 93159"/>
                <a:gd name="connsiteY6" fmla="*/ 38 h 46973"/>
                <a:gd name="connsiteX7" fmla="*/ 70381 w 93159"/>
                <a:gd name="connsiteY7" fmla="*/ 33 h 46973"/>
                <a:gd name="connsiteX8" fmla="*/ 70353 w 93159"/>
                <a:gd name="connsiteY8" fmla="*/ 33 h 46973"/>
                <a:gd name="connsiteX9" fmla="*/ 46804 w 93159"/>
                <a:gd name="connsiteY9" fmla="*/ 13477 h 46973"/>
                <a:gd name="connsiteX10" fmla="*/ 22809 w 93159"/>
                <a:gd name="connsiteY10" fmla="*/ 33 h 46973"/>
                <a:gd name="connsiteX11" fmla="*/ 22781 w 93159"/>
                <a:gd name="connsiteY11" fmla="*/ 33 h 46973"/>
                <a:gd name="connsiteX12" fmla="*/ 32 w 93159"/>
                <a:gd name="connsiteY12" fmla="*/ 20430 h 46973"/>
                <a:gd name="connsiteX13" fmla="*/ 38 w 93159"/>
                <a:gd name="connsiteY13" fmla="*/ 22881 h 46973"/>
                <a:gd name="connsiteX14" fmla="*/ 38 w 93159"/>
                <a:gd name="connsiteY14" fmla="*/ 22965 h 46973"/>
                <a:gd name="connsiteX15" fmla="*/ 38 w 93159"/>
                <a:gd name="connsiteY15" fmla="*/ 22965 h 46973"/>
                <a:gd name="connsiteX16" fmla="*/ 6720 w 93159"/>
                <a:gd name="connsiteY16" fmla="*/ 39908 h 46973"/>
                <a:gd name="connsiteX17" fmla="*/ 23920 w 93159"/>
                <a:gd name="connsiteY17" fmla="*/ 46959 h 46973"/>
                <a:gd name="connsiteX18" fmla="*/ 51810 w 93159"/>
                <a:gd name="connsiteY18" fmla="*/ 20912 h 46973"/>
                <a:gd name="connsiteX19" fmla="*/ 70345 w 93159"/>
                <a:gd name="connsiteY19" fmla="*/ 8045 h 46973"/>
                <a:gd name="connsiteX20" fmla="*/ 70369 w 93159"/>
                <a:gd name="connsiteY20" fmla="*/ 8045 h 46973"/>
                <a:gd name="connsiteX21" fmla="*/ 85120 w 93159"/>
                <a:gd name="connsiteY21" fmla="*/ 20451 h 46973"/>
                <a:gd name="connsiteX22" fmla="*/ 85104 w 93159"/>
                <a:gd name="connsiteY22" fmla="*/ 22969 h 46973"/>
                <a:gd name="connsiteX23" fmla="*/ 80695 w 93159"/>
                <a:gd name="connsiteY23" fmla="*/ 34337 h 46973"/>
                <a:gd name="connsiteX24" fmla="*/ 69247 w 93159"/>
                <a:gd name="connsiteY24" fmla="*/ 38954 h 46973"/>
                <a:gd name="connsiteX25" fmla="*/ 69247 w 93159"/>
                <a:gd name="connsiteY25" fmla="*/ 38954 h 46973"/>
                <a:gd name="connsiteX26" fmla="*/ 51802 w 93159"/>
                <a:gd name="connsiteY26" fmla="*/ 24243 h 46973"/>
                <a:gd name="connsiteX27" fmla="*/ 51810 w 93159"/>
                <a:gd name="connsiteY27" fmla="*/ 20900 h 46973"/>
                <a:gd name="connsiteX28" fmla="*/ 8042 w 93159"/>
                <a:gd name="connsiteY28" fmla="*/ 22977 h 46973"/>
                <a:gd name="connsiteX29" fmla="*/ 8042 w 93159"/>
                <a:gd name="connsiteY29" fmla="*/ 22901 h 46973"/>
                <a:gd name="connsiteX30" fmla="*/ 20274 w 93159"/>
                <a:gd name="connsiteY30" fmla="*/ 8057 h 46973"/>
                <a:gd name="connsiteX31" fmla="*/ 22765 w 93159"/>
                <a:gd name="connsiteY31" fmla="*/ 8045 h 46973"/>
                <a:gd name="connsiteX32" fmla="*/ 22789 w 93159"/>
                <a:gd name="connsiteY32" fmla="*/ 8045 h 46973"/>
                <a:gd name="connsiteX33" fmla="*/ 41697 w 93159"/>
                <a:gd name="connsiteY33" fmla="*/ 20932 h 46973"/>
                <a:gd name="connsiteX34" fmla="*/ 41733 w 93159"/>
                <a:gd name="connsiteY34" fmla="*/ 24187 h 46973"/>
                <a:gd name="connsiteX35" fmla="*/ 23928 w 93159"/>
                <a:gd name="connsiteY35" fmla="*/ 38962 h 46973"/>
                <a:gd name="connsiteX36" fmla="*/ 23908 w 93159"/>
                <a:gd name="connsiteY36" fmla="*/ 38962 h 46973"/>
                <a:gd name="connsiteX37" fmla="*/ 12464 w 93159"/>
                <a:gd name="connsiteY37" fmla="*/ 34349 h 46973"/>
                <a:gd name="connsiteX38" fmla="*/ 8042 w 93159"/>
                <a:gd name="connsiteY38" fmla="*/ 22965 h 4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93159" h="46973">
                  <a:moveTo>
                    <a:pt x="23936" y="46967"/>
                  </a:moveTo>
                  <a:cubicBezTo>
                    <a:pt x="35476" y="46967"/>
                    <a:pt x="41950" y="41327"/>
                    <a:pt x="46752" y="32292"/>
                  </a:cubicBezTo>
                  <a:cubicBezTo>
                    <a:pt x="51626" y="41347"/>
                    <a:pt x="58072" y="46959"/>
                    <a:pt x="69199" y="46971"/>
                  </a:cubicBezTo>
                  <a:lnTo>
                    <a:pt x="69227" y="46971"/>
                  </a:lnTo>
                  <a:cubicBezTo>
                    <a:pt x="75684" y="47064"/>
                    <a:pt x="81898" y="44516"/>
                    <a:pt x="86431" y="39916"/>
                  </a:cubicBezTo>
                  <a:cubicBezTo>
                    <a:pt x="90801" y="35330"/>
                    <a:pt x="93203" y="29215"/>
                    <a:pt x="93121" y="22881"/>
                  </a:cubicBezTo>
                  <a:cubicBezTo>
                    <a:pt x="93827" y="10971"/>
                    <a:pt x="84746" y="745"/>
                    <a:pt x="72836" y="38"/>
                  </a:cubicBezTo>
                  <a:cubicBezTo>
                    <a:pt x="72019" y="-10"/>
                    <a:pt x="71199" y="-12"/>
                    <a:pt x="70381" y="33"/>
                  </a:cubicBezTo>
                  <a:lnTo>
                    <a:pt x="70353" y="33"/>
                  </a:lnTo>
                  <a:cubicBezTo>
                    <a:pt x="60631" y="-149"/>
                    <a:pt x="51591" y="5012"/>
                    <a:pt x="46804" y="13477"/>
                  </a:cubicBezTo>
                  <a:cubicBezTo>
                    <a:pt x="41973" y="4837"/>
                    <a:pt x="32700" y="-359"/>
                    <a:pt x="22809" y="33"/>
                  </a:cubicBezTo>
                  <a:lnTo>
                    <a:pt x="22781" y="33"/>
                  </a:lnTo>
                  <a:cubicBezTo>
                    <a:pt x="10867" y="-617"/>
                    <a:pt x="682" y="8515"/>
                    <a:pt x="32" y="20430"/>
                  </a:cubicBezTo>
                  <a:cubicBezTo>
                    <a:pt x="-12" y="21246"/>
                    <a:pt x="-11" y="22064"/>
                    <a:pt x="38" y="22881"/>
                  </a:cubicBezTo>
                  <a:lnTo>
                    <a:pt x="38" y="22965"/>
                  </a:lnTo>
                  <a:lnTo>
                    <a:pt x="38" y="22965"/>
                  </a:lnTo>
                  <a:cubicBezTo>
                    <a:pt x="-29" y="29268"/>
                    <a:pt x="2369" y="35348"/>
                    <a:pt x="6720" y="39908"/>
                  </a:cubicBezTo>
                  <a:cubicBezTo>
                    <a:pt x="11252" y="44505"/>
                    <a:pt x="17465" y="47052"/>
                    <a:pt x="23920" y="46959"/>
                  </a:cubicBezTo>
                  <a:close/>
                  <a:moveTo>
                    <a:pt x="51810" y="20912"/>
                  </a:moveTo>
                  <a:cubicBezTo>
                    <a:pt x="56071" y="12162"/>
                    <a:pt x="62032" y="8053"/>
                    <a:pt x="70345" y="8045"/>
                  </a:cubicBezTo>
                  <a:lnTo>
                    <a:pt x="70369" y="8045"/>
                  </a:lnTo>
                  <a:cubicBezTo>
                    <a:pt x="77868" y="7398"/>
                    <a:pt x="84473" y="12952"/>
                    <a:pt x="85120" y="20451"/>
                  </a:cubicBezTo>
                  <a:cubicBezTo>
                    <a:pt x="85193" y="21289"/>
                    <a:pt x="85187" y="22132"/>
                    <a:pt x="85104" y="22969"/>
                  </a:cubicBezTo>
                  <a:cubicBezTo>
                    <a:pt x="85173" y="27188"/>
                    <a:pt x="83590" y="31267"/>
                    <a:pt x="80695" y="34337"/>
                  </a:cubicBezTo>
                  <a:cubicBezTo>
                    <a:pt x="77682" y="37392"/>
                    <a:pt x="73537" y="39064"/>
                    <a:pt x="69247" y="38954"/>
                  </a:cubicBezTo>
                  <a:lnTo>
                    <a:pt x="69247" y="38954"/>
                  </a:lnTo>
                  <a:cubicBezTo>
                    <a:pt x="61230" y="38954"/>
                    <a:pt x="56556" y="35146"/>
                    <a:pt x="51802" y="24243"/>
                  </a:cubicBezTo>
                  <a:cubicBezTo>
                    <a:pt x="51326" y="23179"/>
                    <a:pt x="51329" y="21962"/>
                    <a:pt x="51810" y="20900"/>
                  </a:cubicBezTo>
                  <a:close/>
                  <a:moveTo>
                    <a:pt x="8042" y="22977"/>
                  </a:moveTo>
                  <a:lnTo>
                    <a:pt x="8042" y="22901"/>
                  </a:lnTo>
                  <a:cubicBezTo>
                    <a:pt x="7321" y="15424"/>
                    <a:pt x="12797" y="8778"/>
                    <a:pt x="20274" y="8057"/>
                  </a:cubicBezTo>
                  <a:cubicBezTo>
                    <a:pt x="21102" y="7977"/>
                    <a:pt x="21936" y="7973"/>
                    <a:pt x="22765" y="8045"/>
                  </a:cubicBezTo>
                  <a:lnTo>
                    <a:pt x="22789" y="8045"/>
                  </a:lnTo>
                  <a:cubicBezTo>
                    <a:pt x="31230" y="7750"/>
                    <a:pt x="38886" y="12968"/>
                    <a:pt x="41697" y="20932"/>
                  </a:cubicBezTo>
                  <a:cubicBezTo>
                    <a:pt x="42164" y="21965"/>
                    <a:pt x="42177" y="23145"/>
                    <a:pt x="41733" y="24187"/>
                  </a:cubicBezTo>
                  <a:cubicBezTo>
                    <a:pt x="37019" y="35291"/>
                    <a:pt x="32450" y="38954"/>
                    <a:pt x="23928" y="38962"/>
                  </a:cubicBezTo>
                  <a:lnTo>
                    <a:pt x="23908" y="38962"/>
                  </a:lnTo>
                  <a:cubicBezTo>
                    <a:pt x="19619" y="39073"/>
                    <a:pt x="15477" y="37402"/>
                    <a:pt x="12464" y="34349"/>
                  </a:cubicBezTo>
                  <a:cubicBezTo>
                    <a:pt x="9561" y="31276"/>
                    <a:pt x="7975" y="27191"/>
                    <a:pt x="8042" y="2296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grpSp>
        <p:nvGrpSpPr>
          <p:cNvPr id="75" name="Graphic 187">
            <a:extLst>
              <a:ext uri="{FF2B5EF4-FFF2-40B4-BE49-F238E27FC236}">
                <a16:creationId xmlns:a16="http://schemas.microsoft.com/office/drawing/2014/main" id="{4E02CFB5-B0CD-4EAE-B96F-3CC328AFAC33}"/>
              </a:ext>
            </a:extLst>
          </p:cNvPr>
          <p:cNvGrpSpPr/>
          <p:nvPr/>
        </p:nvGrpSpPr>
        <p:grpSpPr>
          <a:xfrm>
            <a:off x="255565" y="4872242"/>
            <a:ext cx="420109" cy="387432"/>
            <a:chOff x="5631001" y="4140861"/>
            <a:chExt cx="1178242" cy="1086593"/>
          </a:xfrm>
          <a:solidFill>
            <a:schemeClr val="accent5"/>
          </a:solidFill>
        </p:grpSpPr>
        <p:sp>
          <p:nvSpPr>
            <p:cNvPr id="76" name="Freeform: Shape 75">
              <a:extLst>
                <a:ext uri="{FF2B5EF4-FFF2-40B4-BE49-F238E27FC236}">
                  <a16:creationId xmlns:a16="http://schemas.microsoft.com/office/drawing/2014/main" id="{B32177EA-EE2D-407B-A836-837A255C370E}"/>
                </a:ext>
              </a:extLst>
            </p:cNvPr>
            <p:cNvSpPr/>
            <p:nvPr/>
          </p:nvSpPr>
          <p:spPr>
            <a:xfrm>
              <a:off x="5786275" y="4667385"/>
              <a:ext cx="238106" cy="289559"/>
            </a:xfrm>
            <a:custGeom>
              <a:avLst/>
              <a:gdLst>
                <a:gd name="connsiteX0" fmla="*/ 17128 w 238106"/>
                <a:gd name="connsiteY0" fmla="*/ 205740 h 289559"/>
                <a:gd name="connsiteX1" fmla="*/ 119046 w 238106"/>
                <a:gd name="connsiteY1" fmla="*/ 289560 h 289559"/>
                <a:gd name="connsiteX2" fmla="*/ 220963 w 238106"/>
                <a:gd name="connsiteY2" fmla="*/ 205740 h 289559"/>
                <a:gd name="connsiteX3" fmla="*/ 237156 w 238106"/>
                <a:gd name="connsiteY3" fmla="*/ 123825 h 289559"/>
                <a:gd name="connsiteX4" fmla="*/ 128571 w 238106"/>
                <a:gd name="connsiteY4" fmla="*/ 0 h 289559"/>
                <a:gd name="connsiteX5" fmla="*/ 119046 w 238106"/>
                <a:gd name="connsiteY5" fmla="*/ 0 h 289559"/>
                <a:gd name="connsiteX6" fmla="*/ 109521 w 238106"/>
                <a:gd name="connsiteY6" fmla="*/ 0 h 289559"/>
                <a:gd name="connsiteX7" fmla="*/ 936 w 238106"/>
                <a:gd name="connsiteY7" fmla="*/ 123825 h 289559"/>
                <a:gd name="connsiteX8" fmla="*/ 17128 w 238106"/>
                <a:gd name="connsiteY8" fmla="*/ 205740 h 289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06" h="289559">
                  <a:moveTo>
                    <a:pt x="17128" y="205740"/>
                  </a:moveTo>
                  <a:cubicBezTo>
                    <a:pt x="26653" y="254318"/>
                    <a:pt x="69516" y="289560"/>
                    <a:pt x="119046" y="289560"/>
                  </a:cubicBezTo>
                  <a:cubicBezTo>
                    <a:pt x="168576" y="289560"/>
                    <a:pt x="211438" y="254318"/>
                    <a:pt x="220963" y="205740"/>
                  </a:cubicBezTo>
                  <a:lnTo>
                    <a:pt x="237156" y="123825"/>
                  </a:lnTo>
                  <a:cubicBezTo>
                    <a:pt x="245728" y="58103"/>
                    <a:pt x="195246" y="0"/>
                    <a:pt x="128571" y="0"/>
                  </a:cubicBezTo>
                  <a:lnTo>
                    <a:pt x="119046" y="0"/>
                  </a:lnTo>
                  <a:lnTo>
                    <a:pt x="109521" y="0"/>
                  </a:lnTo>
                  <a:cubicBezTo>
                    <a:pt x="43798" y="0"/>
                    <a:pt x="-7637" y="58103"/>
                    <a:pt x="936" y="123825"/>
                  </a:cubicBezTo>
                  <a:lnTo>
                    <a:pt x="17128" y="205740"/>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7" name="Freeform: Shape 76">
              <a:extLst>
                <a:ext uri="{FF2B5EF4-FFF2-40B4-BE49-F238E27FC236}">
                  <a16:creationId xmlns:a16="http://schemas.microsoft.com/office/drawing/2014/main" id="{84018EF0-671E-4F23-A918-74236167F340}"/>
                </a:ext>
              </a:extLst>
            </p:cNvPr>
            <p:cNvSpPr/>
            <p:nvPr/>
          </p:nvSpPr>
          <p:spPr>
            <a:xfrm>
              <a:off x="5631001" y="4988377"/>
              <a:ext cx="547687" cy="239077"/>
            </a:xfrm>
            <a:custGeom>
              <a:avLst/>
              <a:gdLst>
                <a:gd name="connsiteX0" fmla="*/ 490538 w 547687"/>
                <a:gd name="connsiteY0" fmla="*/ 40005 h 239077"/>
                <a:gd name="connsiteX1" fmla="*/ 380048 w 547687"/>
                <a:gd name="connsiteY1" fmla="*/ 0 h 239077"/>
                <a:gd name="connsiteX2" fmla="*/ 274320 w 547687"/>
                <a:gd name="connsiteY2" fmla="*/ 105727 h 239077"/>
                <a:gd name="connsiteX3" fmla="*/ 168593 w 547687"/>
                <a:gd name="connsiteY3" fmla="*/ 0 h 239077"/>
                <a:gd name="connsiteX4" fmla="*/ 58103 w 547687"/>
                <a:gd name="connsiteY4" fmla="*/ 39052 h 239077"/>
                <a:gd name="connsiteX5" fmla="*/ 38100 w 547687"/>
                <a:gd name="connsiteY5" fmla="*/ 61913 h 239077"/>
                <a:gd name="connsiteX6" fmla="*/ 0 w 547687"/>
                <a:gd name="connsiteY6" fmla="*/ 239077 h 239077"/>
                <a:gd name="connsiteX7" fmla="*/ 547688 w 547687"/>
                <a:gd name="connsiteY7" fmla="*/ 239077 h 239077"/>
                <a:gd name="connsiteX8" fmla="*/ 509588 w 547687"/>
                <a:gd name="connsiteY8" fmla="*/ 61913 h 239077"/>
                <a:gd name="connsiteX9" fmla="*/ 490538 w 547687"/>
                <a:gd name="connsiteY9" fmla="*/ 40005 h 2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687" h="239077">
                  <a:moveTo>
                    <a:pt x="490538" y="40005"/>
                  </a:moveTo>
                  <a:lnTo>
                    <a:pt x="380048" y="0"/>
                  </a:lnTo>
                  <a:lnTo>
                    <a:pt x="274320" y="105727"/>
                  </a:lnTo>
                  <a:lnTo>
                    <a:pt x="168593" y="0"/>
                  </a:lnTo>
                  <a:lnTo>
                    <a:pt x="58103" y="39052"/>
                  </a:lnTo>
                  <a:cubicBezTo>
                    <a:pt x="47625" y="42863"/>
                    <a:pt x="40958" y="51435"/>
                    <a:pt x="38100" y="61913"/>
                  </a:cubicBezTo>
                  <a:lnTo>
                    <a:pt x="0" y="239077"/>
                  </a:lnTo>
                  <a:lnTo>
                    <a:pt x="547688" y="239077"/>
                  </a:lnTo>
                  <a:lnTo>
                    <a:pt x="509588" y="61913"/>
                  </a:lnTo>
                  <a:cubicBezTo>
                    <a:pt x="508635" y="51435"/>
                    <a:pt x="501015" y="42863"/>
                    <a:pt x="490538" y="4000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87" name="Freeform: Shape 86">
              <a:extLst>
                <a:ext uri="{FF2B5EF4-FFF2-40B4-BE49-F238E27FC236}">
                  <a16:creationId xmlns:a16="http://schemas.microsoft.com/office/drawing/2014/main" id="{3654EE7B-34EF-4A18-82B8-6C6176794F7F}"/>
                </a:ext>
              </a:extLst>
            </p:cNvPr>
            <p:cNvSpPr/>
            <p:nvPr/>
          </p:nvSpPr>
          <p:spPr>
            <a:xfrm>
              <a:off x="6416830" y="4667385"/>
              <a:ext cx="238106" cy="289559"/>
            </a:xfrm>
            <a:custGeom>
              <a:avLst/>
              <a:gdLst>
                <a:gd name="connsiteX0" fmla="*/ 119046 w 238106"/>
                <a:gd name="connsiteY0" fmla="*/ 0 h 289559"/>
                <a:gd name="connsiteX1" fmla="*/ 109521 w 238106"/>
                <a:gd name="connsiteY1" fmla="*/ 0 h 289559"/>
                <a:gd name="connsiteX2" fmla="*/ 936 w 238106"/>
                <a:gd name="connsiteY2" fmla="*/ 123825 h 289559"/>
                <a:gd name="connsiteX3" fmla="*/ 17128 w 238106"/>
                <a:gd name="connsiteY3" fmla="*/ 205740 h 289559"/>
                <a:gd name="connsiteX4" fmla="*/ 119046 w 238106"/>
                <a:gd name="connsiteY4" fmla="*/ 289560 h 289559"/>
                <a:gd name="connsiteX5" fmla="*/ 220963 w 238106"/>
                <a:gd name="connsiteY5" fmla="*/ 205740 h 289559"/>
                <a:gd name="connsiteX6" fmla="*/ 237156 w 238106"/>
                <a:gd name="connsiteY6" fmla="*/ 123825 h 289559"/>
                <a:gd name="connsiteX7" fmla="*/ 128571 w 238106"/>
                <a:gd name="connsiteY7" fmla="*/ 0 h 289559"/>
                <a:gd name="connsiteX8" fmla="*/ 119046 w 238106"/>
                <a:gd name="connsiteY8" fmla="*/ 0 h 289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06" h="289559">
                  <a:moveTo>
                    <a:pt x="119046" y="0"/>
                  </a:moveTo>
                  <a:lnTo>
                    <a:pt x="109521" y="0"/>
                  </a:lnTo>
                  <a:cubicBezTo>
                    <a:pt x="43798" y="0"/>
                    <a:pt x="-7637" y="58103"/>
                    <a:pt x="936" y="123825"/>
                  </a:cubicBezTo>
                  <a:lnTo>
                    <a:pt x="17128" y="205740"/>
                  </a:lnTo>
                  <a:cubicBezTo>
                    <a:pt x="26653" y="254318"/>
                    <a:pt x="69516" y="289560"/>
                    <a:pt x="119046" y="289560"/>
                  </a:cubicBezTo>
                  <a:cubicBezTo>
                    <a:pt x="168576" y="289560"/>
                    <a:pt x="211438" y="254318"/>
                    <a:pt x="220963" y="205740"/>
                  </a:cubicBezTo>
                  <a:lnTo>
                    <a:pt x="237156" y="123825"/>
                  </a:lnTo>
                  <a:cubicBezTo>
                    <a:pt x="245728" y="58103"/>
                    <a:pt x="195246" y="0"/>
                    <a:pt x="128571" y="0"/>
                  </a:cubicBezTo>
                  <a:lnTo>
                    <a:pt x="119046" y="0"/>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88" name="Freeform: Shape 87">
              <a:extLst>
                <a:ext uri="{FF2B5EF4-FFF2-40B4-BE49-F238E27FC236}">
                  <a16:creationId xmlns:a16="http://schemas.microsoft.com/office/drawing/2014/main" id="{E276B390-3FEB-4DEC-9578-0F4733FC9395}"/>
                </a:ext>
              </a:extLst>
            </p:cNvPr>
            <p:cNvSpPr/>
            <p:nvPr/>
          </p:nvSpPr>
          <p:spPr>
            <a:xfrm>
              <a:off x="6261556" y="4988377"/>
              <a:ext cx="547687" cy="239077"/>
            </a:xfrm>
            <a:custGeom>
              <a:avLst/>
              <a:gdLst>
                <a:gd name="connsiteX0" fmla="*/ 510540 w 547687"/>
                <a:gd name="connsiteY0" fmla="*/ 61913 h 239077"/>
                <a:gd name="connsiteX1" fmla="*/ 490538 w 547687"/>
                <a:gd name="connsiteY1" fmla="*/ 39052 h 239077"/>
                <a:gd name="connsiteX2" fmla="*/ 380047 w 547687"/>
                <a:gd name="connsiteY2" fmla="*/ 0 h 239077"/>
                <a:gd name="connsiteX3" fmla="*/ 168592 w 547687"/>
                <a:gd name="connsiteY3" fmla="*/ 0 h 239077"/>
                <a:gd name="connsiteX4" fmla="*/ 58102 w 547687"/>
                <a:gd name="connsiteY4" fmla="*/ 39052 h 239077"/>
                <a:gd name="connsiteX5" fmla="*/ 38100 w 547687"/>
                <a:gd name="connsiteY5" fmla="*/ 61913 h 239077"/>
                <a:gd name="connsiteX6" fmla="*/ 0 w 547687"/>
                <a:gd name="connsiteY6" fmla="*/ 239077 h 239077"/>
                <a:gd name="connsiteX7" fmla="*/ 547688 w 547687"/>
                <a:gd name="connsiteY7" fmla="*/ 239077 h 239077"/>
                <a:gd name="connsiteX8" fmla="*/ 510540 w 547687"/>
                <a:gd name="connsiteY8" fmla="*/ 61913 h 2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687" h="239077">
                  <a:moveTo>
                    <a:pt x="510540" y="61913"/>
                  </a:moveTo>
                  <a:cubicBezTo>
                    <a:pt x="508635" y="51435"/>
                    <a:pt x="501015" y="42863"/>
                    <a:pt x="490538" y="39052"/>
                  </a:cubicBezTo>
                  <a:lnTo>
                    <a:pt x="380047" y="0"/>
                  </a:lnTo>
                  <a:lnTo>
                    <a:pt x="168592" y="0"/>
                  </a:lnTo>
                  <a:lnTo>
                    <a:pt x="58102" y="39052"/>
                  </a:lnTo>
                  <a:cubicBezTo>
                    <a:pt x="47625" y="42863"/>
                    <a:pt x="40957" y="51435"/>
                    <a:pt x="38100" y="61913"/>
                  </a:cubicBezTo>
                  <a:lnTo>
                    <a:pt x="0" y="239077"/>
                  </a:lnTo>
                  <a:lnTo>
                    <a:pt x="547688" y="239077"/>
                  </a:lnTo>
                  <a:lnTo>
                    <a:pt x="510540" y="61913"/>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89" name="Freeform: Shape 88">
              <a:extLst>
                <a:ext uri="{FF2B5EF4-FFF2-40B4-BE49-F238E27FC236}">
                  <a16:creationId xmlns:a16="http://schemas.microsoft.com/office/drawing/2014/main" id="{39A1A0D5-10BE-41A3-87AF-FE57AF5F3183}"/>
                </a:ext>
              </a:extLst>
            </p:cNvPr>
            <p:cNvSpPr/>
            <p:nvPr/>
          </p:nvSpPr>
          <p:spPr>
            <a:xfrm>
              <a:off x="6291083" y="4274954"/>
              <a:ext cx="160972" cy="120014"/>
            </a:xfrm>
            <a:custGeom>
              <a:avLst/>
              <a:gdLst>
                <a:gd name="connsiteX0" fmla="*/ 60960 w 160972"/>
                <a:gd name="connsiteY0" fmla="*/ 120015 h 120014"/>
                <a:gd name="connsiteX1" fmla="*/ 75248 w 160972"/>
                <a:gd name="connsiteY1" fmla="*/ 114300 h 120014"/>
                <a:gd name="connsiteX2" fmla="*/ 155258 w 160972"/>
                <a:gd name="connsiteY2" fmla="*/ 34290 h 120014"/>
                <a:gd name="connsiteX3" fmla="*/ 155258 w 160972"/>
                <a:gd name="connsiteY3" fmla="*/ 5715 h 120014"/>
                <a:gd name="connsiteX4" fmla="*/ 126682 w 160972"/>
                <a:gd name="connsiteY4" fmla="*/ 5715 h 120014"/>
                <a:gd name="connsiteX5" fmla="*/ 60960 w 160972"/>
                <a:gd name="connsiteY5" fmla="*/ 71438 h 120014"/>
                <a:gd name="connsiteX6" fmla="*/ 34290 w 160972"/>
                <a:gd name="connsiteY6" fmla="*/ 44768 h 120014"/>
                <a:gd name="connsiteX7" fmla="*/ 5715 w 160972"/>
                <a:gd name="connsiteY7" fmla="*/ 44768 h 120014"/>
                <a:gd name="connsiteX8" fmla="*/ 5715 w 160972"/>
                <a:gd name="connsiteY8" fmla="*/ 73343 h 120014"/>
                <a:gd name="connsiteX9" fmla="*/ 45720 w 160972"/>
                <a:gd name="connsiteY9" fmla="*/ 113348 h 120014"/>
                <a:gd name="connsiteX10" fmla="*/ 60960 w 160972"/>
                <a:gd name="connsiteY10" fmla="*/ 120015 h 12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972" h="120014">
                  <a:moveTo>
                    <a:pt x="60960" y="120015"/>
                  </a:moveTo>
                  <a:cubicBezTo>
                    <a:pt x="65723" y="120015"/>
                    <a:pt x="71438" y="118110"/>
                    <a:pt x="75248" y="114300"/>
                  </a:cubicBezTo>
                  <a:lnTo>
                    <a:pt x="155258" y="34290"/>
                  </a:lnTo>
                  <a:cubicBezTo>
                    <a:pt x="162878" y="26670"/>
                    <a:pt x="162878" y="14288"/>
                    <a:pt x="155258" y="5715"/>
                  </a:cubicBezTo>
                  <a:cubicBezTo>
                    <a:pt x="147638" y="-1905"/>
                    <a:pt x="135255" y="-1905"/>
                    <a:pt x="126682" y="5715"/>
                  </a:cubicBezTo>
                  <a:lnTo>
                    <a:pt x="60960" y="71438"/>
                  </a:lnTo>
                  <a:lnTo>
                    <a:pt x="34290" y="44768"/>
                  </a:lnTo>
                  <a:cubicBezTo>
                    <a:pt x="26670" y="37148"/>
                    <a:pt x="14288" y="37148"/>
                    <a:pt x="5715" y="44768"/>
                  </a:cubicBezTo>
                  <a:cubicBezTo>
                    <a:pt x="-1905" y="52388"/>
                    <a:pt x="-1905" y="64770"/>
                    <a:pt x="5715" y="73343"/>
                  </a:cubicBezTo>
                  <a:lnTo>
                    <a:pt x="45720" y="113348"/>
                  </a:lnTo>
                  <a:cubicBezTo>
                    <a:pt x="51435" y="118110"/>
                    <a:pt x="56198" y="120015"/>
                    <a:pt x="60960" y="12001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90" name="Freeform: Shape 89">
              <a:extLst>
                <a:ext uri="{FF2B5EF4-FFF2-40B4-BE49-F238E27FC236}">
                  <a16:creationId xmlns:a16="http://schemas.microsoft.com/office/drawing/2014/main" id="{24F80F6B-F3A1-4F5A-9FE0-4EEBDA93AF90}"/>
                </a:ext>
              </a:extLst>
            </p:cNvPr>
            <p:cNvSpPr/>
            <p:nvPr/>
          </p:nvSpPr>
          <p:spPr>
            <a:xfrm>
              <a:off x="5862458" y="4140861"/>
              <a:ext cx="390308" cy="456040"/>
            </a:xfrm>
            <a:custGeom>
              <a:avLst/>
              <a:gdLst>
                <a:gd name="connsiteX0" fmla="*/ 385763 w 390308"/>
                <a:gd name="connsiteY0" fmla="*/ 153144 h 456040"/>
                <a:gd name="connsiteX1" fmla="*/ 171450 w 390308"/>
                <a:gd name="connsiteY1" fmla="*/ 1696 h 456040"/>
                <a:gd name="connsiteX2" fmla="*/ 2858 w 390308"/>
                <a:gd name="connsiteY2" fmla="*/ 196959 h 456040"/>
                <a:gd name="connsiteX3" fmla="*/ 0 w 390308"/>
                <a:gd name="connsiteY3" fmla="*/ 446514 h 456040"/>
                <a:gd name="connsiteX4" fmla="*/ 15240 w 390308"/>
                <a:gd name="connsiteY4" fmla="*/ 454134 h 456040"/>
                <a:gd name="connsiteX5" fmla="*/ 128588 w 390308"/>
                <a:gd name="connsiteY5" fmla="*/ 375076 h 456040"/>
                <a:gd name="connsiteX6" fmla="*/ 230505 w 390308"/>
                <a:gd name="connsiteY6" fmla="*/ 384601 h 456040"/>
                <a:gd name="connsiteX7" fmla="*/ 385763 w 390308"/>
                <a:gd name="connsiteY7" fmla="*/ 153144 h 456040"/>
                <a:gd name="connsiteX8" fmla="*/ 208598 w 390308"/>
                <a:gd name="connsiteY8" fmla="*/ 281731 h 456040"/>
                <a:gd name="connsiteX9" fmla="*/ 196215 w 390308"/>
                <a:gd name="connsiteY9" fmla="*/ 286494 h 456040"/>
                <a:gd name="connsiteX10" fmla="*/ 179070 w 390308"/>
                <a:gd name="connsiteY10" fmla="*/ 269349 h 456040"/>
                <a:gd name="connsiteX11" fmla="*/ 195263 w 390308"/>
                <a:gd name="connsiteY11" fmla="*/ 252204 h 456040"/>
                <a:gd name="connsiteX12" fmla="*/ 212408 w 390308"/>
                <a:gd name="connsiteY12" fmla="*/ 268396 h 456040"/>
                <a:gd name="connsiteX13" fmla="*/ 208598 w 390308"/>
                <a:gd name="connsiteY13" fmla="*/ 281731 h 456040"/>
                <a:gd name="connsiteX14" fmla="*/ 226695 w 390308"/>
                <a:gd name="connsiteY14" fmla="*/ 187434 h 456040"/>
                <a:gd name="connsiteX15" fmla="*/ 221933 w 390308"/>
                <a:gd name="connsiteY15" fmla="*/ 192196 h 456040"/>
                <a:gd name="connsiteX16" fmla="*/ 211455 w 390308"/>
                <a:gd name="connsiteY16" fmla="*/ 209341 h 456040"/>
                <a:gd name="connsiteX17" fmla="*/ 210503 w 390308"/>
                <a:gd name="connsiteY17" fmla="*/ 227439 h 456040"/>
                <a:gd name="connsiteX18" fmla="*/ 209550 w 390308"/>
                <a:gd name="connsiteY18" fmla="*/ 230296 h 456040"/>
                <a:gd name="connsiteX19" fmla="*/ 206692 w 390308"/>
                <a:gd name="connsiteY19" fmla="*/ 231249 h 456040"/>
                <a:gd name="connsiteX20" fmla="*/ 202883 w 390308"/>
                <a:gd name="connsiteY20" fmla="*/ 231249 h 456040"/>
                <a:gd name="connsiteX21" fmla="*/ 196215 w 390308"/>
                <a:gd name="connsiteY21" fmla="*/ 231249 h 456040"/>
                <a:gd name="connsiteX22" fmla="*/ 183833 w 390308"/>
                <a:gd name="connsiteY22" fmla="*/ 231249 h 456040"/>
                <a:gd name="connsiteX23" fmla="*/ 181928 w 390308"/>
                <a:gd name="connsiteY23" fmla="*/ 229344 h 456040"/>
                <a:gd name="connsiteX24" fmla="*/ 186690 w 390308"/>
                <a:gd name="connsiteY24" fmla="*/ 192196 h 456040"/>
                <a:gd name="connsiteX25" fmla="*/ 202883 w 390308"/>
                <a:gd name="connsiteY25" fmla="*/ 175051 h 456040"/>
                <a:gd name="connsiteX26" fmla="*/ 217170 w 390308"/>
                <a:gd name="connsiteY26" fmla="*/ 162669 h 456040"/>
                <a:gd name="connsiteX27" fmla="*/ 220980 w 390308"/>
                <a:gd name="connsiteY27" fmla="*/ 140761 h 456040"/>
                <a:gd name="connsiteX28" fmla="*/ 198120 w 390308"/>
                <a:gd name="connsiteY28" fmla="*/ 128379 h 456040"/>
                <a:gd name="connsiteX29" fmla="*/ 172403 w 390308"/>
                <a:gd name="connsiteY29" fmla="*/ 148381 h 456040"/>
                <a:gd name="connsiteX30" fmla="*/ 169545 w 390308"/>
                <a:gd name="connsiteY30" fmla="*/ 153144 h 456040"/>
                <a:gd name="connsiteX31" fmla="*/ 165735 w 390308"/>
                <a:gd name="connsiteY31" fmla="*/ 153144 h 456040"/>
                <a:gd name="connsiteX32" fmla="*/ 144780 w 390308"/>
                <a:gd name="connsiteY32" fmla="*/ 150286 h 456040"/>
                <a:gd name="connsiteX33" fmla="*/ 141923 w 390308"/>
                <a:gd name="connsiteY33" fmla="*/ 147429 h 456040"/>
                <a:gd name="connsiteX34" fmla="*/ 200025 w 390308"/>
                <a:gd name="connsiteY34" fmla="*/ 102661 h 456040"/>
                <a:gd name="connsiteX35" fmla="*/ 240030 w 390308"/>
                <a:gd name="connsiteY35" fmla="*/ 116949 h 456040"/>
                <a:gd name="connsiteX36" fmla="*/ 255270 w 390308"/>
                <a:gd name="connsiteY36" fmla="*/ 148381 h 456040"/>
                <a:gd name="connsiteX37" fmla="*/ 226695 w 390308"/>
                <a:gd name="connsiteY37" fmla="*/ 187434 h 45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0308" h="456040">
                  <a:moveTo>
                    <a:pt x="385763" y="153144"/>
                  </a:moveTo>
                  <a:cubicBezTo>
                    <a:pt x="364807" y="55036"/>
                    <a:pt x="270510" y="-11639"/>
                    <a:pt x="171450" y="1696"/>
                  </a:cubicBezTo>
                  <a:cubicBezTo>
                    <a:pt x="71438" y="15031"/>
                    <a:pt x="953" y="100756"/>
                    <a:pt x="2858" y="196959"/>
                  </a:cubicBezTo>
                  <a:cubicBezTo>
                    <a:pt x="2858" y="205531"/>
                    <a:pt x="953" y="387459"/>
                    <a:pt x="0" y="446514"/>
                  </a:cubicBezTo>
                  <a:cubicBezTo>
                    <a:pt x="0" y="454134"/>
                    <a:pt x="8572" y="458896"/>
                    <a:pt x="15240" y="454134"/>
                  </a:cubicBezTo>
                  <a:lnTo>
                    <a:pt x="128588" y="375076"/>
                  </a:lnTo>
                  <a:cubicBezTo>
                    <a:pt x="160973" y="387459"/>
                    <a:pt x="196215" y="390316"/>
                    <a:pt x="230505" y="384601"/>
                  </a:cubicBezTo>
                  <a:cubicBezTo>
                    <a:pt x="337185" y="366504"/>
                    <a:pt x="409575" y="260776"/>
                    <a:pt x="385763" y="153144"/>
                  </a:cubicBezTo>
                  <a:close/>
                  <a:moveTo>
                    <a:pt x="208598" y="281731"/>
                  </a:moveTo>
                  <a:cubicBezTo>
                    <a:pt x="205740" y="284589"/>
                    <a:pt x="200978" y="286494"/>
                    <a:pt x="196215" y="286494"/>
                  </a:cubicBezTo>
                  <a:cubicBezTo>
                    <a:pt x="186690" y="286494"/>
                    <a:pt x="179070" y="278874"/>
                    <a:pt x="179070" y="269349"/>
                  </a:cubicBezTo>
                  <a:cubicBezTo>
                    <a:pt x="179070" y="259824"/>
                    <a:pt x="186690" y="252204"/>
                    <a:pt x="195263" y="252204"/>
                  </a:cubicBezTo>
                  <a:cubicBezTo>
                    <a:pt x="204788" y="252204"/>
                    <a:pt x="212408" y="258871"/>
                    <a:pt x="212408" y="268396"/>
                  </a:cubicBezTo>
                  <a:cubicBezTo>
                    <a:pt x="213360" y="275064"/>
                    <a:pt x="211455" y="278874"/>
                    <a:pt x="208598" y="281731"/>
                  </a:cubicBezTo>
                  <a:close/>
                  <a:moveTo>
                    <a:pt x="226695" y="187434"/>
                  </a:moveTo>
                  <a:lnTo>
                    <a:pt x="221933" y="192196"/>
                  </a:lnTo>
                  <a:cubicBezTo>
                    <a:pt x="217170" y="196959"/>
                    <a:pt x="211455" y="200769"/>
                    <a:pt x="211455" y="209341"/>
                  </a:cubicBezTo>
                  <a:cubicBezTo>
                    <a:pt x="211455" y="215056"/>
                    <a:pt x="210503" y="220771"/>
                    <a:pt x="210503" y="227439"/>
                  </a:cubicBezTo>
                  <a:cubicBezTo>
                    <a:pt x="210503" y="228391"/>
                    <a:pt x="210503" y="229344"/>
                    <a:pt x="209550" y="230296"/>
                  </a:cubicBezTo>
                  <a:cubicBezTo>
                    <a:pt x="209550" y="230296"/>
                    <a:pt x="208598" y="231249"/>
                    <a:pt x="206692" y="231249"/>
                  </a:cubicBezTo>
                  <a:cubicBezTo>
                    <a:pt x="205740" y="231249"/>
                    <a:pt x="203835" y="231249"/>
                    <a:pt x="202883" y="231249"/>
                  </a:cubicBezTo>
                  <a:lnTo>
                    <a:pt x="196215" y="231249"/>
                  </a:lnTo>
                  <a:cubicBezTo>
                    <a:pt x="192405" y="231249"/>
                    <a:pt x="187642" y="231249"/>
                    <a:pt x="183833" y="231249"/>
                  </a:cubicBezTo>
                  <a:cubicBezTo>
                    <a:pt x="181928" y="231249"/>
                    <a:pt x="181928" y="230296"/>
                    <a:pt x="181928" y="229344"/>
                  </a:cubicBezTo>
                  <a:cubicBezTo>
                    <a:pt x="181928" y="216961"/>
                    <a:pt x="181928" y="202674"/>
                    <a:pt x="186690" y="192196"/>
                  </a:cubicBezTo>
                  <a:cubicBezTo>
                    <a:pt x="190500" y="184576"/>
                    <a:pt x="196215" y="179814"/>
                    <a:pt x="202883" y="175051"/>
                  </a:cubicBezTo>
                  <a:cubicBezTo>
                    <a:pt x="207645" y="171241"/>
                    <a:pt x="212408" y="167431"/>
                    <a:pt x="217170" y="162669"/>
                  </a:cubicBezTo>
                  <a:cubicBezTo>
                    <a:pt x="223838" y="153144"/>
                    <a:pt x="222885" y="145524"/>
                    <a:pt x="220980" y="140761"/>
                  </a:cubicBezTo>
                  <a:cubicBezTo>
                    <a:pt x="217170" y="133141"/>
                    <a:pt x="208598" y="128379"/>
                    <a:pt x="198120" y="128379"/>
                  </a:cubicBezTo>
                  <a:cubicBezTo>
                    <a:pt x="185738" y="128379"/>
                    <a:pt x="176213" y="135999"/>
                    <a:pt x="172403" y="148381"/>
                  </a:cubicBezTo>
                  <a:cubicBezTo>
                    <a:pt x="171450" y="152191"/>
                    <a:pt x="170498" y="153144"/>
                    <a:pt x="169545" y="153144"/>
                  </a:cubicBezTo>
                  <a:cubicBezTo>
                    <a:pt x="168592" y="153144"/>
                    <a:pt x="167640" y="153144"/>
                    <a:pt x="165735" y="153144"/>
                  </a:cubicBezTo>
                  <a:cubicBezTo>
                    <a:pt x="159067" y="152191"/>
                    <a:pt x="151448" y="151239"/>
                    <a:pt x="144780" y="150286"/>
                  </a:cubicBezTo>
                  <a:cubicBezTo>
                    <a:pt x="141923" y="150286"/>
                    <a:pt x="141923" y="149334"/>
                    <a:pt x="141923" y="147429"/>
                  </a:cubicBezTo>
                  <a:cubicBezTo>
                    <a:pt x="144780" y="117901"/>
                    <a:pt x="173355" y="102661"/>
                    <a:pt x="200025" y="102661"/>
                  </a:cubicBezTo>
                  <a:cubicBezTo>
                    <a:pt x="215265" y="102661"/>
                    <a:pt x="230505" y="107424"/>
                    <a:pt x="240030" y="116949"/>
                  </a:cubicBezTo>
                  <a:cubicBezTo>
                    <a:pt x="249555" y="125521"/>
                    <a:pt x="255270" y="136951"/>
                    <a:pt x="255270" y="148381"/>
                  </a:cubicBezTo>
                  <a:cubicBezTo>
                    <a:pt x="253365" y="163621"/>
                    <a:pt x="239078" y="176004"/>
                    <a:pt x="226695" y="187434"/>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91" name="Freeform: Shape 90">
              <a:extLst>
                <a:ext uri="{FF2B5EF4-FFF2-40B4-BE49-F238E27FC236}">
                  <a16:creationId xmlns:a16="http://schemas.microsoft.com/office/drawing/2014/main" id="{3FCC3471-E2C9-4734-A0E9-26EA78F2193C}"/>
                </a:ext>
              </a:extLst>
            </p:cNvPr>
            <p:cNvSpPr/>
            <p:nvPr/>
          </p:nvSpPr>
          <p:spPr>
            <a:xfrm>
              <a:off x="6240601" y="4140952"/>
              <a:ext cx="327660" cy="455949"/>
            </a:xfrm>
            <a:custGeom>
              <a:avLst/>
              <a:gdLst>
                <a:gd name="connsiteX0" fmla="*/ 199073 w 327660"/>
                <a:gd name="connsiteY0" fmla="*/ 374985 h 455949"/>
                <a:gd name="connsiteX1" fmla="*/ 312420 w 327660"/>
                <a:gd name="connsiteY1" fmla="*/ 454043 h 455949"/>
                <a:gd name="connsiteX2" fmla="*/ 327660 w 327660"/>
                <a:gd name="connsiteY2" fmla="*/ 446423 h 455949"/>
                <a:gd name="connsiteX3" fmla="*/ 324803 w 327660"/>
                <a:gd name="connsiteY3" fmla="*/ 196868 h 455949"/>
                <a:gd name="connsiteX4" fmla="*/ 155258 w 327660"/>
                <a:gd name="connsiteY4" fmla="*/ 1605 h 455949"/>
                <a:gd name="connsiteX5" fmla="*/ 0 w 327660"/>
                <a:gd name="connsiteY5" fmla="*/ 51135 h 455949"/>
                <a:gd name="connsiteX6" fmla="*/ 20955 w 327660"/>
                <a:gd name="connsiteY6" fmla="*/ 82568 h 455949"/>
                <a:gd name="connsiteX7" fmla="*/ 150495 w 327660"/>
                <a:gd name="connsiteY7" fmla="*/ 38753 h 455949"/>
                <a:gd name="connsiteX8" fmla="*/ 286703 w 327660"/>
                <a:gd name="connsiteY8" fmla="*/ 196868 h 455949"/>
                <a:gd name="connsiteX9" fmla="*/ 288608 w 327660"/>
                <a:gd name="connsiteY9" fmla="*/ 394035 h 455949"/>
                <a:gd name="connsiteX10" fmla="*/ 203835 w 327660"/>
                <a:gd name="connsiteY10" fmla="*/ 334028 h 455949"/>
                <a:gd name="connsiteX11" fmla="*/ 185738 w 327660"/>
                <a:gd name="connsiteY11" fmla="*/ 340695 h 455949"/>
                <a:gd name="connsiteX12" fmla="*/ 103823 w 327660"/>
                <a:gd name="connsiteY12" fmla="*/ 348315 h 455949"/>
                <a:gd name="connsiteX13" fmla="*/ 20955 w 327660"/>
                <a:gd name="connsiteY13" fmla="*/ 305453 h 455949"/>
                <a:gd name="connsiteX14" fmla="*/ 10477 w 327660"/>
                <a:gd name="connsiteY14" fmla="*/ 322598 h 455949"/>
                <a:gd name="connsiteX15" fmla="*/ 0 w 327660"/>
                <a:gd name="connsiteY15" fmla="*/ 336885 h 455949"/>
                <a:gd name="connsiteX16" fmla="*/ 97155 w 327660"/>
                <a:gd name="connsiteY16" fmla="*/ 384510 h 455949"/>
                <a:gd name="connsiteX17" fmla="*/ 199073 w 327660"/>
                <a:gd name="connsiteY17" fmla="*/ 374985 h 45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7660" h="455949">
                  <a:moveTo>
                    <a:pt x="199073" y="374985"/>
                  </a:moveTo>
                  <a:lnTo>
                    <a:pt x="312420" y="454043"/>
                  </a:lnTo>
                  <a:cubicBezTo>
                    <a:pt x="319088" y="458805"/>
                    <a:pt x="327660" y="454043"/>
                    <a:pt x="327660" y="446423"/>
                  </a:cubicBezTo>
                  <a:cubicBezTo>
                    <a:pt x="326708" y="386415"/>
                    <a:pt x="324803" y="205440"/>
                    <a:pt x="324803" y="196868"/>
                  </a:cubicBezTo>
                  <a:cubicBezTo>
                    <a:pt x="326708" y="100665"/>
                    <a:pt x="255270" y="14940"/>
                    <a:pt x="155258" y="1605"/>
                  </a:cubicBezTo>
                  <a:cubicBezTo>
                    <a:pt x="97155" y="-6015"/>
                    <a:pt x="40005" y="13988"/>
                    <a:pt x="0" y="51135"/>
                  </a:cubicBezTo>
                  <a:cubicBezTo>
                    <a:pt x="7620" y="60660"/>
                    <a:pt x="15240" y="71138"/>
                    <a:pt x="20955" y="82568"/>
                  </a:cubicBezTo>
                  <a:cubicBezTo>
                    <a:pt x="54293" y="50183"/>
                    <a:pt x="101918" y="32085"/>
                    <a:pt x="150495" y="38753"/>
                  </a:cubicBezTo>
                  <a:cubicBezTo>
                    <a:pt x="229552" y="49230"/>
                    <a:pt x="288608" y="116858"/>
                    <a:pt x="286703" y="196868"/>
                  </a:cubicBezTo>
                  <a:cubicBezTo>
                    <a:pt x="286703" y="203535"/>
                    <a:pt x="287655" y="313073"/>
                    <a:pt x="288608" y="394035"/>
                  </a:cubicBezTo>
                  <a:lnTo>
                    <a:pt x="203835" y="334028"/>
                  </a:lnTo>
                  <a:lnTo>
                    <a:pt x="185738" y="340695"/>
                  </a:lnTo>
                  <a:cubicBezTo>
                    <a:pt x="160020" y="350220"/>
                    <a:pt x="131445" y="353078"/>
                    <a:pt x="103823" y="348315"/>
                  </a:cubicBezTo>
                  <a:cubicBezTo>
                    <a:pt x="72390" y="342600"/>
                    <a:pt x="43815" y="328313"/>
                    <a:pt x="20955" y="305453"/>
                  </a:cubicBezTo>
                  <a:cubicBezTo>
                    <a:pt x="17145" y="311168"/>
                    <a:pt x="14288" y="316883"/>
                    <a:pt x="10477" y="322598"/>
                  </a:cubicBezTo>
                  <a:cubicBezTo>
                    <a:pt x="7620" y="327360"/>
                    <a:pt x="3810" y="332123"/>
                    <a:pt x="0" y="336885"/>
                  </a:cubicBezTo>
                  <a:cubicBezTo>
                    <a:pt x="26670" y="360698"/>
                    <a:pt x="60008" y="377843"/>
                    <a:pt x="97155" y="384510"/>
                  </a:cubicBezTo>
                  <a:cubicBezTo>
                    <a:pt x="131445" y="391178"/>
                    <a:pt x="166688" y="387368"/>
                    <a:pt x="199073" y="37498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sp>
        <p:nvSpPr>
          <p:cNvPr id="92" name="Rectangle 91">
            <a:extLst>
              <a:ext uri="{FF2B5EF4-FFF2-40B4-BE49-F238E27FC236}">
                <a16:creationId xmlns:a16="http://schemas.microsoft.com/office/drawing/2014/main" id="{92F2B595-3AD4-46E6-A89A-C2206A11F61B}"/>
              </a:ext>
            </a:extLst>
          </p:cNvPr>
          <p:cNvSpPr/>
          <p:nvPr/>
        </p:nvSpPr>
        <p:spPr>
          <a:xfrm>
            <a:off x="3652239" y="1469972"/>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1" dirty="0"/>
              <a:t>Usability</a:t>
            </a:r>
          </a:p>
        </p:txBody>
      </p:sp>
      <p:sp>
        <p:nvSpPr>
          <p:cNvPr id="93" name="Rectangle 92">
            <a:extLst>
              <a:ext uri="{FF2B5EF4-FFF2-40B4-BE49-F238E27FC236}">
                <a16:creationId xmlns:a16="http://schemas.microsoft.com/office/drawing/2014/main" id="{40C20DCA-9EE3-4542-A328-A9071D5315C4}"/>
              </a:ext>
            </a:extLst>
          </p:cNvPr>
          <p:cNvSpPr/>
          <p:nvPr/>
        </p:nvSpPr>
        <p:spPr>
          <a:xfrm>
            <a:off x="3652238" y="1728556"/>
            <a:ext cx="2697913" cy="44251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60325" algn="ctr"/>
            <a:endParaRPr lang="en-GB" sz="1400" b="1" dirty="0">
              <a:solidFill>
                <a:schemeClr val="tx1"/>
              </a:solidFill>
            </a:endParaRPr>
          </a:p>
        </p:txBody>
      </p:sp>
      <p:sp>
        <p:nvSpPr>
          <p:cNvPr id="94" name="Arrow: Pentagon 93">
            <a:extLst>
              <a:ext uri="{FF2B5EF4-FFF2-40B4-BE49-F238E27FC236}">
                <a16:creationId xmlns:a16="http://schemas.microsoft.com/office/drawing/2014/main" id="{B336E8CC-AB41-4EB8-A49E-788D0DB613CE}"/>
              </a:ext>
            </a:extLst>
          </p:cNvPr>
          <p:cNvSpPr/>
          <p:nvPr/>
        </p:nvSpPr>
        <p:spPr>
          <a:xfrm rot="5400000">
            <a:off x="2870851" y="3010086"/>
            <a:ext cx="587056" cy="501879"/>
          </a:xfrm>
          <a:prstGeom prst="homePlate">
            <a:avLst/>
          </a:prstGeom>
          <a:solidFill>
            <a:srgbClr val="003570"/>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a:solidFill>
                <a:schemeClr val="bg1"/>
              </a:solidFill>
            </a:endParaRPr>
          </a:p>
        </p:txBody>
      </p:sp>
      <p:sp>
        <p:nvSpPr>
          <p:cNvPr id="95" name="Arrow: Pentagon 94">
            <a:extLst>
              <a:ext uri="{FF2B5EF4-FFF2-40B4-BE49-F238E27FC236}">
                <a16:creationId xmlns:a16="http://schemas.microsoft.com/office/drawing/2014/main" id="{2AF21F6E-1B02-41F4-9B41-92C182C42D31}"/>
              </a:ext>
            </a:extLst>
          </p:cNvPr>
          <p:cNvSpPr/>
          <p:nvPr/>
        </p:nvSpPr>
        <p:spPr>
          <a:xfrm rot="5400000">
            <a:off x="2870851" y="4018893"/>
            <a:ext cx="587056" cy="501879"/>
          </a:xfrm>
          <a:prstGeom prst="homePlate">
            <a:avLst/>
          </a:prstGeom>
          <a:solidFill>
            <a:srgbClr val="0071EE"/>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a:solidFill>
                <a:schemeClr val="bg1"/>
              </a:solidFill>
            </a:endParaRPr>
          </a:p>
        </p:txBody>
      </p:sp>
      <p:sp>
        <p:nvSpPr>
          <p:cNvPr id="96" name="Arrow: Pentagon 95">
            <a:extLst>
              <a:ext uri="{FF2B5EF4-FFF2-40B4-BE49-F238E27FC236}">
                <a16:creationId xmlns:a16="http://schemas.microsoft.com/office/drawing/2014/main" id="{9C6BC6FB-E3B4-4C00-AAE4-045A9EA528B4}"/>
              </a:ext>
            </a:extLst>
          </p:cNvPr>
          <p:cNvSpPr/>
          <p:nvPr/>
        </p:nvSpPr>
        <p:spPr>
          <a:xfrm rot="5400000">
            <a:off x="2870851" y="5034265"/>
            <a:ext cx="587056" cy="501879"/>
          </a:xfrm>
          <a:prstGeom prst="homePlate">
            <a:avLst/>
          </a:prstGeom>
          <a:solidFill>
            <a:srgbClr val="81BDFF"/>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a:solidFill>
                <a:schemeClr val="bg1"/>
              </a:solidFill>
            </a:endParaRPr>
          </a:p>
        </p:txBody>
      </p:sp>
      <p:sp>
        <p:nvSpPr>
          <p:cNvPr id="97" name="Arrow: Pentagon 96">
            <a:extLst>
              <a:ext uri="{FF2B5EF4-FFF2-40B4-BE49-F238E27FC236}">
                <a16:creationId xmlns:a16="http://schemas.microsoft.com/office/drawing/2014/main" id="{5FE7DAA1-A0F7-4837-8497-ADB049534A5E}"/>
              </a:ext>
            </a:extLst>
          </p:cNvPr>
          <p:cNvSpPr/>
          <p:nvPr/>
        </p:nvSpPr>
        <p:spPr>
          <a:xfrm rot="5400000">
            <a:off x="2870851" y="2083029"/>
            <a:ext cx="587056" cy="501879"/>
          </a:xfrm>
          <a:prstGeom prst="homePlate">
            <a:avLst/>
          </a:prstGeom>
          <a:solidFill>
            <a:srgbClr val="00162F"/>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dirty="0">
              <a:solidFill>
                <a:schemeClr val="bg1"/>
              </a:solidFill>
            </a:endParaRPr>
          </a:p>
        </p:txBody>
      </p:sp>
      <p:cxnSp>
        <p:nvCxnSpPr>
          <p:cNvPr id="98" name="Straight Connector 97">
            <a:extLst>
              <a:ext uri="{FF2B5EF4-FFF2-40B4-BE49-F238E27FC236}">
                <a16:creationId xmlns:a16="http://schemas.microsoft.com/office/drawing/2014/main" id="{5CE09F98-47F8-4937-889F-171B501B047E}"/>
              </a:ext>
            </a:extLst>
          </p:cNvPr>
          <p:cNvCxnSpPr>
            <a:cxnSpLocks/>
            <a:stCxn id="97" idx="3"/>
            <a:endCxn id="94" idx="1"/>
          </p:cNvCxnSpPr>
          <p:nvPr/>
        </p:nvCxnSpPr>
        <p:spPr>
          <a:xfrm>
            <a:off x="3164379" y="2627497"/>
            <a:ext cx="0" cy="340001"/>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cxnSp>
        <p:nvCxnSpPr>
          <p:cNvPr id="99" name="Straight Connector 98">
            <a:extLst>
              <a:ext uri="{FF2B5EF4-FFF2-40B4-BE49-F238E27FC236}">
                <a16:creationId xmlns:a16="http://schemas.microsoft.com/office/drawing/2014/main" id="{2D9420B0-9320-45A7-897B-67527869E166}"/>
              </a:ext>
            </a:extLst>
          </p:cNvPr>
          <p:cNvCxnSpPr>
            <a:cxnSpLocks/>
            <a:stCxn id="94" idx="3"/>
            <a:endCxn id="95" idx="1"/>
          </p:cNvCxnSpPr>
          <p:nvPr/>
        </p:nvCxnSpPr>
        <p:spPr>
          <a:xfrm>
            <a:off x="3164379" y="3554554"/>
            <a:ext cx="0" cy="421751"/>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cxnSp>
        <p:nvCxnSpPr>
          <p:cNvPr id="100" name="Straight Connector 99">
            <a:extLst>
              <a:ext uri="{FF2B5EF4-FFF2-40B4-BE49-F238E27FC236}">
                <a16:creationId xmlns:a16="http://schemas.microsoft.com/office/drawing/2014/main" id="{2007E541-979E-425A-99C4-D04ABD2B378C}"/>
              </a:ext>
            </a:extLst>
          </p:cNvPr>
          <p:cNvCxnSpPr>
            <a:cxnSpLocks/>
            <a:endCxn id="96" idx="1"/>
          </p:cNvCxnSpPr>
          <p:nvPr/>
        </p:nvCxnSpPr>
        <p:spPr>
          <a:xfrm>
            <a:off x="3164379" y="4519699"/>
            <a:ext cx="0" cy="471978"/>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sp>
        <p:nvSpPr>
          <p:cNvPr id="101" name="Rectangle 100">
            <a:extLst>
              <a:ext uri="{FF2B5EF4-FFF2-40B4-BE49-F238E27FC236}">
                <a16:creationId xmlns:a16="http://schemas.microsoft.com/office/drawing/2014/main" id="{74261D9E-03EB-4EE5-9E78-99A2ACB91FA4}"/>
              </a:ext>
            </a:extLst>
          </p:cNvPr>
          <p:cNvSpPr/>
          <p:nvPr/>
        </p:nvSpPr>
        <p:spPr>
          <a:xfrm>
            <a:off x="6450542" y="1728556"/>
            <a:ext cx="2681168" cy="119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60325" algn="ctr"/>
            <a:endParaRPr lang="en-GB" sz="1400" b="1" dirty="0">
              <a:solidFill>
                <a:schemeClr val="tx1"/>
              </a:solidFill>
            </a:endParaRPr>
          </a:p>
        </p:txBody>
      </p:sp>
      <p:grpSp>
        <p:nvGrpSpPr>
          <p:cNvPr id="102" name="Group 101">
            <a:extLst>
              <a:ext uri="{FF2B5EF4-FFF2-40B4-BE49-F238E27FC236}">
                <a16:creationId xmlns:a16="http://schemas.microsoft.com/office/drawing/2014/main" id="{F734779D-00FF-43E6-8306-77B320140546}"/>
              </a:ext>
            </a:extLst>
          </p:cNvPr>
          <p:cNvGrpSpPr/>
          <p:nvPr/>
        </p:nvGrpSpPr>
        <p:grpSpPr>
          <a:xfrm>
            <a:off x="3677646" y="2967497"/>
            <a:ext cx="2606017" cy="103461"/>
            <a:chOff x="441983" y="2977933"/>
            <a:chExt cx="2606017" cy="103461"/>
          </a:xfrm>
        </p:grpSpPr>
        <p:cxnSp>
          <p:nvCxnSpPr>
            <p:cNvPr id="103" name="Straight Connector 102">
              <a:extLst>
                <a:ext uri="{FF2B5EF4-FFF2-40B4-BE49-F238E27FC236}">
                  <a16:creationId xmlns:a16="http://schemas.microsoft.com/office/drawing/2014/main" id="{859EF6CF-0D54-4F2E-BC87-9EEF0CFA127F}"/>
                </a:ext>
              </a:extLst>
            </p:cNvPr>
            <p:cNvCxnSpPr>
              <a:cxnSpLocks/>
            </p:cNvCxnSpPr>
            <p:nvPr/>
          </p:nvCxnSpPr>
          <p:spPr>
            <a:xfrm>
              <a:off x="441983" y="3029663"/>
              <a:ext cx="2606017" cy="0"/>
            </a:xfrm>
            <a:prstGeom prst="line">
              <a:avLst/>
            </a:prstGeom>
            <a:ln>
              <a:solidFill>
                <a:srgbClr val="00162F"/>
              </a:solidFill>
              <a:prstDash val="dash"/>
            </a:ln>
          </p:spPr>
          <p:style>
            <a:lnRef idx="1">
              <a:schemeClr val="accent1"/>
            </a:lnRef>
            <a:fillRef idx="0">
              <a:schemeClr val="accent1"/>
            </a:fillRef>
            <a:effectRef idx="0">
              <a:schemeClr val="accent1"/>
            </a:effectRef>
            <a:fontRef idx="minor">
              <a:schemeClr val="tx1"/>
            </a:fontRef>
          </p:style>
        </p:cxnSp>
        <p:sp>
          <p:nvSpPr>
            <p:cNvPr id="104" name="Diamond 103">
              <a:extLst>
                <a:ext uri="{FF2B5EF4-FFF2-40B4-BE49-F238E27FC236}">
                  <a16:creationId xmlns:a16="http://schemas.microsoft.com/office/drawing/2014/main" id="{3E5FEA12-376C-4B71-A4C3-186298DD4814}"/>
                </a:ext>
              </a:extLst>
            </p:cNvPr>
            <p:cNvSpPr/>
            <p:nvPr/>
          </p:nvSpPr>
          <p:spPr>
            <a:xfrm>
              <a:off x="1690031" y="2977933"/>
              <a:ext cx="103461" cy="103461"/>
            </a:xfrm>
            <a:prstGeom prst="diamond">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grpSp>
      <p:sp>
        <p:nvSpPr>
          <p:cNvPr id="105" name="TextBox 104">
            <a:extLst>
              <a:ext uri="{FF2B5EF4-FFF2-40B4-BE49-F238E27FC236}">
                <a16:creationId xmlns:a16="http://schemas.microsoft.com/office/drawing/2014/main" id="{36806F5E-EB55-4167-BE4D-E747C5672F5C}"/>
              </a:ext>
            </a:extLst>
          </p:cNvPr>
          <p:cNvSpPr txBox="1"/>
          <p:nvPr/>
        </p:nvSpPr>
        <p:spPr>
          <a:xfrm>
            <a:off x="3621845" y="1706545"/>
            <a:ext cx="2785710" cy="1292662"/>
          </a:xfrm>
          <a:prstGeom prst="rect">
            <a:avLst/>
          </a:prstGeom>
          <a:noFill/>
        </p:spPr>
        <p:txBody>
          <a:bodyPr wrap="square" rtlCol="0">
            <a:spAutoFit/>
          </a:bodyPr>
          <a:lstStyle/>
          <a:p>
            <a:pPr algn="ctr"/>
            <a:r>
              <a:rPr lang="en-US" sz="1600" b="1" u="sng" dirty="0"/>
              <a:t>Design</a:t>
            </a:r>
          </a:p>
          <a:p>
            <a:pPr marL="171450" indent="-171450" algn="ctr">
              <a:buFont typeface="Arial" panose="020B0604020202020204" pitchFamily="34" charset="0"/>
              <a:buChar char="•"/>
            </a:pPr>
            <a:r>
              <a:rPr lang="en-US" sz="1200" dirty="0"/>
              <a:t>Professional</a:t>
            </a:r>
          </a:p>
          <a:p>
            <a:pPr marL="171450" indent="-171450" algn="ctr">
              <a:buFont typeface="Arial" panose="020B0604020202020204" pitchFamily="34" charset="0"/>
              <a:buChar char="•"/>
            </a:pPr>
            <a:r>
              <a:rPr lang="en-US" sz="1200" dirty="0"/>
              <a:t>Visible Icon</a:t>
            </a:r>
          </a:p>
          <a:p>
            <a:pPr marL="171450" indent="-171450" algn="ctr">
              <a:buFont typeface="Arial" panose="020B0604020202020204" pitchFamily="34" charset="0"/>
              <a:buChar char="•"/>
            </a:pPr>
            <a:r>
              <a:rPr lang="en-US" sz="1200" dirty="0"/>
              <a:t>Cross channel consistency on terms of color/theme and visual flow</a:t>
            </a:r>
          </a:p>
          <a:p>
            <a:endParaRPr lang="en-US" sz="1400" dirty="0"/>
          </a:p>
        </p:txBody>
      </p:sp>
      <p:sp>
        <p:nvSpPr>
          <p:cNvPr id="106" name="Isosceles Triangle 12">
            <a:extLst>
              <a:ext uri="{FF2B5EF4-FFF2-40B4-BE49-F238E27FC236}">
                <a16:creationId xmlns:a16="http://schemas.microsoft.com/office/drawing/2014/main" id="{449F6470-862D-48EA-8341-4CF9DBFA98B4}"/>
              </a:ext>
            </a:extLst>
          </p:cNvPr>
          <p:cNvSpPr/>
          <p:nvPr/>
        </p:nvSpPr>
        <p:spPr>
          <a:xfrm rot="5400000">
            <a:off x="8783880" y="3600245"/>
            <a:ext cx="1109679" cy="146367"/>
          </a:xfrm>
          <a:prstGeom prst="triangl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Rectangle 106">
            <a:extLst>
              <a:ext uri="{FF2B5EF4-FFF2-40B4-BE49-F238E27FC236}">
                <a16:creationId xmlns:a16="http://schemas.microsoft.com/office/drawing/2014/main" id="{C203D61D-C63B-45B3-81C5-92C36F96ED21}"/>
              </a:ext>
            </a:extLst>
          </p:cNvPr>
          <p:cNvSpPr/>
          <p:nvPr/>
        </p:nvSpPr>
        <p:spPr>
          <a:xfrm>
            <a:off x="6450542" y="4868688"/>
            <a:ext cx="2681168" cy="11408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60325" algn="ctr"/>
            <a:endParaRPr lang="en-GB" sz="1400" b="1" dirty="0">
              <a:solidFill>
                <a:schemeClr val="tx1"/>
              </a:solidFill>
            </a:endParaRPr>
          </a:p>
        </p:txBody>
      </p:sp>
      <p:sp>
        <p:nvSpPr>
          <p:cNvPr id="108" name="Rectangle 107">
            <a:extLst>
              <a:ext uri="{FF2B5EF4-FFF2-40B4-BE49-F238E27FC236}">
                <a16:creationId xmlns:a16="http://schemas.microsoft.com/office/drawing/2014/main" id="{96E19F44-5789-4239-B371-B81D5B4D824B}"/>
              </a:ext>
            </a:extLst>
          </p:cNvPr>
          <p:cNvSpPr/>
          <p:nvPr/>
        </p:nvSpPr>
        <p:spPr>
          <a:xfrm>
            <a:off x="6464958" y="3306039"/>
            <a:ext cx="2681168" cy="11802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60325" algn="ctr"/>
            <a:endParaRPr lang="en-GB" sz="1400" b="1" dirty="0">
              <a:solidFill>
                <a:schemeClr val="tx1"/>
              </a:solidFill>
            </a:endParaRPr>
          </a:p>
        </p:txBody>
      </p:sp>
      <p:sp>
        <p:nvSpPr>
          <p:cNvPr id="109" name="Rectangle 108">
            <a:extLst>
              <a:ext uri="{FF2B5EF4-FFF2-40B4-BE49-F238E27FC236}">
                <a16:creationId xmlns:a16="http://schemas.microsoft.com/office/drawing/2014/main" id="{1899138A-0986-4EDC-9F9D-0CE89B896149}"/>
              </a:ext>
            </a:extLst>
          </p:cNvPr>
          <p:cNvSpPr/>
          <p:nvPr/>
        </p:nvSpPr>
        <p:spPr>
          <a:xfrm>
            <a:off x="6438785" y="1488148"/>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1" dirty="0"/>
              <a:t>Availability</a:t>
            </a:r>
          </a:p>
        </p:txBody>
      </p:sp>
      <p:sp>
        <p:nvSpPr>
          <p:cNvPr id="110" name="Rectangle 109">
            <a:extLst>
              <a:ext uri="{FF2B5EF4-FFF2-40B4-BE49-F238E27FC236}">
                <a16:creationId xmlns:a16="http://schemas.microsoft.com/office/drawing/2014/main" id="{2937B0CE-2AAD-4246-936C-6EFE4EDD64F9}"/>
              </a:ext>
            </a:extLst>
          </p:cNvPr>
          <p:cNvSpPr/>
          <p:nvPr/>
        </p:nvSpPr>
        <p:spPr>
          <a:xfrm>
            <a:off x="6460863" y="3086125"/>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1" dirty="0"/>
              <a:t>Supportive Features</a:t>
            </a:r>
          </a:p>
        </p:txBody>
      </p:sp>
      <p:sp>
        <p:nvSpPr>
          <p:cNvPr id="111" name="TextBox 110">
            <a:extLst>
              <a:ext uri="{FF2B5EF4-FFF2-40B4-BE49-F238E27FC236}">
                <a16:creationId xmlns:a16="http://schemas.microsoft.com/office/drawing/2014/main" id="{E766389E-6642-4ED5-A2E4-36565382BA48}"/>
              </a:ext>
            </a:extLst>
          </p:cNvPr>
          <p:cNvSpPr txBox="1"/>
          <p:nvPr/>
        </p:nvSpPr>
        <p:spPr>
          <a:xfrm>
            <a:off x="10146446" y="1223801"/>
            <a:ext cx="1498321" cy="584775"/>
          </a:xfrm>
          <a:prstGeom prst="rect">
            <a:avLst/>
          </a:prstGeom>
          <a:noFill/>
        </p:spPr>
        <p:txBody>
          <a:bodyPr wrap="square" rtlCol="0">
            <a:spAutoFit/>
          </a:bodyPr>
          <a:lstStyle/>
          <a:p>
            <a:pPr algn="ctr"/>
            <a:r>
              <a:rPr lang="en-GB" sz="1600" b="1" dirty="0">
                <a:latin typeface="Calibri" panose="020F0502020204030204" pitchFamily="34" charset="0"/>
              </a:rPr>
              <a:t>5 clicks to book a service</a:t>
            </a:r>
          </a:p>
        </p:txBody>
      </p:sp>
      <p:sp>
        <p:nvSpPr>
          <p:cNvPr id="112" name="Rectangle 111">
            <a:extLst>
              <a:ext uri="{FF2B5EF4-FFF2-40B4-BE49-F238E27FC236}">
                <a16:creationId xmlns:a16="http://schemas.microsoft.com/office/drawing/2014/main" id="{97079331-1889-4B53-A6DA-DDFF35416E57}"/>
              </a:ext>
            </a:extLst>
          </p:cNvPr>
          <p:cNvSpPr/>
          <p:nvPr/>
        </p:nvSpPr>
        <p:spPr>
          <a:xfrm>
            <a:off x="6456569" y="4649991"/>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1" dirty="0"/>
              <a:t>Desirability</a:t>
            </a:r>
          </a:p>
        </p:txBody>
      </p:sp>
      <p:sp>
        <p:nvSpPr>
          <p:cNvPr id="113" name="TextBox 112">
            <a:extLst>
              <a:ext uri="{FF2B5EF4-FFF2-40B4-BE49-F238E27FC236}">
                <a16:creationId xmlns:a16="http://schemas.microsoft.com/office/drawing/2014/main" id="{AAA3E73B-7DD1-40C5-92F7-2AC349E9EA80}"/>
              </a:ext>
            </a:extLst>
          </p:cNvPr>
          <p:cNvSpPr txBox="1"/>
          <p:nvPr/>
        </p:nvSpPr>
        <p:spPr>
          <a:xfrm>
            <a:off x="3591550" y="4944701"/>
            <a:ext cx="2785710" cy="1077218"/>
          </a:xfrm>
          <a:prstGeom prst="rect">
            <a:avLst/>
          </a:prstGeom>
          <a:noFill/>
        </p:spPr>
        <p:txBody>
          <a:bodyPr wrap="square" rtlCol="0">
            <a:spAutoFit/>
          </a:bodyPr>
          <a:lstStyle/>
          <a:p>
            <a:pPr algn="ctr"/>
            <a:r>
              <a:rPr lang="en-US" sz="1600" b="1" u="sng" dirty="0"/>
              <a:t>Accessibility</a:t>
            </a:r>
          </a:p>
          <a:p>
            <a:pPr marL="171450" indent="-171450" algn="ctr">
              <a:buFont typeface="Arial" panose="020B0604020202020204" pitchFamily="34" charset="0"/>
              <a:buChar char="•"/>
            </a:pPr>
            <a:r>
              <a:rPr lang="en-US" sz="1200" dirty="0"/>
              <a:t>Most useful features available after login</a:t>
            </a:r>
          </a:p>
          <a:p>
            <a:pPr marL="171450" indent="-171450" algn="ctr">
              <a:buFont typeface="Arial" panose="020B0604020202020204" pitchFamily="34" charset="0"/>
              <a:buChar char="•"/>
            </a:pPr>
            <a:r>
              <a:rPr lang="en-US" sz="1200" dirty="0"/>
              <a:t>Final booking to not take more than 5 clicks</a:t>
            </a:r>
          </a:p>
        </p:txBody>
      </p:sp>
      <p:sp>
        <p:nvSpPr>
          <p:cNvPr id="114" name="TextBox 113">
            <a:extLst>
              <a:ext uri="{FF2B5EF4-FFF2-40B4-BE49-F238E27FC236}">
                <a16:creationId xmlns:a16="http://schemas.microsoft.com/office/drawing/2014/main" id="{B0955248-56C2-48CA-99F7-947C6E9F5E75}"/>
              </a:ext>
            </a:extLst>
          </p:cNvPr>
          <p:cNvSpPr txBox="1"/>
          <p:nvPr/>
        </p:nvSpPr>
        <p:spPr>
          <a:xfrm>
            <a:off x="3621845" y="3186589"/>
            <a:ext cx="2785710" cy="1477328"/>
          </a:xfrm>
          <a:prstGeom prst="rect">
            <a:avLst/>
          </a:prstGeom>
          <a:noFill/>
        </p:spPr>
        <p:txBody>
          <a:bodyPr wrap="square" rtlCol="0">
            <a:spAutoFit/>
          </a:bodyPr>
          <a:lstStyle/>
          <a:p>
            <a:pPr algn="ctr"/>
            <a:r>
              <a:rPr lang="en-US" sz="1600" b="1" u="sng" dirty="0"/>
              <a:t>Navigation</a:t>
            </a:r>
          </a:p>
          <a:p>
            <a:pPr marL="171450" indent="-171450" algn="ctr">
              <a:buFont typeface="Arial" panose="020B0604020202020204" pitchFamily="34" charset="0"/>
              <a:buChar char="•"/>
            </a:pPr>
            <a:r>
              <a:rPr lang="en-US" sz="1200" dirty="0"/>
              <a:t>Sufficient clues available</a:t>
            </a:r>
          </a:p>
          <a:p>
            <a:pPr marL="171450" indent="-171450" algn="ctr">
              <a:buFont typeface="Arial" panose="020B0604020202020204" pitchFamily="34" charset="0"/>
              <a:buChar char="•"/>
            </a:pPr>
            <a:r>
              <a:rPr lang="en-US" sz="1200" dirty="0"/>
              <a:t>Intuitive </a:t>
            </a:r>
          </a:p>
          <a:p>
            <a:pPr marL="171450" indent="-171450" algn="ctr">
              <a:buFont typeface="Arial" panose="020B0604020202020204" pitchFamily="34" charset="0"/>
              <a:buChar char="•"/>
            </a:pPr>
            <a:r>
              <a:rPr lang="en-US" sz="1200" dirty="0"/>
              <a:t>Sliding banners for most used service and customer specific display</a:t>
            </a:r>
          </a:p>
          <a:p>
            <a:pPr marL="171450" indent="-171450" algn="ctr">
              <a:buFont typeface="Arial" panose="020B0604020202020204" pitchFamily="34" charset="0"/>
              <a:buChar char="•"/>
            </a:pPr>
            <a:r>
              <a:rPr lang="en-US" sz="1200" dirty="0"/>
              <a:t>Search option to find useful services</a:t>
            </a:r>
          </a:p>
          <a:p>
            <a:endParaRPr lang="en-US" sz="1400" dirty="0"/>
          </a:p>
        </p:txBody>
      </p:sp>
      <p:grpSp>
        <p:nvGrpSpPr>
          <p:cNvPr id="115" name="Group 114">
            <a:extLst>
              <a:ext uri="{FF2B5EF4-FFF2-40B4-BE49-F238E27FC236}">
                <a16:creationId xmlns:a16="http://schemas.microsoft.com/office/drawing/2014/main" id="{8301FBF9-FFB8-488B-BDC1-042BFCEA3368}"/>
              </a:ext>
            </a:extLst>
          </p:cNvPr>
          <p:cNvGrpSpPr/>
          <p:nvPr/>
        </p:nvGrpSpPr>
        <p:grpSpPr>
          <a:xfrm>
            <a:off x="3644737" y="4703957"/>
            <a:ext cx="2606017" cy="103461"/>
            <a:chOff x="441983" y="2977933"/>
            <a:chExt cx="2606017" cy="103461"/>
          </a:xfrm>
        </p:grpSpPr>
        <p:cxnSp>
          <p:nvCxnSpPr>
            <p:cNvPr id="116" name="Straight Connector 115">
              <a:extLst>
                <a:ext uri="{FF2B5EF4-FFF2-40B4-BE49-F238E27FC236}">
                  <a16:creationId xmlns:a16="http://schemas.microsoft.com/office/drawing/2014/main" id="{4A5161E3-B946-4035-BBCF-FC30BD1D4B0D}"/>
                </a:ext>
              </a:extLst>
            </p:cNvPr>
            <p:cNvCxnSpPr>
              <a:cxnSpLocks/>
            </p:cNvCxnSpPr>
            <p:nvPr/>
          </p:nvCxnSpPr>
          <p:spPr>
            <a:xfrm>
              <a:off x="441983" y="3029663"/>
              <a:ext cx="2606017" cy="0"/>
            </a:xfrm>
            <a:prstGeom prst="line">
              <a:avLst/>
            </a:prstGeom>
            <a:ln>
              <a:solidFill>
                <a:srgbClr val="00162F"/>
              </a:solidFill>
              <a:prstDash val="dash"/>
            </a:ln>
          </p:spPr>
          <p:style>
            <a:lnRef idx="1">
              <a:schemeClr val="accent1"/>
            </a:lnRef>
            <a:fillRef idx="0">
              <a:schemeClr val="accent1"/>
            </a:fillRef>
            <a:effectRef idx="0">
              <a:schemeClr val="accent1"/>
            </a:effectRef>
            <a:fontRef idx="minor">
              <a:schemeClr val="tx1"/>
            </a:fontRef>
          </p:style>
        </p:cxnSp>
        <p:sp>
          <p:nvSpPr>
            <p:cNvPr id="117" name="Diamond 116">
              <a:extLst>
                <a:ext uri="{FF2B5EF4-FFF2-40B4-BE49-F238E27FC236}">
                  <a16:creationId xmlns:a16="http://schemas.microsoft.com/office/drawing/2014/main" id="{9C18593F-05C8-4DED-AB33-88258E163782}"/>
                </a:ext>
              </a:extLst>
            </p:cNvPr>
            <p:cNvSpPr/>
            <p:nvPr/>
          </p:nvSpPr>
          <p:spPr>
            <a:xfrm>
              <a:off x="1690031" y="2977933"/>
              <a:ext cx="103461" cy="103461"/>
            </a:xfrm>
            <a:prstGeom prst="diamond">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grpSp>
      <p:sp>
        <p:nvSpPr>
          <p:cNvPr id="118" name="TextBox 117">
            <a:extLst>
              <a:ext uri="{FF2B5EF4-FFF2-40B4-BE49-F238E27FC236}">
                <a16:creationId xmlns:a16="http://schemas.microsoft.com/office/drawing/2014/main" id="{F3F1C645-670B-44D2-A1EA-ACF6E352ADAA}"/>
              </a:ext>
            </a:extLst>
          </p:cNvPr>
          <p:cNvSpPr txBox="1"/>
          <p:nvPr/>
        </p:nvSpPr>
        <p:spPr>
          <a:xfrm>
            <a:off x="6346000" y="1861895"/>
            <a:ext cx="2785710" cy="1231106"/>
          </a:xfrm>
          <a:prstGeom prst="rect">
            <a:avLst/>
          </a:prstGeom>
          <a:noFill/>
        </p:spPr>
        <p:txBody>
          <a:bodyPr wrap="square" rtlCol="0">
            <a:spAutoFit/>
          </a:bodyPr>
          <a:lstStyle/>
          <a:p>
            <a:pPr marL="171450" indent="-171450" algn="ctr">
              <a:buFont typeface="Arial" panose="020B0604020202020204" pitchFamily="34" charset="0"/>
              <a:buChar char="•"/>
            </a:pPr>
            <a:r>
              <a:rPr lang="en-US" sz="1200" dirty="0"/>
              <a:t>Available on Google playstore and IOS</a:t>
            </a:r>
          </a:p>
          <a:p>
            <a:pPr marL="171450" indent="-171450" algn="ctr">
              <a:buFont typeface="Arial" panose="020B0604020202020204" pitchFamily="34" charset="0"/>
              <a:buChar char="•"/>
            </a:pPr>
            <a:r>
              <a:rPr lang="en-US" sz="1200" dirty="0"/>
              <a:t>Redirect people from website and social media (pop-up)</a:t>
            </a:r>
          </a:p>
          <a:p>
            <a:pPr marL="171450" indent="-171450" algn="ctr">
              <a:buFont typeface="Arial" panose="020B0604020202020204" pitchFamily="34" charset="0"/>
              <a:buChar char="•"/>
            </a:pPr>
            <a:r>
              <a:rPr lang="en-US" sz="1200" dirty="0"/>
              <a:t>Initial promotion on booking through application</a:t>
            </a:r>
          </a:p>
          <a:p>
            <a:endParaRPr lang="en-US" sz="1400" dirty="0"/>
          </a:p>
        </p:txBody>
      </p:sp>
      <p:sp>
        <p:nvSpPr>
          <p:cNvPr id="119" name="TextBox 118">
            <a:extLst>
              <a:ext uri="{FF2B5EF4-FFF2-40B4-BE49-F238E27FC236}">
                <a16:creationId xmlns:a16="http://schemas.microsoft.com/office/drawing/2014/main" id="{E81A7010-88F2-46E6-AD55-F688CDE4A462}"/>
              </a:ext>
            </a:extLst>
          </p:cNvPr>
          <p:cNvSpPr txBox="1"/>
          <p:nvPr/>
        </p:nvSpPr>
        <p:spPr>
          <a:xfrm>
            <a:off x="6368805" y="3507359"/>
            <a:ext cx="2785710" cy="1015663"/>
          </a:xfrm>
          <a:prstGeom prst="rect">
            <a:avLst/>
          </a:prstGeom>
          <a:noFill/>
        </p:spPr>
        <p:txBody>
          <a:bodyPr wrap="square" rtlCol="0">
            <a:spAutoFit/>
          </a:bodyPr>
          <a:lstStyle/>
          <a:p>
            <a:pPr marL="171450" indent="-171450" algn="ctr">
              <a:buFont typeface="Arial" panose="020B0604020202020204" pitchFamily="34" charset="0"/>
              <a:buChar char="•"/>
            </a:pPr>
            <a:r>
              <a:rPr lang="en-US" sz="1200" dirty="0"/>
              <a:t>Option to directly chat with representatives</a:t>
            </a:r>
          </a:p>
          <a:p>
            <a:pPr marL="171450" indent="-171450" algn="ctr">
              <a:buFont typeface="Arial" panose="020B0604020202020204" pitchFamily="34" charset="0"/>
              <a:buChar char="•"/>
            </a:pPr>
            <a:r>
              <a:rPr lang="en-US" sz="1200" dirty="0"/>
              <a:t>Chatbots and FAQs to address common queries </a:t>
            </a:r>
          </a:p>
          <a:p>
            <a:endParaRPr lang="en-US" sz="1200" dirty="0"/>
          </a:p>
        </p:txBody>
      </p:sp>
      <p:sp>
        <p:nvSpPr>
          <p:cNvPr id="120" name="TextBox 119">
            <a:extLst>
              <a:ext uri="{FF2B5EF4-FFF2-40B4-BE49-F238E27FC236}">
                <a16:creationId xmlns:a16="http://schemas.microsoft.com/office/drawing/2014/main" id="{3F81A9CC-7EF1-488D-BCD3-E7B32C0CC6C6}"/>
              </a:ext>
            </a:extLst>
          </p:cNvPr>
          <p:cNvSpPr txBox="1"/>
          <p:nvPr/>
        </p:nvSpPr>
        <p:spPr>
          <a:xfrm>
            <a:off x="6394903" y="5027874"/>
            <a:ext cx="2785710" cy="1384995"/>
          </a:xfrm>
          <a:prstGeom prst="rect">
            <a:avLst/>
          </a:prstGeom>
          <a:noFill/>
        </p:spPr>
        <p:txBody>
          <a:bodyPr wrap="square" rtlCol="0">
            <a:spAutoFit/>
          </a:bodyPr>
          <a:lstStyle/>
          <a:p>
            <a:pPr marL="171450" indent="-171450" algn="ctr">
              <a:buFont typeface="Arial" panose="020B0604020202020204" pitchFamily="34" charset="0"/>
              <a:buChar char="•"/>
            </a:pPr>
            <a:r>
              <a:rPr lang="en-US" sz="1200" dirty="0"/>
              <a:t>One stop shop for all kinds of servicing needs</a:t>
            </a:r>
          </a:p>
          <a:p>
            <a:pPr marL="171450" indent="-171450" algn="ctr">
              <a:buFont typeface="Arial" panose="020B0604020202020204" pitchFamily="34" charset="0"/>
              <a:buChar char="•"/>
            </a:pPr>
            <a:r>
              <a:rPr lang="en-US" sz="1200" dirty="0"/>
              <a:t>Hassle free booking and tracking feature for consumer trust</a:t>
            </a:r>
          </a:p>
          <a:p>
            <a:pPr algn="ctr"/>
            <a:endParaRPr lang="en-US" sz="1200" dirty="0"/>
          </a:p>
          <a:p>
            <a:pPr algn="ctr"/>
            <a:r>
              <a:rPr lang="en-US" sz="1200" dirty="0"/>
              <a:t> </a:t>
            </a:r>
          </a:p>
          <a:p>
            <a:endParaRPr lang="en-US" sz="1200" dirty="0"/>
          </a:p>
        </p:txBody>
      </p:sp>
      <p:pic>
        <p:nvPicPr>
          <p:cNvPr id="121" name="Picture 120">
            <a:extLst>
              <a:ext uri="{FF2B5EF4-FFF2-40B4-BE49-F238E27FC236}">
                <a16:creationId xmlns:a16="http://schemas.microsoft.com/office/drawing/2014/main" id="{A37DB582-34CE-4DD1-82F2-51837D8E06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31313" y="1729555"/>
            <a:ext cx="2542213" cy="4530067"/>
          </a:xfrm>
          <a:prstGeom prst="rect">
            <a:avLst/>
          </a:prstGeom>
        </p:spPr>
      </p:pic>
      <p:sp>
        <p:nvSpPr>
          <p:cNvPr id="122" name="TextBox 121">
            <a:extLst>
              <a:ext uri="{FF2B5EF4-FFF2-40B4-BE49-F238E27FC236}">
                <a16:creationId xmlns:a16="http://schemas.microsoft.com/office/drawing/2014/main" id="{8C63557C-AB30-4704-8667-58BC44B8A477}"/>
              </a:ext>
            </a:extLst>
          </p:cNvPr>
          <p:cNvSpPr txBox="1"/>
          <p:nvPr/>
        </p:nvSpPr>
        <p:spPr>
          <a:xfrm>
            <a:off x="11824981" y="6573307"/>
            <a:ext cx="242374" cy="230832"/>
          </a:xfrm>
          <a:prstGeom prst="rect">
            <a:avLst/>
          </a:prstGeom>
          <a:noFill/>
        </p:spPr>
        <p:txBody>
          <a:bodyPr wrap="none" rtlCol="0">
            <a:spAutoFit/>
          </a:bodyPr>
          <a:lstStyle/>
          <a:p>
            <a:r>
              <a:rPr lang="en-GB" sz="900" dirty="0"/>
              <a:t>5</a:t>
            </a:r>
            <a:endParaRPr lang="en-GB" dirty="0"/>
          </a:p>
        </p:txBody>
      </p:sp>
      <p:sp>
        <p:nvSpPr>
          <p:cNvPr id="124" name="TextBox 123">
            <a:extLst>
              <a:ext uri="{FF2B5EF4-FFF2-40B4-BE49-F238E27FC236}">
                <a16:creationId xmlns:a16="http://schemas.microsoft.com/office/drawing/2014/main" id="{C21775E4-117D-4D99-BFAF-3402F74C2291}"/>
              </a:ext>
            </a:extLst>
          </p:cNvPr>
          <p:cNvSpPr txBox="1"/>
          <p:nvPr/>
        </p:nvSpPr>
        <p:spPr>
          <a:xfrm>
            <a:off x="85105" y="817880"/>
            <a:ext cx="3048466" cy="338554"/>
          </a:xfrm>
          <a:prstGeom prst="rect">
            <a:avLst/>
          </a:prstGeom>
          <a:noFill/>
        </p:spPr>
        <p:txBody>
          <a:bodyPr wrap="square" rtlCol="0">
            <a:spAutoFit/>
          </a:bodyPr>
          <a:lstStyle/>
          <a:p>
            <a:r>
              <a:rPr lang="en-GB" sz="1600" b="1" dirty="0"/>
              <a:t>Application Strategy</a:t>
            </a:r>
          </a:p>
        </p:txBody>
      </p:sp>
    </p:spTree>
    <p:extLst>
      <p:ext uri="{BB962C8B-B14F-4D97-AF65-F5344CB8AC3E}">
        <p14:creationId xmlns:p14="http://schemas.microsoft.com/office/powerpoint/2010/main" val="3784975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object 8">
            <a:extLst>
              <a:ext uri="{FF2B5EF4-FFF2-40B4-BE49-F238E27FC236}">
                <a16:creationId xmlns:a16="http://schemas.microsoft.com/office/drawing/2014/main" id="{83B069A5-BA26-4C41-9DE7-91C535DAC4E8}"/>
              </a:ext>
            </a:extLst>
          </p:cNvPr>
          <p:cNvSpPr/>
          <p:nvPr/>
        </p:nvSpPr>
        <p:spPr>
          <a:xfrm>
            <a:off x="160200" y="1977812"/>
            <a:ext cx="5854157" cy="4442393"/>
          </a:xfrm>
          <a:custGeom>
            <a:avLst/>
            <a:gdLst/>
            <a:ahLst/>
            <a:cxnLst/>
            <a:rect l="l" t="t" r="r" b="b"/>
            <a:pathLst>
              <a:path w="5585460" h="4636135">
                <a:moveTo>
                  <a:pt x="4595622" y="0"/>
                </a:moveTo>
                <a:lnTo>
                  <a:pt x="0" y="0"/>
                </a:lnTo>
                <a:lnTo>
                  <a:pt x="0" y="4636008"/>
                </a:lnTo>
                <a:lnTo>
                  <a:pt x="4595622" y="4636008"/>
                </a:lnTo>
                <a:lnTo>
                  <a:pt x="5585460" y="2318004"/>
                </a:lnTo>
                <a:lnTo>
                  <a:pt x="4595622" y="0"/>
                </a:lnTo>
                <a:close/>
              </a:path>
            </a:pathLst>
          </a:custGeom>
          <a:solidFill>
            <a:schemeClr val="tx2">
              <a:lumMod val="20000"/>
              <a:lumOff val="80000"/>
            </a:schemeClr>
          </a:solidFill>
        </p:spPr>
        <p:txBody>
          <a:bodyPr wrap="square" lIns="0" tIns="0" rIns="0" bIns="0" rtlCol="0"/>
          <a:lstStyle/>
          <a:p>
            <a:endParaRPr dirty="0"/>
          </a:p>
        </p:txBody>
      </p:sp>
      <p:sp>
        <p:nvSpPr>
          <p:cNvPr id="7" name="Rectangle 6">
            <a:extLst>
              <a:ext uri="{FF2B5EF4-FFF2-40B4-BE49-F238E27FC236}">
                <a16:creationId xmlns:a16="http://schemas.microsoft.com/office/drawing/2014/main" id="{F9AF58D6-BEDA-469D-AC84-4D66CE500008}"/>
              </a:ext>
            </a:extLst>
          </p:cNvPr>
          <p:cNvSpPr/>
          <p:nvPr/>
        </p:nvSpPr>
        <p:spPr>
          <a:xfrm>
            <a:off x="155343" y="1664735"/>
            <a:ext cx="2140548" cy="4587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Catalyze Supply</a:t>
            </a:r>
          </a:p>
        </p:txBody>
      </p:sp>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Branding Strategy</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solidFill>
                  <a:srgbClr val="00162F"/>
                </a:solidFill>
                <a:latin typeface="Calibri" panose="020F0502020204030204" pitchFamily="34" charset="0"/>
              </a:rPr>
              <a:t>Overall branding strategy focusses on boosting demand while catalysing the supply </a:t>
            </a:r>
          </a:p>
        </p:txBody>
      </p:sp>
      <p:sp>
        <p:nvSpPr>
          <p:cNvPr id="126" name="TextBox 125">
            <a:extLst>
              <a:ext uri="{FF2B5EF4-FFF2-40B4-BE49-F238E27FC236}">
                <a16:creationId xmlns:a16="http://schemas.microsoft.com/office/drawing/2014/main" id="{C1B74B61-F93E-4A35-8C80-76F141955C30}"/>
              </a:ext>
            </a:extLst>
          </p:cNvPr>
          <p:cNvSpPr txBox="1"/>
          <p:nvPr/>
        </p:nvSpPr>
        <p:spPr>
          <a:xfrm>
            <a:off x="11824981" y="6573307"/>
            <a:ext cx="242374" cy="230832"/>
          </a:xfrm>
          <a:prstGeom prst="rect">
            <a:avLst/>
          </a:prstGeom>
          <a:noFill/>
        </p:spPr>
        <p:txBody>
          <a:bodyPr wrap="none" rtlCol="0">
            <a:spAutoFit/>
          </a:bodyPr>
          <a:lstStyle/>
          <a:p>
            <a:r>
              <a:rPr lang="en-GB" sz="900" dirty="0"/>
              <a:t>6</a:t>
            </a:r>
            <a:endParaRPr lang="en-GB" dirty="0"/>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108" name="object 7">
            <a:extLst>
              <a:ext uri="{FF2B5EF4-FFF2-40B4-BE49-F238E27FC236}">
                <a16:creationId xmlns:a16="http://schemas.microsoft.com/office/drawing/2014/main" id="{978FB6B2-85BA-40A6-B338-C9ACDDF7AC5A}"/>
              </a:ext>
            </a:extLst>
          </p:cNvPr>
          <p:cNvSpPr/>
          <p:nvPr/>
        </p:nvSpPr>
        <p:spPr>
          <a:xfrm>
            <a:off x="6041512" y="1977814"/>
            <a:ext cx="5854157" cy="4442393"/>
          </a:xfrm>
          <a:custGeom>
            <a:avLst/>
            <a:gdLst/>
            <a:ahLst/>
            <a:cxnLst/>
            <a:rect l="l" t="t" r="r" b="b"/>
            <a:pathLst>
              <a:path w="5585459" h="4636135">
                <a:moveTo>
                  <a:pt x="5585460" y="0"/>
                </a:moveTo>
                <a:lnTo>
                  <a:pt x="989838" y="0"/>
                </a:lnTo>
                <a:lnTo>
                  <a:pt x="0" y="2318004"/>
                </a:lnTo>
                <a:lnTo>
                  <a:pt x="989838" y="4636008"/>
                </a:lnTo>
                <a:lnTo>
                  <a:pt x="5585460" y="4636008"/>
                </a:lnTo>
                <a:lnTo>
                  <a:pt x="5585460" y="0"/>
                </a:lnTo>
                <a:close/>
              </a:path>
            </a:pathLst>
          </a:custGeom>
          <a:solidFill>
            <a:schemeClr val="bg1">
              <a:lumMod val="95000"/>
            </a:schemeClr>
          </a:solidFill>
        </p:spPr>
        <p:txBody>
          <a:bodyPr wrap="square" lIns="0" tIns="0" rIns="0" bIns="0" rtlCol="0"/>
          <a:lstStyle/>
          <a:p>
            <a:endParaRPr/>
          </a:p>
        </p:txBody>
      </p:sp>
      <p:grpSp>
        <p:nvGrpSpPr>
          <p:cNvPr id="12" name="Group 11">
            <a:extLst>
              <a:ext uri="{FF2B5EF4-FFF2-40B4-BE49-F238E27FC236}">
                <a16:creationId xmlns:a16="http://schemas.microsoft.com/office/drawing/2014/main" id="{C6DF973F-EF2B-4C02-A142-62A8A0083A09}"/>
              </a:ext>
            </a:extLst>
          </p:cNvPr>
          <p:cNvGrpSpPr/>
          <p:nvPr/>
        </p:nvGrpSpPr>
        <p:grpSpPr>
          <a:xfrm>
            <a:off x="5341370" y="3510241"/>
            <a:ext cx="1371600" cy="1371600"/>
            <a:chOff x="5341370" y="3510242"/>
            <a:chExt cx="1345974" cy="1281147"/>
          </a:xfrm>
        </p:grpSpPr>
        <p:grpSp>
          <p:nvGrpSpPr>
            <p:cNvPr id="11" name="Group 10">
              <a:extLst>
                <a:ext uri="{FF2B5EF4-FFF2-40B4-BE49-F238E27FC236}">
                  <a16:creationId xmlns:a16="http://schemas.microsoft.com/office/drawing/2014/main" id="{22B0F08F-2359-495E-8891-803B00C8F69D}"/>
                </a:ext>
              </a:extLst>
            </p:cNvPr>
            <p:cNvGrpSpPr/>
            <p:nvPr/>
          </p:nvGrpSpPr>
          <p:grpSpPr>
            <a:xfrm rot="19116545">
              <a:off x="5341370" y="3510242"/>
              <a:ext cx="1345974" cy="1281147"/>
              <a:chOff x="5341370" y="3510242"/>
              <a:chExt cx="1345974" cy="1281147"/>
            </a:xfrm>
          </p:grpSpPr>
          <p:sp>
            <p:nvSpPr>
              <p:cNvPr id="110" name="object 46">
                <a:extLst>
                  <a:ext uri="{FF2B5EF4-FFF2-40B4-BE49-F238E27FC236}">
                    <a16:creationId xmlns:a16="http://schemas.microsoft.com/office/drawing/2014/main" id="{DB18A362-4E4B-46AE-BE2E-18D9C961891B}"/>
                  </a:ext>
                </a:extLst>
              </p:cNvPr>
              <p:cNvSpPr/>
              <p:nvPr/>
            </p:nvSpPr>
            <p:spPr>
              <a:xfrm>
                <a:off x="5623506" y="3510242"/>
                <a:ext cx="1063838" cy="1281147"/>
              </a:xfrm>
              <a:custGeom>
                <a:avLst/>
                <a:gdLst/>
                <a:ahLst/>
                <a:cxnLst/>
                <a:rect l="l" t="t" r="r" b="b"/>
                <a:pathLst>
                  <a:path w="2499359" h="3009900">
                    <a:moveTo>
                      <a:pt x="915162" y="0"/>
                    </a:moveTo>
                    <a:lnTo>
                      <a:pt x="870873" y="605"/>
                    </a:lnTo>
                    <a:lnTo>
                      <a:pt x="820094" y="2885"/>
                    </a:lnTo>
                    <a:lnTo>
                      <a:pt x="769747" y="6984"/>
                    </a:lnTo>
                    <a:lnTo>
                      <a:pt x="705436" y="15865"/>
                    </a:lnTo>
                    <a:lnTo>
                      <a:pt x="642772" y="28651"/>
                    </a:lnTo>
                    <a:lnTo>
                      <a:pt x="581935" y="45189"/>
                    </a:lnTo>
                    <a:lnTo>
                      <a:pt x="523101" y="65327"/>
                    </a:lnTo>
                    <a:lnTo>
                      <a:pt x="466451" y="88913"/>
                    </a:lnTo>
                    <a:lnTo>
                      <a:pt x="412161" y="115795"/>
                    </a:lnTo>
                    <a:lnTo>
                      <a:pt x="360412" y="145819"/>
                    </a:lnTo>
                    <a:lnTo>
                      <a:pt x="311380" y="178833"/>
                    </a:lnTo>
                    <a:lnTo>
                      <a:pt x="265245" y="214685"/>
                    </a:lnTo>
                    <a:lnTo>
                      <a:pt x="222186" y="253222"/>
                    </a:lnTo>
                    <a:lnTo>
                      <a:pt x="182380" y="294291"/>
                    </a:lnTo>
                    <a:lnTo>
                      <a:pt x="146007" y="337741"/>
                    </a:lnTo>
                    <a:lnTo>
                      <a:pt x="113244" y="383419"/>
                    </a:lnTo>
                    <a:lnTo>
                      <a:pt x="84271" y="431172"/>
                    </a:lnTo>
                    <a:lnTo>
                      <a:pt x="59265" y="480847"/>
                    </a:lnTo>
                    <a:lnTo>
                      <a:pt x="38405" y="532293"/>
                    </a:lnTo>
                    <a:lnTo>
                      <a:pt x="21871" y="585357"/>
                    </a:lnTo>
                    <a:lnTo>
                      <a:pt x="9839" y="639885"/>
                    </a:lnTo>
                    <a:lnTo>
                      <a:pt x="2489" y="695727"/>
                    </a:lnTo>
                    <a:lnTo>
                      <a:pt x="0" y="752728"/>
                    </a:lnTo>
                    <a:lnTo>
                      <a:pt x="2920" y="814455"/>
                    </a:lnTo>
                    <a:lnTo>
                      <a:pt x="11530" y="874806"/>
                    </a:lnTo>
                    <a:lnTo>
                      <a:pt x="25603" y="933586"/>
                    </a:lnTo>
                    <a:lnTo>
                      <a:pt x="44912" y="990604"/>
                    </a:lnTo>
                    <a:lnTo>
                      <a:pt x="69228" y="1045664"/>
                    </a:lnTo>
                    <a:lnTo>
                      <a:pt x="98326" y="1098574"/>
                    </a:lnTo>
                    <a:lnTo>
                      <a:pt x="131978" y="1149140"/>
                    </a:lnTo>
                    <a:lnTo>
                      <a:pt x="169956" y="1197170"/>
                    </a:lnTo>
                    <a:lnTo>
                      <a:pt x="212034" y="1242468"/>
                    </a:lnTo>
                    <a:lnTo>
                      <a:pt x="257984" y="1284843"/>
                    </a:lnTo>
                    <a:lnTo>
                      <a:pt x="307580" y="1324100"/>
                    </a:lnTo>
                    <a:lnTo>
                      <a:pt x="360593" y="1360046"/>
                    </a:lnTo>
                    <a:lnTo>
                      <a:pt x="416798" y="1392487"/>
                    </a:lnTo>
                    <a:lnTo>
                      <a:pt x="475966" y="1421231"/>
                    </a:lnTo>
                    <a:lnTo>
                      <a:pt x="537870" y="1446083"/>
                    </a:lnTo>
                    <a:lnTo>
                      <a:pt x="602284" y="1466851"/>
                    </a:lnTo>
                    <a:lnTo>
                      <a:pt x="668980" y="1483340"/>
                    </a:lnTo>
                    <a:lnTo>
                      <a:pt x="737732" y="1495357"/>
                    </a:lnTo>
                    <a:lnTo>
                      <a:pt x="808311" y="1502710"/>
                    </a:lnTo>
                    <a:lnTo>
                      <a:pt x="952652" y="1507696"/>
                    </a:lnTo>
                    <a:lnTo>
                      <a:pt x="1023215" y="1515046"/>
                    </a:lnTo>
                    <a:lnTo>
                      <a:pt x="1091952" y="1527060"/>
                    </a:lnTo>
                    <a:lnTo>
                      <a:pt x="1158635" y="1543543"/>
                    </a:lnTo>
                    <a:lnTo>
                      <a:pt x="1223037" y="1564304"/>
                    </a:lnTo>
                    <a:lnTo>
                      <a:pt x="1284932" y="1589149"/>
                    </a:lnTo>
                    <a:lnTo>
                      <a:pt x="1344091" y="1617884"/>
                    </a:lnTo>
                    <a:lnTo>
                      <a:pt x="1400288" y="1650317"/>
                    </a:lnTo>
                    <a:lnTo>
                      <a:pt x="1453296" y="1686253"/>
                    </a:lnTo>
                    <a:lnTo>
                      <a:pt x="1502886" y="1725501"/>
                    </a:lnTo>
                    <a:lnTo>
                      <a:pt x="1548832" y="1767866"/>
                    </a:lnTo>
                    <a:lnTo>
                      <a:pt x="1590906" y="1813155"/>
                    </a:lnTo>
                    <a:lnTo>
                      <a:pt x="1628882" y="1861175"/>
                    </a:lnTo>
                    <a:lnTo>
                      <a:pt x="1662531" y="1911733"/>
                    </a:lnTo>
                    <a:lnTo>
                      <a:pt x="1691628" y="1964636"/>
                    </a:lnTo>
                    <a:lnTo>
                      <a:pt x="1715943" y="2019690"/>
                    </a:lnTo>
                    <a:lnTo>
                      <a:pt x="1735251" y="2076701"/>
                    </a:lnTo>
                    <a:lnTo>
                      <a:pt x="1749324" y="2135478"/>
                    </a:lnTo>
                    <a:lnTo>
                      <a:pt x="1757934" y="2195826"/>
                    </a:lnTo>
                    <a:lnTo>
                      <a:pt x="1760855" y="2257551"/>
                    </a:lnTo>
                    <a:lnTo>
                      <a:pt x="1758007" y="2318495"/>
                    </a:lnTo>
                    <a:lnTo>
                      <a:pt x="1749609" y="2378099"/>
                    </a:lnTo>
                    <a:lnTo>
                      <a:pt x="1735881" y="2436177"/>
                    </a:lnTo>
                    <a:lnTo>
                      <a:pt x="1717041" y="2492542"/>
                    </a:lnTo>
                    <a:lnTo>
                      <a:pt x="1693306" y="2547008"/>
                    </a:lnTo>
                    <a:lnTo>
                      <a:pt x="1664897" y="2599389"/>
                    </a:lnTo>
                    <a:lnTo>
                      <a:pt x="1632032" y="2649496"/>
                    </a:lnTo>
                    <a:lnTo>
                      <a:pt x="1594930" y="2697144"/>
                    </a:lnTo>
                    <a:lnTo>
                      <a:pt x="1553808" y="2742146"/>
                    </a:lnTo>
                    <a:lnTo>
                      <a:pt x="1508887" y="2784316"/>
                    </a:lnTo>
                    <a:lnTo>
                      <a:pt x="1460384" y="2823466"/>
                    </a:lnTo>
                    <a:lnTo>
                      <a:pt x="1408518" y="2859410"/>
                    </a:lnTo>
                    <a:lnTo>
                      <a:pt x="1353508" y="2891961"/>
                    </a:lnTo>
                    <a:lnTo>
                      <a:pt x="1295573" y="2920932"/>
                    </a:lnTo>
                    <a:lnTo>
                      <a:pt x="1234932" y="2946138"/>
                    </a:lnTo>
                    <a:lnTo>
                      <a:pt x="1171802" y="2967390"/>
                    </a:lnTo>
                    <a:lnTo>
                      <a:pt x="1106403" y="2984503"/>
                    </a:lnTo>
                    <a:lnTo>
                      <a:pt x="1038954" y="2997290"/>
                    </a:lnTo>
                    <a:lnTo>
                      <a:pt x="969673" y="3005563"/>
                    </a:lnTo>
                    <a:lnTo>
                      <a:pt x="898779" y="3009137"/>
                    </a:lnTo>
                    <a:lnTo>
                      <a:pt x="915162" y="3009899"/>
                    </a:lnTo>
                    <a:lnTo>
                      <a:pt x="1045087" y="3004911"/>
                    </a:lnTo>
                    <a:lnTo>
                      <a:pt x="1172120" y="2990204"/>
                    </a:lnTo>
                    <a:lnTo>
                      <a:pt x="1295854" y="2966165"/>
                    </a:lnTo>
                    <a:lnTo>
                      <a:pt x="1415881" y="2933181"/>
                    </a:lnTo>
                    <a:lnTo>
                      <a:pt x="1531792" y="2891641"/>
                    </a:lnTo>
                    <a:lnTo>
                      <a:pt x="1643180" y="2841930"/>
                    </a:lnTo>
                    <a:lnTo>
                      <a:pt x="1749638" y="2784436"/>
                    </a:lnTo>
                    <a:lnTo>
                      <a:pt x="1850757" y="2719547"/>
                    </a:lnTo>
                    <a:lnTo>
                      <a:pt x="1946130" y="2647649"/>
                    </a:lnTo>
                    <a:lnTo>
                      <a:pt x="2035349" y="2569130"/>
                    </a:lnTo>
                    <a:lnTo>
                      <a:pt x="2118006" y="2484377"/>
                    </a:lnTo>
                    <a:lnTo>
                      <a:pt x="2193694" y="2393777"/>
                    </a:lnTo>
                    <a:lnTo>
                      <a:pt x="2262004" y="2297717"/>
                    </a:lnTo>
                    <a:lnTo>
                      <a:pt x="2322529" y="2196585"/>
                    </a:lnTo>
                    <a:lnTo>
                      <a:pt x="2374862" y="2090767"/>
                    </a:lnTo>
                    <a:lnTo>
                      <a:pt x="2418594" y="1980651"/>
                    </a:lnTo>
                    <a:lnTo>
                      <a:pt x="2453317" y="1866624"/>
                    </a:lnTo>
                    <a:lnTo>
                      <a:pt x="2478624" y="1749073"/>
                    </a:lnTo>
                    <a:lnTo>
                      <a:pt x="2494108" y="1628386"/>
                    </a:lnTo>
                    <a:lnTo>
                      <a:pt x="2499243" y="1507696"/>
                    </a:lnTo>
                    <a:lnTo>
                      <a:pt x="2499264" y="1502710"/>
                    </a:lnTo>
                    <a:lnTo>
                      <a:pt x="2494108" y="1381513"/>
                    </a:lnTo>
                    <a:lnTo>
                      <a:pt x="2478624" y="1260826"/>
                    </a:lnTo>
                    <a:lnTo>
                      <a:pt x="2453317" y="1143275"/>
                    </a:lnTo>
                    <a:lnTo>
                      <a:pt x="2418594" y="1029248"/>
                    </a:lnTo>
                    <a:lnTo>
                      <a:pt x="2374862" y="919132"/>
                    </a:lnTo>
                    <a:lnTo>
                      <a:pt x="2322529" y="813314"/>
                    </a:lnTo>
                    <a:lnTo>
                      <a:pt x="2262004" y="712182"/>
                    </a:lnTo>
                    <a:lnTo>
                      <a:pt x="2193694" y="616122"/>
                    </a:lnTo>
                    <a:lnTo>
                      <a:pt x="2118006" y="525522"/>
                    </a:lnTo>
                    <a:lnTo>
                      <a:pt x="2035349" y="440769"/>
                    </a:lnTo>
                    <a:lnTo>
                      <a:pt x="1946130" y="362250"/>
                    </a:lnTo>
                    <a:lnTo>
                      <a:pt x="1850757" y="290352"/>
                    </a:lnTo>
                    <a:lnTo>
                      <a:pt x="1749638" y="225463"/>
                    </a:lnTo>
                    <a:lnTo>
                      <a:pt x="1643180" y="167969"/>
                    </a:lnTo>
                    <a:lnTo>
                      <a:pt x="1531792" y="118258"/>
                    </a:lnTo>
                    <a:lnTo>
                      <a:pt x="1415881" y="76718"/>
                    </a:lnTo>
                    <a:lnTo>
                      <a:pt x="1295854" y="43734"/>
                    </a:lnTo>
                    <a:lnTo>
                      <a:pt x="1172120" y="19695"/>
                    </a:lnTo>
                    <a:lnTo>
                      <a:pt x="1045087" y="4988"/>
                    </a:lnTo>
                    <a:lnTo>
                      <a:pt x="915162" y="0"/>
                    </a:lnTo>
                    <a:close/>
                  </a:path>
                </a:pathLst>
              </a:custGeom>
              <a:solidFill>
                <a:schemeClr val="bg1">
                  <a:lumMod val="65000"/>
                </a:schemeClr>
              </a:solidFill>
            </p:spPr>
            <p:txBody>
              <a:bodyPr wrap="square" lIns="0" tIns="0" rIns="0" bIns="0" rtlCol="0"/>
              <a:lstStyle/>
              <a:p>
                <a:endParaRPr/>
              </a:p>
            </p:txBody>
          </p:sp>
          <p:sp>
            <p:nvSpPr>
              <p:cNvPr id="111" name="object 47">
                <a:extLst>
                  <a:ext uri="{FF2B5EF4-FFF2-40B4-BE49-F238E27FC236}">
                    <a16:creationId xmlns:a16="http://schemas.microsoft.com/office/drawing/2014/main" id="{8E9A13B3-605D-497A-809C-5640675AF2B5}"/>
                  </a:ext>
                </a:extLst>
              </p:cNvPr>
              <p:cNvSpPr/>
              <p:nvPr/>
            </p:nvSpPr>
            <p:spPr>
              <a:xfrm>
                <a:off x="5341370" y="3512837"/>
                <a:ext cx="1034107" cy="1277903"/>
              </a:xfrm>
              <a:custGeom>
                <a:avLst/>
                <a:gdLst/>
                <a:ahLst/>
                <a:cxnLst/>
                <a:rect l="l" t="t" r="r" b="b"/>
                <a:pathLst>
                  <a:path w="2429509" h="3002279">
                    <a:moveTo>
                      <a:pt x="1438306" y="0"/>
                    </a:moveTo>
                    <a:lnTo>
                      <a:pt x="1318688" y="14623"/>
                    </a:lnTo>
                    <a:lnTo>
                      <a:pt x="1202033" y="37550"/>
                    </a:lnTo>
                    <a:lnTo>
                      <a:pt x="1088685" y="68454"/>
                    </a:lnTo>
                    <a:lnTo>
                      <a:pt x="978987" y="107009"/>
                    </a:lnTo>
                    <a:lnTo>
                      <a:pt x="873281" y="152888"/>
                    </a:lnTo>
                    <a:lnTo>
                      <a:pt x="771911" y="205765"/>
                    </a:lnTo>
                    <a:lnTo>
                      <a:pt x="675219" y="265313"/>
                    </a:lnTo>
                    <a:lnTo>
                      <a:pt x="583548" y="331207"/>
                    </a:lnTo>
                    <a:lnTo>
                      <a:pt x="497240" y="403120"/>
                    </a:lnTo>
                    <a:lnTo>
                      <a:pt x="416639" y="480726"/>
                    </a:lnTo>
                    <a:lnTo>
                      <a:pt x="342087" y="563698"/>
                    </a:lnTo>
                    <a:lnTo>
                      <a:pt x="273928" y="651711"/>
                    </a:lnTo>
                    <a:lnTo>
                      <a:pt x="212503" y="744437"/>
                    </a:lnTo>
                    <a:lnTo>
                      <a:pt x="158156" y="841550"/>
                    </a:lnTo>
                    <a:lnTo>
                      <a:pt x="111230" y="942724"/>
                    </a:lnTo>
                    <a:lnTo>
                      <a:pt x="72067" y="1047634"/>
                    </a:lnTo>
                    <a:lnTo>
                      <a:pt x="41010" y="1155951"/>
                    </a:lnTo>
                    <a:lnTo>
                      <a:pt x="18402" y="1267351"/>
                    </a:lnTo>
                    <a:lnTo>
                      <a:pt x="4586" y="1381507"/>
                    </a:lnTo>
                    <a:lnTo>
                      <a:pt x="0" y="1495725"/>
                    </a:lnTo>
                    <a:lnTo>
                      <a:pt x="15" y="1500712"/>
                    </a:lnTo>
                    <a:lnTo>
                      <a:pt x="5089" y="1620745"/>
                    </a:lnTo>
                    <a:lnTo>
                      <a:pt x="20376" y="1740689"/>
                    </a:lnTo>
                    <a:lnTo>
                      <a:pt x="45365" y="1857541"/>
                    </a:lnTo>
                    <a:lnTo>
                      <a:pt x="79657" y="1970922"/>
                    </a:lnTo>
                    <a:lnTo>
                      <a:pt x="122852" y="2080450"/>
                    </a:lnTo>
                    <a:lnTo>
                      <a:pt x="174550" y="2185745"/>
                    </a:lnTo>
                    <a:lnTo>
                      <a:pt x="234351" y="2286427"/>
                    </a:lnTo>
                    <a:lnTo>
                      <a:pt x="301856" y="2382115"/>
                    </a:lnTo>
                    <a:lnTo>
                      <a:pt x="376663" y="2472428"/>
                    </a:lnTo>
                    <a:lnTo>
                      <a:pt x="458374" y="2556986"/>
                    </a:lnTo>
                    <a:lnTo>
                      <a:pt x="546589" y="2635407"/>
                    </a:lnTo>
                    <a:lnTo>
                      <a:pt x="640908" y="2707312"/>
                    </a:lnTo>
                    <a:lnTo>
                      <a:pt x="740931" y="2772320"/>
                    </a:lnTo>
                    <a:lnTo>
                      <a:pt x="846257" y="2830050"/>
                    </a:lnTo>
                    <a:lnTo>
                      <a:pt x="956488" y="2880121"/>
                    </a:lnTo>
                    <a:lnTo>
                      <a:pt x="1071224" y="2922154"/>
                    </a:lnTo>
                    <a:lnTo>
                      <a:pt x="1190063" y="2955766"/>
                    </a:lnTo>
                    <a:lnTo>
                      <a:pt x="1312608" y="2980579"/>
                    </a:lnTo>
                    <a:lnTo>
                      <a:pt x="1438457" y="2996210"/>
                    </a:lnTo>
                    <a:lnTo>
                      <a:pt x="1567211" y="3002280"/>
                    </a:lnTo>
                    <a:lnTo>
                      <a:pt x="1638105" y="2998705"/>
                    </a:lnTo>
                    <a:lnTo>
                      <a:pt x="1707383" y="2990432"/>
                    </a:lnTo>
                    <a:lnTo>
                      <a:pt x="1774829" y="2977645"/>
                    </a:lnTo>
                    <a:lnTo>
                      <a:pt x="1840222" y="2960532"/>
                    </a:lnTo>
                    <a:lnTo>
                      <a:pt x="1903345" y="2939280"/>
                    </a:lnTo>
                    <a:lnTo>
                      <a:pt x="1963979" y="2914074"/>
                    </a:lnTo>
                    <a:lnTo>
                      <a:pt x="2021905" y="2885103"/>
                    </a:lnTo>
                    <a:lnTo>
                      <a:pt x="2076906" y="2852552"/>
                    </a:lnTo>
                    <a:lnTo>
                      <a:pt x="2128763" y="2816608"/>
                    </a:lnTo>
                    <a:lnTo>
                      <a:pt x="2177256" y="2777458"/>
                    </a:lnTo>
                    <a:lnTo>
                      <a:pt x="2222168" y="2735288"/>
                    </a:lnTo>
                    <a:lnTo>
                      <a:pt x="2263280" y="2690286"/>
                    </a:lnTo>
                    <a:lnTo>
                      <a:pt x="2300374" y="2642638"/>
                    </a:lnTo>
                    <a:lnTo>
                      <a:pt x="2333231" y="2592531"/>
                    </a:lnTo>
                    <a:lnTo>
                      <a:pt x="2361632" y="2540150"/>
                    </a:lnTo>
                    <a:lnTo>
                      <a:pt x="2385360" y="2485684"/>
                    </a:lnTo>
                    <a:lnTo>
                      <a:pt x="2404195" y="2429319"/>
                    </a:lnTo>
                    <a:lnTo>
                      <a:pt x="2417919" y="2371241"/>
                    </a:lnTo>
                    <a:lnTo>
                      <a:pt x="2426314" y="2311637"/>
                    </a:lnTo>
                    <a:lnTo>
                      <a:pt x="2429160" y="2250694"/>
                    </a:lnTo>
                    <a:lnTo>
                      <a:pt x="2426241" y="2188967"/>
                    </a:lnTo>
                    <a:lnTo>
                      <a:pt x="2417633" y="2128616"/>
                    </a:lnTo>
                    <a:lnTo>
                      <a:pt x="2403565" y="2069836"/>
                    </a:lnTo>
                    <a:lnTo>
                      <a:pt x="2384262" y="2012818"/>
                    </a:lnTo>
                    <a:lnTo>
                      <a:pt x="2359953" y="1957758"/>
                    </a:lnTo>
                    <a:lnTo>
                      <a:pt x="2330865" y="1904848"/>
                    </a:lnTo>
                    <a:lnTo>
                      <a:pt x="2297224" y="1854282"/>
                    </a:lnTo>
                    <a:lnTo>
                      <a:pt x="2259257" y="1806252"/>
                    </a:lnTo>
                    <a:lnTo>
                      <a:pt x="2217192" y="1760954"/>
                    </a:lnTo>
                    <a:lnTo>
                      <a:pt x="2171255" y="1718579"/>
                    </a:lnTo>
                    <a:lnTo>
                      <a:pt x="2121674" y="1679322"/>
                    </a:lnTo>
                    <a:lnTo>
                      <a:pt x="2068677" y="1643376"/>
                    </a:lnTo>
                    <a:lnTo>
                      <a:pt x="2012489" y="1610935"/>
                    </a:lnTo>
                    <a:lnTo>
                      <a:pt x="1953337" y="1582191"/>
                    </a:lnTo>
                    <a:lnTo>
                      <a:pt x="1891450" y="1557339"/>
                    </a:lnTo>
                    <a:lnTo>
                      <a:pt x="1827054" y="1536571"/>
                    </a:lnTo>
                    <a:lnTo>
                      <a:pt x="1760377" y="1520082"/>
                    </a:lnTo>
                    <a:lnTo>
                      <a:pt x="1691644" y="1508065"/>
                    </a:lnTo>
                    <a:lnTo>
                      <a:pt x="1621084" y="1500712"/>
                    </a:lnTo>
                    <a:lnTo>
                      <a:pt x="1476763" y="1495725"/>
                    </a:lnTo>
                    <a:lnTo>
                      <a:pt x="1406203" y="1488372"/>
                    </a:lnTo>
                    <a:lnTo>
                      <a:pt x="1337470" y="1476355"/>
                    </a:lnTo>
                    <a:lnTo>
                      <a:pt x="1270792" y="1459867"/>
                    </a:lnTo>
                    <a:lnTo>
                      <a:pt x="1206397" y="1439100"/>
                    </a:lnTo>
                    <a:lnTo>
                      <a:pt x="1144509" y="1414249"/>
                    </a:lnTo>
                    <a:lnTo>
                      <a:pt x="1085358" y="1385508"/>
                    </a:lnTo>
                    <a:lnTo>
                      <a:pt x="1029170" y="1353069"/>
                    </a:lnTo>
                    <a:lnTo>
                      <a:pt x="976172" y="1317126"/>
                    </a:lnTo>
                    <a:lnTo>
                      <a:pt x="926592" y="1277874"/>
                    </a:lnTo>
                    <a:lnTo>
                      <a:pt x="880655" y="1235504"/>
                    </a:lnTo>
                    <a:lnTo>
                      <a:pt x="838590" y="1190212"/>
                    </a:lnTo>
                    <a:lnTo>
                      <a:pt x="800623" y="1142190"/>
                    </a:lnTo>
                    <a:lnTo>
                      <a:pt x="766982" y="1091633"/>
                    </a:lnTo>
                    <a:lnTo>
                      <a:pt x="737894" y="1038732"/>
                    </a:lnTo>
                    <a:lnTo>
                      <a:pt x="713585" y="983684"/>
                    </a:lnTo>
                    <a:lnTo>
                      <a:pt x="694282" y="926679"/>
                    </a:lnTo>
                    <a:lnTo>
                      <a:pt x="680214" y="867913"/>
                    </a:lnTo>
                    <a:lnTo>
                      <a:pt x="671606" y="807579"/>
                    </a:lnTo>
                    <a:lnTo>
                      <a:pt x="668686" y="745871"/>
                    </a:lnTo>
                    <a:lnTo>
                      <a:pt x="671175" y="688868"/>
                    </a:lnTo>
                    <a:lnTo>
                      <a:pt x="678522" y="633024"/>
                    </a:lnTo>
                    <a:lnTo>
                      <a:pt x="690550" y="578491"/>
                    </a:lnTo>
                    <a:lnTo>
                      <a:pt x="707079" y="525422"/>
                    </a:lnTo>
                    <a:lnTo>
                      <a:pt x="727932" y="473969"/>
                    </a:lnTo>
                    <a:lnTo>
                      <a:pt x="752930" y="424286"/>
                    </a:lnTo>
                    <a:lnTo>
                      <a:pt x="781895" y="376525"/>
                    </a:lnTo>
                    <a:lnTo>
                      <a:pt x="814649" y="330839"/>
                    </a:lnTo>
                    <a:lnTo>
                      <a:pt x="851013" y="287379"/>
                    </a:lnTo>
                    <a:lnTo>
                      <a:pt x="890809" y="246300"/>
                    </a:lnTo>
                    <a:lnTo>
                      <a:pt x="933859" y="207754"/>
                    </a:lnTo>
                    <a:lnTo>
                      <a:pt x="979985" y="171892"/>
                    </a:lnTo>
                    <a:lnTo>
                      <a:pt x="1029007" y="138869"/>
                    </a:lnTo>
                    <a:lnTo>
                      <a:pt x="1080749" y="108837"/>
                    </a:lnTo>
                    <a:lnTo>
                      <a:pt x="1135030" y="81948"/>
                    </a:lnTo>
                    <a:lnTo>
                      <a:pt x="1191674" y="58355"/>
                    </a:lnTo>
                    <a:lnTo>
                      <a:pt x="1250502" y="38212"/>
                    </a:lnTo>
                    <a:lnTo>
                      <a:pt x="1311336" y="21669"/>
                    </a:lnTo>
                    <a:lnTo>
                      <a:pt x="1373997" y="8881"/>
                    </a:lnTo>
                    <a:lnTo>
                      <a:pt x="1438306" y="0"/>
                    </a:lnTo>
                    <a:close/>
                  </a:path>
                </a:pathLst>
              </a:custGeom>
              <a:solidFill>
                <a:schemeClr val="tx2"/>
              </a:solidFill>
            </p:spPr>
            <p:txBody>
              <a:bodyPr wrap="square" lIns="0" tIns="0" rIns="0" bIns="0" rtlCol="0"/>
              <a:lstStyle/>
              <a:p>
                <a:endParaRPr/>
              </a:p>
            </p:txBody>
          </p:sp>
        </p:grpSp>
        <p:sp>
          <p:nvSpPr>
            <p:cNvPr id="112" name="object 48">
              <a:extLst>
                <a:ext uri="{FF2B5EF4-FFF2-40B4-BE49-F238E27FC236}">
                  <a16:creationId xmlns:a16="http://schemas.microsoft.com/office/drawing/2014/main" id="{BA852BD3-453F-4B5D-9FC8-C01FBCCB2324}"/>
                </a:ext>
              </a:extLst>
            </p:cNvPr>
            <p:cNvSpPr/>
            <p:nvPr/>
          </p:nvSpPr>
          <p:spPr>
            <a:xfrm>
              <a:off x="5816165" y="4280227"/>
              <a:ext cx="444347" cy="444347"/>
            </a:xfrm>
            <a:custGeom>
              <a:avLst/>
              <a:gdLst/>
              <a:ahLst/>
              <a:cxnLst/>
              <a:rect l="l" t="t" r="r" b="b"/>
              <a:pathLst>
                <a:path w="1043940" h="1043939">
                  <a:moveTo>
                    <a:pt x="521969" y="0"/>
                  </a:moveTo>
                  <a:lnTo>
                    <a:pt x="479158" y="1730"/>
                  </a:lnTo>
                  <a:lnTo>
                    <a:pt x="437300" y="6831"/>
                  </a:lnTo>
                  <a:lnTo>
                    <a:pt x="396530" y="15169"/>
                  </a:lnTo>
                  <a:lnTo>
                    <a:pt x="356981" y="26609"/>
                  </a:lnTo>
                  <a:lnTo>
                    <a:pt x="318789" y="41017"/>
                  </a:lnTo>
                  <a:lnTo>
                    <a:pt x="282088" y="58258"/>
                  </a:lnTo>
                  <a:lnTo>
                    <a:pt x="247012" y="78199"/>
                  </a:lnTo>
                  <a:lnTo>
                    <a:pt x="213695" y="100705"/>
                  </a:lnTo>
                  <a:lnTo>
                    <a:pt x="182271" y="125642"/>
                  </a:lnTo>
                  <a:lnTo>
                    <a:pt x="152876" y="152876"/>
                  </a:lnTo>
                  <a:lnTo>
                    <a:pt x="125642" y="182271"/>
                  </a:lnTo>
                  <a:lnTo>
                    <a:pt x="100705" y="213695"/>
                  </a:lnTo>
                  <a:lnTo>
                    <a:pt x="78199" y="247012"/>
                  </a:lnTo>
                  <a:lnTo>
                    <a:pt x="58258" y="282088"/>
                  </a:lnTo>
                  <a:lnTo>
                    <a:pt x="41017" y="318789"/>
                  </a:lnTo>
                  <a:lnTo>
                    <a:pt x="26609" y="356981"/>
                  </a:lnTo>
                  <a:lnTo>
                    <a:pt x="15169" y="396530"/>
                  </a:lnTo>
                  <a:lnTo>
                    <a:pt x="6831" y="437300"/>
                  </a:lnTo>
                  <a:lnTo>
                    <a:pt x="1730" y="479158"/>
                  </a:lnTo>
                  <a:lnTo>
                    <a:pt x="0" y="521970"/>
                  </a:lnTo>
                  <a:lnTo>
                    <a:pt x="1730" y="564781"/>
                  </a:lnTo>
                  <a:lnTo>
                    <a:pt x="6831" y="606639"/>
                  </a:lnTo>
                  <a:lnTo>
                    <a:pt x="15169" y="647409"/>
                  </a:lnTo>
                  <a:lnTo>
                    <a:pt x="26609" y="686958"/>
                  </a:lnTo>
                  <a:lnTo>
                    <a:pt x="41017" y="725150"/>
                  </a:lnTo>
                  <a:lnTo>
                    <a:pt x="58258" y="761851"/>
                  </a:lnTo>
                  <a:lnTo>
                    <a:pt x="78199" y="796927"/>
                  </a:lnTo>
                  <a:lnTo>
                    <a:pt x="100705" y="830244"/>
                  </a:lnTo>
                  <a:lnTo>
                    <a:pt x="125642" y="861668"/>
                  </a:lnTo>
                  <a:lnTo>
                    <a:pt x="152876" y="891063"/>
                  </a:lnTo>
                  <a:lnTo>
                    <a:pt x="182271" y="918297"/>
                  </a:lnTo>
                  <a:lnTo>
                    <a:pt x="213695" y="943234"/>
                  </a:lnTo>
                  <a:lnTo>
                    <a:pt x="247012" y="965740"/>
                  </a:lnTo>
                  <a:lnTo>
                    <a:pt x="282088" y="985681"/>
                  </a:lnTo>
                  <a:lnTo>
                    <a:pt x="318789" y="1002922"/>
                  </a:lnTo>
                  <a:lnTo>
                    <a:pt x="356981" y="1017330"/>
                  </a:lnTo>
                  <a:lnTo>
                    <a:pt x="396530" y="1028770"/>
                  </a:lnTo>
                  <a:lnTo>
                    <a:pt x="437300" y="1037108"/>
                  </a:lnTo>
                  <a:lnTo>
                    <a:pt x="479158" y="1042209"/>
                  </a:lnTo>
                  <a:lnTo>
                    <a:pt x="521969" y="1043940"/>
                  </a:lnTo>
                  <a:lnTo>
                    <a:pt x="564781" y="1042209"/>
                  </a:lnTo>
                  <a:lnTo>
                    <a:pt x="606639" y="1037108"/>
                  </a:lnTo>
                  <a:lnTo>
                    <a:pt x="647409" y="1028770"/>
                  </a:lnTo>
                  <a:lnTo>
                    <a:pt x="686958" y="1017330"/>
                  </a:lnTo>
                  <a:lnTo>
                    <a:pt x="725150" y="1002922"/>
                  </a:lnTo>
                  <a:lnTo>
                    <a:pt x="761851" y="985681"/>
                  </a:lnTo>
                  <a:lnTo>
                    <a:pt x="796927" y="965740"/>
                  </a:lnTo>
                  <a:lnTo>
                    <a:pt x="830244" y="943234"/>
                  </a:lnTo>
                  <a:lnTo>
                    <a:pt x="861668" y="918297"/>
                  </a:lnTo>
                  <a:lnTo>
                    <a:pt x="891063" y="891063"/>
                  </a:lnTo>
                  <a:lnTo>
                    <a:pt x="918297" y="861668"/>
                  </a:lnTo>
                  <a:lnTo>
                    <a:pt x="943234" y="830244"/>
                  </a:lnTo>
                  <a:lnTo>
                    <a:pt x="965740" y="796927"/>
                  </a:lnTo>
                  <a:lnTo>
                    <a:pt x="985681" y="761851"/>
                  </a:lnTo>
                  <a:lnTo>
                    <a:pt x="1002922" y="725150"/>
                  </a:lnTo>
                  <a:lnTo>
                    <a:pt x="1017330" y="686958"/>
                  </a:lnTo>
                  <a:lnTo>
                    <a:pt x="1028770" y="647409"/>
                  </a:lnTo>
                  <a:lnTo>
                    <a:pt x="1037108" y="606639"/>
                  </a:lnTo>
                  <a:lnTo>
                    <a:pt x="1042209" y="564781"/>
                  </a:lnTo>
                  <a:lnTo>
                    <a:pt x="1043939" y="521970"/>
                  </a:lnTo>
                  <a:lnTo>
                    <a:pt x="1042209" y="479158"/>
                  </a:lnTo>
                  <a:lnTo>
                    <a:pt x="1037108" y="437300"/>
                  </a:lnTo>
                  <a:lnTo>
                    <a:pt x="1028770" y="396530"/>
                  </a:lnTo>
                  <a:lnTo>
                    <a:pt x="1017330" y="356981"/>
                  </a:lnTo>
                  <a:lnTo>
                    <a:pt x="1002922" y="318789"/>
                  </a:lnTo>
                  <a:lnTo>
                    <a:pt x="985681" y="282088"/>
                  </a:lnTo>
                  <a:lnTo>
                    <a:pt x="965740" y="247012"/>
                  </a:lnTo>
                  <a:lnTo>
                    <a:pt x="943234" y="213695"/>
                  </a:lnTo>
                  <a:lnTo>
                    <a:pt x="918297" y="182271"/>
                  </a:lnTo>
                  <a:lnTo>
                    <a:pt x="891063" y="152876"/>
                  </a:lnTo>
                  <a:lnTo>
                    <a:pt x="861668" y="125642"/>
                  </a:lnTo>
                  <a:lnTo>
                    <a:pt x="830244" y="100705"/>
                  </a:lnTo>
                  <a:lnTo>
                    <a:pt x="796927" y="78199"/>
                  </a:lnTo>
                  <a:lnTo>
                    <a:pt x="761851" y="58258"/>
                  </a:lnTo>
                  <a:lnTo>
                    <a:pt x="725150" y="41017"/>
                  </a:lnTo>
                  <a:lnTo>
                    <a:pt x="686958" y="26609"/>
                  </a:lnTo>
                  <a:lnTo>
                    <a:pt x="647409" y="15169"/>
                  </a:lnTo>
                  <a:lnTo>
                    <a:pt x="606639" y="6831"/>
                  </a:lnTo>
                  <a:lnTo>
                    <a:pt x="564781" y="1730"/>
                  </a:lnTo>
                  <a:lnTo>
                    <a:pt x="521969" y="0"/>
                  </a:lnTo>
                  <a:close/>
                </a:path>
              </a:pathLst>
            </a:custGeom>
            <a:solidFill>
              <a:schemeClr val="bg1">
                <a:lumMod val="65000"/>
              </a:schemeClr>
            </a:solidFill>
          </p:spPr>
          <p:txBody>
            <a:bodyPr wrap="square" lIns="0" tIns="0" rIns="0" bIns="0" rtlCol="0"/>
            <a:lstStyle/>
            <a:p>
              <a:endParaRPr/>
            </a:p>
          </p:txBody>
        </p:sp>
        <p:sp>
          <p:nvSpPr>
            <p:cNvPr id="114" name="object 50">
              <a:extLst>
                <a:ext uri="{FF2B5EF4-FFF2-40B4-BE49-F238E27FC236}">
                  <a16:creationId xmlns:a16="http://schemas.microsoft.com/office/drawing/2014/main" id="{FF9A91C3-6C10-4763-927E-64B9A6D63FE8}"/>
                </a:ext>
              </a:extLst>
            </p:cNvPr>
            <p:cNvSpPr/>
            <p:nvPr/>
          </p:nvSpPr>
          <p:spPr>
            <a:xfrm>
              <a:off x="5816165" y="3625707"/>
              <a:ext cx="444347" cy="444347"/>
            </a:xfrm>
            <a:custGeom>
              <a:avLst/>
              <a:gdLst/>
              <a:ahLst/>
              <a:cxnLst/>
              <a:rect l="l" t="t" r="r" b="b"/>
              <a:pathLst>
                <a:path w="1043940" h="1043939">
                  <a:moveTo>
                    <a:pt x="521969" y="0"/>
                  </a:moveTo>
                  <a:lnTo>
                    <a:pt x="479158" y="1730"/>
                  </a:lnTo>
                  <a:lnTo>
                    <a:pt x="437300" y="6831"/>
                  </a:lnTo>
                  <a:lnTo>
                    <a:pt x="396530" y="15169"/>
                  </a:lnTo>
                  <a:lnTo>
                    <a:pt x="356981" y="26609"/>
                  </a:lnTo>
                  <a:lnTo>
                    <a:pt x="318789" y="41017"/>
                  </a:lnTo>
                  <a:lnTo>
                    <a:pt x="282088" y="58258"/>
                  </a:lnTo>
                  <a:lnTo>
                    <a:pt x="247012" y="78199"/>
                  </a:lnTo>
                  <a:lnTo>
                    <a:pt x="213695" y="100705"/>
                  </a:lnTo>
                  <a:lnTo>
                    <a:pt x="182271" y="125642"/>
                  </a:lnTo>
                  <a:lnTo>
                    <a:pt x="152876" y="152876"/>
                  </a:lnTo>
                  <a:lnTo>
                    <a:pt x="125642" y="182271"/>
                  </a:lnTo>
                  <a:lnTo>
                    <a:pt x="100705" y="213695"/>
                  </a:lnTo>
                  <a:lnTo>
                    <a:pt x="78199" y="247012"/>
                  </a:lnTo>
                  <a:lnTo>
                    <a:pt x="58258" y="282088"/>
                  </a:lnTo>
                  <a:lnTo>
                    <a:pt x="41017" y="318789"/>
                  </a:lnTo>
                  <a:lnTo>
                    <a:pt x="26609" y="356981"/>
                  </a:lnTo>
                  <a:lnTo>
                    <a:pt x="15169" y="396530"/>
                  </a:lnTo>
                  <a:lnTo>
                    <a:pt x="6831" y="437300"/>
                  </a:lnTo>
                  <a:lnTo>
                    <a:pt x="1730" y="479158"/>
                  </a:lnTo>
                  <a:lnTo>
                    <a:pt x="0" y="521970"/>
                  </a:lnTo>
                  <a:lnTo>
                    <a:pt x="1730" y="564781"/>
                  </a:lnTo>
                  <a:lnTo>
                    <a:pt x="6831" y="606639"/>
                  </a:lnTo>
                  <a:lnTo>
                    <a:pt x="15169" y="647409"/>
                  </a:lnTo>
                  <a:lnTo>
                    <a:pt x="26609" y="686958"/>
                  </a:lnTo>
                  <a:lnTo>
                    <a:pt x="41017" y="725150"/>
                  </a:lnTo>
                  <a:lnTo>
                    <a:pt x="58258" y="761851"/>
                  </a:lnTo>
                  <a:lnTo>
                    <a:pt x="78199" y="796927"/>
                  </a:lnTo>
                  <a:lnTo>
                    <a:pt x="100705" y="830244"/>
                  </a:lnTo>
                  <a:lnTo>
                    <a:pt x="125642" y="861668"/>
                  </a:lnTo>
                  <a:lnTo>
                    <a:pt x="152876" y="891063"/>
                  </a:lnTo>
                  <a:lnTo>
                    <a:pt x="182271" y="918297"/>
                  </a:lnTo>
                  <a:lnTo>
                    <a:pt x="213695" y="943234"/>
                  </a:lnTo>
                  <a:lnTo>
                    <a:pt x="247012" y="965740"/>
                  </a:lnTo>
                  <a:lnTo>
                    <a:pt x="282088" y="985681"/>
                  </a:lnTo>
                  <a:lnTo>
                    <a:pt x="318789" y="1002922"/>
                  </a:lnTo>
                  <a:lnTo>
                    <a:pt x="356981" y="1017330"/>
                  </a:lnTo>
                  <a:lnTo>
                    <a:pt x="396530" y="1028770"/>
                  </a:lnTo>
                  <a:lnTo>
                    <a:pt x="437300" y="1037108"/>
                  </a:lnTo>
                  <a:lnTo>
                    <a:pt x="479158" y="1042209"/>
                  </a:lnTo>
                  <a:lnTo>
                    <a:pt x="521969" y="1043940"/>
                  </a:lnTo>
                  <a:lnTo>
                    <a:pt x="564781" y="1042209"/>
                  </a:lnTo>
                  <a:lnTo>
                    <a:pt x="606639" y="1037108"/>
                  </a:lnTo>
                  <a:lnTo>
                    <a:pt x="647409" y="1028770"/>
                  </a:lnTo>
                  <a:lnTo>
                    <a:pt x="686958" y="1017330"/>
                  </a:lnTo>
                  <a:lnTo>
                    <a:pt x="725150" y="1002922"/>
                  </a:lnTo>
                  <a:lnTo>
                    <a:pt x="761851" y="985681"/>
                  </a:lnTo>
                  <a:lnTo>
                    <a:pt x="796927" y="965740"/>
                  </a:lnTo>
                  <a:lnTo>
                    <a:pt x="830244" y="943234"/>
                  </a:lnTo>
                  <a:lnTo>
                    <a:pt x="861668" y="918297"/>
                  </a:lnTo>
                  <a:lnTo>
                    <a:pt x="891063" y="891063"/>
                  </a:lnTo>
                  <a:lnTo>
                    <a:pt x="918297" y="861668"/>
                  </a:lnTo>
                  <a:lnTo>
                    <a:pt x="943234" y="830244"/>
                  </a:lnTo>
                  <a:lnTo>
                    <a:pt x="965740" y="796927"/>
                  </a:lnTo>
                  <a:lnTo>
                    <a:pt x="985681" y="761851"/>
                  </a:lnTo>
                  <a:lnTo>
                    <a:pt x="1002922" y="725150"/>
                  </a:lnTo>
                  <a:lnTo>
                    <a:pt x="1017330" y="686958"/>
                  </a:lnTo>
                  <a:lnTo>
                    <a:pt x="1028770" y="647409"/>
                  </a:lnTo>
                  <a:lnTo>
                    <a:pt x="1037108" y="606639"/>
                  </a:lnTo>
                  <a:lnTo>
                    <a:pt x="1042209" y="564781"/>
                  </a:lnTo>
                  <a:lnTo>
                    <a:pt x="1043939" y="521970"/>
                  </a:lnTo>
                  <a:lnTo>
                    <a:pt x="1042209" y="479158"/>
                  </a:lnTo>
                  <a:lnTo>
                    <a:pt x="1037108" y="437300"/>
                  </a:lnTo>
                  <a:lnTo>
                    <a:pt x="1028770" y="396530"/>
                  </a:lnTo>
                  <a:lnTo>
                    <a:pt x="1017330" y="356981"/>
                  </a:lnTo>
                  <a:lnTo>
                    <a:pt x="1002922" y="318789"/>
                  </a:lnTo>
                  <a:lnTo>
                    <a:pt x="985681" y="282088"/>
                  </a:lnTo>
                  <a:lnTo>
                    <a:pt x="965740" y="247012"/>
                  </a:lnTo>
                  <a:lnTo>
                    <a:pt x="943234" y="213695"/>
                  </a:lnTo>
                  <a:lnTo>
                    <a:pt x="918297" y="182271"/>
                  </a:lnTo>
                  <a:lnTo>
                    <a:pt x="891063" y="152876"/>
                  </a:lnTo>
                  <a:lnTo>
                    <a:pt x="861668" y="125642"/>
                  </a:lnTo>
                  <a:lnTo>
                    <a:pt x="830244" y="100705"/>
                  </a:lnTo>
                  <a:lnTo>
                    <a:pt x="796927" y="78199"/>
                  </a:lnTo>
                  <a:lnTo>
                    <a:pt x="761851" y="58258"/>
                  </a:lnTo>
                  <a:lnTo>
                    <a:pt x="725150" y="41017"/>
                  </a:lnTo>
                  <a:lnTo>
                    <a:pt x="686958" y="26609"/>
                  </a:lnTo>
                  <a:lnTo>
                    <a:pt x="647409" y="15169"/>
                  </a:lnTo>
                  <a:lnTo>
                    <a:pt x="606639" y="6831"/>
                  </a:lnTo>
                  <a:lnTo>
                    <a:pt x="564781" y="1730"/>
                  </a:lnTo>
                  <a:lnTo>
                    <a:pt x="521969" y="0"/>
                  </a:lnTo>
                  <a:close/>
                </a:path>
              </a:pathLst>
            </a:custGeom>
            <a:solidFill>
              <a:schemeClr val="tx2"/>
            </a:solidFill>
          </p:spPr>
          <p:txBody>
            <a:bodyPr wrap="square" lIns="0" tIns="0" rIns="0" bIns="0" rtlCol="0"/>
            <a:lstStyle/>
            <a:p>
              <a:endParaRPr/>
            </a:p>
          </p:txBody>
        </p:sp>
      </p:grpSp>
      <p:pic>
        <p:nvPicPr>
          <p:cNvPr id="1026" name="Picture 2" descr="service Icon 676347">
            <a:extLst>
              <a:ext uri="{FF2B5EF4-FFF2-40B4-BE49-F238E27FC236}">
                <a16:creationId xmlns:a16="http://schemas.microsoft.com/office/drawing/2014/main" id="{A3C19210-2929-4CAF-B26E-2DEB2DD35EA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918794" y="3717705"/>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2" descr="service Icon 676347">
            <a:extLst>
              <a:ext uri="{FF2B5EF4-FFF2-40B4-BE49-F238E27FC236}">
                <a16:creationId xmlns:a16="http://schemas.microsoft.com/office/drawing/2014/main" id="{A0A22733-A42D-46A7-ACE0-1316314D752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19447" y="1759655"/>
            <a:ext cx="351557" cy="351557"/>
          </a:xfrm>
          <a:prstGeom prst="rect">
            <a:avLst/>
          </a:prstGeom>
          <a:noFill/>
          <a:extLst>
            <a:ext uri="{909E8E84-426E-40DD-AFC4-6F175D3DCCD1}">
              <a14:hiddenFill xmlns:a14="http://schemas.microsoft.com/office/drawing/2010/main">
                <a:solidFill>
                  <a:srgbClr val="FFFFFF"/>
                </a:solidFill>
              </a14:hiddenFill>
            </a:ext>
          </a:extLst>
        </p:spPr>
      </p:pic>
      <p:sp>
        <p:nvSpPr>
          <p:cNvPr id="121" name="Rectangle 120">
            <a:extLst>
              <a:ext uri="{FF2B5EF4-FFF2-40B4-BE49-F238E27FC236}">
                <a16:creationId xmlns:a16="http://schemas.microsoft.com/office/drawing/2014/main" id="{FB40CDD2-150D-4B8A-B49F-B013BF409A71}"/>
              </a:ext>
            </a:extLst>
          </p:cNvPr>
          <p:cNvSpPr/>
          <p:nvPr/>
        </p:nvSpPr>
        <p:spPr>
          <a:xfrm>
            <a:off x="9750264" y="1680877"/>
            <a:ext cx="2140548" cy="44434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Boost Demand</a:t>
            </a:r>
          </a:p>
        </p:txBody>
      </p:sp>
      <p:pic>
        <p:nvPicPr>
          <p:cNvPr id="1028" name="Picture 4" descr="demand analysis Icon 2031310">
            <a:extLst>
              <a:ext uri="{FF2B5EF4-FFF2-40B4-BE49-F238E27FC236}">
                <a16:creationId xmlns:a16="http://schemas.microsoft.com/office/drawing/2014/main" id="{FC51F85C-E60B-4123-8920-3BFF1A6C7AF7}"/>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839316" y="1726831"/>
            <a:ext cx="352434" cy="352434"/>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4" descr="demand analysis Icon 2031310">
            <a:extLst>
              <a:ext uri="{FF2B5EF4-FFF2-40B4-BE49-F238E27FC236}">
                <a16:creationId xmlns:a16="http://schemas.microsoft.com/office/drawing/2014/main" id="{6353B251-DC56-4DA4-9600-68AFC33E1F2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918794" y="443528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6B90075-6714-4D31-91BE-A9D89797BC80}"/>
              </a:ext>
            </a:extLst>
          </p:cNvPr>
          <p:cNvSpPr txBox="1"/>
          <p:nvPr/>
        </p:nvSpPr>
        <p:spPr>
          <a:xfrm>
            <a:off x="548244" y="1197793"/>
            <a:ext cx="11342568" cy="338554"/>
          </a:xfrm>
          <a:prstGeom prst="rect">
            <a:avLst/>
          </a:prstGeom>
          <a:noFill/>
          <a:ln w="19050">
            <a:solidFill>
              <a:srgbClr val="00162F"/>
            </a:solidFill>
            <a:prstDash val="dash"/>
          </a:ln>
        </p:spPr>
        <p:txBody>
          <a:bodyPr wrap="square" rtlCol="0">
            <a:spAutoFit/>
          </a:bodyPr>
          <a:lstStyle/>
          <a:p>
            <a:pPr algn="ctr"/>
            <a:r>
              <a:rPr lang="en-GB" sz="1600" b="1" dirty="0"/>
              <a:t>Overarching brandings strategy focusses on building synergies between two sides of the platform – that of demand and supply</a:t>
            </a:r>
          </a:p>
        </p:txBody>
      </p:sp>
      <p:sp>
        <p:nvSpPr>
          <p:cNvPr id="4" name="Oval 3">
            <a:extLst>
              <a:ext uri="{FF2B5EF4-FFF2-40B4-BE49-F238E27FC236}">
                <a16:creationId xmlns:a16="http://schemas.microsoft.com/office/drawing/2014/main" id="{672D0F2D-150E-4ED8-AC95-50ADA99D68DE}"/>
              </a:ext>
            </a:extLst>
          </p:cNvPr>
          <p:cNvSpPr/>
          <p:nvPr/>
        </p:nvSpPr>
        <p:spPr>
          <a:xfrm>
            <a:off x="880719" y="2507772"/>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52D48008-1C6C-46D7-AC45-A2C9BAA85838}"/>
              </a:ext>
            </a:extLst>
          </p:cNvPr>
          <p:cNvSpPr/>
          <p:nvPr/>
        </p:nvSpPr>
        <p:spPr>
          <a:xfrm>
            <a:off x="3258159" y="2507772"/>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1BEE9EE0-7376-4716-917A-7BEDFB11FF1A}"/>
              </a:ext>
            </a:extLst>
          </p:cNvPr>
          <p:cNvSpPr/>
          <p:nvPr/>
        </p:nvSpPr>
        <p:spPr>
          <a:xfrm>
            <a:off x="880719" y="4511021"/>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5D38FCFA-23C5-4175-9D0F-156A89A5741E}"/>
              </a:ext>
            </a:extLst>
          </p:cNvPr>
          <p:cNvSpPr/>
          <p:nvPr/>
        </p:nvSpPr>
        <p:spPr>
          <a:xfrm>
            <a:off x="3258159" y="4511021"/>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D656BAF1-8E0A-4953-ABA6-96D717EC7461}"/>
              </a:ext>
            </a:extLst>
          </p:cNvPr>
          <p:cNvCxnSpPr/>
          <p:nvPr/>
        </p:nvCxnSpPr>
        <p:spPr>
          <a:xfrm>
            <a:off x="353790" y="4109577"/>
            <a:ext cx="4800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C7C0BD3-1F24-4753-A935-48D11EFA8906}"/>
              </a:ext>
            </a:extLst>
          </p:cNvPr>
          <p:cNvSpPr txBox="1"/>
          <p:nvPr/>
        </p:nvSpPr>
        <p:spPr>
          <a:xfrm>
            <a:off x="811172" y="3573245"/>
            <a:ext cx="1053494" cy="369332"/>
          </a:xfrm>
          <a:prstGeom prst="rect">
            <a:avLst/>
          </a:prstGeom>
          <a:noFill/>
        </p:spPr>
        <p:txBody>
          <a:bodyPr wrap="square" rtlCol="0">
            <a:spAutoFit/>
          </a:bodyPr>
          <a:lstStyle/>
          <a:p>
            <a:pPr algn="ctr"/>
            <a:r>
              <a:rPr lang="en-GB" b="1" dirty="0">
                <a:solidFill>
                  <a:schemeClr val="tx2"/>
                </a:solidFill>
              </a:rPr>
              <a:t>Channels</a:t>
            </a:r>
          </a:p>
        </p:txBody>
      </p:sp>
      <p:sp>
        <p:nvSpPr>
          <p:cNvPr id="56" name="TextBox 55">
            <a:extLst>
              <a:ext uri="{FF2B5EF4-FFF2-40B4-BE49-F238E27FC236}">
                <a16:creationId xmlns:a16="http://schemas.microsoft.com/office/drawing/2014/main" id="{F287E2A0-A8D8-44E9-848B-2B0AE6149409}"/>
              </a:ext>
            </a:extLst>
          </p:cNvPr>
          <p:cNvSpPr txBox="1"/>
          <p:nvPr/>
        </p:nvSpPr>
        <p:spPr>
          <a:xfrm>
            <a:off x="2626697" y="3435829"/>
            <a:ext cx="2170000" cy="646331"/>
          </a:xfrm>
          <a:prstGeom prst="rect">
            <a:avLst/>
          </a:prstGeom>
          <a:noFill/>
        </p:spPr>
        <p:txBody>
          <a:bodyPr wrap="square" rtlCol="0">
            <a:spAutoFit/>
          </a:bodyPr>
          <a:lstStyle/>
          <a:p>
            <a:pPr algn="ctr"/>
            <a:r>
              <a:rPr lang="en-GB" b="1" dirty="0">
                <a:solidFill>
                  <a:schemeClr val="tx2"/>
                </a:solidFill>
              </a:rPr>
              <a:t>Partner Growth Services</a:t>
            </a:r>
          </a:p>
        </p:txBody>
      </p:sp>
      <p:sp>
        <p:nvSpPr>
          <p:cNvPr id="57" name="TextBox 56">
            <a:extLst>
              <a:ext uri="{FF2B5EF4-FFF2-40B4-BE49-F238E27FC236}">
                <a16:creationId xmlns:a16="http://schemas.microsoft.com/office/drawing/2014/main" id="{24549B62-4D98-4026-8CDF-C376B63CF9FA}"/>
              </a:ext>
            </a:extLst>
          </p:cNvPr>
          <p:cNvSpPr txBox="1"/>
          <p:nvPr/>
        </p:nvSpPr>
        <p:spPr>
          <a:xfrm>
            <a:off x="470484" y="5503698"/>
            <a:ext cx="1739037" cy="646331"/>
          </a:xfrm>
          <a:prstGeom prst="rect">
            <a:avLst/>
          </a:prstGeom>
          <a:noFill/>
        </p:spPr>
        <p:txBody>
          <a:bodyPr wrap="square" rtlCol="0">
            <a:spAutoFit/>
          </a:bodyPr>
          <a:lstStyle/>
          <a:p>
            <a:pPr algn="ctr"/>
            <a:r>
              <a:rPr lang="en-GB" b="1" dirty="0">
                <a:solidFill>
                  <a:schemeClr val="tx2"/>
                </a:solidFill>
              </a:rPr>
              <a:t>Perception</a:t>
            </a:r>
          </a:p>
          <a:p>
            <a:pPr algn="ctr"/>
            <a:r>
              <a:rPr lang="en-GB" b="1" dirty="0">
                <a:solidFill>
                  <a:schemeClr val="tx2"/>
                </a:solidFill>
              </a:rPr>
              <a:t>Management</a:t>
            </a:r>
          </a:p>
        </p:txBody>
      </p:sp>
      <p:sp>
        <p:nvSpPr>
          <p:cNvPr id="58" name="TextBox 57">
            <a:extLst>
              <a:ext uri="{FF2B5EF4-FFF2-40B4-BE49-F238E27FC236}">
                <a16:creationId xmlns:a16="http://schemas.microsoft.com/office/drawing/2014/main" id="{086C4A45-AC34-466A-9E15-F720A957DF59}"/>
              </a:ext>
            </a:extLst>
          </p:cNvPr>
          <p:cNvSpPr txBox="1"/>
          <p:nvPr/>
        </p:nvSpPr>
        <p:spPr>
          <a:xfrm>
            <a:off x="2902226" y="5503698"/>
            <a:ext cx="1739037" cy="646331"/>
          </a:xfrm>
          <a:prstGeom prst="rect">
            <a:avLst/>
          </a:prstGeom>
          <a:noFill/>
        </p:spPr>
        <p:txBody>
          <a:bodyPr wrap="square" rtlCol="0">
            <a:spAutoFit/>
          </a:bodyPr>
          <a:lstStyle/>
          <a:p>
            <a:pPr algn="ctr"/>
            <a:r>
              <a:rPr lang="en-GB" b="1" dirty="0">
                <a:solidFill>
                  <a:schemeClr val="tx2"/>
                </a:solidFill>
              </a:rPr>
              <a:t>Sentiment</a:t>
            </a:r>
          </a:p>
          <a:p>
            <a:pPr algn="ctr"/>
            <a:r>
              <a:rPr lang="en-GB" b="1" dirty="0">
                <a:solidFill>
                  <a:schemeClr val="tx2"/>
                </a:solidFill>
              </a:rPr>
              <a:t>Management</a:t>
            </a:r>
          </a:p>
        </p:txBody>
      </p:sp>
      <p:sp>
        <p:nvSpPr>
          <p:cNvPr id="59" name="Oval 58">
            <a:extLst>
              <a:ext uri="{FF2B5EF4-FFF2-40B4-BE49-F238E27FC236}">
                <a16:creationId xmlns:a16="http://schemas.microsoft.com/office/drawing/2014/main" id="{F8FD8BCC-C0E8-48CD-BE04-459C5A50D0EC}"/>
              </a:ext>
            </a:extLst>
          </p:cNvPr>
          <p:cNvSpPr/>
          <p:nvPr/>
        </p:nvSpPr>
        <p:spPr>
          <a:xfrm>
            <a:off x="7579682" y="2507772"/>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Oval 59">
            <a:extLst>
              <a:ext uri="{FF2B5EF4-FFF2-40B4-BE49-F238E27FC236}">
                <a16:creationId xmlns:a16="http://schemas.microsoft.com/office/drawing/2014/main" id="{D7CA6594-236D-48CB-B1C9-7BD8E5649E58}"/>
              </a:ext>
            </a:extLst>
          </p:cNvPr>
          <p:cNvSpPr/>
          <p:nvPr/>
        </p:nvSpPr>
        <p:spPr>
          <a:xfrm>
            <a:off x="9957122" y="2507772"/>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 60">
            <a:extLst>
              <a:ext uri="{FF2B5EF4-FFF2-40B4-BE49-F238E27FC236}">
                <a16:creationId xmlns:a16="http://schemas.microsoft.com/office/drawing/2014/main" id="{B1D34A72-F3D4-47E8-8844-103801D01125}"/>
              </a:ext>
            </a:extLst>
          </p:cNvPr>
          <p:cNvSpPr/>
          <p:nvPr/>
        </p:nvSpPr>
        <p:spPr>
          <a:xfrm>
            <a:off x="7579682" y="4511021"/>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21727A67-335E-4FE8-87F8-C9FA2B3FA432}"/>
              </a:ext>
            </a:extLst>
          </p:cNvPr>
          <p:cNvSpPr/>
          <p:nvPr/>
        </p:nvSpPr>
        <p:spPr>
          <a:xfrm>
            <a:off x="9957122" y="4511021"/>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3" name="Straight Connector 62">
            <a:extLst>
              <a:ext uri="{FF2B5EF4-FFF2-40B4-BE49-F238E27FC236}">
                <a16:creationId xmlns:a16="http://schemas.microsoft.com/office/drawing/2014/main" id="{74759F9C-B1B2-4209-BE5F-CDB7E672A081}"/>
              </a:ext>
            </a:extLst>
          </p:cNvPr>
          <p:cNvCxnSpPr/>
          <p:nvPr/>
        </p:nvCxnSpPr>
        <p:spPr>
          <a:xfrm>
            <a:off x="7052753" y="4109577"/>
            <a:ext cx="4800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3C234805-A8A4-4B5F-BCA4-4E222A63F95D}"/>
              </a:ext>
            </a:extLst>
          </p:cNvPr>
          <p:cNvSpPr txBox="1"/>
          <p:nvPr/>
        </p:nvSpPr>
        <p:spPr>
          <a:xfrm>
            <a:off x="7510135" y="3573245"/>
            <a:ext cx="1053494" cy="369332"/>
          </a:xfrm>
          <a:prstGeom prst="rect">
            <a:avLst/>
          </a:prstGeom>
          <a:noFill/>
        </p:spPr>
        <p:txBody>
          <a:bodyPr wrap="square" rtlCol="0">
            <a:spAutoFit/>
          </a:bodyPr>
          <a:lstStyle/>
          <a:p>
            <a:pPr algn="ctr"/>
            <a:r>
              <a:rPr lang="en-GB" b="1" dirty="0">
                <a:solidFill>
                  <a:schemeClr val="tx1">
                    <a:lumMod val="50000"/>
                    <a:lumOff val="50000"/>
                  </a:schemeClr>
                </a:solidFill>
              </a:rPr>
              <a:t>Channels</a:t>
            </a:r>
          </a:p>
        </p:txBody>
      </p:sp>
      <p:sp>
        <p:nvSpPr>
          <p:cNvPr id="65" name="TextBox 64">
            <a:extLst>
              <a:ext uri="{FF2B5EF4-FFF2-40B4-BE49-F238E27FC236}">
                <a16:creationId xmlns:a16="http://schemas.microsoft.com/office/drawing/2014/main" id="{0927466F-F0A1-4D7B-B11F-153E387CB8CD}"/>
              </a:ext>
            </a:extLst>
          </p:cNvPr>
          <p:cNvSpPr txBox="1"/>
          <p:nvPr/>
        </p:nvSpPr>
        <p:spPr>
          <a:xfrm>
            <a:off x="9325660" y="3573245"/>
            <a:ext cx="2170000" cy="369332"/>
          </a:xfrm>
          <a:prstGeom prst="rect">
            <a:avLst/>
          </a:prstGeom>
          <a:noFill/>
        </p:spPr>
        <p:txBody>
          <a:bodyPr wrap="square" rtlCol="0">
            <a:spAutoFit/>
          </a:bodyPr>
          <a:lstStyle/>
          <a:p>
            <a:pPr algn="ctr"/>
            <a:r>
              <a:rPr lang="en-GB" b="1" dirty="0">
                <a:solidFill>
                  <a:schemeClr val="tx1">
                    <a:lumMod val="50000"/>
                    <a:lumOff val="50000"/>
                  </a:schemeClr>
                </a:solidFill>
              </a:rPr>
              <a:t>Advertisements</a:t>
            </a:r>
          </a:p>
        </p:txBody>
      </p:sp>
      <p:sp>
        <p:nvSpPr>
          <p:cNvPr id="66" name="TextBox 65">
            <a:extLst>
              <a:ext uri="{FF2B5EF4-FFF2-40B4-BE49-F238E27FC236}">
                <a16:creationId xmlns:a16="http://schemas.microsoft.com/office/drawing/2014/main" id="{8A560C8C-0681-4E3E-993D-1768529981D3}"/>
              </a:ext>
            </a:extLst>
          </p:cNvPr>
          <p:cNvSpPr txBox="1"/>
          <p:nvPr/>
        </p:nvSpPr>
        <p:spPr>
          <a:xfrm>
            <a:off x="7169447" y="5503698"/>
            <a:ext cx="1739037" cy="646331"/>
          </a:xfrm>
          <a:prstGeom prst="rect">
            <a:avLst/>
          </a:prstGeom>
          <a:noFill/>
        </p:spPr>
        <p:txBody>
          <a:bodyPr wrap="square" rtlCol="0">
            <a:spAutoFit/>
          </a:bodyPr>
          <a:lstStyle/>
          <a:p>
            <a:pPr algn="ctr"/>
            <a:r>
              <a:rPr lang="en-GB" b="1" dirty="0">
                <a:solidFill>
                  <a:schemeClr val="tx1">
                    <a:lumMod val="50000"/>
                    <a:lumOff val="50000"/>
                  </a:schemeClr>
                </a:solidFill>
              </a:rPr>
              <a:t>Sales</a:t>
            </a:r>
          </a:p>
          <a:p>
            <a:pPr algn="ctr"/>
            <a:r>
              <a:rPr lang="en-GB" b="1" dirty="0">
                <a:solidFill>
                  <a:schemeClr val="tx1">
                    <a:lumMod val="50000"/>
                    <a:lumOff val="50000"/>
                  </a:schemeClr>
                </a:solidFill>
              </a:rPr>
              <a:t>Promotion</a:t>
            </a:r>
          </a:p>
        </p:txBody>
      </p:sp>
      <p:sp>
        <p:nvSpPr>
          <p:cNvPr id="67" name="TextBox 66">
            <a:extLst>
              <a:ext uri="{FF2B5EF4-FFF2-40B4-BE49-F238E27FC236}">
                <a16:creationId xmlns:a16="http://schemas.microsoft.com/office/drawing/2014/main" id="{6FB531DC-DFCD-46A9-815F-76320C29DE02}"/>
              </a:ext>
            </a:extLst>
          </p:cNvPr>
          <p:cNvSpPr txBox="1"/>
          <p:nvPr/>
        </p:nvSpPr>
        <p:spPr>
          <a:xfrm>
            <a:off x="9601189" y="5503698"/>
            <a:ext cx="1739037" cy="646331"/>
          </a:xfrm>
          <a:prstGeom prst="rect">
            <a:avLst/>
          </a:prstGeom>
          <a:noFill/>
        </p:spPr>
        <p:txBody>
          <a:bodyPr wrap="square" rtlCol="0">
            <a:spAutoFit/>
          </a:bodyPr>
          <a:lstStyle/>
          <a:p>
            <a:pPr algn="ctr"/>
            <a:r>
              <a:rPr lang="en-GB" b="1" dirty="0">
                <a:solidFill>
                  <a:schemeClr val="tx1">
                    <a:lumMod val="50000"/>
                    <a:lumOff val="50000"/>
                  </a:schemeClr>
                </a:solidFill>
              </a:rPr>
              <a:t>CEO </a:t>
            </a:r>
          </a:p>
          <a:p>
            <a:pPr algn="ctr"/>
            <a:r>
              <a:rPr lang="en-GB" b="1" dirty="0">
                <a:solidFill>
                  <a:schemeClr val="tx1">
                    <a:lumMod val="50000"/>
                    <a:lumOff val="50000"/>
                  </a:schemeClr>
                </a:solidFill>
              </a:rPr>
              <a:t>Activism</a:t>
            </a:r>
          </a:p>
        </p:txBody>
      </p:sp>
      <p:grpSp>
        <p:nvGrpSpPr>
          <p:cNvPr id="30" name="Group 29">
            <a:extLst>
              <a:ext uri="{FF2B5EF4-FFF2-40B4-BE49-F238E27FC236}">
                <a16:creationId xmlns:a16="http://schemas.microsoft.com/office/drawing/2014/main" id="{9FE1380D-BDA9-41F5-9EFD-3EB4AD24308C}"/>
              </a:ext>
            </a:extLst>
          </p:cNvPr>
          <p:cNvGrpSpPr/>
          <p:nvPr/>
        </p:nvGrpSpPr>
        <p:grpSpPr>
          <a:xfrm>
            <a:off x="1004498" y="2757469"/>
            <a:ext cx="666842" cy="471494"/>
            <a:chOff x="928344" y="2700308"/>
            <a:chExt cx="857249" cy="606122"/>
          </a:xfrm>
          <a:solidFill>
            <a:schemeClr val="tx2"/>
          </a:solidFill>
        </p:grpSpPr>
        <p:sp>
          <p:nvSpPr>
            <p:cNvPr id="25" name="Freeform: Shape 24">
              <a:extLst>
                <a:ext uri="{FF2B5EF4-FFF2-40B4-BE49-F238E27FC236}">
                  <a16:creationId xmlns:a16="http://schemas.microsoft.com/office/drawing/2014/main" id="{E3818C53-29FF-4289-9777-890BCB8C6F7A}"/>
                </a:ext>
              </a:extLst>
            </p:cNvPr>
            <p:cNvSpPr/>
            <p:nvPr/>
          </p:nvSpPr>
          <p:spPr>
            <a:xfrm>
              <a:off x="1282467" y="2700308"/>
              <a:ext cx="503126" cy="308495"/>
            </a:xfrm>
            <a:custGeom>
              <a:avLst/>
              <a:gdLst>
                <a:gd name="connsiteX0" fmla="*/ 152978 w 503126"/>
                <a:gd name="connsiteY0" fmla="*/ 120682 h 308495"/>
                <a:gd name="connsiteX1" fmla="*/ 189182 w 503126"/>
                <a:gd name="connsiteY1" fmla="*/ 131264 h 308495"/>
                <a:gd name="connsiteX2" fmla="*/ 260886 w 503126"/>
                <a:gd name="connsiteY2" fmla="*/ 196967 h 308495"/>
                <a:gd name="connsiteX3" fmla="*/ 323151 w 503126"/>
                <a:gd name="connsiteY3" fmla="*/ 247964 h 308495"/>
                <a:gd name="connsiteX4" fmla="*/ 388274 w 503126"/>
                <a:gd name="connsiteY4" fmla="*/ 308496 h 308495"/>
                <a:gd name="connsiteX5" fmla="*/ 503126 w 503126"/>
                <a:gd name="connsiteY5" fmla="*/ 175422 h 308495"/>
                <a:gd name="connsiteX6" fmla="*/ 324656 w 503126"/>
                <a:gd name="connsiteY6" fmla="*/ 4591 h 308495"/>
                <a:gd name="connsiteX7" fmla="*/ 281689 w 503126"/>
                <a:gd name="connsiteY7" fmla="*/ 46758 h 308495"/>
                <a:gd name="connsiteX8" fmla="*/ 257324 w 503126"/>
                <a:gd name="connsiteY8" fmla="*/ 38652 h 308495"/>
                <a:gd name="connsiteX9" fmla="*/ 190011 w 503126"/>
                <a:gd name="connsiteY9" fmla="*/ 5896 h 308495"/>
                <a:gd name="connsiteX10" fmla="*/ 161483 w 503126"/>
                <a:gd name="connsiteY10" fmla="*/ 0 h 308495"/>
                <a:gd name="connsiteX11" fmla="*/ 120812 w 503126"/>
                <a:gd name="connsiteY11" fmla="*/ 11516 h 308495"/>
                <a:gd name="connsiteX12" fmla="*/ 16684 w 503126"/>
                <a:gd name="connsiteY12" fmla="*/ 84544 h 308495"/>
                <a:gd name="connsiteX13" fmla="*/ 7788 w 503126"/>
                <a:gd name="connsiteY13" fmla="*/ 140189 h 308495"/>
                <a:gd name="connsiteX14" fmla="*/ 13960 w 503126"/>
                <a:gd name="connsiteY14" fmla="*/ 148533 h 308495"/>
                <a:gd name="connsiteX15" fmla="*/ 50127 w 503126"/>
                <a:gd name="connsiteY15" fmla="*/ 166164 h 308495"/>
                <a:gd name="connsiteX16" fmla="*/ 72529 w 503126"/>
                <a:gd name="connsiteY16" fmla="*/ 160077 h 308495"/>
                <a:gd name="connsiteX17" fmla="*/ 121936 w 503126"/>
                <a:gd name="connsiteY17" fmla="*/ 128540 h 308495"/>
                <a:gd name="connsiteX18" fmla="*/ 152978 w 503126"/>
                <a:gd name="connsiteY18" fmla="*/ 120682 h 30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126" h="308495">
                  <a:moveTo>
                    <a:pt x="152978" y="120682"/>
                  </a:moveTo>
                  <a:cubicBezTo>
                    <a:pt x="166141" y="120682"/>
                    <a:pt x="179438" y="124263"/>
                    <a:pt x="189182" y="131264"/>
                  </a:cubicBezTo>
                  <a:lnTo>
                    <a:pt x="260886" y="196967"/>
                  </a:lnTo>
                  <a:cubicBezTo>
                    <a:pt x="278898" y="209921"/>
                    <a:pt x="306892" y="232886"/>
                    <a:pt x="323151" y="247964"/>
                  </a:cubicBezTo>
                  <a:lnTo>
                    <a:pt x="388274" y="308496"/>
                  </a:lnTo>
                  <a:lnTo>
                    <a:pt x="503126" y="175422"/>
                  </a:lnTo>
                  <a:lnTo>
                    <a:pt x="324656" y="4591"/>
                  </a:lnTo>
                  <a:lnTo>
                    <a:pt x="281689" y="46758"/>
                  </a:lnTo>
                  <a:cubicBezTo>
                    <a:pt x="281689" y="46758"/>
                    <a:pt x="267316" y="43510"/>
                    <a:pt x="257324" y="38652"/>
                  </a:cubicBezTo>
                  <a:lnTo>
                    <a:pt x="190011" y="5896"/>
                  </a:lnTo>
                  <a:cubicBezTo>
                    <a:pt x="181829" y="1915"/>
                    <a:pt x="171751" y="0"/>
                    <a:pt x="161483" y="0"/>
                  </a:cubicBezTo>
                  <a:cubicBezTo>
                    <a:pt x="146710" y="0"/>
                    <a:pt x="131489" y="3972"/>
                    <a:pt x="120812" y="11516"/>
                  </a:cubicBezTo>
                  <a:lnTo>
                    <a:pt x="16684" y="84544"/>
                  </a:lnTo>
                  <a:cubicBezTo>
                    <a:pt x="-1413" y="97345"/>
                    <a:pt x="-5423" y="122377"/>
                    <a:pt x="7788" y="140189"/>
                  </a:cubicBezTo>
                  <a:lnTo>
                    <a:pt x="13960" y="148533"/>
                  </a:lnTo>
                  <a:cubicBezTo>
                    <a:pt x="22428" y="159934"/>
                    <a:pt x="36277" y="166164"/>
                    <a:pt x="50127" y="166164"/>
                  </a:cubicBezTo>
                  <a:cubicBezTo>
                    <a:pt x="57918" y="166164"/>
                    <a:pt x="65700" y="164201"/>
                    <a:pt x="72529" y="160077"/>
                  </a:cubicBezTo>
                  <a:lnTo>
                    <a:pt x="121936" y="128540"/>
                  </a:lnTo>
                  <a:cubicBezTo>
                    <a:pt x="130670" y="123282"/>
                    <a:pt x="141767" y="120682"/>
                    <a:pt x="152978" y="120682"/>
                  </a:cubicBezTo>
                  <a:close/>
                </a:path>
              </a:pathLst>
            </a:custGeom>
            <a:grpFill/>
            <a:ln w="952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2D439630-3344-49BF-9259-AFDA8C6F0BE6}"/>
                </a:ext>
              </a:extLst>
            </p:cNvPr>
            <p:cNvSpPr/>
            <p:nvPr/>
          </p:nvSpPr>
          <p:spPr>
            <a:xfrm>
              <a:off x="928344" y="2712652"/>
              <a:ext cx="735196" cy="571389"/>
            </a:xfrm>
            <a:custGeom>
              <a:avLst/>
              <a:gdLst>
                <a:gd name="connsiteX0" fmla="*/ 722357 w 735196"/>
                <a:gd name="connsiteY0" fmla="*/ 344967 h 571389"/>
                <a:gd name="connsiteX1" fmla="*/ 613372 w 735196"/>
                <a:gd name="connsiteY1" fmla="*/ 243688 h 571389"/>
                <a:gd name="connsiteX2" fmla="*/ 582787 w 735196"/>
                <a:gd name="connsiteY2" fmla="*/ 219827 h 571389"/>
                <a:gd name="connsiteX3" fmla="*/ 514483 w 735196"/>
                <a:gd name="connsiteY3" fmla="*/ 157267 h 571389"/>
                <a:gd name="connsiteX4" fmla="*/ 507111 w 735196"/>
                <a:gd name="connsiteY4" fmla="*/ 156086 h 571389"/>
                <a:gd name="connsiteX5" fmla="*/ 500872 w 735196"/>
                <a:gd name="connsiteY5" fmla="*/ 157029 h 571389"/>
                <a:gd name="connsiteX6" fmla="*/ 451342 w 735196"/>
                <a:gd name="connsiteY6" fmla="*/ 188605 h 571389"/>
                <a:gd name="connsiteX7" fmla="*/ 404279 w 735196"/>
                <a:gd name="connsiteY7" fmla="*/ 201559 h 571389"/>
                <a:gd name="connsiteX8" fmla="*/ 329756 w 735196"/>
                <a:gd name="connsiteY8" fmla="*/ 164592 h 571389"/>
                <a:gd name="connsiteX9" fmla="*/ 323602 w 735196"/>
                <a:gd name="connsiteY9" fmla="*/ 156296 h 571389"/>
                <a:gd name="connsiteX10" fmla="*/ 307515 w 735196"/>
                <a:gd name="connsiteY10" fmla="*/ 90592 h 571389"/>
                <a:gd name="connsiteX11" fmla="*/ 343433 w 735196"/>
                <a:gd name="connsiteY11" fmla="*/ 33118 h 571389"/>
                <a:gd name="connsiteX12" fmla="*/ 354644 w 735196"/>
                <a:gd name="connsiteY12" fmla="*/ 25260 h 571389"/>
                <a:gd name="connsiteX13" fmla="*/ 307391 w 735196"/>
                <a:gd name="connsiteY13" fmla="*/ 30623 h 571389"/>
                <a:gd name="connsiteX14" fmla="*/ 278340 w 735196"/>
                <a:gd name="connsiteY14" fmla="*/ 43272 h 571389"/>
                <a:gd name="connsiteX15" fmla="*/ 239058 w 735196"/>
                <a:gd name="connsiteY15" fmla="*/ 50111 h 571389"/>
                <a:gd name="connsiteX16" fmla="*/ 185252 w 735196"/>
                <a:gd name="connsiteY16" fmla="*/ 0 h 571389"/>
                <a:gd name="connsiteX17" fmla="*/ 0 w 735196"/>
                <a:gd name="connsiteY17" fmla="*/ 184004 h 571389"/>
                <a:gd name="connsiteX18" fmla="*/ 69666 w 735196"/>
                <a:gd name="connsiteY18" fmla="*/ 254070 h 571389"/>
                <a:gd name="connsiteX19" fmla="*/ 85487 w 735196"/>
                <a:gd name="connsiteY19" fmla="*/ 237487 h 571389"/>
                <a:gd name="connsiteX20" fmla="*/ 149228 w 735196"/>
                <a:gd name="connsiteY20" fmla="*/ 210236 h 571389"/>
                <a:gd name="connsiteX21" fmla="*/ 210007 w 735196"/>
                <a:gd name="connsiteY21" fmla="*/ 234534 h 571389"/>
                <a:gd name="connsiteX22" fmla="*/ 217503 w 735196"/>
                <a:gd name="connsiteY22" fmla="*/ 241687 h 571389"/>
                <a:gd name="connsiteX23" fmla="*/ 238830 w 735196"/>
                <a:gd name="connsiteY23" fmla="*/ 273434 h 571389"/>
                <a:gd name="connsiteX24" fmla="*/ 277501 w 735196"/>
                <a:gd name="connsiteY24" fmla="*/ 294942 h 571389"/>
                <a:gd name="connsiteX25" fmla="*/ 284959 w 735196"/>
                <a:gd name="connsiteY25" fmla="*/ 302066 h 571389"/>
                <a:gd name="connsiteX26" fmla="*/ 312230 w 735196"/>
                <a:gd name="connsiteY26" fmla="*/ 363655 h 571389"/>
                <a:gd name="connsiteX27" fmla="*/ 326736 w 735196"/>
                <a:gd name="connsiteY27" fmla="*/ 374866 h 571389"/>
                <a:gd name="connsiteX28" fmla="*/ 334280 w 735196"/>
                <a:gd name="connsiteY28" fmla="*/ 382057 h 571389"/>
                <a:gd name="connsiteX29" fmla="*/ 356778 w 735196"/>
                <a:gd name="connsiteY29" fmla="*/ 417166 h 571389"/>
                <a:gd name="connsiteX30" fmla="*/ 392678 w 735196"/>
                <a:gd name="connsiteY30" fmla="*/ 437855 h 571389"/>
                <a:gd name="connsiteX31" fmla="*/ 400307 w 735196"/>
                <a:gd name="connsiteY31" fmla="*/ 445103 h 571389"/>
                <a:gd name="connsiteX32" fmla="*/ 414347 w 735196"/>
                <a:gd name="connsiteY32" fmla="*/ 555308 h 571389"/>
                <a:gd name="connsiteX33" fmla="*/ 420062 w 735196"/>
                <a:gd name="connsiteY33" fmla="*/ 560642 h 571389"/>
                <a:gd name="connsiteX34" fmla="*/ 477041 w 735196"/>
                <a:gd name="connsiteY34" fmla="*/ 558575 h 571389"/>
                <a:gd name="connsiteX35" fmla="*/ 484099 w 735196"/>
                <a:gd name="connsiteY35" fmla="*/ 550955 h 571389"/>
                <a:gd name="connsiteX36" fmla="*/ 482822 w 735196"/>
                <a:gd name="connsiteY36" fmla="*/ 495071 h 571389"/>
                <a:gd name="connsiteX37" fmla="*/ 535076 w 735196"/>
                <a:gd name="connsiteY37" fmla="*/ 543544 h 571389"/>
                <a:gd name="connsiteX38" fmla="*/ 592084 w 735196"/>
                <a:gd name="connsiteY38" fmla="*/ 541411 h 571389"/>
                <a:gd name="connsiteX39" fmla="*/ 599142 w 735196"/>
                <a:gd name="connsiteY39" fmla="*/ 533819 h 571389"/>
                <a:gd name="connsiteX40" fmla="*/ 597284 w 735196"/>
                <a:gd name="connsiteY40" fmla="*/ 477126 h 571389"/>
                <a:gd name="connsiteX41" fmla="*/ 610714 w 735196"/>
                <a:gd name="connsiteY41" fmla="*/ 489623 h 571389"/>
                <a:gd name="connsiteX42" fmla="*/ 667683 w 735196"/>
                <a:gd name="connsiteY42" fmla="*/ 487518 h 571389"/>
                <a:gd name="connsiteX43" fmla="*/ 674751 w 735196"/>
                <a:gd name="connsiteY43" fmla="*/ 479917 h 571389"/>
                <a:gd name="connsiteX44" fmla="*/ 672646 w 735196"/>
                <a:gd name="connsiteY44" fmla="*/ 422910 h 571389"/>
                <a:gd name="connsiteX45" fmla="*/ 661302 w 735196"/>
                <a:gd name="connsiteY45" fmla="*/ 412394 h 571389"/>
                <a:gd name="connsiteX46" fmla="*/ 717347 w 735196"/>
                <a:gd name="connsiteY46" fmla="*/ 409575 h 571389"/>
                <a:gd name="connsiteX47" fmla="*/ 724443 w 735196"/>
                <a:gd name="connsiteY47" fmla="*/ 401965 h 571389"/>
                <a:gd name="connsiteX48" fmla="*/ 722357 w 735196"/>
                <a:gd name="connsiteY48" fmla="*/ 344967 h 57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735196" h="571389">
                  <a:moveTo>
                    <a:pt x="722357" y="344967"/>
                  </a:moveTo>
                  <a:lnTo>
                    <a:pt x="613372" y="243688"/>
                  </a:lnTo>
                  <a:cubicBezTo>
                    <a:pt x="603904" y="235991"/>
                    <a:pt x="582787" y="219827"/>
                    <a:pt x="582787" y="219827"/>
                  </a:cubicBezTo>
                  <a:lnTo>
                    <a:pt x="514483" y="157267"/>
                  </a:lnTo>
                  <a:cubicBezTo>
                    <a:pt x="513036" y="156724"/>
                    <a:pt x="510388" y="156086"/>
                    <a:pt x="507111" y="156086"/>
                  </a:cubicBezTo>
                  <a:cubicBezTo>
                    <a:pt x="503701" y="156086"/>
                    <a:pt x="501453" y="156772"/>
                    <a:pt x="500872" y="157029"/>
                  </a:cubicBezTo>
                  <a:lnTo>
                    <a:pt x="451342" y="188605"/>
                  </a:lnTo>
                  <a:cubicBezTo>
                    <a:pt x="437293" y="197091"/>
                    <a:pt x="421005" y="201559"/>
                    <a:pt x="404279" y="201559"/>
                  </a:cubicBezTo>
                  <a:cubicBezTo>
                    <a:pt x="374790" y="201559"/>
                    <a:pt x="346939" y="187757"/>
                    <a:pt x="329756" y="164592"/>
                  </a:cubicBezTo>
                  <a:lnTo>
                    <a:pt x="323602" y="156296"/>
                  </a:lnTo>
                  <a:cubicBezTo>
                    <a:pt x="309486" y="137265"/>
                    <a:pt x="303771" y="113938"/>
                    <a:pt x="307515" y="90592"/>
                  </a:cubicBezTo>
                  <a:cubicBezTo>
                    <a:pt x="311239" y="67266"/>
                    <a:pt x="323955" y="46882"/>
                    <a:pt x="343433" y="33118"/>
                  </a:cubicBezTo>
                  <a:lnTo>
                    <a:pt x="354644" y="25260"/>
                  </a:lnTo>
                  <a:cubicBezTo>
                    <a:pt x="338471" y="23289"/>
                    <a:pt x="320516" y="25003"/>
                    <a:pt x="307391" y="30623"/>
                  </a:cubicBezTo>
                  <a:cubicBezTo>
                    <a:pt x="307391" y="30623"/>
                    <a:pt x="285388" y="40291"/>
                    <a:pt x="278340" y="43272"/>
                  </a:cubicBezTo>
                  <a:cubicBezTo>
                    <a:pt x="261985" y="50216"/>
                    <a:pt x="239058" y="50111"/>
                    <a:pt x="239058" y="50111"/>
                  </a:cubicBezTo>
                  <a:lnTo>
                    <a:pt x="185252" y="0"/>
                  </a:lnTo>
                  <a:lnTo>
                    <a:pt x="0" y="184004"/>
                  </a:lnTo>
                  <a:lnTo>
                    <a:pt x="69666" y="254070"/>
                  </a:lnTo>
                  <a:lnTo>
                    <a:pt x="85487" y="237487"/>
                  </a:lnTo>
                  <a:cubicBezTo>
                    <a:pt x="101994" y="220170"/>
                    <a:pt x="125225" y="210226"/>
                    <a:pt x="149228" y="210236"/>
                  </a:cubicBezTo>
                  <a:cubicBezTo>
                    <a:pt x="171993" y="210236"/>
                    <a:pt x="193577" y="218865"/>
                    <a:pt x="210007" y="234534"/>
                  </a:cubicBezTo>
                  <a:lnTo>
                    <a:pt x="217503" y="241687"/>
                  </a:lnTo>
                  <a:cubicBezTo>
                    <a:pt x="227152" y="250889"/>
                    <a:pt x="234277" y="261747"/>
                    <a:pt x="238830" y="273434"/>
                  </a:cubicBezTo>
                  <a:cubicBezTo>
                    <a:pt x="253222" y="277130"/>
                    <a:pt x="266490" y="284445"/>
                    <a:pt x="277501" y="294942"/>
                  </a:cubicBezTo>
                  <a:lnTo>
                    <a:pt x="284959" y="302066"/>
                  </a:lnTo>
                  <a:cubicBezTo>
                    <a:pt x="301962" y="318240"/>
                    <a:pt x="311658" y="340109"/>
                    <a:pt x="312230" y="363655"/>
                  </a:cubicBezTo>
                  <a:cubicBezTo>
                    <a:pt x="317392" y="366836"/>
                    <a:pt x="322278" y="370589"/>
                    <a:pt x="326736" y="374866"/>
                  </a:cubicBezTo>
                  <a:lnTo>
                    <a:pt x="334280" y="382057"/>
                  </a:lnTo>
                  <a:cubicBezTo>
                    <a:pt x="344843" y="392135"/>
                    <a:pt x="352358" y="404212"/>
                    <a:pt x="356778" y="417166"/>
                  </a:cubicBezTo>
                  <a:cubicBezTo>
                    <a:pt x="370122" y="421053"/>
                    <a:pt x="382429" y="428082"/>
                    <a:pt x="392678" y="437855"/>
                  </a:cubicBezTo>
                  <a:lnTo>
                    <a:pt x="400307" y="445103"/>
                  </a:lnTo>
                  <a:cubicBezTo>
                    <a:pt x="430978" y="474364"/>
                    <a:pt x="435854" y="520646"/>
                    <a:pt x="414347" y="555308"/>
                  </a:cubicBezTo>
                  <a:lnTo>
                    <a:pt x="420062" y="560642"/>
                  </a:lnTo>
                  <a:cubicBezTo>
                    <a:pt x="436293" y="575748"/>
                    <a:pt x="461934" y="574815"/>
                    <a:pt x="477041" y="558575"/>
                  </a:cubicBezTo>
                  <a:lnTo>
                    <a:pt x="484099" y="550955"/>
                  </a:lnTo>
                  <a:cubicBezTo>
                    <a:pt x="498881" y="535038"/>
                    <a:pt x="498138" y="510235"/>
                    <a:pt x="482822" y="495071"/>
                  </a:cubicBezTo>
                  <a:lnTo>
                    <a:pt x="535076" y="543544"/>
                  </a:lnTo>
                  <a:cubicBezTo>
                    <a:pt x="551336" y="558622"/>
                    <a:pt x="576977" y="557670"/>
                    <a:pt x="592084" y="541411"/>
                  </a:cubicBezTo>
                  <a:lnTo>
                    <a:pt x="599142" y="533819"/>
                  </a:lnTo>
                  <a:cubicBezTo>
                    <a:pt x="614143" y="517674"/>
                    <a:pt x="613258" y="492262"/>
                    <a:pt x="597284" y="477126"/>
                  </a:cubicBezTo>
                  <a:lnTo>
                    <a:pt x="610714" y="489623"/>
                  </a:lnTo>
                  <a:cubicBezTo>
                    <a:pt x="626964" y="504711"/>
                    <a:pt x="652596" y="503758"/>
                    <a:pt x="667683" y="487518"/>
                  </a:cubicBezTo>
                  <a:lnTo>
                    <a:pt x="674751" y="479917"/>
                  </a:lnTo>
                  <a:cubicBezTo>
                    <a:pt x="689839" y="463658"/>
                    <a:pt x="688886" y="438017"/>
                    <a:pt x="672646" y="422910"/>
                  </a:cubicBezTo>
                  <a:lnTo>
                    <a:pt x="661302" y="412394"/>
                  </a:lnTo>
                  <a:cubicBezTo>
                    <a:pt x="677609" y="426634"/>
                    <a:pt x="702545" y="425539"/>
                    <a:pt x="717347" y="409575"/>
                  </a:cubicBezTo>
                  <a:lnTo>
                    <a:pt x="724443" y="401965"/>
                  </a:lnTo>
                  <a:cubicBezTo>
                    <a:pt x="739559" y="385696"/>
                    <a:pt x="738626" y="360055"/>
                    <a:pt x="722357" y="344967"/>
                  </a:cubicBezTo>
                  <a:close/>
                </a:path>
              </a:pathLst>
            </a:custGeom>
            <a:grpFill/>
            <a:ln w="952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922160B5-EFC3-4C4B-ADE0-C4C5900E7C89}"/>
                </a:ext>
              </a:extLst>
            </p:cNvPr>
            <p:cNvSpPr/>
            <p:nvPr/>
          </p:nvSpPr>
          <p:spPr>
            <a:xfrm>
              <a:off x="961579" y="2970646"/>
              <a:ext cx="346569" cy="335784"/>
            </a:xfrm>
            <a:custGeom>
              <a:avLst/>
              <a:gdLst>
                <a:gd name="connsiteX0" fmla="*/ 334125 w 346569"/>
                <a:gd name="connsiteY0" fmla="*/ 221647 h 335784"/>
                <a:gd name="connsiteX1" fmla="*/ 326581 w 346569"/>
                <a:gd name="connsiteY1" fmla="*/ 214474 h 335784"/>
                <a:gd name="connsiteX2" fmla="*/ 298768 w 346569"/>
                <a:gd name="connsiteY2" fmla="*/ 203378 h 335784"/>
                <a:gd name="connsiteX3" fmla="*/ 269593 w 346569"/>
                <a:gd name="connsiteY3" fmla="*/ 215827 h 335784"/>
                <a:gd name="connsiteX4" fmla="*/ 269460 w 346569"/>
                <a:gd name="connsiteY4" fmla="*/ 215608 h 335784"/>
                <a:gd name="connsiteX5" fmla="*/ 268088 w 346569"/>
                <a:gd name="connsiteY5" fmla="*/ 158620 h 335784"/>
                <a:gd name="connsiteX6" fmla="*/ 260564 w 346569"/>
                <a:gd name="connsiteY6" fmla="*/ 151438 h 335784"/>
                <a:gd name="connsiteX7" fmla="*/ 232941 w 346569"/>
                <a:gd name="connsiteY7" fmla="*/ 140418 h 335784"/>
                <a:gd name="connsiteX8" fmla="*/ 205061 w 346569"/>
                <a:gd name="connsiteY8" fmla="*/ 151495 h 335784"/>
                <a:gd name="connsiteX9" fmla="*/ 220168 w 346569"/>
                <a:gd name="connsiteY9" fmla="*/ 135665 h 335784"/>
                <a:gd name="connsiteX10" fmla="*/ 218806 w 346569"/>
                <a:gd name="connsiteY10" fmla="*/ 78657 h 335784"/>
                <a:gd name="connsiteX11" fmla="*/ 211291 w 346569"/>
                <a:gd name="connsiteY11" fmla="*/ 71476 h 335784"/>
                <a:gd name="connsiteX12" fmla="*/ 183583 w 346569"/>
                <a:gd name="connsiteY12" fmla="*/ 60427 h 335784"/>
                <a:gd name="connsiteX13" fmla="*/ 155055 w 346569"/>
                <a:gd name="connsiteY13" fmla="*/ 72161 h 335784"/>
                <a:gd name="connsiteX14" fmla="*/ 151312 w 346569"/>
                <a:gd name="connsiteY14" fmla="*/ 18250 h 335784"/>
                <a:gd name="connsiteX15" fmla="*/ 143816 w 346569"/>
                <a:gd name="connsiteY15" fmla="*/ 11097 h 335784"/>
                <a:gd name="connsiteX16" fmla="*/ 115984 w 346569"/>
                <a:gd name="connsiteY16" fmla="*/ 0 h 335784"/>
                <a:gd name="connsiteX17" fmla="*/ 86799 w 346569"/>
                <a:gd name="connsiteY17" fmla="*/ 12449 h 335784"/>
                <a:gd name="connsiteX18" fmla="*/ 11085 w 346569"/>
                <a:gd name="connsiteY18" fmla="*/ 91831 h 335784"/>
                <a:gd name="connsiteX19" fmla="*/ 12485 w 346569"/>
                <a:gd name="connsiteY19" fmla="*/ 148809 h 335784"/>
                <a:gd name="connsiteX20" fmla="*/ 19972 w 346569"/>
                <a:gd name="connsiteY20" fmla="*/ 155972 h 335784"/>
                <a:gd name="connsiteX21" fmla="*/ 47556 w 346569"/>
                <a:gd name="connsiteY21" fmla="*/ 166954 h 335784"/>
                <a:gd name="connsiteX22" fmla="*/ 73264 w 346569"/>
                <a:gd name="connsiteY22" fmla="*/ 157810 h 335784"/>
                <a:gd name="connsiteX23" fmla="*/ 53309 w 346569"/>
                <a:gd name="connsiteY23" fmla="*/ 178708 h 335784"/>
                <a:gd name="connsiteX24" fmla="*/ 54671 w 346569"/>
                <a:gd name="connsiteY24" fmla="*/ 235715 h 335784"/>
                <a:gd name="connsiteX25" fmla="*/ 62224 w 346569"/>
                <a:gd name="connsiteY25" fmla="*/ 242888 h 335784"/>
                <a:gd name="connsiteX26" fmla="*/ 90028 w 346569"/>
                <a:gd name="connsiteY26" fmla="*/ 253984 h 335784"/>
                <a:gd name="connsiteX27" fmla="*/ 119213 w 346569"/>
                <a:gd name="connsiteY27" fmla="*/ 241535 h 335784"/>
                <a:gd name="connsiteX28" fmla="*/ 134786 w 346569"/>
                <a:gd name="connsiteY28" fmla="*/ 225200 h 335784"/>
                <a:gd name="connsiteX29" fmla="*/ 137396 w 346569"/>
                <a:gd name="connsiteY29" fmla="*/ 280588 h 335784"/>
                <a:gd name="connsiteX30" fmla="*/ 144949 w 346569"/>
                <a:gd name="connsiteY30" fmla="*/ 287769 h 335784"/>
                <a:gd name="connsiteX31" fmla="*/ 172762 w 346569"/>
                <a:gd name="connsiteY31" fmla="*/ 298856 h 335784"/>
                <a:gd name="connsiteX32" fmla="*/ 201937 w 346569"/>
                <a:gd name="connsiteY32" fmla="*/ 286407 h 335784"/>
                <a:gd name="connsiteX33" fmla="*/ 226969 w 346569"/>
                <a:gd name="connsiteY33" fmla="*/ 260509 h 335784"/>
                <a:gd name="connsiteX34" fmla="*/ 228321 w 346569"/>
                <a:gd name="connsiteY34" fmla="*/ 317516 h 335784"/>
                <a:gd name="connsiteX35" fmla="*/ 235865 w 346569"/>
                <a:gd name="connsiteY35" fmla="*/ 324688 h 335784"/>
                <a:gd name="connsiteX36" fmla="*/ 263659 w 346569"/>
                <a:gd name="connsiteY36" fmla="*/ 335785 h 335784"/>
                <a:gd name="connsiteX37" fmla="*/ 292834 w 346569"/>
                <a:gd name="connsiteY37" fmla="*/ 323336 h 335784"/>
                <a:gd name="connsiteX38" fmla="*/ 335487 w 346569"/>
                <a:gd name="connsiteY38" fmla="*/ 278635 h 335784"/>
                <a:gd name="connsiteX39" fmla="*/ 334125 w 346569"/>
                <a:gd name="connsiteY39" fmla="*/ 221647 h 33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46569" h="335784">
                  <a:moveTo>
                    <a:pt x="334125" y="221647"/>
                  </a:moveTo>
                  <a:lnTo>
                    <a:pt x="326581" y="214474"/>
                  </a:lnTo>
                  <a:cubicBezTo>
                    <a:pt x="318809" y="207064"/>
                    <a:pt x="308789" y="203378"/>
                    <a:pt x="298768" y="203378"/>
                  </a:cubicBezTo>
                  <a:cubicBezTo>
                    <a:pt x="288129" y="203378"/>
                    <a:pt x="277490" y="207550"/>
                    <a:pt x="269593" y="215827"/>
                  </a:cubicBezTo>
                  <a:lnTo>
                    <a:pt x="269460" y="215608"/>
                  </a:lnTo>
                  <a:cubicBezTo>
                    <a:pt x="284738" y="199568"/>
                    <a:pt x="284138" y="173907"/>
                    <a:pt x="268088" y="158620"/>
                  </a:cubicBezTo>
                  <a:lnTo>
                    <a:pt x="260564" y="151438"/>
                  </a:lnTo>
                  <a:cubicBezTo>
                    <a:pt x="252820" y="144066"/>
                    <a:pt x="242895" y="140418"/>
                    <a:pt x="232941" y="140418"/>
                  </a:cubicBezTo>
                  <a:cubicBezTo>
                    <a:pt x="222873" y="140418"/>
                    <a:pt x="212843" y="144142"/>
                    <a:pt x="205061" y="151495"/>
                  </a:cubicBezTo>
                  <a:lnTo>
                    <a:pt x="220168" y="135665"/>
                  </a:lnTo>
                  <a:cubicBezTo>
                    <a:pt x="235484" y="119615"/>
                    <a:pt x="234884" y="93955"/>
                    <a:pt x="218806" y="78657"/>
                  </a:cubicBezTo>
                  <a:lnTo>
                    <a:pt x="211291" y="71476"/>
                  </a:lnTo>
                  <a:cubicBezTo>
                    <a:pt x="203537" y="64084"/>
                    <a:pt x="193555" y="60427"/>
                    <a:pt x="183583" y="60427"/>
                  </a:cubicBezTo>
                  <a:cubicBezTo>
                    <a:pt x="173219" y="60427"/>
                    <a:pt x="162894" y="64360"/>
                    <a:pt x="155055" y="72161"/>
                  </a:cubicBezTo>
                  <a:cubicBezTo>
                    <a:pt x="167647" y="56064"/>
                    <a:pt x="166399" y="32642"/>
                    <a:pt x="151312" y="18250"/>
                  </a:cubicBezTo>
                  <a:lnTo>
                    <a:pt x="143816" y="11097"/>
                  </a:lnTo>
                  <a:cubicBezTo>
                    <a:pt x="136034" y="3686"/>
                    <a:pt x="125994" y="0"/>
                    <a:pt x="115984" y="0"/>
                  </a:cubicBezTo>
                  <a:cubicBezTo>
                    <a:pt x="105316" y="-10"/>
                    <a:pt x="94695" y="4172"/>
                    <a:pt x="86799" y="12449"/>
                  </a:cubicBezTo>
                  <a:lnTo>
                    <a:pt x="11085" y="91831"/>
                  </a:lnTo>
                  <a:cubicBezTo>
                    <a:pt x="-4212" y="107861"/>
                    <a:pt x="-3612" y="133521"/>
                    <a:pt x="12485" y="148809"/>
                  </a:cubicBezTo>
                  <a:lnTo>
                    <a:pt x="19972" y="155972"/>
                  </a:lnTo>
                  <a:cubicBezTo>
                    <a:pt x="27706" y="163335"/>
                    <a:pt x="37631" y="166954"/>
                    <a:pt x="47556" y="166954"/>
                  </a:cubicBezTo>
                  <a:cubicBezTo>
                    <a:pt x="56710" y="166954"/>
                    <a:pt x="65844" y="163878"/>
                    <a:pt x="73264" y="157810"/>
                  </a:cubicBezTo>
                  <a:lnTo>
                    <a:pt x="53309" y="178708"/>
                  </a:lnTo>
                  <a:cubicBezTo>
                    <a:pt x="38031" y="194767"/>
                    <a:pt x="38641" y="220409"/>
                    <a:pt x="54671" y="235715"/>
                  </a:cubicBezTo>
                  <a:lnTo>
                    <a:pt x="62224" y="242888"/>
                  </a:lnTo>
                  <a:cubicBezTo>
                    <a:pt x="69997" y="250298"/>
                    <a:pt x="80036" y="253984"/>
                    <a:pt x="90028" y="253984"/>
                  </a:cubicBezTo>
                  <a:cubicBezTo>
                    <a:pt x="100696" y="253984"/>
                    <a:pt x="111326" y="249812"/>
                    <a:pt x="119213" y="241535"/>
                  </a:cubicBezTo>
                  <a:lnTo>
                    <a:pt x="134786" y="225200"/>
                  </a:lnTo>
                  <a:cubicBezTo>
                    <a:pt x="120927" y="241297"/>
                    <a:pt x="121851" y="265776"/>
                    <a:pt x="137396" y="280588"/>
                  </a:cubicBezTo>
                  <a:lnTo>
                    <a:pt x="144949" y="287769"/>
                  </a:lnTo>
                  <a:cubicBezTo>
                    <a:pt x="152712" y="295170"/>
                    <a:pt x="162742" y="298856"/>
                    <a:pt x="172762" y="298856"/>
                  </a:cubicBezTo>
                  <a:cubicBezTo>
                    <a:pt x="183411" y="298856"/>
                    <a:pt x="194050" y="294684"/>
                    <a:pt x="201937" y="286407"/>
                  </a:cubicBezTo>
                  <a:lnTo>
                    <a:pt x="226969" y="260509"/>
                  </a:lnTo>
                  <a:cubicBezTo>
                    <a:pt x="211662" y="276568"/>
                    <a:pt x="212253" y="302209"/>
                    <a:pt x="228321" y="317516"/>
                  </a:cubicBezTo>
                  <a:lnTo>
                    <a:pt x="235865" y="324688"/>
                  </a:lnTo>
                  <a:cubicBezTo>
                    <a:pt x="243609" y="332099"/>
                    <a:pt x="253639" y="335785"/>
                    <a:pt x="263659" y="335785"/>
                  </a:cubicBezTo>
                  <a:cubicBezTo>
                    <a:pt x="274308" y="335785"/>
                    <a:pt x="284948" y="331613"/>
                    <a:pt x="292834" y="323336"/>
                  </a:cubicBezTo>
                  <a:lnTo>
                    <a:pt x="335487" y="278635"/>
                  </a:lnTo>
                  <a:cubicBezTo>
                    <a:pt x="350784" y="262604"/>
                    <a:pt x="350165" y="236953"/>
                    <a:pt x="334125" y="221647"/>
                  </a:cubicBezTo>
                  <a:close/>
                </a:path>
              </a:pathLst>
            </a:custGeom>
            <a:grpFill/>
            <a:ln w="9525" cap="flat">
              <a:noFill/>
              <a:prstDash val="solid"/>
              <a:miter/>
            </a:ln>
          </p:spPr>
          <p:txBody>
            <a:bodyPr rtlCol="0" anchor="ctr"/>
            <a:lstStyle/>
            <a:p>
              <a:endParaRPr lang="en-GB"/>
            </a:p>
          </p:txBody>
        </p:sp>
      </p:grpSp>
      <p:sp>
        <p:nvSpPr>
          <p:cNvPr id="38" name="Freeform: Shape 37">
            <a:extLst>
              <a:ext uri="{FF2B5EF4-FFF2-40B4-BE49-F238E27FC236}">
                <a16:creationId xmlns:a16="http://schemas.microsoft.com/office/drawing/2014/main" id="{698B20CC-1AD8-4ECB-9034-971944BBC93F}"/>
              </a:ext>
            </a:extLst>
          </p:cNvPr>
          <p:cNvSpPr/>
          <p:nvPr/>
        </p:nvSpPr>
        <p:spPr>
          <a:xfrm>
            <a:off x="3447202" y="2671784"/>
            <a:ext cx="528990" cy="591994"/>
          </a:xfrm>
          <a:custGeom>
            <a:avLst/>
            <a:gdLst>
              <a:gd name="connsiteX0" fmla="*/ 720090 w 807720"/>
              <a:gd name="connsiteY0" fmla="*/ 546735 h 903922"/>
              <a:gd name="connsiteX1" fmla="*/ 660083 w 807720"/>
              <a:gd name="connsiteY1" fmla="*/ 570548 h 903922"/>
              <a:gd name="connsiteX2" fmla="*/ 545783 w 807720"/>
              <a:gd name="connsiteY2" fmla="*/ 504825 h 903922"/>
              <a:gd name="connsiteX3" fmla="*/ 555308 w 807720"/>
              <a:gd name="connsiteY3" fmla="*/ 452438 h 903922"/>
              <a:gd name="connsiteX4" fmla="*/ 545783 w 807720"/>
              <a:gd name="connsiteY4" fmla="*/ 400050 h 903922"/>
              <a:gd name="connsiteX5" fmla="*/ 660083 w 807720"/>
              <a:gd name="connsiteY5" fmla="*/ 334328 h 903922"/>
              <a:gd name="connsiteX6" fmla="*/ 719138 w 807720"/>
              <a:gd name="connsiteY6" fmla="*/ 358140 h 903922"/>
              <a:gd name="connsiteX7" fmla="*/ 806768 w 807720"/>
              <a:gd name="connsiteY7" fmla="*/ 270510 h 903922"/>
              <a:gd name="connsiteX8" fmla="*/ 719138 w 807720"/>
              <a:gd name="connsiteY8" fmla="*/ 182880 h 903922"/>
              <a:gd name="connsiteX9" fmla="*/ 631508 w 807720"/>
              <a:gd name="connsiteY9" fmla="*/ 270510 h 903922"/>
              <a:gd name="connsiteX10" fmla="*/ 634365 w 807720"/>
              <a:gd name="connsiteY10" fmla="*/ 290513 h 903922"/>
              <a:gd name="connsiteX11" fmla="*/ 520065 w 807720"/>
              <a:gd name="connsiteY11" fmla="*/ 356235 h 903922"/>
              <a:gd name="connsiteX12" fmla="*/ 429578 w 807720"/>
              <a:gd name="connsiteY12" fmla="*/ 303848 h 903922"/>
              <a:gd name="connsiteX13" fmla="*/ 429578 w 807720"/>
              <a:gd name="connsiteY13" fmla="*/ 171450 h 903922"/>
              <a:gd name="connsiteX14" fmla="*/ 491490 w 807720"/>
              <a:gd name="connsiteY14" fmla="*/ 87630 h 903922"/>
              <a:gd name="connsiteX15" fmla="*/ 403860 w 807720"/>
              <a:gd name="connsiteY15" fmla="*/ 0 h 903922"/>
              <a:gd name="connsiteX16" fmla="*/ 316230 w 807720"/>
              <a:gd name="connsiteY16" fmla="*/ 87630 h 903922"/>
              <a:gd name="connsiteX17" fmla="*/ 378143 w 807720"/>
              <a:gd name="connsiteY17" fmla="*/ 171450 h 903922"/>
              <a:gd name="connsiteX18" fmla="*/ 378143 w 807720"/>
              <a:gd name="connsiteY18" fmla="*/ 302895 h 903922"/>
              <a:gd name="connsiteX19" fmla="*/ 287655 w 807720"/>
              <a:gd name="connsiteY19" fmla="*/ 355283 h 903922"/>
              <a:gd name="connsiteX20" fmla="*/ 173355 w 807720"/>
              <a:gd name="connsiteY20" fmla="*/ 289560 h 903922"/>
              <a:gd name="connsiteX21" fmla="*/ 175260 w 807720"/>
              <a:gd name="connsiteY21" fmla="*/ 269558 h 903922"/>
              <a:gd name="connsiteX22" fmla="*/ 87630 w 807720"/>
              <a:gd name="connsiteY22" fmla="*/ 181928 h 903922"/>
              <a:gd name="connsiteX23" fmla="*/ 0 w 807720"/>
              <a:gd name="connsiteY23" fmla="*/ 269558 h 903922"/>
              <a:gd name="connsiteX24" fmla="*/ 87630 w 807720"/>
              <a:gd name="connsiteY24" fmla="*/ 357188 h 903922"/>
              <a:gd name="connsiteX25" fmla="*/ 147638 w 807720"/>
              <a:gd name="connsiteY25" fmla="*/ 333375 h 903922"/>
              <a:gd name="connsiteX26" fmla="*/ 261937 w 807720"/>
              <a:gd name="connsiteY26" fmla="*/ 399098 h 903922"/>
              <a:gd name="connsiteX27" fmla="*/ 252412 w 807720"/>
              <a:gd name="connsiteY27" fmla="*/ 451485 h 903922"/>
              <a:gd name="connsiteX28" fmla="*/ 261937 w 807720"/>
              <a:gd name="connsiteY28" fmla="*/ 503873 h 903922"/>
              <a:gd name="connsiteX29" fmla="*/ 147638 w 807720"/>
              <a:gd name="connsiteY29" fmla="*/ 569595 h 903922"/>
              <a:gd name="connsiteX30" fmla="*/ 87630 w 807720"/>
              <a:gd name="connsiteY30" fmla="*/ 545783 h 903922"/>
              <a:gd name="connsiteX31" fmla="*/ 0 w 807720"/>
              <a:gd name="connsiteY31" fmla="*/ 633413 h 903922"/>
              <a:gd name="connsiteX32" fmla="*/ 87630 w 807720"/>
              <a:gd name="connsiteY32" fmla="*/ 721043 h 903922"/>
              <a:gd name="connsiteX33" fmla="*/ 175260 w 807720"/>
              <a:gd name="connsiteY33" fmla="*/ 633413 h 903922"/>
              <a:gd name="connsiteX34" fmla="*/ 173355 w 807720"/>
              <a:gd name="connsiteY34" fmla="*/ 614363 h 903922"/>
              <a:gd name="connsiteX35" fmla="*/ 287655 w 807720"/>
              <a:gd name="connsiteY35" fmla="*/ 548640 h 903922"/>
              <a:gd name="connsiteX36" fmla="*/ 378143 w 807720"/>
              <a:gd name="connsiteY36" fmla="*/ 601028 h 903922"/>
              <a:gd name="connsiteX37" fmla="*/ 378143 w 807720"/>
              <a:gd name="connsiteY37" fmla="*/ 732473 h 903922"/>
              <a:gd name="connsiteX38" fmla="*/ 316230 w 807720"/>
              <a:gd name="connsiteY38" fmla="*/ 816293 h 903922"/>
              <a:gd name="connsiteX39" fmla="*/ 403860 w 807720"/>
              <a:gd name="connsiteY39" fmla="*/ 903923 h 903922"/>
              <a:gd name="connsiteX40" fmla="*/ 491490 w 807720"/>
              <a:gd name="connsiteY40" fmla="*/ 816293 h 903922"/>
              <a:gd name="connsiteX41" fmla="*/ 429578 w 807720"/>
              <a:gd name="connsiteY41" fmla="*/ 732473 h 903922"/>
              <a:gd name="connsiteX42" fmla="*/ 429578 w 807720"/>
              <a:gd name="connsiteY42" fmla="*/ 601980 h 903922"/>
              <a:gd name="connsiteX43" fmla="*/ 520065 w 807720"/>
              <a:gd name="connsiteY43" fmla="*/ 549593 h 903922"/>
              <a:gd name="connsiteX44" fmla="*/ 634365 w 807720"/>
              <a:gd name="connsiteY44" fmla="*/ 615315 h 903922"/>
              <a:gd name="connsiteX45" fmla="*/ 632460 w 807720"/>
              <a:gd name="connsiteY45" fmla="*/ 634365 h 903922"/>
              <a:gd name="connsiteX46" fmla="*/ 720090 w 807720"/>
              <a:gd name="connsiteY46" fmla="*/ 721995 h 903922"/>
              <a:gd name="connsiteX47" fmla="*/ 807720 w 807720"/>
              <a:gd name="connsiteY47" fmla="*/ 634365 h 903922"/>
              <a:gd name="connsiteX48" fmla="*/ 720090 w 807720"/>
              <a:gd name="connsiteY48" fmla="*/ 546735 h 903922"/>
              <a:gd name="connsiteX49" fmla="*/ 403860 w 807720"/>
              <a:gd name="connsiteY49" fmla="*/ 553403 h 903922"/>
              <a:gd name="connsiteX50" fmla="*/ 302895 w 807720"/>
              <a:gd name="connsiteY50" fmla="*/ 452438 h 903922"/>
              <a:gd name="connsiteX51" fmla="*/ 403860 w 807720"/>
              <a:gd name="connsiteY51" fmla="*/ 351473 h 903922"/>
              <a:gd name="connsiteX52" fmla="*/ 504825 w 807720"/>
              <a:gd name="connsiteY52" fmla="*/ 452438 h 903922"/>
              <a:gd name="connsiteX53" fmla="*/ 403860 w 807720"/>
              <a:gd name="connsiteY53" fmla="*/ 553403 h 90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07720" h="903922">
                <a:moveTo>
                  <a:pt x="720090" y="546735"/>
                </a:moveTo>
                <a:cubicBezTo>
                  <a:pt x="697230" y="546735"/>
                  <a:pt x="676275" y="556260"/>
                  <a:pt x="660083" y="570548"/>
                </a:cubicBezTo>
                <a:lnTo>
                  <a:pt x="545783" y="504825"/>
                </a:lnTo>
                <a:cubicBezTo>
                  <a:pt x="551498" y="488633"/>
                  <a:pt x="555308" y="470535"/>
                  <a:pt x="555308" y="452438"/>
                </a:cubicBezTo>
                <a:cubicBezTo>
                  <a:pt x="555308" y="434340"/>
                  <a:pt x="551498" y="416243"/>
                  <a:pt x="545783" y="400050"/>
                </a:cubicBezTo>
                <a:lnTo>
                  <a:pt x="660083" y="334328"/>
                </a:lnTo>
                <a:cubicBezTo>
                  <a:pt x="675323" y="348615"/>
                  <a:pt x="696278" y="358140"/>
                  <a:pt x="719138" y="358140"/>
                </a:cubicBezTo>
                <a:cubicBezTo>
                  <a:pt x="767715" y="358140"/>
                  <a:pt x="806768" y="319088"/>
                  <a:pt x="806768" y="270510"/>
                </a:cubicBezTo>
                <a:cubicBezTo>
                  <a:pt x="806768" y="221933"/>
                  <a:pt x="767715" y="182880"/>
                  <a:pt x="719138" y="182880"/>
                </a:cubicBezTo>
                <a:cubicBezTo>
                  <a:pt x="670560" y="182880"/>
                  <a:pt x="631508" y="221933"/>
                  <a:pt x="631508" y="270510"/>
                </a:cubicBezTo>
                <a:cubicBezTo>
                  <a:pt x="631508" y="277178"/>
                  <a:pt x="632460" y="283845"/>
                  <a:pt x="634365" y="290513"/>
                </a:cubicBezTo>
                <a:lnTo>
                  <a:pt x="520065" y="356235"/>
                </a:lnTo>
                <a:cubicBezTo>
                  <a:pt x="497205" y="328613"/>
                  <a:pt x="465773" y="309563"/>
                  <a:pt x="429578" y="303848"/>
                </a:cubicBezTo>
                <a:lnTo>
                  <a:pt x="429578" y="171450"/>
                </a:lnTo>
                <a:cubicBezTo>
                  <a:pt x="465773" y="160020"/>
                  <a:pt x="491490" y="127635"/>
                  <a:pt x="491490" y="87630"/>
                </a:cubicBezTo>
                <a:cubicBezTo>
                  <a:pt x="491490" y="39053"/>
                  <a:pt x="452438" y="0"/>
                  <a:pt x="403860" y="0"/>
                </a:cubicBezTo>
                <a:cubicBezTo>
                  <a:pt x="355283" y="0"/>
                  <a:pt x="316230" y="39053"/>
                  <a:pt x="316230" y="87630"/>
                </a:cubicBezTo>
                <a:cubicBezTo>
                  <a:pt x="316230" y="126683"/>
                  <a:pt x="342900" y="160020"/>
                  <a:pt x="378143" y="171450"/>
                </a:cubicBezTo>
                <a:lnTo>
                  <a:pt x="378143" y="302895"/>
                </a:lnTo>
                <a:cubicBezTo>
                  <a:pt x="341948" y="309563"/>
                  <a:pt x="310515" y="328613"/>
                  <a:pt x="287655" y="355283"/>
                </a:cubicBezTo>
                <a:lnTo>
                  <a:pt x="173355" y="289560"/>
                </a:lnTo>
                <a:cubicBezTo>
                  <a:pt x="175260" y="282893"/>
                  <a:pt x="175260" y="277178"/>
                  <a:pt x="175260" y="269558"/>
                </a:cubicBezTo>
                <a:cubicBezTo>
                  <a:pt x="175260" y="220980"/>
                  <a:pt x="136208" y="181928"/>
                  <a:pt x="87630" y="181928"/>
                </a:cubicBezTo>
                <a:cubicBezTo>
                  <a:pt x="39053" y="181928"/>
                  <a:pt x="0" y="220980"/>
                  <a:pt x="0" y="269558"/>
                </a:cubicBezTo>
                <a:cubicBezTo>
                  <a:pt x="0" y="318135"/>
                  <a:pt x="39053" y="357188"/>
                  <a:pt x="87630" y="357188"/>
                </a:cubicBezTo>
                <a:cubicBezTo>
                  <a:pt x="110490" y="357188"/>
                  <a:pt x="131445" y="347663"/>
                  <a:pt x="147638" y="333375"/>
                </a:cubicBezTo>
                <a:lnTo>
                  <a:pt x="261937" y="399098"/>
                </a:lnTo>
                <a:cubicBezTo>
                  <a:pt x="256223" y="415290"/>
                  <a:pt x="252412" y="433388"/>
                  <a:pt x="252412" y="451485"/>
                </a:cubicBezTo>
                <a:cubicBezTo>
                  <a:pt x="252412" y="469583"/>
                  <a:pt x="256223" y="487680"/>
                  <a:pt x="261937" y="503873"/>
                </a:cubicBezTo>
                <a:lnTo>
                  <a:pt x="147638" y="569595"/>
                </a:lnTo>
                <a:cubicBezTo>
                  <a:pt x="132398" y="555308"/>
                  <a:pt x="111442" y="545783"/>
                  <a:pt x="87630" y="545783"/>
                </a:cubicBezTo>
                <a:cubicBezTo>
                  <a:pt x="39053" y="545783"/>
                  <a:pt x="0" y="584835"/>
                  <a:pt x="0" y="633413"/>
                </a:cubicBezTo>
                <a:cubicBezTo>
                  <a:pt x="0" y="681990"/>
                  <a:pt x="39053" y="721043"/>
                  <a:pt x="87630" y="721043"/>
                </a:cubicBezTo>
                <a:cubicBezTo>
                  <a:pt x="136208" y="721043"/>
                  <a:pt x="175260" y="681990"/>
                  <a:pt x="175260" y="633413"/>
                </a:cubicBezTo>
                <a:cubicBezTo>
                  <a:pt x="175260" y="626745"/>
                  <a:pt x="174308" y="620078"/>
                  <a:pt x="173355" y="614363"/>
                </a:cubicBezTo>
                <a:lnTo>
                  <a:pt x="287655" y="548640"/>
                </a:lnTo>
                <a:cubicBezTo>
                  <a:pt x="310515" y="576263"/>
                  <a:pt x="341948" y="595313"/>
                  <a:pt x="378143" y="601028"/>
                </a:cubicBezTo>
                <a:lnTo>
                  <a:pt x="378143" y="732473"/>
                </a:lnTo>
                <a:cubicBezTo>
                  <a:pt x="341948" y="743903"/>
                  <a:pt x="316230" y="776288"/>
                  <a:pt x="316230" y="816293"/>
                </a:cubicBezTo>
                <a:cubicBezTo>
                  <a:pt x="316230" y="864870"/>
                  <a:pt x="355283" y="903923"/>
                  <a:pt x="403860" y="903923"/>
                </a:cubicBezTo>
                <a:cubicBezTo>
                  <a:pt x="452438" y="903923"/>
                  <a:pt x="491490" y="864870"/>
                  <a:pt x="491490" y="816293"/>
                </a:cubicBezTo>
                <a:cubicBezTo>
                  <a:pt x="491490" y="777240"/>
                  <a:pt x="464820" y="743903"/>
                  <a:pt x="429578" y="732473"/>
                </a:cubicBezTo>
                <a:lnTo>
                  <a:pt x="429578" y="601980"/>
                </a:lnTo>
                <a:cubicBezTo>
                  <a:pt x="465773" y="595313"/>
                  <a:pt x="497205" y="576263"/>
                  <a:pt x="520065" y="549593"/>
                </a:cubicBezTo>
                <a:lnTo>
                  <a:pt x="634365" y="615315"/>
                </a:lnTo>
                <a:cubicBezTo>
                  <a:pt x="632460" y="621983"/>
                  <a:pt x="632460" y="627698"/>
                  <a:pt x="632460" y="634365"/>
                </a:cubicBezTo>
                <a:cubicBezTo>
                  <a:pt x="632460" y="682943"/>
                  <a:pt x="671513" y="721995"/>
                  <a:pt x="720090" y="721995"/>
                </a:cubicBezTo>
                <a:cubicBezTo>
                  <a:pt x="768668" y="721995"/>
                  <a:pt x="807720" y="682943"/>
                  <a:pt x="807720" y="634365"/>
                </a:cubicBezTo>
                <a:cubicBezTo>
                  <a:pt x="807720" y="586740"/>
                  <a:pt x="767715" y="546735"/>
                  <a:pt x="720090" y="546735"/>
                </a:cubicBezTo>
                <a:close/>
                <a:moveTo>
                  <a:pt x="403860" y="553403"/>
                </a:moveTo>
                <a:cubicBezTo>
                  <a:pt x="348615" y="553403"/>
                  <a:pt x="302895" y="508635"/>
                  <a:pt x="302895" y="452438"/>
                </a:cubicBezTo>
                <a:cubicBezTo>
                  <a:pt x="302895" y="396240"/>
                  <a:pt x="348615" y="351473"/>
                  <a:pt x="403860" y="351473"/>
                </a:cubicBezTo>
                <a:cubicBezTo>
                  <a:pt x="459105" y="351473"/>
                  <a:pt x="504825" y="397193"/>
                  <a:pt x="504825" y="452438"/>
                </a:cubicBezTo>
                <a:cubicBezTo>
                  <a:pt x="504825" y="507683"/>
                  <a:pt x="459105" y="553403"/>
                  <a:pt x="403860" y="553403"/>
                </a:cubicBezTo>
                <a:close/>
              </a:path>
            </a:pathLst>
          </a:custGeom>
          <a:solidFill>
            <a:schemeClr val="tx2"/>
          </a:solidFill>
          <a:ln w="9525" cap="flat">
            <a:noFill/>
            <a:prstDash val="solid"/>
            <a:miter/>
          </a:ln>
        </p:spPr>
        <p:txBody>
          <a:bodyPr rtlCol="0" anchor="ctr"/>
          <a:lstStyle/>
          <a:p>
            <a:endParaRPr lang="en-GB"/>
          </a:p>
        </p:txBody>
      </p:sp>
      <p:grpSp>
        <p:nvGrpSpPr>
          <p:cNvPr id="55" name="Group 54">
            <a:extLst>
              <a:ext uri="{FF2B5EF4-FFF2-40B4-BE49-F238E27FC236}">
                <a16:creationId xmlns:a16="http://schemas.microsoft.com/office/drawing/2014/main" id="{CFF4B515-5427-4472-8B4F-53F81EB23BBE}"/>
              </a:ext>
            </a:extLst>
          </p:cNvPr>
          <p:cNvGrpSpPr/>
          <p:nvPr/>
        </p:nvGrpSpPr>
        <p:grpSpPr>
          <a:xfrm>
            <a:off x="1004498" y="4723777"/>
            <a:ext cx="700635" cy="448869"/>
            <a:chOff x="619843" y="4633906"/>
            <a:chExt cx="1219174" cy="781076"/>
          </a:xfrm>
          <a:solidFill>
            <a:schemeClr val="tx2"/>
          </a:solidFill>
        </p:grpSpPr>
        <p:sp>
          <p:nvSpPr>
            <p:cNvPr id="42" name="Freeform: Shape 41">
              <a:extLst>
                <a:ext uri="{FF2B5EF4-FFF2-40B4-BE49-F238E27FC236}">
                  <a16:creationId xmlns:a16="http://schemas.microsoft.com/office/drawing/2014/main" id="{686463F2-277A-4C68-A5FB-D6630683FFB6}"/>
                </a:ext>
              </a:extLst>
            </p:cNvPr>
            <p:cNvSpPr/>
            <p:nvPr/>
          </p:nvSpPr>
          <p:spPr>
            <a:xfrm>
              <a:off x="886461" y="4772868"/>
              <a:ext cx="685880" cy="642114"/>
            </a:xfrm>
            <a:custGeom>
              <a:avLst/>
              <a:gdLst>
                <a:gd name="connsiteX0" fmla="*/ 578520 w 685880"/>
                <a:gd name="connsiteY0" fmla="*/ 514016 h 642114"/>
                <a:gd name="connsiteX1" fmla="*/ 641674 w 685880"/>
                <a:gd name="connsiteY1" fmla="*/ 300839 h 642114"/>
                <a:gd name="connsiteX2" fmla="*/ 650886 w 685880"/>
                <a:gd name="connsiteY2" fmla="*/ 315018 h 642114"/>
                <a:gd name="connsiteX3" fmla="*/ 677134 w 685880"/>
                <a:gd name="connsiteY3" fmla="*/ 320647 h 642114"/>
                <a:gd name="connsiteX4" fmla="*/ 677256 w 685880"/>
                <a:gd name="connsiteY4" fmla="*/ 320568 h 642114"/>
                <a:gd name="connsiteX5" fmla="*/ 682772 w 685880"/>
                <a:gd name="connsiteY5" fmla="*/ 294035 h 642114"/>
                <a:gd name="connsiteX6" fmla="*/ 632339 w 685880"/>
                <a:gd name="connsiteY6" fmla="*/ 216422 h 642114"/>
                <a:gd name="connsiteX7" fmla="*/ 606086 w 685880"/>
                <a:gd name="connsiteY7" fmla="*/ 210788 h 642114"/>
                <a:gd name="connsiteX8" fmla="*/ 599411 w 685880"/>
                <a:gd name="connsiteY8" fmla="*/ 218247 h 642114"/>
                <a:gd name="connsiteX9" fmla="*/ 557945 w 685880"/>
                <a:gd name="connsiteY9" fmla="*/ 300502 h 642114"/>
                <a:gd name="connsiteX10" fmla="*/ 566180 w 685880"/>
                <a:gd name="connsiteY10" fmla="*/ 326180 h 642114"/>
                <a:gd name="connsiteX11" fmla="*/ 591858 w 685880"/>
                <a:gd name="connsiteY11" fmla="*/ 317944 h 642114"/>
                <a:gd name="connsiteX12" fmla="*/ 591914 w 685880"/>
                <a:gd name="connsiteY12" fmla="*/ 317835 h 642114"/>
                <a:gd name="connsiteX13" fmla="*/ 603117 w 685880"/>
                <a:gd name="connsiteY13" fmla="*/ 295614 h 642114"/>
                <a:gd name="connsiteX14" fmla="*/ 361915 w 685880"/>
                <a:gd name="connsiteY14" fmla="*/ 601013 h 642114"/>
                <a:gd name="connsiteX15" fmla="*/ 41151 w 685880"/>
                <a:gd name="connsiteY15" fmla="*/ 358500 h 642114"/>
                <a:gd name="connsiteX16" fmla="*/ 94458 w 685880"/>
                <a:gd name="connsiteY16" fmla="*/ 148175 h 642114"/>
                <a:gd name="connsiteX17" fmla="*/ 280605 w 685880"/>
                <a:gd name="connsiteY17" fmla="*/ 38143 h 642114"/>
                <a:gd name="connsiteX18" fmla="*/ 296840 w 685880"/>
                <a:gd name="connsiteY18" fmla="*/ 16433 h 642114"/>
                <a:gd name="connsiteX19" fmla="*/ 275377 w 685880"/>
                <a:gd name="connsiteY19" fmla="*/ 165 h 642114"/>
                <a:gd name="connsiteX20" fmla="*/ 64004 w 685880"/>
                <a:gd name="connsiteY20" fmla="*/ 125143 h 642114"/>
                <a:gd name="connsiteX21" fmla="*/ 3442 w 685880"/>
                <a:gd name="connsiteY21" fmla="*/ 364002 h 642114"/>
                <a:gd name="connsiteX22" fmla="*/ 366924 w 685880"/>
                <a:gd name="connsiteY22" fmla="*/ 639027 h 642114"/>
                <a:gd name="connsiteX23" fmla="*/ 367142 w 685880"/>
                <a:gd name="connsiteY23" fmla="*/ 638999 h 642114"/>
                <a:gd name="connsiteX24" fmla="*/ 578520 w 685880"/>
                <a:gd name="connsiteY24" fmla="*/ 514016 h 64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880" h="642114">
                  <a:moveTo>
                    <a:pt x="578520" y="514016"/>
                  </a:moveTo>
                  <a:cubicBezTo>
                    <a:pt x="624413" y="452810"/>
                    <a:pt x="646822" y="377168"/>
                    <a:pt x="641674" y="300839"/>
                  </a:cubicBezTo>
                  <a:lnTo>
                    <a:pt x="650886" y="315018"/>
                  </a:lnTo>
                  <a:cubicBezTo>
                    <a:pt x="656580" y="323820"/>
                    <a:pt x="668332" y="326341"/>
                    <a:pt x="677134" y="320647"/>
                  </a:cubicBezTo>
                  <a:cubicBezTo>
                    <a:pt x="677175" y="320621"/>
                    <a:pt x="677215" y="320594"/>
                    <a:pt x="677256" y="320568"/>
                  </a:cubicBezTo>
                  <a:cubicBezTo>
                    <a:pt x="686061" y="314737"/>
                    <a:pt x="688528" y="302894"/>
                    <a:pt x="682772" y="294035"/>
                  </a:cubicBezTo>
                  <a:lnTo>
                    <a:pt x="632339" y="216422"/>
                  </a:lnTo>
                  <a:cubicBezTo>
                    <a:pt x="626645" y="207617"/>
                    <a:pt x="614891" y="205095"/>
                    <a:pt x="606086" y="210788"/>
                  </a:cubicBezTo>
                  <a:cubicBezTo>
                    <a:pt x="603235" y="212633"/>
                    <a:pt x="600929" y="215209"/>
                    <a:pt x="599411" y="218247"/>
                  </a:cubicBezTo>
                  <a:lnTo>
                    <a:pt x="557945" y="300502"/>
                  </a:lnTo>
                  <a:cubicBezTo>
                    <a:pt x="553128" y="309867"/>
                    <a:pt x="556815" y="321364"/>
                    <a:pt x="566180" y="326180"/>
                  </a:cubicBezTo>
                  <a:cubicBezTo>
                    <a:pt x="575545" y="330996"/>
                    <a:pt x="587041" y="327309"/>
                    <a:pt x="591858" y="317944"/>
                  </a:cubicBezTo>
                  <a:cubicBezTo>
                    <a:pt x="591877" y="317908"/>
                    <a:pt x="591895" y="317872"/>
                    <a:pt x="591914" y="317835"/>
                  </a:cubicBezTo>
                  <a:lnTo>
                    <a:pt x="603117" y="295614"/>
                  </a:lnTo>
                  <a:cubicBezTo>
                    <a:pt x="617221" y="445507"/>
                    <a:pt x="510996" y="580006"/>
                    <a:pt x="361915" y="601013"/>
                  </a:cubicBezTo>
                  <a:cubicBezTo>
                    <a:pt x="206553" y="621920"/>
                    <a:pt x="63384" y="513677"/>
                    <a:pt x="41151" y="358500"/>
                  </a:cubicBezTo>
                  <a:cubicBezTo>
                    <a:pt x="30146" y="284087"/>
                    <a:pt x="49339" y="208363"/>
                    <a:pt x="94458" y="148175"/>
                  </a:cubicBezTo>
                  <a:cubicBezTo>
                    <a:pt x="139174" y="87945"/>
                    <a:pt x="206278" y="48279"/>
                    <a:pt x="280605" y="38143"/>
                  </a:cubicBezTo>
                  <a:cubicBezTo>
                    <a:pt x="291083" y="36631"/>
                    <a:pt x="298352" y="26912"/>
                    <a:pt x="296840" y="16433"/>
                  </a:cubicBezTo>
                  <a:cubicBezTo>
                    <a:pt x="295342" y="6051"/>
                    <a:pt x="285778" y="-1198"/>
                    <a:pt x="275377" y="165"/>
                  </a:cubicBezTo>
                  <a:cubicBezTo>
                    <a:pt x="190975" y="11689"/>
                    <a:pt x="114777" y="56742"/>
                    <a:pt x="64004" y="125143"/>
                  </a:cubicBezTo>
                  <a:cubicBezTo>
                    <a:pt x="12756" y="193494"/>
                    <a:pt x="-9049" y="279491"/>
                    <a:pt x="3442" y="364002"/>
                  </a:cubicBezTo>
                  <a:cubicBezTo>
                    <a:pt x="27869" y="540321"/>
                    <a:pt x="190606" y="663449"/>
                    <a:pt x="366924" y="639027"/>
                  </a:cubicBezTo>
                  <a:cubicBezTo>
                    <a:pt x="366997" y="639018"/>
                    <a:pt x="367070" y="639008"/>
                    <a:pt x="367142" y="638999"/>
                  </a:cubicBezTo>
                  <a:cubicBezTo>
                    <a:pt x="451547" y="627474"/>
                    <a:pt x="527746" y="582420"/>
                    <a:pt x="578520" y="514016"/>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12478F36-2F78-4598-B233-7F2AE5B8C98B}"/>
                </a:ext>
              </a:extLst>
            </p:cNvPr>
            <p:cNvSpPr/>
            <p:nvPr/>
          </p:nvSpPr>
          <p:spPr>
            <a:xfrm>
              <a:off x="1210397" y="4633906"/>
              <a:ext cx="38100" cy="95823"/>
            </a:xfrm>
            <a:custGeom>
              <a:avLst/>
              <a:gdLst>
                <a:gd name="connsiteX0" fmla="*/ 19050 w 38100"/>
                <a:gd name="connsiteY0" fmla="*/ 95824 h 95823"/>
                <a:gd name="connsiteX1" fmla="*/ 38100 w 38100"/>
                <a:gd name="connsiteY1" fmla="*/ 76656 h 95823"/>
                <a:gd name="connsiteX2" fmla="*/ 38100 w 38100"/>
                <a:gd name="connsiteY2" fmla="*/ 19155 h 95823"/>
                <a:gd name="connsiteX3" fmla="*/ 19155 w 38100"/>
                <a:gd name="connsiteY3" fmla="*/ 0 h 95823"/>
                <a:gd name="connsiteX4" fmla="*/ 0 w 38100"/>
                <a:gd name="connsiteY4" fmla="*/ 18946 h 95823"/>
                <a:gd name="connsiteX5" fmla="*/ 0 w 38100"/>
                <a:gd name="connsiteY5" fmla="*/ 19155 h 95823"/>
                <a:gd name="connsiteX6" fmla="*/ 1 w 38100"/>
                <a:gd name="connsiteY6" fmla="*/ 76656 h 95823"/>
                <a:gd name="connsiteX7" fmla="*/ 19050 w 38100"/>
                <a:gd name="connsiteY7" fmla="*/ 95824 h 9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00" h="95823">
                  <a:moveTo>
                    <a:pt x="19050" y="95824"/>
                  </a:moveTo>
                  <a:cubicBezTo>
                    <a:pt x="29603" y="95790"/>
                    <a:pt x="38131" y="87209"/>
                    <a:pt x="38100" y="76656"/>
                  </a:cubicBezTo>
                  <a:lnTo>
                    <a:pt x="38100" y="19155"/>
                  </a:lnTo>
                  <a:cubicBezTo>
                    <a:pt x="38157" y="8634"/>
                    <a:pt x="29675" y="58"/>
                    <a:pt x="19155" y="0"/>
                  </a:cubicBezTo>
                  <a:cubicBezTo>
                    <a:pt x="8633" y="-57"/>
                    <a:pt x="58" y="8425"/>
                    <a:pt x="0" y="18946"/>
                  </a:cubicBezTo>
                  <a:cubicBezTo>
                    <a:pt x="0" y="19016"/>
                    <a:pt x="0" y="19086"/>
                    <a:pt x="0" y="19155"/>
                  </a:cubicBezTo>
                  <a:lnTo>
                    <a:pt x="1" y="76656"/>
                  </a:lnTo>
                  <a:cubicBezTo>
                    <a:pt x="-31" y="87209"/>
                    <a:pt x="8497" y="95790"/>
                    <a:pt x="19050" y="95824"/>
                  </a:cubicBezTo>
                  <a:close/>
                </a:path>
              </a:pathLst>
            </a:custGeom>
            <a:grpFill/>
            <a:ln w="9525"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1FE102D8-4322-48FE-87B8-A0DE32F4F739}"/>
                </a:ext>
              </a:extLst>
            </p:cNvPr>
            <p:cNvSpPr/>
            <p:nvPr/>
          </p:nvSpPr>
          <p:spPr>
            <a:xfrm>
              <a:off x="1077051" y="4662644"/>
              <a:ext cx="76198" cy="76668"/>
            </a:xfrm>
            <a:custGeom>
              <a:avLst/>
              <a:gdLst>
                <a:gd name="connsiteX0" fmla="*/ 43680 w 76198"/>
                <a:gd name="connsiteY0" fmla="*/ 71053 h 76668"/>
                <a:gd name="connsiteX1" fmla="*/ 70494 w 76198"/>
                <a:gd name="connsiteY1" fmla="*/ 71177 h 76668"/>
                <a:gd name="connsiteX2" fmla="*/ 70617 w 76198"/>
                <a:gd name="connsiteY2" fmla="*/ 71053 h 76668"/>
                <a:gd name="connsiteX3" fmla="*/ 70617 w 76198"/>
                <a:gd name="connsiteY3" fmla="*/ 43950 h 76668"/>
                <a:gd name="connsiteX4" fmla="*/ 32518 w 76198"/>
                <a:gd name="connsiteY4" fmla="*/ 5615 h 76668"/>
                <a:gd name="connsiteX5" fmla="*/ 5705 w 76198"/>
                <a:gd name="connsiteY5" fmla="*/ 5491 h 76668"/>
                <a:gd name="connsiteX6" fmla="*/ 5581 w 76198"/>
                <a:gd name="connsiteY6" fmla="*/ 5615 h 76668"/>
                <a:gd name="connsiteX7" fmla="*/ 5581 w 76198"/>
                <a:gd name="connsiteY7" fmla="*/ 3271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198" h="76668">
                  <a:moveTo>
                    <a:pt x="43680" y="71053"/>
                  </a:moveTo>
                  <a:cubicBezTo>
                    <a:pt x="51050" y="78491"/>
                    <a:pt x="63056" y="78547"/>
                    <a:pt x="70494" y="71177"/>
                  </a:cubicBezTo>
                  <a:cubicBezTo>
                    <a:pt x="70535" y="71136"/>
                    <a:pt x="70576" y="71094"/>
                    <a:pt x="70617" y="71053"/>
                  </a:cubicBezTo>
                  <a:cubicBezTo>
                    <a:pt x="78058" y="63550"/>
                    <a:pt x="78058" y="51452"/>
                    <a:pt x="70617" y="43950"/>
                  </a:cubicBezTo>
                  <a:lnTo>
                    <a:pt x="32518" y="5615"/>
                  </a:lnTo>
                  <a:cubicBezTo>
                    <a:pt x="25149" y="-1823"/>
                    <a:pt x="13144" y="-1879"/>
                    <a:pt x="5705" y="5491"/>
                  </a:cubicBezTo>
                  <a:cubicBezTo>
                    <a:pt x="5664" y="5532"/>
                    <a:pt x="5623" y="5573"/>
                    <a:pt x="5581" y="5615"/>
                  </a:cubicBezTo>
                  <a:cubicBezTo>
                    <a:pt x="-1860" y="13117"/>
                    <a:pt x="-1860" y="25217"/>
                    <a:pt x="5581" y="32719"/>
                  </a:cubicBezTo>
                  <a:close/>
                </a:path>
              </a:pathLst>
            </a:custGeom>
            <a:grpFill/>
            <a:ln w="9525"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458E66F0-8DF7-411B-A031-68E35E052CFE}"/>
                </a:ext>
              </a:extLst>
            </p:cNvPr>
            <p:cNvSpPr/>
            <p:nvPr/>
          </p:nvSpPr>
          <p:spPr>
            <a:xfrm>
              <a:off x="1305646" y="4662644"/>
              <a:ext cx="76198" cy="76668"/>
            </a:xfrm>
            <a:custGeom>
              <a:avLst/>
              <a:gdLst>
                <a:gd name="connsiteX0" fmla="*/ 19049 w 76198"/>
                <a:gd name="connsiteY0" fmla="*/ 76668 h 76668"/>
                <a:gd name="connsiteX1" fmla="*/ 32518 w 76198"/>
                <a:gd name="connsiteY1" fmla="*/ 71053 h 76668"/>
                <a:gd name="connsiteX2" fmla="*/ 70617 w 76198"/>
                <a:gd name="connsiteY2" fmla="*/ 32719 h 76668"/>
                <a:gd name="connsiteX3" fmla="*/ 70617 w 76198"/>
                <a:gd name="connsiteY3" fmla="*/ 5616 h 76668"/>
                <a:gd name="connsiteX4" fmla="*/ 43804 w 76198"/>
                <a:gd name="connsiteY4" fmla="*/ 5491 h 76668"/>
                <a:gd name="connsiteX5" fmla="*/ 43680 w 76198"/>
                <a:gd name="connsiteY5" fmla="*/ 5616 h 76668"/>
                <a:gd name="connsiteX6" fmla="*/ 5580 w 76198"/>
                <a:gd name="connsiteY6" fmla="*/ 43950 h 76668"/>
                <a:gd name="connsiteX7" fmla="*/ 5580 w 76198"/>
                <a:gd name="connsiteY7" fmla="*/ 71053 h 76668"/>
                <a:gd name="connsiteX8" fmla="*/ 19049 w 76198"/>
                <a:gd name="connsiteY8" fmla="*/ 76668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98" h="76668">
                  <a:moveTo>
                    <a:pt x="19049" y="76668"/>
                  </a:moveTo>
                  <a:cubicBezTo>
                    <a:pt x="24109" y="76672"/>
                    <a:pt x="28959" y="74650"/>
                    <a:pt x="32518" y="71053"/>
                  </a:cubicBezTo>
                  <a:lnTo>
                    <a:pt x="70617" y="32719"/>
                  </a:lnTo>
                  <a:cubicBezTo>
                    <a:pt x="78059" y="25217"/>
                    <a:pt x="78059" y="13118"/>
                    <a:pt x="70617" y="5616"/>
                  </a:cubicBezTo>
                  <a:cubicBezTo>
                    <a:pt x="63247" y="-1823"/>
                    <a:pt x="51243" y="-1878"/>
                    <a:pt x="43804" y="5491"/>
                  </a:cubicBezTo>
                  <a:cubicBezTo>
                    <a:pt x="43763" y="5533"/>
                    <a:pt x="43721" y="5574"/>
                    <a:pt x="43680" y="5616"/>
                  </a:cubicBezTo>
                  <a:lnTo>
                    <a:pt x="5580" y="43950"/>
                  </a:lnTo>
                  <a:cubicBezTo>
                    <a:pt x="-1860" y="51452"/>
                    <a:pt x="-1860" y="63551"/>
                    <a:pt x="5580" y="71053"/>
                  </a:cubicBezTo>
                  <a:cubicBezTo>
                    <a:pt x="9139" y="74650"/>
                    <a:pt x="13990" y="76672"/>
                    <a:pt x="19049" y="76668"/>
                  </a:cubicBezTo>
                  <a:close/>
                </a:path>
              </a:pathLst>
            </a:custGeom>
            <a:grp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3F9035-4F7E-4E4A-AE9B-6BF0AC373671}"/>
                </a:ext>
              </a:extLst>
            </p:cNvPr>
            <p:cNvSpPr/>
            <p:nvPr/>
          </p:nvSpPr>
          <p:spPr>
            <a:xfrm>
              <a:off x="619843" y="4832302"/>
              <a:ext cx="355983" cy="529783"/>
            </a:xfrm>
            <a:custGeom>
              <a:avLst/>
              <a:gdLst>
                <a:gd name="connsiteX0" fmla="*/ 232344 w 355983"/>
                <a:gd name="connsiteY0" fmla="*/ 306956 h 529783"/>
                <a:gd name="connsiteX1" fmla="*/ 300158 w 355983"/>
                <a:gd name="connsiteY1" fmla="*/ 41205 h 529783"/>
                <a:gd name="connsiteX2" fmla="*/ 336365 w 355983"/>
                <a:gd name="connsiteY2" fmla="*/ 0 h 529783"/>
                <a:gd name="connsiteX3" fmla="*/ 13221 w 355983"/>
                <a:gd name="connsiteY3" fmla="*/ 228855 h 529783"/>
                <a:gd name="connsiteX4" fmla="*/ 13216 w 355983"/>
                <a:gd name="connsiteY4" fmla="*/ 294340 h 529783"/>
                <a:gd name="connsiteX5" fmla="*/ 350514 w 355983"/>
                <a:gd name="connsiteY5" fmla="*/ 529431 h 529783"/>
                <a:gd name="connsiteX6" fmla="*/ 355983 w 355983"/>
                <a:gd name="connsiteY6" fmla="*/ 529783 h 529783"/>
                <a:gd name="connsiteX7" fmla="*/ 232344 w 355983"/>
                <a:gd name="connsiteY7" fmla="*/ 306956 h 52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983" h="529783">
                  <a:moveTo>
                    <a:pt x="232344" y="306956"/>
                  </a:moveTo>
                  <a:cubicBezTo>
                    <a:pt x="218382" y="212862"/>
                    <a:pt x="242818" y="117104"/>
                    <a:pt x="300158" y="41205"/>
                  </a:cubicBezTo>
                  <a:cubicBezTo>
                    <a:pt x="311165" y="26572"/>
                    <a:pt x="323269" y="12797"/>
                    <a:pt x="336365" y="0"/>
                  </a:cubicBezTo>
                  <a:cubicBezTo>
                    <a:pt x="160297" y="79922"/>
                    <a:pt x="32820" y="208426"/>
                    <a:pt x="13221" y="228855"/>
                  </a:cubicBezTo>
                  <a:cubicBezTo>
                    <a:pt x="-4405" y="247124"/>
                    <a:pt x="-4407" y="276068"/>
                    <a:pt x="13216" y="294340"/>
                  </a:cubicBezTo>
                  <a:cubicBezTo>
                    <a:pt x="33340" y="315317"/>
                    <a:pt x="167164" y="450149"/>
                    <a:pt x="350514" y="529431"/>
                  </a:cubicBezTo>
                  <a:lnTo>
                    <a:pt x="355983" y="529783"/>
                  </a:lnTo>
                  <a:cubicBezTo>
                    <a:pt x="288917" y="473119"/>
                    <a:pt x="244932" y="393848"/>
                    <a:pt x="232344" y="306956"/>
                  </a:cubicBezTo>
                  <a:close/>
                </a:path>
              </a:pathLst>
            </a:custGeom>
            <a:grpFill/>
            <a:ln w="9525"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15F0570D-BD68-499E-B123-B09C9868253C}"/>
                </a:ext>
              </a:extLst>
            </p:cNvPr>
            <p:cNvSpPr/>
            <p:nvPr/>
          </p:nvSpPr>
          <p:spPr>
            <a:xfrm>
              <a:off x="962724" y="4768101"/>
              <a:ext cx="876293" cy="622077"/>
            </a:xfrm>
            <a:custGeom>
              <a:avLst/>
              <a:gdLst>
                <a:gd name="connsiteX0" fmla="*/ 863078 w 876293"/>
                <a:gd name="connsiteY0" fmla="*/ 293084 h 622077"/>
                <a:gd name="connsiteX1" fmla="*/ 266719 w 876293"/>
                <a:gd name="connsiteY1" fmla="*/ 0 h 622077"/>
                <a:gd name="connsiteX2" fmla="*/ 254146 w 876293"/>
                <a:gd name="connsiteY2" fmla="*/ 286 h 622077"/>
                <a:gd name="connsiteX3" fmla="*/ 258337 w 876293"/>
                <a:gd name="connsiteY3" fmla="*/ 15145 h 622077"/>
                <a:gd name="connsiteX4" fmla="*/ 258813 w 876293"/>
                <a:gd name="connsiteY4" fmla="*/ 25908 h 622077"/>
                <a:gd name="connsiteX5" fmla="*/ 258718 w 876293"/>
                <a:gd name="connsiteY5" fmla="*/ 26670 h 622077"/>
                <a:gd name="connsiteX6" fmla="*/ 257861 w 876293"/>
                <a:gd name="connsiteY6" fmla="*/ 33719 h 622077"/>
                <a:gd name="connsiteX7" fmla="*/ 257480 w 876293"/>
                <a:gd name="connsiteY7" fmla="*/ 36385 h 622077"/>
                <a:gd name="connsiteX8" fmla="*/ 257194 w 876293"/>
                <a:gd name="connsiteY8" fmla="*/ 36481 h 622077"/>
                <a:gd name="connsiteX9" fmla="*/ 209569 w 876293"/>
                <a:gd name="connsiteY9" fmla="*/ 79534 h 622077"/>
                <a:gd name="connsiteX10" fmla="*/ 2261 w 876293"/>
                <a:gd name="connsiteY10" fmla="*/ 352476 h 622077"/>
                <a:gd name="connsiteX11" fmla="*/ 2591 w 876293"/>
                <a:gd name="connsiteY11" fmla="*/ 354806 h 622077"/>
                <a:gd name="connsiteX12" fmla="*/ 280435 w 876293"/>
                <a:gd name="connsiteY12" fmla="*/ 563499 h 622077"/>
                <a:gd name="connsiteX13" fmla="*/ 486080 w 876293"/>
                <a:gd name="connsiteY13" fmla="*/ 366903 h 622077"/>
                <a:gd name="connsiteX14" fmla="*/ 472840 w 876293"/>
                <a:gd name="connsiteY14" fmla="*/ 362141 h 622077"/>
                <a:gd name="connsiteX15" fmla="*/ 447650 w 876293"/>
                <a:gd name="connsiteY15" fmla="*/ 285457 h 622077"/>
                <a:gd name="connsiteX16" fmla="*/ 447694 w 876293"/>
                <a:gd name="connsiteY16" fmla="*/ 285369 h 622077"/>
                <a:gd name="connsiteX17" fmla="*/ 489128 w 876293"/>
                <a:gd name="connsiteY17" fmla="*/ 203549 h 622077"/>
                <a:gd name="connsiteX18" fmla="*/ 566109 w 876293"/>
                <a:gd name="connsiteY18" fmla="*/ 178567 h 622077"/>
                <a:gd name="connsiteX19" fmla="*/ 587997 w 876293"/>
                <a:gd name="connsiteY19" fmla="*/ 198215 h 622077"/>
                <a:gd name="connsiteX20" fmla="*/ 638383 w 876293"/>
                <a:gd name="connsiteY20" fmla="*/ 275272 h 622077"/>
                <a:gd name="connsiteX21" fmla="*/ 621847 w 876293"/>
                <a:gd name="connsiteY21" fmla="*/ 354403 h 622077"/>
                <a:gd name="connsiteX22" fmla="*/ 621809 w 876293"/>
                <a:gd name="connsiteY22" fmla="*/ 354425 h 622077"/>
                <a:gd name="connsiteX23" fmla="*/ 602190 w 876293"/>
                <a:gd name="connsiteY23" fmla="*/ 362522 h 622077"/>
                <a:gd name="connsiteX24" fmla="*/ 443408 w 876293"/>
                <a:gd name="connsiteY24" fmla="*/ 621697 h 622077"/>
                <a:gd name="connsiteX25" fmla="*/ 449503 w 876293"/>
                <a:gd name="connsiteY25" fmla="*/ 622078 h 622077"/>
                <a:gd name="connsiteX26" fmla="*/ 863078 w 876293"/>
                <a:gd name="connsiteY26" fmla="*/ 358521 h 622077"/>
                <a:gd name="connsiteX27" fmla="*/ 863078 w 876293"/>
                <a:gd name="connsiteY27" fmla="*/ 293084 h 622077"/>
                <a:gd name="connsiteX28" fmla="*/ 238144 w 876293"/>
                <a:gd name="connsiteY28" fmla="*/ 517493 h 622077"/>
                <a:gd name="connsiteX29" fmla="*/ 45259 w 876293"/>
                <a:gd name="connsiteY29" fmla="*/ 326997 h 622077"/>
                <a:gd name="connsiteX30" fmla="*/ 235755 w 876293"/>
                <a:gd name="connsiteY30" fmla="*/ 134112 h 622077"/>
                <a:gd name="connsiteX31" fmla="*/ 428640 w 876293"/>
                <a:gd name="connsiteY31" fmla="*/ 324608 h 622077"/>
                <a:gd name="connsiteX32" fmla="*/ 428644 w 876293"/>
                <a:gd name="connsiteY32" fmla="*/ 325850 h 622077"/>
                <a:gd name="connsiteX33" fmla="*/ 238144 w 876293"/>
                <a:gd name="connsiteY33" fmla="*/ 517493 h 622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76293" h="622077">
                  <a:moveTo>
                    <a:pt x="863078" y="293084"/>
                  </a:moveTo>
                  <a:cubicBezTo>
                    <a:pt x="834312" y="263081"/>
                    <a:pt x="573043" y="0"/>
                    <a:pt x="266719" y="0"/>
                  </a:cubicBezTo>
                  <a:cubicBezTo>
                    <a:pt x="262528" y="0"/>
                    <a:pt x="258337" y="191"/>
                    <a:pt x="254146" y="286"/>
                  </a:cubicBezTo>
                  <a:cubicBezTo>
                    <a:pt x="256185" y="5035"/>
                    <a:pt x="257594" y="10030"/>
                    <a:pt x="258337" y="15145"/>
                  </a:cubicBezTo>
                  <a:cubicBezTo>
                    <a:pt x="258781" y="18714"/>
                    <a:pt x="258940" y="22313"/>
                    <a:pt x="258813" y="25908"/>
                  </a:cubicBezTo>
                  <a:cubicBezTo>
                    <a:pt x="258718" y="26099"/>
                    <a:pt x="258813" y="26384"/>
                    <a:pt x="258718" y="26670"/>
                  </a:cubicBezTo>
                  <a:cubicBezTo>
                    <a:pt x="258579" y="29035"/>
                    <a:pt x="258293" y="31389"/>
                    <a:pt x="257861" y="33719"/>
                  </a:cubicBezTo>
                  <a:cubicBezTo>
                    <a:pt x="257670" y="34576"/>
                    <a:pt x="257670" y="35528"/>
                    <a:pt x="257480" y="36385"/>
                  </a:cubicBezTo>
                  <a:cubicBezTo>
                    <a:pt x="257404" y="36459"/>
                    <a:pt x="257299" y="36494"/>
                    <a:pt x="257194" y="36481"/>
                  </a:cubicBezTo>
                  <a:cubicBezTo>
                    <a:pt x="251704" y="59272"/>
                    <a:pt x="232798" y="76364"/>
                    <a:pt x="209569" y="79534"/>
                  </a:cubicBezTo>
                  <a:cubicBezTo>
                    <a:pt x="76952" y="97658"/>
                    <a:pt x="-15864" y="219859"/>
                    <a:pt x="2261" y="352476"/>
                  </a:cubicBezTo>
                  <a:cubicBezTo>
                    <a:pt x="2367" y="353254"/>
                    <a:pt x="2478" y="354030"/>
                    <a:pt x="2591" y="354806"/>
                  </a:cubicBezTo>
                  <a:cubicBezTo>
                    <a:pt x="22362" y="488759"/>
                    <a:pt x="146278" y="581835"/>
                    <a:pt x="280435" y="563499"/>
                  </a:cubicBezTo>
                  <a:cubicBezTo>
                    <a:pt x="384247" y="549255"/>
                    <a:pt x="467182" y="469969"/>
                    <a:pt x="486080" y="366903"/>
                  </a:cubicBezTo>
                  <a:cubicBezTo>
                    <a:pt x="481490" y="365858"/>
                    <a:pt x="477045" y="364259"/>
                    <a:pt x="472840" y="362141"/>
                  </a:cubicBezTo>
                  <a:cubicBezTo>
                    <a:pt x="444708" y="347921"/>
                    <a:pt x="433430" y="313588"/>
                    <a:pt x="447650" y="285457"/>
                  </a:cubicBezTo>
                  <a:cubicBezTo>
                    <a:pt x="447665" y="285427"/>
                    <a:pt x="447680" y="285399"/>
                    <a:pt x="447694" y="285369"/>
                  </a:cubicBezTo>
                  <a:lnTo>
                    <a:pt x="489128" y="203549"/>
                  </a:lnTo>
                  <a:cubicBezTo>
                    <a:pt x="503487" y="175393"/>
                    <a:pt x="537952" y="164208"/>
                    <a:pt x="566109" y="178567"/>
                  </a:cubicBezTo>
                  <a:cubicBezTo>
                    <a:pt x="574992" y="183098"/>
                    <a:pt x="582538" y="189870"/>
                    <a:pt x="587997" y="198215"/>
                  </a:cubicBezTo>
                  <a:lnTo>
                    <a:pt x="638383" y="275272"/>
                  </a:lnTo>
                  <a:cubicBezTo>
                    <a:pt x="655671" y="301691"/>
                    <a:pt x="648260" y="337119"/>
                    <a:pt x="621847" y="354403"/>
                  </a:cubicBezTo>
                  <a:cubicBezTo>
                    <a:pt x="621838" y="354411"/>
                    <a:pt x="621819" y="354418"/>
                    <a:pt x="621809" y="354425"/>
                  </a:cubicBezTo>
                  <a:cubicBezTo>
                    <a:pt x="615837" y="358341"/>
                    <a:pt x="609183" y="361088"/>
                    <a:pt x="602190" y="362522"/>
                  </a:cubicBezTo>
                  <a:cubicBezTo>
                    <a:pt x="590418" y="468220"/>
                    <a:pt x="532228" y="563202"/>
                    <a:pt x="443408" y="621697"/>
                  </a:cubicBezTo>
                  <a:lnTo>
                    <a:pt x="449503" y="622078"/>
                  </a:lnTo>
                  <a:cubicBezTo>
                    <a:pt x="671244" y="552545"/>
                    <a:pt x="840313" y="382334"/>
                    <a:pt x="863078" y="358521"/>
                  </a:cubicBezTo>
                  <a:cubicBezTo>
                    <a:pt x="880699" y="340268"/>
                    <a:pt x="880699" y="311338"/>
                    <a:pt x="863078" y="293084"/>
                  </a:cubicBezTo>
                  <a:close/>
                  <a:moveTo>
                    <a:pt x="238144" y="517493"/>
                  </a:moveTo>
                  <a:cubicBezTo>
                    <a:pt x="132277" y="518153"/>
                    <a:pt x="45919" y="432865"/>
                    <a:pt x="45259" y="326997"/>
                  </a:cubicBezTo>
                  <a:cubicBezTo>
                    <a:pt x="44600" y="221130"/>
                    <a:pt x="129888" y="134772"/>
                    <a:pt x="235755" y="134112"/>
                  </a:cubicBezTo>
                  <a:cubicBezTo>
                    <a:pt x="341624" y="133452"/>
                    <a:pt x="427981" y="218741"/>
                    <a:pt x="428640" y="324608"/>
                  </a:cubicBezTo>
                  <a:cubicBezTo>
                    <a:pt x="428643" y="325023"/>
                    <a:pt x="428644" y="325436"/>
                    <a:pt x="428644" y="325850"/>
                  </a:cubicBezTo>
                  <a:cubicBezTo>
                    <a:pt x="428832" y="431323"/>
                    <a:pt x="343617" y="517050"/>
                    <a:pt x="238144" y="517493"/>
                  </a:cubicBezTo>
                  <a:close/>
                </a:path>
              </a:pathLst>
            </a:custGeom>
            <a:grp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70B8393D-D726-4D9B-B532-5997EA5A1B5D}"/>
                </a:ext>
              </a:extLst>
            </p:cNvPr>
            <p:cNvSpPr/>
            <p:nvPr/>
          </p:nvSpPr>
          <p:spPr>
            <a:xfrm>
              <a:off x="1143746" y="4976794"/>
              <a:ext cx="114105" cy="228600"/>
            </a:xfrm>
            <a:custGeom>
              <a:avLst/>
              <a:gdLst>
                <a:gd name="connsiteX0" fmla="*/ 63732 w 114105"/>
                <a:gd name="connsiteY0" fmla="*/ 100552 h 228600"/>
                <a:gd name="connsiteX1" fmla="*/ 40184 w 114105"/>
                <a:gd name="connsiteY1" fmla="*/ 88069 h 228600"/>
                <a:gd name="connsiteX2" fmla="*/ 39779 w 114105"/>
                <a:gd name="connsiteY2" fmla="*/ 73204 h 228600"/>
                <a:gd name="connsiteX3" fmla="*/ 63555 w 114105"/>
                <a:gd name="connsiteY3" fmla="*/ 66768 h 228600"/>
                <a:gd name="connsiteX4" fmla="*/ 70619 w 114105"/>
                <a:gd name="connsiteY4" fmla="*/ 69995 h 228600"/>
                <a:gd name="connsiteX5" fmla="*/ 97144 w 114105"/>
                <a:gd name="connsiteY5" fmla="*/ 65266 h 228600"/>
                <a:gd name="connsiteX6" fmla="*/ 92414 w 114105"/>
                <a:gd name="connsiteY6" fmla="*/ 38742 h 228600"/>
                <a:gd name="connsiteX7" fmla="*/ 75568 w 114105"/>
                <a:gd name="connsiteY7" fmla="*/ 30588 h 228600"/>
                <a:gd name="connsiteX8" fmla="*/ 75568 w 114105"/>
                <a:gd name="connsiteY8" fmla="*/ 19050 h 228600"/>
                <a:gd name="connsiteX9" fmla="*/ 56518 w 114105"/>
                <a:gd name="connsiteY9" fmla="*/ 0 h 228600"/>
                <a:gd name="connsiteX10" fmla="*/ 37468 w 114105"/>
                <a:gd name="connsiteY10" fmla="*/ 19050 h 228600"/>
                <a:gd name="connsiteX11" fmla="*/ 37468 w 114105"/>
                <a:gd name="connsiteY11" fmla="*/ 30671 h 228600"/>
                <a:gd name="connsiteX12" fmla="*/ 7140 w 114105"/>
                <a:gd name="connsiteY12" fmla="*/ 53551 h 228600"/>
                <a:gd name="connsiteX13" fmla="*/ 6916 w 114105"/>
                <a:gd name="connsiteY13" fmla="*/ 106635 h 228600"/>
                <a:gd name="connsiteX14" fmla="*/ 52463 w 114105"/>
                <a:gd name="connsiteY14" fmla="*/ 136941 h 228600"/>
                <a:gd name="connsiteX15" fmla="*/ 75754 w 114105"/>
                <a:gd name="connsiteY15" fmla="*/ 151014 h 228600"/>
                <a:gd name="connsiteX16" fmla="*/ 68443 w 114105"/>
                <a:gd name="connsiteY16" fmla="*/ 164204 h 228600"/>
                <a:gd name="connsiteX17" fmla="*/ 43212 w 114105"/>
                <a:gd name="connsiteY17" fmla="*/ 161218 h 228600"/>
                <a:gd name="connsiteX18" fmla="*/ 16798 w 114105"/>
                <a:gd name="connsiteY18" fmla="*/ 166536 h 228600"/>
                <a:gd name="connsiteX19" fmla="*/ 22013 w 114105"/>
                <a:gd name="connsiteY19" fmla="*/ 192881 h 228600"/>
                <a:gd name="connsiteX20" fmla="*/ 37468 w 114105"/>
                <a:gd name="connsiteY20" fmla="*/ 200437 h 228600"/>
                <a:gd name="connsiteX21" fmla="*/ 37468 w 114105"/>
                <a:gd name="connsiteY21" fmla="*/ 209550 h 228600"/>
                <a:gd name="connsiteX22" fmla="*/ 56518 w 114105"/>
                <a:gd name="connsiteY22" fmla="*/ 228600 h 228600"/>
                <a:gd name="connsiteX23" fmla="*/ 75568 w 114105"/>
                <a:gd name="connsiteY23" fmla="*/ 209550 h 228600"/>
                <a:gd name="connsiteX24" fmla="*/ 75568 w 114105"/>
                <a:gd name="connsiteY24" fmla="*/ 201945 h 228600"/>
                <a:gd name="connsiteX25" fmla="*/ 84474 w 114105"/>
                <a:gd name="connsiteY25" fmla="*/ 198770 h 228600"/>
                <a:gd name="connsiteX26" fmla="*/ 112306 w 114105"/>
                <a:gd name="connsiteY26" fmla="*/ 140279 h 228600"/>
                <a:gd name="connsiteX27" fmla="*/ 63732 w 114105"/>
                <a:gd name="connsiteY27" fmla="*/ 100552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105" h="228600">
                  <a:moveTo>
                    <a:pt x="63732" y="100552"/>
                  </a:moveTo>
                  <a:cubicBezTo>
                    <a:pt x="51295" y="96692"/>
                    <a:pt x="43505" y="94032"/>
                    <a:pt x="40184" y="88069"/>
                  </a:cubicBezTo>
                  <a:cubicBezTo>
                    <a:pt x="37524" y="83508"/>
                    <a:pt x="37371" y="77904"/>
                    <a:pt x="39779" y="73204"/>
                  </a:cubicBezTo>
                  <a:cubicBezTo>
                    <a:pt x="45799" y="66652"/>
                    <a:pt x="55052" y="64147"/>
                    <a:pt x="63555" y="66768"/>
                  </a:cubicBezTo>
                  <a:cubicBezTo>
                    <a:pt x="66102" y="67362"/>
                    <a:pt x="68504" y="68459"/>
                    <a:pt x="70619" y="69995"/>
                  </a:cubicBezTo>
                  <a:cubicBezTo>
                    <a:pt x="79250" y="76014"/>
                    <a:pt x="91125" y="73896"/>
                    <a:pt x="97144" y="65266"/>
                  </a:cubicBezTo>
                  <a:cubicBezTo>
                    <a:pt x="103162" y="56636"/>
                    <a:pt x="101044" y="44760"/>
                    <a:pt x="92414" y="38742"/>
                  </a:cubicBezTo>
                  <a:cubicBezTo>
                    <a:pt x="87274" y="35134"/>
                    <a:pt x="81586" y="32381"/>
                    <a:pt x="75568" y="30588"/>
                  </a:cubicBezTo>
                  <a:lnTo>
                    <a:pt x="75568" y="19050"/>
                  </a:lnTo>
                  <a:cubicBezTo>
                    <a:pt x="75568" y="8529"/>
                    <a:pt x="67039" y="0"/>
                    <a:pt x="56518" y="0"/>
                  </a:cubicBezTo>
                  <a:cubicBezTo>
                    <a:pt x="45997" y="0"/>
                    <a:pt x="37468" y="8529"/>
                    <a:pt x="37468" y="19050"/>
                  </a:cubicBezTo>
                  <a:lnTo>
                    <a:pt x="37468" y="30671"/>
                  </a:lnTo>
                  <a:cubicBezTo>
                    <a:pt x="24792" y="34113"/>
                    <a:pt x="13929" y="42307"/>
                    <a:pt x="7140" y="53551"/>
                  </a:cubicBezTo>
                  <a:cubicBezTo>
                    <a:pt x="-2299" y="69966"/>
                    <a:pt x="-2385" y="90142"/>
                    <a:pt x="6916" y="106635"/>
                  </a:cubicBezTo>
                  <a:cubicBezTo>
                    <a:pt x="17813" y="126216"/>
                    <a:pt x="37026" y="132159"/>
                    <a:pt x="52463" y="136941"/>
                  </a:cubicBezTo>
                  <a:cubicBezTo>
                    <a:pt x="68777" y="141991"/>
                    <a:pt x="73815" y="144466"/>
                    <a:pt x="75754" y="151014"/>
                  </a:cubicBezTo>
                  <a:cubicBezTo>
                    <a:pt x="76828" y="156601"/>
                    <a:pt x="73749" y="162154"/>
                    <a:pt x="68443" y="164204"/>
                  </a:cubicBezTo>
                  <a:cubicBezTo>
                    <a:pt x="60070" y="167555"/>
                    <a:pt x="50570" y="166431"/>
                    <a:pt x="43212" y="161218"/>
                  </a:cubicBezTo>
                  <a:cubicBezTo>
                    <a:pt x="34449" y="155393"/>
                    <a:pt x="22624" y="157774"/>
                    <a:pt x="16798" y="166536"/>
                  </a:cubicBezTo>
                  <a:cubicBezTo>
                    <a:pt x="11000" y="175258"/>
                    <a:pt x="13328" y="187026"/>
                    <a:pt x="22013" y="192881"/>
                  </a:cubicBezTo>
                  <a:cubicBezTo>
                    <a:pt x="26822" y="196048"/>
                    <a:pt x="32016" y="198588"/>
                    <a:pt x="37468" y="200437"/>
                  </a:cubicBezTo>
                  <a:lnTo>
                    <a:pt x="37468" y="209550"/>
                  </a:lnTo>
                  <a:cubicBezTo>
                    <a:pt x="37468" y="220071"/>
                    <a:pt x="45997" y="228600"/>
                    <a:pt x="56518" y="228600"/>
                  </a:cubicBezTo>
                  <a:cubicBezTo>
                    <a:pt x="67039" y="228600"/>
                    <a:pt x="75568" y="220071"/>
                    <a:pt x="75568" y="209550"/>
                  </a:cubicBezTo>
                  <a:lnTo>
                    <a:pt x="75568" y="201945"/>
                  </a:lnTo>
                  <a:cubicBezTo>
                    <a:pt x="78618" y="201128"/>
                    <a:pt x="81596" y="200066"/>
                    <a:pt x="84474" y="198770"/>
                  </a:cubicBezTo>
                  <a:cubicBezTo>
                    <a:pt x="107009" y="188910"/>
                    <a:pt x="118869" y="163985"/>
                    <a:pt x="112306" y="140279"/>
                  </a:cubicBezTo>
                  <a:cubicBezTo>
                    <a:pt x="104268" y="113100"/>
                    <a:pt x="80843" y="105845"/>
                    <a:pt x="63732" y="100552"/>
                  </a:cubicBezTo>
                  <a:close/>
                </a:path>
              </a:pathLst>
            </a:custGeom>
            <a:grpFill/>
            <a:ln w="9525" cap="flat">
              <a:noFill/>
              <a:prstDash val="solid"/>
              <a:miter/>
            </a:ln>
          </p:spPr>
          <p:txBody>
            <a:bodyPr rtlCol="0" anchor="ctr"/>
            <a:lstStyle/>
            <a:p>
              <a:endParaRPr lang="en-GB"/>
            </a:p>
          </p:txBody>
        </p:sp>
      </p:grpSp>
      <p:grpSp>
        <p:nvGrpSpPr>
          <p:cNvPr id="69" name="Graphic 22">
            <a:extLst>
              <a:ext uri="{FF2B5EF4-FFF2-40B4-BE49-F238E27FC236}">
                <a16:creationId xmlns:a16="http://schemas.microsoft.com/office/drawing/2014/main" id="{AB2EDBDD-A1F4-4156-8F4D-39B2C07B63CA}"/>
              </a:ext>
            </a:extLst>
          </p:cNvPr>
          <p:cNvGrpSpPr/>
          <p:nvPr/>
        </p:nvGrpSpPr>
        <p:grpSpPr>
          <a:xfrm>
            <a:off x="3465070" y="4703234"/>
            <a:ext cx="493253" cy="541307"/>
            <a:chOff x="3515647" y="4596031"/>
            <a:chExt cx="613782" cy="673578"/>
          </a:xfrm>
          <a:solidFill>
            <a:schemeClr val="tx2"/>
          </a:solidFill>
        </p:grpSpPr>
        <p:sp>
          <p:nvSpPr>
            <p:cNvPr id="70" name="Freeform: Shape 69">
              <a:extLst>
                <a:ext uri="{FF2B5EF4-FFF2-40B4-BE49-F238E27FC236}">
                  <a16:creationId xmlns:a16="http://schemas.microsoft.com/office/drawing/2014/main" id="{94698A31-7DF2-4380-9B1B-6CC300D12325}"/>
                </a:ext>
              </a:extLst>
            </p:cNvPr>
            <p:cNvSpPr/>
            <p:nvPr/>
          </p:nvSpPr>
          <p:spPr>
            <a:xfrm>
              <a:off x="3800996" y="4596031"/>
              <a:ext cx="328433" cy="606006"/>
            </a:xfrm>
            <a:custGeom>
              <a:avLst/>
              <a:gdLst>
                <a:gd name="connsiteX0" fmla="*/ 122439 w 328433"/>
                <a:gd name="connsiteY0" fmla="*/ 606007 h 606006"/>
                <a:gd name="connsiteX1" fmla="*/ 118915 w 328433"/>
                <a:gd name="connsiteY1" fmla="*/ 605340 h 606006"/>
                <a:gd name="connsiteX2" fmla="*/ 113390 w 328433"/>
                <a:gd name="connsiteY2" fmla="*/ 599339 h 606006"/>
                <a:gd name="connsiteX3" fmla="*/ 424 w 328433"/>
                <a:gd name="connsiteY3" fmla="*/ 232246 h 606006"/>
                <a:gd name="connsiteX4" fmla="*/ 424 w 328433"/>
                <a:gd name="connsiteY4" fmla="*/ 226626 h 606006"/>
                <a:gd name="connsiteX5" fmla="*/ 68051 w 328433"/>
                <a:gd name="connsiteY5" fmla="*/ 6980 h 606006"/>
                <a:gd name="connsiteX6" fmla="*/ 72718 w 328433"/>
                <a:gd name="connsiteY6" fmla="*/ 1265 h 606006"/>
                <a:gd name="connsiteX7" fmla="*/ 79481 w 328433"/>
                <a:gd name="connsiteY7" fmla="*/ 217 h 606006"/>
                <a:gd name="connsiteX8" fmla="*/ 82148 w 328433"/>
                <a:gd name="connsiteY8" fmla="*/ 693 h 606006"/>
                <a:gd name="connsiteX9" fmla="*/ 301223 w 328433"/>
                <a:gd name="connsiteY9" fmla="*/ 129757 h 606006"/>
                <a:gd name="connsiteX10" fmla="*/ 294841 w 328433"/>
                <a:gd name="connsiteY10" fmla="*/ 391599 h 606006"/>
                <a:gd name="connsiteX11" fmla="*/ 127011 w 328433"/>
                <a:gd name="connsiteY11" fmla="*/ 604864 h 606006"/>
                <a:gd name="connsiteX12" fmla="*/ 122439 w 328433"/>
                <a:gd name="connsiteY12" fmla="*/ 606007 h 606006"/>
                <a:gd name="connsiteX13" fmla="*/ 19474 w 328433"/>
                <a:gd name="connsiteY13" fmla="*/ 229388 h 606006"/>
                <a:gd name="connsiteX14" fmla="*/ 128059 w 328433"/>
                <a:gd name="connsiteY14" fmla="*/ 582290 h 606006"/>
                <a:gd name="connsiteX15" fmla="*/ 277220 w 328433"/>
                <a:gd name="connsiteY15" fmla="*/ 384741 h 606006"/>
                <a:gd name="connsiteX16" fmla="*/ 284745 w 328433"/>
                <a:gd name="connsiteY16" fmla="*/ 139472 h 606006"/>
                <a:gd name="connsiteX17" fmla="*/ 83767 w 328433"/>
                <a:gd name="connsiteY17" fmla="*/ 20505 h 606006"/>
                <a:gd name="connsiteX18" fmla="*/ 77100 w 328433"/>
                <a:gd name="connsiteY18" fmla="*/ 9742 h 606006"/>
                <a:gd name="connsiteX19" fmla="*/ 77100 w 328433"/>
                <a:gd name="connsiteY19" fmla="*/ 9742 h 60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8433" h="606006">
                  <a:moveTo>
                    <a:pt x="122439" y="606007"/>
                  </a:moveTo>
                  <a:cubicBezTo>
                    <a:pt x="121232" y="606010"/>
                    <a:pt x="120037" y="605784"/>
                    <a:pt x="118915" y="605340"/>
                  </a:cubicBezTo>
                  <a:cubicBezTo>
                    <a:pt x="116267" y="604269"/>
                    <a:pt x="114239" y="602066"/>
                    <a:pt x="113390" y="599339"/>
                  </a:cubicBezTo>
                  <a:lnTo>
                    <a:pt x="424" y="232246"/>
                  </a:lnTo>
                  <a:cubicBezTo>
                    <a:pt x="-141" y="230415"/>
                    <a:pt x="-141" y="228457"/>
                    <a:pt x="424" y="226626"/>
                  </a:cubicBezTo>
                  <a:lnTo>
                    <a:pt x="68051" y="6980"/>
                  </a:lnTo>
                  <a:cubicBezTo>
                    <a:pt x="68776" y="4525"/>
                    <a:pt x="70458" y="2465"/>
                    <a:pt x="72718" y="1265"/>
                  </a:cubicBezTo>
                  <a:cubicBezTo>
                    <a:pt x="74765" y="90"/>
                    <a:pt x="77175" y="-284"/>
                    <a:pt x="79481" y="217"/>
                  </a:cubicBezTo>
                  <a:lnTo>
                    <a:pt x="82148" y="693"/>
                  </a:lnTo>
                  <a:cubicBezTo>
                    <a:pt x="141965" y="10218"/>
                    <a:pt x="249883" y="38793"/>
                    <a:pt x="301223" y="129757"/>
                  </a:cubicBezTo>
                  <a:cubicBezTo>
                    <a:pt x="339323" y="197575"/>
                    <a:pt x="337609" y="285681"/>
                    <a:pt x="294841" y="391599"/>
                  </a:cubicBezTo>
                  <a:cubicBezTo>
                    <a:pt x="253027" y="495517"/>
                    <a:pt x="196543" y="567240"/>
                    <a:pt x="127011" y="604864"/>
                  </a:cubicBezTo>
                  <a:cubicBezTo>
                    <a:pt x="125607" y="605622"/>
                    <a:pt x="124034" y="606014"/>
                    <a:pt x="122439" y="606007"/>
                  </a:cubicBezTo>
                  <a:close/>
                  <a:moveTo>
                    <a:pt x="19474" y="229388"/>
                  </a:moveTo>
                  <a:lnTo>
                    <a:pt x="128059" y="582290"/>
                  </a:lnTo>
                  <a:cubicBezTo>
                    <a:pt x="189019" y="545428"/>
                    <a:pt x="239215" y="479039"/>
                    <a:pt x="277220" y="384741"/>
                  </a:cubicBezTo>
                  <a:cubicBezTo>
                    <a:pt x="317701" y="284443"/>
                    <a:pt x="320273" y="201956"/>
                    <a:pt x="284745" y="139472"/>
                  </a:cubicBezTo>
                  <a:cubicBezTo>
                    <a:pt x="237120" y="55462"/>
                    <a:pt x="131583" y="28792"/>
                    <a:pt x="83767" y="20505"/>
                  </a:cubicBezTo>
                  <a:close/>
                  <a:moveTo>
                    <a:pt x="77100" y="9742"/>
                  </a:moveTo>
                  <a:lnTo>
                    <a:pt x="77100" y="9742"/>
                  </a:lnTo>
                  <a:close/>
                </a:path>
              </a:pathLst>
            </a:custGeom>
            <a:grpFill/>
            <a:ln w="9525" cap="flat">
              <a:noFill/>
              <a:prstDash val="solid"/>
              <a:miter/>
            </a:ln>
          </p:spPr>
          <p:txBody>
            <a:bodyPr rtlCol="0" anchor="ctr"/>
            <a:lstStyle/>
            <a:p>
              <a:endParaRPr lang="en-GB"/>
            </a:p>
          </p:txBody>
        </p:sp>
        <p:sp>
          <p:nvSpPr>
            <p:cNvPr id="71" name="Freeform: Shape 70">
              <a:extLst>
                <a:ext uri="{FF2B5EF4-FFF2-40B4-BE49-F238E27FC236}">
                  <a16:creationId xmlns:a16="http://schemas.microsoft.com/office/drawing/2014/main" id="{EDAE67C8-9A79-4C95-8E8A-7282BB42621A}"/>
                </a:ext>
              </a:extLst>
            </p:cNvPr>
            <p:cNvSpPr/>
            <p:nvPr/>
          </p:nvSpPr>
          <p:spPr>
            <a:xfrm>
              <a:off x="3880015" y="4793780"/>
              <a:ext cx="117272" cy="66067"/>
            </a:xfrm>
            <a:custGeom>
              <a:avLst/>
              <a:gdLst>
                <a:gd name="connsiteX0" fmla="*/ 2748 w 117272"/>
                <a:gd name="connsiteY0" fmla="*/ 21543 h 66067"/>
                <a:gd name="connsiteX1" fmla="*/ 117048 w 117272"/>
                <a:gd name="connsiteY1" fmla="*/ 57261 h 66067"/>
                <a:gd name="connsiteX2" fmla="*/ 111980 w 117272"/>
                <a:gd name="connsiteY2" fmla="*/ 65844 h 66067"/>
                <a:gd name="connsiteX3" fmla="*/ 108094 w 117272"/>
                <a:gd name="connsiteY3" fmla="*/ 65739 h 66067"/>
                <a:gd name="connsiteX4" fmla="*/ 4653 w 117272"/>
                <a:gd name="connsiteY4" fmla="*/ 33639 h 66067"/>
                <a:gd name="connsiteX5" fmla="*/ 394 w 117272"/>
                <a:gd name="connsiteY5" fmla="*/ 24776 h 66067"/>
                <a:gd name="connsiteX6" fmla="*/ 2748 w 117272"/>
                <a:gd name="connsiteY6" fmla="*/ 21543 h 6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72" h="66067">
                  <a:moveTo>
                    <a:pt x="2748" y="21543"/>
                  </a:moveTo>
                  <a:cubicBezTo>
                    <a:pt x="29132" y="3636"/>
                    <a:pt x="94188" y="-29892"/>
                    <a:pt x="117048" y="57261"/>
                  </a:cubicBezTo>
                  <a:cubicBezTo>
                    <a:pt x="118018" y="61031"/>
                    <a:pt x="115750" y="64874"/>
                    <a:pt x="111980" y="65844"/>
                  </a:cubicBezTo>
                  <a:cubicBezTo>
                    <a:pt x="110700" y="66174"/>
                    <a:pt x="109353" y="66138"/>
                    <a:pt x="108094" y="65739"/>
                  </a:cubicBezTo>
                  <a:lnTo>
                    <a:pt x="4653" y="33639"/>
                  </a:lnTo>
                  <a:cubicBezTo>
                    <a:pt x="1029" y="32368"/>
                    <a:pt x="-877" y="28400"/>
                    <a:pt x="394" y="24776"/>
                  </a:cubicBezTo>
                  <a:cubicBezTo>
                    <a:pt x="846" y="23491"/>
                    <a:pt x="1664" y="22367"/>
                    <a:pt x="2748" y="21543"/>
                  </a:cubicBezTo>
                  <a:close/>
                </a:path>
              </a:pathLst>
            </a:custGeom>
            <a:grpFill/>
            <a:ln w="9525" cap="flat">
              <a:no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2203D697-2FAC-435E-90DE-C177E616518E}"/>
                </a:ext>
              </a:extLst>
            </p:cNvPr>
            <p:cNvSpPr/>
            <p:nvPr/>
          </p:nvSpPr>
          <p:spPr>
            <a:xfrm>
              <a:off x="3751509" y="4999155"/>
              <a:ext cx="219347" cy="82963"/>
            </a:xfrm>
            <a:custGeom>
              <a:avLst/>
              <a:gdLst>
                <a:gd name="connsiteX0" fmla="*/ 59436 w 219347"/>
                <a:gd name="connsiteY0" fmla="*/ 46958 h 82963"/>
                <a:gd name="connsiteX1" fmla="*/ 113919 w 219347"/>
                <a:gd name="connsiteY1" fmla="*/ 82010 h 82963"/>
                <a:gd name="connsiteX2" fmla="*/ 127635 w 219347"/>
                <a:gd name="connsiteY2" fmla="*/ 82963 h 82963"/>
                <a:gd name="connsiteX3" fmla="*/ 216789 w 219347"/>
                <a:gd name="connsiteY3" fmla="*/ 50102 h 82963"/>
                <a:gd name="connsiteX4" fmla="*/ 216318 w 219347"/>
                <a:gd name="connsiteY4" fmla="*/ 36639 h 82963"/>
                <a:gd name="connsiteX5" fmla="*/ 205264 w 219347"/>
                <a:gd name="connsiteY5" fmla="*/ 35243 h 82963"/>
                <a:gd name="connsiteX6" fmla="*/ 116872 w 219347"/>
                <a:gd name="connsiteY6" fmla="*/ 63818 h 82963"/>
                <a:gd name="connsiteX7" fmla="*/ 74962 w 219347"/>
                <a:gd name="connsiteY7" fmla="*/ 36671 h 82963"/>
                <a:gd name="connsiteX8" fmla="*/ 5810 w 219347"/>
                <a:gd name="connsiteY8" fmla="*/ 0 h 82963"/>
                <a:gd name="connsiteX9" fmla="*/ 0 w 219347"/>
                <a:gd name="connsiteY9" fmla="*/ 19050 h 82963"/>
                <a:gd name="connsiteX10" fmla="*/ 59436 w 219347"/>
                <a:gd name="connsiteY10" fmla="*/ 46958 h 8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347" h="82963">
                  <a:moveTo>
                    <a:pt x="59436" y="46958"/>
                  </a:moveTo>
                  <a:cubicBezTo>
                    <a:pt x="71894" y="65749"/>
                    <a:pt x="91654" y="78462"/>
                    <a:pt x="113919" y="82010"/>
                  </a:cubicBezTo>
                  <a:cubicBezTo>
                    <a:pt x="118462" y="82658"/>
                    <a:pt x="123046" y="82976"/>
                    <a:pt x="127635" y="82963"/>
                  </a:cubicBezTo>
                  <a:cubicBezTo>
                    <a:pt x="172688" y="82963"/>
                    <a:pt x="214789" y="51626"/>
                    <a:pt x="216789" y="50102"/>
                  </a:cubicBezTo>
                  <a:cubicBezTo>
                    <a:pt x="220377" y="46254"/>
                    <a:pt x="220166" y="40227"/>
                    <a:pt x="216318" y="36639"/>
                  </a:cubicBezTo>
                  <a:cubicBezTo>
                    <a:pt x="213319" y="33842"/>
                    <a:pt x="208865" y="33279"/>
                    <a:pt x="205264" y="35243"/>
                  </a:cubicBezTo>
                  <a:cubicBezTo>
                    <a:pt x="204787" y="35243"/>
                    <a:pt x="158782" y="69914"/>
                    <a:pt x="116872" y="63818"/>
                  </a:cubicBezTo>
                  <a:cubicBezTo>
                    <a:pt x="99697" y="61088"/>
                    <a:pt x="84476" y="51228"/>
                    <a:pt x="74962" y="36671"/>
                  </a:cubicBezTo>
                  <a:cubicBezTo>
                    <a:pt x="59163" y="14024"/>
                    <a:pt x="33421" y="372"/>
                    <a:pt x="5810" y="0"/>
                  </a:cubicBezTo>
                  <a:lnTo>
                    <a:pt x="0" y="19050"/>
                  </a:lnTo>
                  <a:cubicBezTo>
                    <a:pt x="23271" y="17630"/>
                    <a:pt x="45666" y="28145"/>
                    <a:pt x="59436" y="46958"/>
                  </a:cubicBezTo>
                  <a:close/>
                </a:path>
              </a:pathLst>
            </a:custGeom>
            <a:grpFill/>
            <a:ln w="9525" cap="flat">
              <a:noFill/>
              <a:prstDash val="solid"/>
              <a:miter/>
            </a:ln>
          </p:spPr>
          <p:txBody>
            <a:bodyPr rtlCol="0" anchor="ctr"/>
            <a:lstStyle/>
            <a:p>
              <a:endParaRPr lang="en-GB"/>
            </a:p>
          </p:txBody>
        </p:sp>
        <p:sp>
          <p:nvSpPr>
            <p:cNvPr id="73" name="Freeform: Shape 72">
              <a:extLst>
                <a:ext uri="{FF2B5EF4-FFF2-40B4-BE49-F238E27FC236}">
                  <a16:creationId xmlns:a16="http://schemas.microsoft.com/office/drawing/2014/main" id="{D3A0A003-64A4-41AC-B96D-48AFF02BE4D0}"/>
                </a:ext>
              </a:extLst>
            </p:cNvPr>
            <p:cNvSpPr/>
            <p:nvPr/>
          </p:nvSpPr>
          <p:spPr>
            <a:xfrm>
              <a:off x="3515647" y="4653398"/>
              <a:ext cx="424075" cy="616211"/>
            </a:xfrm>
            <a:custGeom>
              <a:avLst/>
              <a:gdLst>
                <a:gd name="connsiteX0" fmla="*/ 407788 w 424075"/>
                <a:gd name="connsiteY0" fmla="*/ 539115 h 616211"/>
                <a:gd name="connsiteX1" fmla="*/ 180426 w 424075"/>
                <a:gd name="connsiteY1" fmla="*/ 544068 h 616211"/>
                <a:gd name="connsiteX2" fmla="*/ 226242 w 424075"/>
                <a:gd name="connsiteY2" fmla="*/ 395097 h 616211"/>
                <a:gd name="connsiteX3" fmla="*/ 235767 w 424075"/>
                <a:gd name="connsiteY3" fmla="*/ 363855 h 616211"/>
                <a:gd name="connsiteX4" fmla="*/ 150804 w 424075"/>
                <a:gd name="connsiteY4" fmla="*/ 390144 h 616211"/>
                <a:gd name="connsiteX5" fmla="*/ 137659 w 424075"/>
                <a:gd name="connsiteY5" fmla="*/ 387096 h 616211"/>
                <a:gd name="connsiteX6" fmla="*/ 140707 w 424075"/>
                <a:gd name="connsiteY6" fmla="*/ 373951 h 616211"/>
                <a:gd name="connsiteX7" fmla="*/ 241577 w 424075"/>
                <a:gd name="connsiteY7" fmla="*/ 345376 h 616211"/>
                <a:gd name="connsiteX8" fmla="*/ 295298 w 424075"/>
                <a:gd name="connsiteY8" fmla="*/ 172022 h 616211"/>
                <a:gd name="connsiteX9" fmla="*/ 242053 w 424075"/>
                <a:gd name="connsiteY9" fmla="*/ 0 h 616211"/>
                <a:gd name="connsiteX10" fmla="*/ 33075 w 424075"/>
                <a:gd name="connsiteY10" fmla="*/ 378619 h 616211"/>
                <a:gd name="connsiteX11" fmla="*/ 424076 w 424075"/>
                <a:gd name="connsiteY11" fmla="*/ 592074 h 616211"/>
                <a:gd name="connsiteX12" fmla="*/ 125848 w 424075"/>
                <a:gd name="connsiteY12" fmla="*/ 198787 h 616211"/>
                <a:gd name="connsiteX13" fmla="*/ 206239 w 424075"/>
                <a:gd name="connsiteY13" fmla="*/ 176117 h 616211"/>
                <a:gd name="connsiteX14" fmla="*/ 215053 w 424075"/>
                <a:gd name="connsiteY14" fmla="*/ 181055 h 616211"/>
                <a:gd name="connsiteX15" fmla="*/ 214812 w 424075"/>
                <a:gd name="connsiteY15" fmla="*/ 185642 h 616211"/>
                <a:gd name="connsiteX16" fmla="*/ 124324 w 424075"/>
                <a:gd name="connsiteY16" fmla="*/ 211836 h 616211"/>
                <a:gd name="connsiteX17" fmla="*/ 121935 w 424075"/>
                <a:gd name="connsiteY17" fmla="*/ 201881 h 616211"/>
                <a:gd name="connsiteX18" fmla="*/ 125848 w 424075"/>
                <a:gd name="connsiteY18" fmla="*/ 198787 h 61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4075" h="616211">
                  <a:moveTo>
                    <a:pt x="407788" y="539115"/>
                  </a:moveTo>
                  <a:cubicBezTo>
                    <a:pt x="292155" y="601694"/>
                    <a:pt x="180426" y="544068"/>
                    <a:pt x="180426" y="544068"/>
                  </a:cubicBezTo>
                  <a:lnTo>
                    <a:pt x="226242" y="395097"/>
                  </a:lnTo>
                  <a:lnTo>
                    <a:pt x="235767" y="363855"/>
                  </a:lnTo>
                  <a:cubicBezTo>
                    <a:pt x="193952" y="363855"/>
                    <a:pt x="151470" y="389763"/>
                    <a:pt x="150804" y="390144"/>
                  </a:cubicBezTo>
                  <a:cubicBezTo>
                    <a:pt x="146333" y="392932"/>
                    <a:pt x="140447" y="391567"/>
                    <a:pt x="137659" y="387096"/>
                  </a:cubicBezTo>
                  <a:cubicBezTo>
                    <a:pt x="134871" y="382625"/>
                    <a:pt x="136236" y="376739"/>
                    <a:pt x="140707" y="373951"/>
                  </a:cubicBezTo>
                  <a:cubicBezTo>
                    <a:pt x="170964" y="355108"/>
                    <a:pt x="205932" y="345203"/>
                    <a:pt x="241577" y="345376"/>
                  </a:cubicBezTo>
                  <a:lnTo>
                    <a:pt x="295298" y="172022"/>
                  </a:lnTo>
                  <a:lnTo>
                    <a:pt x="242053" y="0"/>
                  </a:lnTo>
                  <a:cubicBezTo>
                    <a:pt x="235862" y="2095"/>
                    <a:pt x="-105514" y="35147"/>
                    <a:pt x="33075" y="378619"/>
                  </a:cubicBezTo>
                  <a:cubicBezTo>
                    <a:pt x="171663" y="722090"/>
                    <a:pt x="424076" y="592074"/>
                    <a:pt x="424076" y="592074"/>
                  </a:cubicBezTo>
                  <a:close/>
                  <a:moveTo>
                    <a:pt x="125848" y="198787"/>
                  </a:moveTo>
                  <a:lnTo>
                    <a:pt x="206239" y="176117"/>
                  </a:lnTo>
                  <a:cubicBezTo>
                    <a:pt x="210037" y="175047"/>
                    <a:pt x="213983" y="177257"/>
                    <a:pt x="215053" y="181055"/>
                  </a:cubicBezTo>
                  <a:cubicBezTo>
                    <a:pt x="215480" y="182569"/>
                    <a:pt x="215394" y="184181"/>
                    <a:pt x="214812" y="185642"/>
                  </a:cubicBezTo>
                  <a:cubicBezTo>
                    <a:pt x="189666" y="238982"/>
                    <a:pt x="146327" y="223742"/>
                    <a:pt x="124324" y="211836"/>
                  </a:cubicBezTo>
                  <a:cubicBezTo>
                    <a:pt x="120915" y="209746"/>
                    <a:pt x="119846" y="205289"/>
                    <a:pt x="121935" y="201881"/>
                  </a:cubicBezTo>
                  <a:cubicBezTo>
                    <a:pt x="122831" y="200418"/>
                    <a:pt x="124218" y="199322"/>
                    <a:pt x="125848" y="198787"/>
                  </a:cubicBezTo>
                  <a:close/>
                </a:path>
              </a:pathLst>
            </a:custGeom>
            <a:grpFill/>
            <a:ln w="9525" cap="flat">
              <a:noFill/>
              <a:prstDash val="solid"/>
              <a:miter/>
            </a:ln>
          </p:spPr>
          <p:txBody>
            <a:bodyPr rtlCol="0" anchor="ctr"/>
            <a:lstStyle/>
            <a:p>
              <a:endParaRPr lang="en-GB"/>
            </a:p>
          </p:txBody>
        </p:sp>
      </p:grpSp>
      <p:grpSp>
        <p:nvGrpSpPr>
          <p:cNvPr id="113" name="Group 112">
            <a:extLst>
              <a:ext uri="{FF2B5EF4-FFF2-40B4-BE49-F238E27FC236}">
                <a16:creationId xmlns:a16="http://schemas.microsoft.com/office/drawing/2014/main" id="{C1191215-DC2C-487A-ABD2-D445B0DBA55A}"/>
              </a:ext>
            </a:extLst>
          </p:cNvPr>
          <p:cNvGrpSpPr/>
          <p:nvPr/>
        </p:nvGrpSpPr>
        <p:grpSpPr>
          <a:xfrm>
            <a:off x="7703461" y="2730580"/>
            <a:ext cx="666842" cy="471494"/>
            <a:chOff x="928344" y="2700308"/>
            <a:chExt cx="857249" cy="606122"/>
          </a:xfrm>
          <a:solidFill>
            <a:schemeClr val="bg1">
              <a:lumMod val="50000"/>
            </a:schemeClr>
          </a:solidFill>
        </p:grpSpPr>
        <p:sp>
          <p:nvSpPr>
            <p:cNvPr id="115" name="Freeform: Shape 114">
              <a:extLst>
                <a:ext uri="{FF2B5EF4-FFF2-40B4-BE49-F238E27FC236}">
                  <a16:creationId xmlns:a16="http://schemas.microsoft.com/office/drawing/2014/main" id="{5351DA9F-7037-43C6-AEF6-BAFC89C01CBB}"/>
                </a:ext>
              </a:extLst>
            </p:cNvPr>
            <p:cNvSpPr/>
            <p:nvPr/>
          </p:nvSpPr>
          <p:spPr>
            <a:xfrm>
              <a:off x="1282467" y="2700308"/>
              <a:ext cx="503126" cy="308495"/>
            </a:xfrm>
            <a:custGeom>
              <a:avLst/>
              <a:gdLst>
                <a:gd name="connsiteX0" fmla="*/ 152978 w 503126"/>
                <a:gd name="connsiteY0" fmla="*/ 120682 h 308495"/>
                <a:gd name="connsiteX1" fmla="*/ 189182 w 503126"/>
                <a:gd name="connsiteY1" fmla="*/ 131264 h 308495"/>
                <a:gd name="connsiteX2" fmla="*/ 260886 w 503126"/>
                <a:gd name="connsiteY2" fmla="*/ 196967 h 308495"/>
                <a:gd name="connsiteX3" fmla="*/ 323151 w 503126"/>
                <a:gd name="connsiteY3" fmla="*/ 247964 h 308495"/>
                <a:gd name="connsiteX4" fmla="*/ 388274 w 503126"/>
                <a:gd name="connsiteY4" fmla="*/ 308496 h 308495"/>
                <a:gd name="connsiteX5" fmla="*/ 503126 w 503126"/>
                <a:gd name="connsiteY5" fmla="*/ 175422 h 308495"/>
                <a:gd name="connsiteX6" fmla="*/ 324656 w 503126"/>
                <a:gd name="connsiteY6" fmla="*/ 4591 h 308495"/>
                <a:gd name="connsiteX7" fmla="*/ 281689 w 503126"/>
                <a:gd name="connsiteY7" fmla="*/ 46758 h 308495"/>
                <a:gd name="connsiteX8" fmla="*/ 257324 w 503126"/>
                <a:gd name="connsiteY8" fmla="*/ 38652 h 308495"/>
                <a:gd name="connsiteX9" fmla="*/ 190011 w 503126"/>
                <a:gd name="connsiteY9" fmla="*/ 5896 h 308495"/>
                <a:gd name="connsiteX10" fmla="*/ 161483 w 503126"/>
                <a:gd name="connsiteY10" fmla="*/ 0 h 308495"/>
                <a:gd name="connsiteX11" fmla="*/ 120812 w 503126"/>
                <a:gd name="connsiteY11" fmla="*/ 11516 h 308495"/>
                <a:gd name="connsiteX12" fmla="*/ 16684 w 503126"/>
                <a:gd name="connsiteY12" fmla="*/ 84544 h 308495"/>
                <a:gd name="connsiteX13" fmla="*/ 7788 w 503126"/>
                <a:gd name="connsiteY13" fmla="*/ 140189 h 308495"/>
                <a:gd name="connsiteX14" fmla="*/ 13960 w 503126"/>
                <a:gd name="connsiteY14" fmla="*/ 148533 h 308495"/>
                <a:gd name="connsiteX15" fmla="*/ 50127 w 503126"/>
                <a:gd name="connsiteY15" fmla="*/ 166164 h 308495"/>
                <a:gd name="connsiteX16" fmla="*/ 72529 w 503126"/>
                <a:gd name="connsiteY16" fmla="*/ 160077 h 308495"/>
                <a:gd name="connsiteX17" fmla="*/ 121936 w 503126"/>
                <a:gd name="connsiteY17" fmla="*/ 128540 h 308495"/>
                <a:gd name="connsiteX18" fmla="*/ 152978 w 503126"/>
                <a:gd name="connsiteY18" fmla="*/ 120682 h 30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126" h="308495">
                  <a:moveTo>
                    <a:pt x="152978" y="120682"/>
                  </a:moveTo>
                  <a:cubicBezTo>
                    <a:pt x="166141" y="120682"/>
                    <a:pt x="179438" y="124263"/>
                    <a:pt x="189182" y="131264"/>
                  </a:cubicBezTo>
                  <a:lnTo>
                    <a:pt x="260886" y="196967"/>
                  </a:lnTo>
                  <a:cubicBezTo>
                    <a:pt x="278898" y="209921"/>
                    <a:pt x="306892" y="232886"/>
                    <a:pt x="323151" y="247964"/>
                  </a:cubicBezTo>
                  <a:lnTo>
                    <a:pt x="388274" y="308496"/>
                  </a:lnTo>
                  <a:lnTo>
                    <a:pt x="503126" y="175422"/>
                  </a:lnTo>
                  <a:lnTo>
                    <a:pt x="324656" y="4591"/>
                  </a:lnTo>
                  <a:lnTo>
                    <a:pt x="281689" y="46758"/>
                  </a:lnTo>
                  <a:cubicBezTo>
                    <a:pt x="281689" y="46758"/>
                    <a:pt x="267316" y="43510"/>
                    <a:pt x="257324" y="38652"/>
                  </a:cubicBezTo>
                  <a:lnTo>
                    <a:pt x="190011" y="5896"/>
                  </a:lnTo>
                  <a:cubicBezTo>
                    <a:pt x="181829" y="1915"/>
                    <a:pt x="171751" y="0"/>
                    <a:pt x="161483" y="0"/>
                  </a:cubicBezTo>
                  <a:cubicBezTo>
                    <a:pt x="146710" y="0"/>
                    <a:pt x="131489" y="3972"/>
                    <a:pt x="120812" y="11516"/>
                  </a:cubicBezTo>
                  <a:lnTo>
                    <a:pt x="16684" y="84544"/>
                  </a:lnTo>
                  <a:cubicBezTo>
                    <a:pt x="-1413" y="97345"/>
                    <a:pt x="-5423" y="122377"/>
                    <a:pt x="7788" y="140189"/>
                  </a:cubicBezTo>
                  <a:lnTo>
                    <a:pt x="13960" y="148533"/>
                  </a:lnTo>
                  <a:cubicBezTo>
                    <a:pt x="22428" y="159934"/>
                    <a:pt x="36277" y="166164"/>
                    <a:pt x="50127" y="166164"/>
                  </a:cubicBezTo>
                  <a:cubicBezTo>
                    <a:pt x="57918" y="166164"/>
                    <a:pt x="65700" y="164201"/>
                    <a:pt x="72529" y="160077"/>
                  </a:cubicBezTo>
                  <a:lnTo>
                    <a:pt x="121936" y="128540"/>
                  </a:lnTo>
                  <a:cubicBezTo>
                    <a:pt x="130670" y="123282"/>
                    <a:pt x="141767" y="120682"/>
                    <a:pt x="152978" y="120682"/>
                  </a:cubicBezTo>
                  <a:close/>
                </a:path>
              </a:pathLst>
            </a:custGeom>
            <a:grpFill/>
            <a:ln w="9525" cap="flat">
              <a:noFill/>
              <a:prstDash val="solid"/>
              <a:miter/>
            </a:ln>
          </p:spPr>
          <p:txBody>
            <a:bodyPr rtlCol="0" anchor="ctr"/>
            <a:lstStyle/>
            <a:p>
              <a:endParaRPr lang="en-GB"/>
            </a:p>
          </p:txBody>
        </p:sp>
        <p:sp>
          <p:nvSpPr>
            <p:cNvPr id="116" name="Freeform: Shape 115">
              <a:extLst>
                <a:ext uri="{FF2B5EF4-FFF2-40B4-BE49-F238E27FC236}">
                  <a16:creationId xmlns:a16="http://schemas.microsoft.com/office/drawing/2014/main" id="{D33A93C6-7B04-409B-8DBF-1E9470801C2A}"/>
                </a:ext>
              </a:extLst>
            </p:cNvPr>
            <p:cNvSpPr/>
            <p:nvPr/>
          </p:nvSpPr>
          <p:spPr>
            <a:xfrm>
              <a:off x="928344" y="2712652"/>
              <a:ext cx="735196" cy="571389"/>
            </a:xfrm>
            <a:custGeom>
              <a:avLst/>
              <a:gdLst>
                <a:gd name="connsiteX0" fmla="*/ 722357 w 735196"/>
                <a:gd name="connsiteY0" fmla="*/ 344967 h 571389"/>
                <a:gd name="connsiteX1" fmla="*/ 613372 w 735196"/>
                <a:gd name="connsiteY1" fmla="*/ 243688 h 571389"/>
                <a:gd name="connsiteX2" fmla="*/ 582787 w 735196"/>
                <a:gd name="connsiteY2" fmla="*/ 219827 h 571389"/>
                <a:gd name="connsiteX3" fmla="*/ 514483 w 735196"/>
                <a:gd name="connsiteY3" fmla="*/ 157267 h 571389"/>
                <a:gd name="connsiteX4" fmla="*/ 507111 w 735196"/>
                <a:gd name="connsiteY4" fmla="*/ 156086 h 571389"/>
                <a:gd name="connsiteX5" fmla="*/ 500872 w 735196"/>
                <a:gd name="connsiteY5" fmla="*/ 157029 h 571389"/>
                <a:gd name="connsiteX6" fmla="*/ 451342 w 735196"/>
                <a:gd name="connsiteY6" fmla="*/ 188605 h 571389"/>
                <a:gd name="connsiteX7" fmla="*/ 404279 w 735196"/>
                <a:gd name="connsiteY7" fmla="*/ 201559 h 571389"/>
                <a:gd name="connsiteX8" fmla="*/ 329756 w 735196"/>
                <a:gd name="connsiteY8" fmla="*/ 164592 h 571389"/>
                <a:gd name="connsiteX9" fmla="*/ 323602 w 735196"/>
                <a:gd name="connsiteY9" fmla="*/ 156296 h 571389"/>
                <a:gd name="connsiteX10" fmla="*/ 307515 w 735196"/>
                <a:gd name="connsiteY10" fmla="*/ 90592 h 571389"/>
                <a:gd name="connsiteX11" fmla="*/ 343433 w 735196"/>
                <a:gd name="connsiteY11" fmla="*/ 33118 h 571389"/>
                <a:gd name="connsiteX12" fmla="*/ 354644 w 735196"/>
                <a:gd name="connsiteY12" fmla="*/ 25260 h 571389"/>
                <a:gd name="connsiteX13" fmla="*/ 307391 w 735196"/>
                <a:gd name="connsiteY13" fmla="*/ 30623 h 571389"/>
                <a:gd name="connsiteX14" fmla="*/ 278340 w 735196"/>
                <a:gd name="connsiteY14" fmla="*/ 43272 h 571389"/>
                <a:gd name="connsiteX15" fmla="*/ 239058 w 735196"/>
                <a:gd name="connsiteY15" fmla="*/ 50111 h 571389"/>
                <a:gd name="connsiteX16" fmla="*/ 185252 w 735196"/>
                <a:gd name="connsiteY16" fmla="*/ 0 h 571389"/>
                <a:gd name="connsiteX17" fmla="*/ 0 w 735196"/>
                <a:gd name="connsiteY17" fmla="*/ 184004 h 571389"/>
                <a:gd name="connsiteX18" fmla="*/ 69666 w 735196"/>
                <a:gd name="connsiteY18" fmla="*/ 254070 h 571389"/>
                <a:gd name="connsiteX19" fmla="*/ 85487 w 735196"/>
                <a:gd name="connsiteY19" fmla="*/ 237487 h 571389"/>
                <a:gd name="connsiteX20" fmla="*/ 149228 w 735196"/>
                <a:gd name="connsiteY20" fmla="*/ 210236 h 571389"/>
                <a:gd name="connsiteX21" fmla="*/ 210007 w 735196"/>
                <a:gd name="connsiteY21" fmla="*/ 234534 h 571389"/>
                <a:gd name="connsiteX22" fmla="*/ 217503 w 735196"/>
                <a:gd name="connsiteY22" fmla="*/ 241687 h 571389"/>
                <a:gd name="connsiteX23" fmla="*/ 238830 w 735196"/>
                <a:gd name="connsiteY23" fmla="*/ 273434 h 571389"/>
                <a:gd name="connsiteX24" fmla="*/ 277501 w 735196"/>
                <a:gd name="connsiteY24" fmla="*/ 294942 h 571389"/>
                <a:gd name="connsiteX25" fmla="*/ 284959 w 735196"/>
                <a:gd name="connsiteY25" fmla="*/ 302066 h 571389"/>
                <a:gd name="connsiteX26" fmla="*/ 312230 w 735196"/>
                <a:gd name="connsiteY26" fmla="*/ 363655 h 571389"/>
                <a:gd name="connsiteX27" fmla="*/ 326736 w 735196"/>
                <a:gd name="connsiteY27" fmla="*/ 374866 h 571389"/>
                <a:gd name="connsiteX28" fmla="*/ 334280 w 735196"/>
                <a:gd name="connsiteY28" fmla="*/ 382057 h 571389"/>
                <a:gd name="connsiteX29" fmla="*/ 356778 w 735196"/>
                <a:gd name="connsiteY29" fmla="*/ 417166 h 571389"/>
                <a:gd name="connsiteX30" fmla="*/ 392678 w 735196"/>
                <a:gd name="connsiteY30" fmla="*/ 437855 h 571389"/>
                <a:gd name="connsiteX31" fmla="*/ 400307 w 735196"/>
                <a:gd name="connsiteY31" fmla="*/ 445103 h 571389"/>
                <a:gd name="connsiteX32" fmla="*/ 414347 w 735196"/>
                <a:gd name="connsiteY32" fmla="*/ 555308 h 571389"/>
                <a:gd name="connsiteX33" fmla="*/ 420062 w 735196"/>
                <a:gd name="connsiteY33" fmla="*/ 560642 h 571389"/>
                <a:gd name="connsiteX34" fmla="*/ 477041 w 735196"/>
                <a:gd name="connsiteY34" fmla="*/ 558575 h 571389"/>
                <a:gd name="connsiteX35" fmla="*/ 484099 w 735196"/>
                <a:gd name="connsiteY35" fmla="*/ 550955 h 571389"/>
                <a:gd name="connsiteX36" fmla="*/ 482822 w 735196"/>
                <a:gd name="connsiteY36" fmla="*/ 495071 h 571389"/>
                <a:gd name="connsiteX37" fmla="*/ 535076 w 735196"/>
                <a:gd name="connsiteY37" fmla="*/ 543544 h 571389"/>
                <a:gd name="connsiteX38" fmla="*/ 592084 w 735196"/>
                <a:gd name="connsiteY38" fmla="*/ 541411 h 571389"/>
                <a:gd name="connsiteX39" fmla="*/ 599142 w 735196"/>
                <a:gd name="connsiteY39" fmla="*/ 533819 h 571389"/>
                <a:gd name="connsiteX40" fmla="*/ 597284 w 735196"/>
                <a:gd name="connsiteY40" fmla="*/ 477126 h 571389"/>
                <a:gd name="connsiteX41" fmla="*/ 610714 w 735196"/>
                <a:gd name="connsiteY41" fmla="*/ 489623 h 571389"/>
                <a:gd name="connsiteX42" fmla="*/ 667683 w 735196"/>
                <a:gd name="connsiteY42" fmla="*/ 487518 h 571389"/>
                <a:gd name="connsiteX43" fmla="*/ 674751 w 735196"/>
                <a:gd name="connsiteY43" fmla="*/ 479917 h 571389"/>
                <a:gd name="connsiteX44" fmla="*/ 672646 w 735196"/>
                <a:gd name="connsiteY44" fmla="*/ 422910 h 571389"/>
                <a:gd name="connsiteX45" fmla="*/ 661302 w 735196"/>
                <a:gd name="connsiteY45" fmla="*/ 412394 h 571389"/>
                <a:gd name="connsiteX46" fmla="*/ 717347 w 735196"/>
                <a:gd name="connsiteY46" fmla="*/ 409575 h 571389"/>
                <a:gd name="connsiteX47" fmla="*/ 724443 w 735196"/>
                <a:gd name="connsiteY47" fmla="*/ 401965 h 571389"/>
                <a:gd name="connsiteX48" fmla="*/ 722357 w 735196"/>
                <a:gd name="connsiteY48" fmla="*/ 344967 h 57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735196" h="571389">
                  <a:moveTo>
                    <a:pt x="722357" y="344967"/>
                  </a:moveTo>
                  <a:lnTo>
                    <a:pt x="613372" y="243688"/>
                  </a:lnTo>
                  <a:cubicBezTo>
                    <a:pt x="603904" y="235991"/>
                    <a:pt x="582787" y="219827"/>
                    <a:pt x="582787" y="219827"/>
                  </a:cubicBezTo>
                  <a:lnTo>
                    <a:pt x="514483" y="157267"/>
                  </a:lnTo>
                  <a:cubicBezTo>
                    <a:pt x="513036" y="156724"/>
                    <a:pt x="510388" y="156086"/>
                    <a:pt x="507111" y="156086"/>
                  </a:cubicBezTo>
                  <a:cubicBezTo>
                    <a:pt x="503701" y="156086"/>
                    <a:pt x="501453" y="156772"/>
                    <a:pt x="500872" y="157029"/>
                  </a:cubicBezTo>
                  <a:lnTo>
                    <a:pt x="451342" y="188605"/>
                  </a:lnTo>
                  <a:cubicBezTo>
                    <a:pt x="437293" y="197091"/>
                    <a:pt x="421005" y="201559"/>
                    <a:pt x="404279" y="201559"/>
                  </a:cubicBezTo>
                  <a:cubicBezTo>
                    <a:pt x="374790" y="201559"/>
                    <a:pt x="346939" y="187757"/>
                    <a:pt x="329756" y="164592"/>
                  </a:cubicBezTo>
                  <a:lnTo>
                    <a:pt x="323602" y="156296"/>
                  </a:lnTo>
                  <a:cubicBezTo>
                    <a:pt x="309486" y="137265"/>
                    <a:pt x="303771" y="113938"/>
                    <a:pt x="307515" y="90592"/>
                  </a:cubicBezTo>
                  <a:cubicBezTo>
                    <a:pt x="311239" y="67266"/>
                    <a:pt x="323955" y="46882"/>
                    <a:pt x="343433" y="33118"/>
                  </a:cubicBezTo>
                  <a:lnTo>
                    <a:pt x="354644" y="25260"/>
                  </a:lnTo>
                  <a:cubicBezTo>
                    <a:pt x="338471" y="23289"/>
                    <a:pt x="320516" y="25003"/>
                    <a:pt x="307391" y="30623"/>
                  </a:cubicBezTo>
                  <a:cubicBezTo>
                    <a:pt x="307391" y="30623"/>
                    <a:pt x="285388" y="40291"/>
                    <a:pt x="278340" y="43272"/>
                  </a:cubicBezTo>
                  <a:cubicBezTo>
                    <a:pt x="261985" y="50216"/>
                    <a:pt x="239058" y="50111"/>
                    <a:pt x="239058" y="50111"/>
                  </a:cubicBezTo>
                  <a:lnTo>
                    <a:pt x="185252" y="0"/>
                  </a:lnTo>
                  <a:lnTo>
                    <a:pt x="0" y="184004"/>
                  </a:lnTo>
                  <a:lnTo>
                    <a:pt x="69666" y="254070"/>
                  </a:lnTo>
                  <a:lnTo>
                    <a:pt x="85487" y="237487"/>
                  </a:lnTo>
                  <a:cubicBezTo>
                    <a:pt x="101994" y="220170"/>
                    <a:pt x="125225" y="210226"/>
                    <a:pt x="149228" y="210236"/>
                  </a:cubicBezTo>
                  <a:cubicBezTo>
                    <a:pt x="171993" y="210236"/>
                    <a:pt x="193577" y="218865"/>
                    <a:pt x="210007" y="234534"/>
                  </a:cubicBezTo>
                  <a:lnTo>
                    <a:pt x="217503" y="241687"/>
                  </a:lnTo>
                  <a:cubicBezTo>
                    <a:pt x="227152" y="250889"/>
                    <a:pt x="234277" y="261747"/>
                    <a:pt x="238830" y="273434"/>
                  </a:cubicBezTo>
                  <a:cubicBezTo>
                    <a:pt x="253222" y="277130"/>
                    <a:pt x="266490" y="284445"/>
                    <a:pt x="277501" y="294942"/>
                  </a:cubicBezTo>
                  <a:lnTo>
                    <a:pt x="284959" y="302066"/>
                  </a:lnTo>
                  <a:cubicBezTo>
                    <a:pt x="301962" y="318240"/>
                    <a:pt x="311658" y="340109"/>
                    <a:pt x="312230" y="363655"/>
                  </a:cubicBezTo>
                  <a:cubicBezTo>
                    <a:pt x="317392" y="366836"/>
                    <a:pt x="322278" y="370589"/>
                    <a:pt x="326736" y="374866"/>
                  </a:cubicBezTo>
                  <a:lnTo>
                    <a:pt x="334280" y="382057"/>
                  </a:lnTo>
                  <a:cubicBezTo>
                    <a:pt x="344843" y="392135"/>
                    <a:pt x="352358" y="404212"/>
                    <a:pt x="356778" y="417166"/>
                  </a:cubicBezTo>
                  <a:cubicBezTo>
                    <a:pt x="370122" y="421053"/>
                    <a:pt x="382429" y="428082"/>
                    <a:pt x="392678" y="437855"/>
                  </a:cubicBezTo>
                  <a:lnTo>
                    <a:pt x="400307" y="445103"/>
                  </a:lnTo>
                  <a:cubicBezTo>
                    <a:pt x="430978" y="474364"/>
                    <a:pt x="435854" y="520646"/>
                    <a:pt x="414347" y="555308"/>
                  </a:cubicBezTo>
                  <a:lnTo>
                    <a:pt x="420062" y="560642"/>
                  </a:lnTo>
                  <a:cubicBezTo>
                    <a:pt x="436293" y="575748"/>
                    <a:pt x="461934" y="574815"/>
                    <a:pt x="477041" y="558575"/>
                  </a:cubicBezTo>
                  <a:lnTo>
                    <a:pt x="484099" y="550955"/>
                  </a:lnTo>
                  <a:cubicBezTo>
                    <a:pt x="498881" y="535038"/>
                    <a:pt x="498138" y="510235"/>
                    <a:pt x="482822" y="495071"/>
                  </a:cubicBezTo>
                  <a:lnTo>
                    <a:pt x="535076" y="543544"/>
                  </a:lnTo>
                  <a:cubicBezTo>
                    <a:pt x="551336" y="558622"/>
                    <a:pt x="576977" y="557670"/>
                    <a:pt x="592084" y="541411"/>
                  </a:cubicBezTo>
                  <a:lnTo>
                    <a:pt x="599142" y="533819"/>
                  </a:lnTo>
                  <a:cubicBezTo>
                    <a:pt x="614143" y="517674"/>
                    <a:pt x="613258" y="492262"/>
                    <a:pt x="597284" y="477126"/>
                  </a:cubicBezTo>
                  <a:lnTo>
                    <a:pt x="610714" y="489623"/>
                  </a:lnTo>
                  <a:cubicBezTo>
                    <a:pt x="626964" y="504711"/>
                    <a:pt x="652596" y="503758"/>
                    <a:pt x="667683" y="487518"/>
                  </a:cubicBezTo>
                  <a:lnTo>
                    <a:pt x="674751" y="479917"/>
                  </a:lnTo>
                  <a:cubicBezTo>
                    <a:pt x="689839" y="463658"/>
                    <a:pt x="688886" y="438017"/>
                    <a:pt x="672646" y="422910"/>
                  </a:cubicBezTo>
                  <a:lnTo>
                    <a:pt x="661302" y="412394"/>
                  </a:lnTo>
                  <a:cubicBezTo>
                    <a:pt x="677609" y="426634"/>
                    <a:pt x="702545" y="425539"/>
                    <a:pt x="717347" y="409575"/>
                  </a:cubicBezTo>
                  <a:lnTo>
                    <a:pt x="724443" y="401965"/>
                  </a:lnTo>
                  <a:cubicBezTo>
                    <a:pt x="739559" y="385696"/>
                    <a:pt x="738626" y="360055"/>
                    <a:pt x="722357" y="344967"/>
                  </a:cubicBezTo>
                  <a:close/>
                </a:path>
              </a:pathLst>
            </a:custGeom>
            <a:grpFill/>
            <a:ln w="9525" cap="flat">
              <a:noFill/>
              <a:prstDash val="solid"/>
              <a:miter/>
            </a:ln>
          </p:spPr>
          <p:txBody>
            <a:bodyPr rtlCol="0" anchor="ctr"/>
            <a:lstStyle/>
            <a:p>
              <a:endParaRPr lang="en-GB"/>
            </a:p>
          </p:txBody>
        </p:sp>
        <p:sp>
          <p:nvSpPr>
            <p:cNvPr id="117" name="Freeform: Shape 116">
              <a:extLst>
                <a:ext uri="{FF2B5EF4-FFF2-40B4-BE49-F238E27FC236}">
                  <a16:creationId xmlns:a16="http://schemas.microsoft.com/office/drawing/2014/main" id="{F4E267A4-3364-468C-A06E-FEBB48CA55E5}"/>
                </a:ext>
              </a:extLst>
            </p:cNvPr>
            <p:cNvSpPr/>
            <p:nvPr/>
          </p:nvSpPr>
          <p:spPr>
            <a:xfrm>
              <a:off x="961579" y="2970646"/>
              <a:ext cx="346569" cy="335784"/>
            </a:xfrm>
            <a:custGeom>
              <a:avLst/>
              <a:gdLst>
                <a:gd name="connsiteX0" fmla="*/ 334125 w 346569"/>
                <a:gd name="connsiteY0" fmla="*/ 221647 h 335784"/>
                <a:gd name="connsiteX1" fmla="*/ 326581 w 346569"/>
                <a:gd name="connsiteY1" fmla="*/ 214474 h 335784"/>
                <a:gd name="connsiteX2" fmla="*/ 298768 w 346569"/>
                <a:gd name="connsiteY2" fmla="*/ 203378 h 335784"/>
                <a:gd name="connsiteX3" fmla="*/ 269593 w 346569"/>
                <a:gd name="connsiteY3" fmla="*/ 215827 h 335784"/>
                <a:gd name="connsiteX4" fmla="*/ 269460 w 346569"/>
                <a:gd name="connsiteY4" fmla="*/ 215608 h 335784"/>
                <a:gd name="connsiteX5" fmla="*/ 268088 w 346569"/>
                <a:gd name="connsiteY5" fmla="*/ 158620 h 335784"/>
                <a:gd name="connsiteX6" fmla="*/ 260564 w 346569"/>
                <a:gd name="connsiteY6" fmla="*/ 151438 h 335784"/>
                <a:gd name="connsiteX7" fmla="*/ 232941 w 346569"/>
                <a:gd name="connsiteY7" fmla="*/ 140418 h 335784"/>
                <a:gd name="connsiteX8" fmla="*/ 205061 w 346569"/>
                <a:gd name="connsiteY8" fmla="*/ 151495 h 335784"/>
                <a:gd name="connsiteX9" fmla="*/ 220168 w 346569"/>
                <a:gd name="connsiteY9" fmla="*/ 135665 h 335784"/>
                <a:gd name="connsiteX10" fmla="*/ 218806 w 346569"/>
                <a:gd name="connsiteY10" fmla="*/ 78657 h 335784"/>
                <a:gd name="connsiteX11" fmla="*/ 211291 w 346569"/>
                <a:gd name="connsiteY11" fmla="*/ 71476 h 335784"/>
                <a:gd name="connsiteX12" fmla="*/ 183583 w 346569"/>
                <a:gd name="connsiteY12" fmla="*/ 60427 h 335784"/>
                <a:gd name="connsiteX13" fmla="*/ 155055 w 346569"/>
                <a:gd name="connsiteY13" fmla="*/ 72161 h 335784"/>
                <a:gd name="connsiteX14" fmla="*/ 151312 w 346569"/>
                <a:gd name="connsiteY14" fmla="*/ 18250 h 335784"/>
                <a:gd name="connsiteX15" fmla="*/ 143816 w 346569"/>
                <a:gd name="connsiteY15" fmla="*/ 11097 h 335784"/>
                <a:gd name="connsiteX16" fmla="*/ 115984 w 346569"/>
                <a:gd name="connsiteY16" fmla="*/ 0 h 335784"/>
                <a:gd name="connsiteX17" fmla="*/ 86799 w 346569"/>
                <a:gd name="connsiteY17" fmla="*/ 12449 h 335784"/>
                <a:gd name="connsiteX18" fmla="*/ 11085 w 346569"/>
                <a:gd name="connsiteY18" fmla="*/ 91831 h 335784"/>
                <a:gd name="connsiteX19" fmla="*/ 12485 w 346569"/>
                <a:gd name="connsiteY19" fmla="*/ 148809 h 335784"/>
                <a:gd name="connsiteX20" fmla="*/ 19972 w 346569"/>
                <a:gd name="connsiteY20" fmla="*/ 155972 h 335784"/>
                <a:gd name="connsiteX21" fmla="*/ 47556 w 346569"/>
                <a:gd name="connsiteY21" fmla="*/ 166954 h 335784"/>
                <a:gd name="connsiteX22" fmla="*/ 73264 w 346569"/>
                <a:gd name="connsiteY22" fmla="*/ 157810 h 335784"/>
                <a:gd name="connsiteX23" fmla="*/ 53309 w 346569"/>
                <a:gd name="connsiteY23" fmla="*/ 178708 h 335784"/>
                <a:gd name="connsiteX24" fmla="*/ 54671 w 346569"/>
                <a:gd name="connsiteY24" fmla="*/ 235715 h 335784"/>
                <a:gd name="connsiteX25" fmla="*/ 62224 w 346569"/>
                <a:gd name="connsiteY25" fmla="*/ 242888 h 335784"/>
                <a:gd name="connsiteX26" fmla="*/ 90028 w 346569"/>
                <a:gd name="connsiteY26" fmla="*/ 253984 h 335784"/>
                <a:gd name="connsiteX27" fmla="*/ 119213 w 346569"/>
                <a:gd name="connsiteY27" fmla="*/ 241535 h 335784"/>
                <a:gd name="connsiteX28" fmla="*/ 134786 w 346569"/>
                <a:gd name="connsiteY28" fmla="*/ 225200 h 335784"/>
                <a:gd name="connsiteX29" fmla="*/ 137396 w 346569"/>
                <a:gd name="connsiteY29" fmla="*/ 280588 h 335784"/>
                <a:gd name="connsiteX30" fmla="*/ 144949 w 346569"/>
                <a:gd name="connsiteY30" fmla="*/ 287769 h 335784"/>
                <a:gd name="connsiteX31" fmla="*/ 172762 w 346569"/>
                <a:gd name="connsiteY31" fmla="*/ 298856 h 335784"/>
                <a:gd name="connsiteX32" fmla="*/ 201937 w 346569"/>
                <a:gd name="connsiteY32" fmla="*/ 286407 h 335784"/>
                <a:gd name="connsiteX33" fmla="*/ 226969 w 346569"/>
                <a:gd name="connsiteY33" fmla="*/ 260509 h 335784"/>
                <a:gd name="connsiteX34" fmla="*/ 228321 w 346569"/>
                <a:gd name="connsiteY34" fmla="*/ 317516 h 335784"/>
                <a:gd name="connsiteX35" fmla="*/ 235865 w 346569"/>
                <a:gd name="connsiteY35" fmla="*/ 324688 h 335784"/>
                <a:gd name="connsiteX36" fmla="*/ 263659 w 346569"/>
                <a:gd name="connsiteY36" fmla="*/ 335785 h 335784"/>
                <a:gd name="connsiteX37" fmla="*/ 292834 w 346569"/>
                <a:gd name="connsiteY37" fmla="*/ 323336 h 335784"/>
                <a:gd name="connsiteX38" fmla="*/ 335487 w 346569"/>
                <a:gd name="connsiteY38" fmla="*/ 278635 h 335784"/>
                <a:gd name="connsiteX39" fmla="*/ 334125 w 346569"/>
                <a:gd name="connsiteY39" fmla="*/ 221647 h 33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46569" h="335784">
                  <a:moveTo>
                    <a:pt x="334125" y="221647"/>
                  </a:moveTo>
                  <a:lnTo>
                    <a:pt x="326581" y="214474"/>
                  </a:lnTo>
                  <a:cubicBezTo>
                    <a:pt x="318809" y="207064"/>
                    <a:pt x="308789" y="203378"/>
                    <a:pt x="298768" y="203378"/>
                  </a:cubicBezTo>
                  <a:cubicBezTo>
                    <a:pt x="288129" y="203378"/>
                    <a:pt x="277490" y="207550"/>
                    <a:pt x="269593" y="215827"/>
                  </a:cubicBezTo>
                  <a:lnTo>
                    <a:pt x="269460" y="215608"/>
                  </a:lnTo>
                  <a:cubicBezTo>
                    <a:pt x="284738" y="199568"/>
                    <a:pt x="284138" y="173907"/>
                    <a:pt x="268088" y="158620"/>
                  </a:cubicBezTo>
                  <a:lnTo>
                    <a:pt x="260564" y="151438"/>
                  </a:lnTo>
                  <a:cubicBezTo>
                    <a:pt x="252820" y="144066"/>
                    <a:pt x="242895" y="140418"/>
                    <a:pt x="232941" y="140418"/>
                  </a:cubicBezTo>
                  <a:cubicBezTo>
                    <a:pt x="222873" y="140418"/>
                    <a:pt x="212843" y="144142"/>
                    <a:pt x="205061" y="151495"/>
                  </a:cubicBezTo>
                  <a:lnTo>
                    <a:pt x="220168" y="135665"/>
                  </a:lnTo>
                  <a:cubicBezTo>
                    <a:pt x="235484" y="119615"/>
                    <a:pt x="234884" y="93955"/>
                    <a:pt x="218806" y="78657"/>
                  </a:cubicBezTo>
                  <a:lnTo>
                    <a:pt x="211291" y="71476"/>
                  </a:lnTo>
                  <a:cubicBezTo>
                    <a:pt x="203537" y="64084"/>
                    <a:pt x="193555" y="60427"/>
                    <a:pt x="183583" y="60427"/>
                  </a:cubicBezTo>
                  <a:cubicBezTo>
                    <a:pt x="173219" y="60427"/>
                    <a:pt x="162894" y="64360"/>
                    <a:pt x="155055" y="72161"/>
                  </a:cubicBezTo>
                  <a:cubicBezTo>
                    <a:pt x="167647" y="56064"/>
                    <a:pt x="166399" y="32642"/>
                    <a:pt x="151312" y="18250"/>
                  </a:cubicBezTo>
                  <a:lnTo>
                    <a:pt x="143816" y="11097"/>
                  </a:lnTo>
                  <a:cubicBezTo>
                    <a:pt x="136034" y="3686"/>
                    <a:pt x="125994" y="0"/>
                    <a:pt x="115984" y="0"/>
                  </a:cubicBezTo>
                  <a:cubicBezTo>
                    <a:pt x="105316" y="-10"/>
                    <a:pt x="94695" y="4172"/>
                    <a:pt x="86799" y="12449"/>
                  </a:cubicBezTo>
                  <a:lnTo>
                    <a:pt x="11085" y="91831"/>
                  </a:lnTo>
                  <a:cubicBezTo>
                    <a:pt x="-4212" y="107861"/>
                    <a:pt x="-3612" y="133521"/>
                    <a:pt x="12485" y="148809"/>
                  </a:cubicBezTo>
                  <a:lnTo>
                    <a:pt x="19972" y="155972"/>
                  </a:lnTo>
                  <a:cubicBezTo>
                    <a:pt x="27706" y="163335"/>
                    <a:pt x="37631" y="166954"/>
                    <a:pt x="47556" y="166954"/>
                  </a:cubicBezTo>
                  <a:cubicBezTo>
                    <a:pt x="56710" y="166954"/>
                    <a:pt x="65844" y="163878"/>
                    <a:pt x="73264" y="157810"/>
                  </a:cubicBezTo>
                  <a:lnTo>
                    <a:pt x="53309" y="178708"/>
                  </a:lnTo>
                  <a:cubicBezTo>
                    <a:pt x="38031" y="194767"/>
                    <a:pt x="38641" y="220409"/>
                    <a:pt x="54671" y="235715"/>
                  </a:cubicBezTo>
                  <a:lnTo>
                    <a:pt x="62224" y="242888"/>
                  </a:lnTo>
                  <a:cubicBezTo>
                    <a:pt x="69997" y="250298"/>
                    <a:pt x="80036" y="253984"/>
                    <a:pt x="90028" y="253984"/>
                  </a:cubicBezTo>
                  <a:cubicBezTo>
                    <a:pt x="100696" y="253984"/>
                    <a:pt x="111326" y="249812"/>
                    <a:pt x="119213" y="241535"/>
                  </a:cubicBezTo>
                  <a:lnTo>
                    <a:pt x="134786" y="225200"/>
                  </a:lnTo>
                  <a:cubicBezTo>
                    <a:pt x="120927" y="241297"/>
                    <a:pt x="121851" y="265776"/>
                    <a:pt x="137396" y="280588"/>
                  </a:cubicBezTo>
                  <a:lnTo>
                    <a:pt x="144949" y="287769"/>
                  </a:lnTo>
                  <a:cubicBezTo>
                    <a:pt x="152712" y="295170"/>
                    <a:pt x="162742" y="298856"/>
                    <a:pt x="172762" y="298856"/>
                  </a:cubicBezTo>
                  <a:cubicBezTo>
                    <a:pt x="183411" y="298856"/>
                    <a:pt x="194050" y="294684"/>
                    <a:pt x="201937" y="286407"/>
                  </a:cubicBezTo>
                  <a:lnTo>
                    <a:pt x="226969" y="260509"/>
                  </a:lnTo>
                  <a:cubicBezTo>
                    <a:pt x="211662" y="276568"/>
                    <a:pt x="212253" y="302209"/>
                    <a:pt x="228321" y="317516"/>
                  </a:cubicBezTo>
                  <a:lnTo>
                    <a:pt x="235865" y="324688"/>
                  </a:lnTo>
                  <a:cubicBezTo>
                    <a:pt x="243609" y="332099"/>
                    <a:pt x="253639" y="335785"/>
                    <a:pt x="263659" y="335785"/>
                  </a:cubicBezTo>
                  <a:cubicBezTo>
                    <a:pt x="274308" y="335785"/>
                    <a:pt x="284948" y="331613"/>
                    <a:pt x="292834" y="323336"/>
                  </a:cubicBezTo>
                  <a:lnTo>
                    <a:pt x="335487" y="278635"/>
                  </a:lnTo>
                  <a:cubicBezTo>
                    <a:pt x="350784" y="262604"/>
                    <a:pt x="350165" y="236953"/>
                    <a:pt x="334125" y="221647"/>
                  </a:cubicBezTo>
                  <a:close/>
                </a:path>
              </a:pathLst>
            </a:custGeom>
            <a:grpFill/>
            <a:ln w="9525" cap="flat">
              <a:noFill/>
              <a:prstDash val="solid"/>
              <a:miter/>
            </a:ln>
          </p:spPr>
          <p:txBody>
            <a:bodyPr rtlCol="0" anchor="ctr"/>
            <a:lstStyle/>
            <a:p>
              <a:endParaRPr lang="en-GB"/>
            </a:p>
          </p:txBody>
        </p:sp>
      </p:grpSp>
      <p:sp>
        <p:nvSpPr>
          <p:cNvPr id="92" name="Freeform: Shape 91">
            <a:extLst>
              <a:ext uri="{FF2B5EF4-FFF2-40B4-BE49-F238E27FC236}">
                <a16:creationId xmlns:a16="http://schemas.microsoft.com/office/drawing/2014/main" id="{7231CB10-A1CE-4671-8B4C-A12D3367E966}"/>
              </a:ext>
            </a:extLst>
          </p:cNvPr>
          <p:cNvSpPr/>
          <p:nvPr/>
        </p:nvSpPr>
        <p:spPr>
          <a:xfrm>
            <a:off x="10133817" y="2739441"/>
            <a:ext cx="553686" cy="462226"/>
          </a:xfrm>
          <a:custGeom>
            <a:avLst/>
            <a:gdLst>
              <a:gd name="connsiteX0" fmla="*/ 866587 w 1052628"/>
              <a:gd name="connsiteY0" fmla="*/ 18 h 878751"/>
              <a:gd name="connsiteX1" fmla="*/ 849815 w 1052628"/>
              <a:gd name="connsiteY1" fmla="*/ 5352 h 878751"/>
              <a:gd name="connsiteX2" fmla="*/ 596747 w 1052628"/>
              <a:gd name="connsiteY2" fmla="*/ 169865 h 878751"/>
              <a:gd name="connsiteX3" fmla="*/ 596747 w 1052628"/>
              <a:gd name="connsiteY3" fmla="*/ 645798 h 878751"/>
              <a:gd name="connsiteX4" fmla="*/ 849815 w 1052628"/>
              <a:gd name="connsiteY4" fmla="*/ 810247 h 878751"/>
              <a:gd name="connsiteX5" fmla="*/ 895313 w 1052628"/>
              <a:gd name="connsiteY5" fmla="*/ 800473 h 878751"/>
              <a:gd name="connsiteX6" fmla="*/ 900582 w 1052628"/>
              <a:gd name="connsiteY6" fmla="*/ 782614 h 878751"/>
              <a:gd name="connsiteX7" fmla="*/ 900583 w 1052628"/>
              <a:gd name="connsiteY7" fmla="*/ 554287 h 878751"/>
              <a:gd name="connsiteX8" fmla="*/ 900583 w 1052628"/>
              <a:gd name="connsiteY8" fmla="*/ 261569 h 878751"/>
              <a:gd name="connsiteX9" fmla="*/ 900583 w 1052628"/>
              <a:gd name="connsiteY9" fmla="*/ 33049 h 878751"/>
              <a:gd name="connsiteX10" fmla="*/ 867820 w 1052628"/>
              <a:gd name="connsiteY10" fmla="*/ 0 h 878751"/>
              <a:gd name="connsiteX11" fmla="*/ 866587 w 1052628"/>
              <a:gd name="connsiteY11" fmla="*/ 18 h 878751"/>
              <a:gd name="connsiteX12" fmla="*/ 195488 w 1052628"/>
              <a:gd name="connsiteY12" fmla="*/ 197498 h 878751"/>
              <a:gd name="connsiteX13" fmla="*/ 195488 w 1052628"/>
              <a:gd name="connsiteY13" fmla="*/ 618165 h 878751"/>
              <a:gd name="connsiteX14" fmla="*/ 530941 w 1052628"/>
              <a:gd name="connsiteY14" fmla="*/ 618165 h 878751"/>
              <a:gd name="connsiteX15" fmla="*/ 530941 w 1052628"/>
              <a:gd name="connsiteY15" fmla="*/ 197498 h 878751"/>
              <a:gd name="connsiteX16" fmla="*/ 33031 w 1052628"/>
              <a:gd name="connsiteY16" fmla="*/ 227381 h 878751"/>
              <a:gd name="connsiteX17" fmla="*/ 0 w 1052628"/>
              <a:gd name="connsiteY17" fmla="*/ 260155 h 878751"/>
              <a:gd name="connsiteX18" fmla="*/ 0 w 1052628"/>
              <a:gd name="connsiteY18" fmla="*/ 555508 h 878751"/>
              <a:gd name="connsiteX19" fmla="*/ 33031 w 1052628"/>
              <a:gd name="connsiteY19" fmla="*/ 588282 h 878751"/>
              <a:gd name="connsiteX20" fmla="*/ 129683 w 1052628"/>
              <a:gd name="connsiteY20" fmla="*/ 588282 h 878751"/>
              <a:gd name="connsiteX21" fmla="*/ 129683 w 1052628"/>
              <a:gd name="connsiteY21" fmla="*/ 227381 h 878751"/>
              <a:gd name="connsiteX22" fmla="*/ 966388 w 1052628"/>
              <a:gd name="connsiteY22" fmla="*/ 274807 h 878751"/>
              <a:gd name="connsiteX23" fmla="*/ 966388 w 1052628"/>
              <a:gd name="connsiteY23" fmla="*/ 540985 h 878751"/>
              <a:gd name="connsiteX24" fmla="*/ 1052629 w 1052628"/>
              <a:gd name="connsiteY24" fmla="*/ 407831 h 878751"/>
              <a:gd name="connsiteX25" fmla="*/ 966388 w 1052628"/>
              <a:gd name="connsiteY25" fmla="*/ 274807 h 878751"/>
              <a:gd name="connsiteX26" fmla="*/ 219330 w 1052628"/>
              <a:gd name="connsiteY26" fmla="*/ 683970 h 878751"/>
              <a:gd name="connsiteX27" fmla="*/ 262257 w 1052628"/>
              <a:gd name="connsiteY27" fmla="*/ 854010 h 878751"/>
              <a:gd name="connsiteX28" fmla="*/ 294325 w 1052628"/>
              <a:gd name="connsiteY28" fmla="*/ 878751 h 878751"/>
              <a:gd name="connsiteX29" fmla="*/ 427670 w 1052628"/>
              <a:gd name="connsiteY29" fmla="*/ 878751 h 878751"/>
              <a:gd name="connsiteX30" fmla="*/ 460748 w 1052628"/>
              <a:gd name="connsiteY30" fmla="*/ 846018 h 878751"/>
              <a:gd name="connsiteX31" fmla="*/ 459738 w 1052628"/>
              <a:gd name="connsiteY31" fmla="*/ 837751 h 878751"/>
              <a:gd name="connsiteX32" fmla="*/ 420923 w 1052628"/>
              <a:gd name="connsiteY32" fmla="*/ 683970 h 87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52628" h="878751">
                <a:moveTo>
                  <a:pt x="866587" y="18"/>
                </a:moveTo>
                <a:cubicBezTo>
                  <a:pt x="860616" y="240"/>
                  <a:pt x="854818" y="2084"/>
                  <a:pt x="849815" y="5352"/>
                </a:cubicBezTo>
                <a:lnTo>
                  <a:pt x="596747" y="169865"/>
                </a:lnTo>
                <a:lnTo>
                  <a:pt x="596747" y="645798"/>
                </a:lnTo>
                <a:lnTo>
                  <a:pt x="849815" y="810247"/>
                </a:lnTo>
                <a:cubicBezTo>
                  <a:pt x="865078" y="820112"/>
                  <a:pt x="885448" y="815736"/>
                  <a:pt x="895313" y="800473"/>
                </a:cubicBezTo>
                <a:cubicBezTo>
                  <a:pt x="898752" y="795151"/>
                  <a:pt x="900582" y="788950"/>
                  <a:pt x="900582" y="782614"/>
                </a:cubicBezTo>
                <a:lnTo>
                  <a:pt x="900583" y="554287"/>
                </a:lnTo>
                <a:lnTo>
                  <a:pt x="900583" y="261569"/>
                </a:lnTo>
                <a:lnTo>
                  <a:pt x="900583" y="33049"/>
                </a:lnTo>
                <a:cubicBezTo>
                  <a:pt x="900662" y="14876"/>
                  <a:pt x="885993" y="79"/>
                  <a:pt x="867820" y="0"/>
                </a:cubicBezTo>
                <a:cubicBezTo>
                  <a:pt x="867409" y="-1"/>
                  <a:pt x="866998" y="4"/>
                  <a:pt x="866587" y="18"/>
                </a:cubicBezTo>
                <a:close/>
                <a:moveTo>
                  <a:pt x="195488" y="197498"/>
                </a:moveTo>
                <a:lnTo>
                  <a:pt x="195488" y="618165"/>
                </a:lnTo>
                <a:lnTo>
                  <a:pt x="530941" y="618165"/>
                </a:lnTo>
                <a:lnTo>
                  <a:pt x="530941" y="197498"/>
                </a:lnTo>
                <a:close/>
                <a:moveTo>
                  <a:pt x="33031" y="227381"/>
                </a:moveTo>
                <a:cubicBezTo>
                  <a:pt x="14860" y="227312"/>
                  <a:pt x="73" y="241984"/>
                  <a:pt x="0" y="260155"/>
                </a:cubicBezTo>
                <a:lnTo>
                  <a:pt x="0" y="555508"/>
                </a:lnTo>
                <a:cubicBezTo>
                  <a:pt x="73" y="573679"/>
                  <a:pt x="14860" y="588351"/>
                  <a:pt x="33031" y="588282"/>
                </a:cubicBezTo>
                <a:lnTo>
                  <a:pt x="129683" y="588282"/>
                </a:lnTo>
                <a:lnTo>
                  <a:pt x="129683" y="227381"/>
                </a:lnTo>
                <a:close/>
                <a:moveTo>
                  <a:pt x="966388" y="274807"/>
                </a:moveTo>
                <a:lnTo>
                  <a:pt x="966388" y="540985"/>
                </a:lnTo>
                <a:cubicBezTo>
                  <a:pt x="1017063" y="517903"/>
                  <a:pt x="1052629" y="466923"/>
                  <a:pt x="1052629" y="407831"/>
                </a:cubicBezTo>
                <a:cubicBezTo>
                  <a:pt x="1052629" y="348740"/>
                  <a:pt x="1017063" y="297833"/>
                  <a:pt x="966388" y="274807"/>
                </a:cubicBezTo>
                <a:close/>
                <a:moveTo>
                  <a:pt x="219330" y="683970"/>
                </a:moveTo>
                <a:lnTo>
                  <a:pt x="262257" y="854010"/>
                </a:lnTo>
                <a:cubicBezTo>
                  <a:pt x="266004" y="868638"/>
                  <a:pt x="279225" y="878839"/>
                  <a:pt x="294325" y="878751"/>
                </a:cubicBezTo>
                <a:lnTo>
                  <a:pt x="427670" y="878751"/>
                </a:lnTo>
                <a:cubicBezTo>
                  <a:pt x="445844" y="878847"/>
                  <a:pt x="460653" y="864191"/>
                  <a:pt x="460748" y="846018"/>
                </a:cubicBezTo>
                <a:cubicBezTo>
                  <a:pt x="460763" y="843231"/>
                  <a:pt x="460423" y="840453"/>
                  <a:pt x="459738" y="837751"/>
                </a:cubicBezTo>
                <a:lnTo>
                  <a:pt x="420923" y="683970"/>
                </a:lnTo>
                <a:close/>
              </a:path>
            </a:pathLst>
          </a:custGeom>
          <a:solidFill>
            <a:schemeClr val="bg1">
              <a:lumMod val="50000"/>
            </a:schemeClr>
          </a:solidFill>
          <a:ln w="65524" cap="rnd">
            <a:noFill/>
            <a:prstDash val="solid"/>
            <a:round/>
          </a:ln>
        </p:spPr>
        <p:txBody>
          <a:bodyPr rtlCol="0" anchor="ctr"/>
          <a:lstStyle/>
          <a:p>
            <a:endParaRPr lang="en-GB"/>
          </a:p>
        </p:txBody>
      </p:sp>
      <p:sp>
        <p:nvSpPr>
          <p:cNvPr id="98" name="Freeform: Shape 97">
            <a:extLst>
              <a:ext uri="{FF2B5EF4-FFF2-40B4-BE49-F238E27FC236}">
                <a16:creationId xmlns:a16="http://schemas.microsoft.com/office/drawing/2014/main" id="{CAA0B465-DB31-4942-9866-AFB33764B4C5}"/>
              </a:ext>
            </a:extLst>
          </p:cNvPr>
          <p:cNvSpPr/>
          <p:nvPr/>
        </p:nvSpPr>
        <p:spPr>
          <a:xfrm>
            <a:off x="10082957" y="4734753"/>
            <a:ext cx="655405" cy="476908"/>
          </a:xfrm>
          <a:custGeom>
            <a:avLst/>
            <a:gdLst>
              <a:gd name="connsiteX0" fmla="*/ 541020 w 921067"/>
              <a:gd name="connsiteY0" fmla="*/ 348274 h 670218"/>
              <a:gd name="connsiteX1" fmla="*/ 437198 w 921067"/>
              <a:gd name="connsiteY1" fmla="*/ 244451 h 670218"/>
              <a:gd name="connsiteX2" fmla="*/ 415290 w 921067"/>
              <a:gd name="connsiteY2" fmla="*/ 206351 h 670218"/>
              <a:gd name="connsiteX3" fmla="*/ 426720 w 921067"/>
              <a:gd name="connsiteY3" fmla="*/ 160631 h 670218"/>
              <a:gd name="connsiteX4" fmla="*/ 423863 w 921067"/>
              <a:gd name="connsiteY4" fmla="*/ 98719 h 670218"/>
              <a:gd name="connsiteX5" fmla="*/ 455295 w 921067"/>
              <a:gd name="connsiteY5" fmla="*/ 43474 h 670218"/>
              <a:gd name="connsiteX6" fmla="*/ 484823 w 921067"/>
              <a:gd name="connsiteY6" fmla="*/ 19661 h 670218"/>
              <a:gd name="connsiteX7" fmla="*/ 513398 w 921067"/>
              <a:gd name="connsiteY7" fmla="*/ 5374 h 670218"/>
              <a:gd name="connsiteX8" fmla="*/ 513398 w 921067"/>
              <a:gd name="connsiteY8" fmla="*/ 5374 h 670218"/>
              <a:gd name="connsiteX9" fmla="*/ 539115 w 921067"/>
              <a:gd name="connsiteY9" fmla="*/ 611 h 670218"/>
              <a:gd name="connsiteX10" fmla="*/ 603885 w 921067"/>
              <a:gd name="connsiteY10" fmla="*/ 13946 h 670218"/>
              <a:gd name="connsiteX11" fmla="*/ 635318 w 921067"/>
              <a:gd name="connsiteY11" fmla="*/ 43474 h 670218"/>
              <a:gd name="connsiteX12" fmla="*/ 667703 w 921067"/>
              <a:gd name="connsiteY12" fmla="*/ 168251 h 670218"/>
              <a:gd name="connsiteX13" fmla="*/ 671513 w 921067"/>
              <a:gd name="connsiteY13" fmla="*/ 213019 h 670218"/>
              <a:gd name="connsiteX14" fmla="*/ 643890 w 921067"/>
              <a:gd name="connsiteY14" fmla="*/ 249214 h 670218"/>
              <a:gd name="connsiteX15" fmla="*/ 541020 w 921067"/>
              <a:gd name="connsiteY15" fmla="*/ 348274 h 670218"/>
              <a:gd name="connsiteX16" fmla="*/ 102870 w 921067"/>
              <a:gd name="connsiteY16" fmla="*/ 264454 h 670218"/>
              <a:gd name="connsiteX17" fmla="*/ 121920 w 921067"/>
              <a:gd name="connsiteY17" fmla="*/ 296839 h 670218"/>
              <a:gd name="connsiteX18" fmla="*/ 209550 w 921067"/>
              <a:gd name="connsiteY18" fmla="*/ 384469 h 670218"/>
              <a:gd name="connsiteX19" fmla="*/ 296228 w 921067"/>
              <a:gd name="connsiteY19" fmla="*/ 301601 h 670218"/>
              <a:gd name="connsiteX20" fmla="*/ 319088 w 921067"/>
              <a:gd name="connsiteY20" fmla="*/ 270169 h 670218"/>
              <a:gd name="connsiteX21" fmla="*/ 315278 w 921067"/>
              <a:gd name="connsiteY21" fmla="*/ 232069 h 670218"/>
              <a:gd name="connsiteX22" fmla="*/ 287655 w 921067"/>
              <a:gd name="connsiteY22" fmla="*/ 127294 h 670218"/>
              <a:gd name="connsiteX23" fmla="*/ 260985 w 921067"/>
              <a:gd name="connsiteY23" fmla="*/ 102529 h 670218"/>
              <a:gd name="connsiteX24" fmla="*/ 206693 w 921067"/>
              <a:gd name="connsiteY24" fmla="*/ 91099 h 670218"/>
              <a:gd name="connsiteX25" fmla="*/ 184785 w 921067"/>
              <a:gd name="connsiteY25" fmla="*/ 94909 h 670218"/>
              <a:gd name="connsiteX26" fmla="*/ 184785 w 921067"/>
              <a:gd name="connsiteY26" fmla="*/ 94909 h 670218"/>
              <a:gd name="connsiteX27" fmla="*/ 160973 w 921067"/>
              <a:gd name="connsiteY27" fmla="*/ 107291 h 670218"/>
              <a:gd name="connsiteX28" fmla="*/ 136208 w 921067"/>
              <a:gd name="connsiteY28" fmla="*/ 127294 h 670218"/>
              <a:gd name="connsiteX29" fmla="*/ 109538 w 921067"/>
              <a:gd name="connsiteY29" fmla="*/ 173966 h 670218"/>
              <a:gd name="connsiteX30" fmla="*/ 111442 w 921067"/>
              <a:gd name="connsiteY30" fmla="*/ 225401 h 670218"/>
              <a:gd name="connsiteX31" fmla="*/ 102870 w 921067"/>
              <a:gd name="connsiteY31" fmla="*/ 264454 h 670218"/>
              <a:gd name="connsiteX32" fmla="*/ 605790 w 921067"/>
              <a:gd name="connsiteY32" fmla="*/ 505436 h 670218"/>
              <a:gd name="connsiteX33" fmla="*/ 662940 w 921067"/>
              <a:gd name="connsiteY33" fmla="*/ 562586 h 670218"/>
              <a:gd name="connsiteX34" fmla="*/ 702945 w 921067"/>
              <a:gd name="connsiteY34" fmla="*/ 522581 h 670218"/>
              <a:gd name="connsiteX35" fmla="*/ 720090 w 921067"/>
              <a:gd name="connsiteY35" fmla="*/ 505436 h 670218"/>
              <a:gd name="connsiteX36" fmla="*/ 726758 w 921067"/>
              <a:gd name="connsiteY36" fmla="*/ 498769 h 670218"/>
              <a:gd name="connsiteX37" fmla="*/ 781050 w 921067"/>
              <a:gd name="connsiteY37" fmla="*/ 444476 h 670218"/>
              <a:gd name="connsiteX38" fmla="*/ 726758 w 921067"/>
              <a:gd name="connsiteY38" fmla="*/ 390184 h 670218"/>
              <a:gd name="connsiteX39" fmla="*/ 629603 w 921067"/>
              <a:gd name="connsiteY39" fmla="*/ 343511 h 670218"/>
              <a:gd name="connsiteX40" fmla="*/ 584835 w 921067"/>
              <a:gd name="connsiteY40" fmla="*/ 484481 h 670218"/>
              <a:gd name="connsiteX41" fmla="*/ 588645 w 921067"/>
              <a:gd name="connsiteY41" fmla="*/ 488291 h 670218"/>
              <a:gd name="connsiteX42" fmla="*/ 605790 w 921067"/>
              <a:gd name="connsiteY42" fmla="*/ 505436 h 670218"/>
              <a:gd name="connsiteX43" fmla="*/ 542925 w 921067"/>
              <a:gd name="connsiteY43" fmla="*/ 381611 h 670218"/>
              <a:gd name="connsiteX44" fmla="*/ 542925 w 921067"/>
              <a:gd name="connsiteY44" fmla="*/ 381611 h 670218"/>
              <a:gd name="connsiteX45" fmla="*/ 542925 w 921067"/>
              <a:gd name="connsiteY45" fmla="*/ 381611 h 670218"/>
              <a:gd name="connsiteX46" fmla="*/ 542925 w 921067"/>
              <a:gd name="connsiteY46" fmla="*/ 381611 h 670218"/>
              <a:gd name="connsiteX47" fmla="*/ 542925 w 921067"/>
              <a:gd name="connsiteY47" fmla="*/ 381611 h 670218"/>
              <a:gd name="connsiteX48" fmla="*/ 542925 w 921067"/>
              <a:gd name="connsiteY48" fmla="*/ 381611 h 670218"/>
              <a:gd name="connsiteX49" fmla="*/ 542925 w 921067"/>
              <a:gd name="connsiteY49" fmla="*/ 381611 h 670218"/>
              <a:gd name="connsiteX50" fmla="*/ 529590 w 921067"/>
              <a:gd name="connsiteY50" fmla="*/ 452096 h 670218"/>
              <a:gd name="connsiteX51" fmla="*/ 522923 w 921067"/>
              <a:gd name="connsiteY51" fmla="*/ 472099 h 670218"/>
              <a:gd name="connsiteX52" fmla="*/ 544830 w 921067"/>
              <a:gd name="connsiteY52" fmla="*/ 467336 h 670218"/>
              <a:gd name="connsiteX53" fmla="*/ 561975 w 921067"/>
              <a:gd name="connsiteY53" fmla="*/ 470194 h 670218"/>
              <a:gd name="connsiteX54" fmla="*/ 555308 w 921067"/>
              <a:gd name="connsiteY54" fmla="*/ 452096 h 670218"/>
              <a:gd name="connsiteX55" fmla="*/ 542925 w 921067"/>
              <a:gd name="connsiteY55" fmla="*/ 381611 h 670218"/>
              <a:gd name="connsiteX56" fmla="*/ 501015 w 921067"/>
              <a:gd name="connsiteY56" fmla="*/ 487339 h 670218"/>
              <a:gd name="connsiteX57" fmla="*/ 455295 w 921067"/>
              <a:gd name="connsiteY57" fmla="*/ 343511 h 670218"/>
              <a:gd name="connsiteX58" fmla="*/ 358140 w 921067"/>
              <a:gd name="connsiteY58" fmla="*/ 390184 h 670218"/>
              <a:gd name="connsiteX59" fmla="*/ 330518 w 921067"/>
              <a:gd name="connsiteY59" fmla="*/ 404471 h 670218"/>
              <a:gd name="connsiteX60" fmla="*/ 282893 w 921067"/>
              <a:gd name="connsiteY60" fmla="*/ 379706 h 670218"/>
              <a:gd name="connsiteX61" fmla="*/ 243840 w 921067"/>
              <a:gd name="connsiteY61" fmla="*/ 504484 h 670218"/>
              <a:gd name="connsiteX62" fmla="*/ 238125 w 921067"/>
              <a:gd name="connsiteY62" fmla="*/ 521629 h 670218"/>
              <a:gd name="connsiteX63" fmla="*/ 220028 w 921067"/>
              <a:gd name="connsiteY63" fmla="*/ 471146 h 670218"/>
              <a:gd name="connsiteX64" fmla="*/ 209550 w 921067"/>
              <a:gd name="connsiteY64" fmla="*/ 412091 h 670218"/>
              <a:gd name="connsiteX65" fmla="*/ 209550 w 921067"/>
              <a:gd name="connsiteY65" fmla="*/ 412091 h 670218"/>
              <a:gd name="connsiteX66" fmla="*/ 209550 w 921067"/>
              <a:gd name="connsiteY66" fmla="*/ 412091 h 670218"/>
              <a:gd name="connsiteX67" fmla="*/ 209550 w 921067"/>
              <a:gd name="connsiteY67" fmla="*/ 412091 h 670218"/>
              <a:gd name="connsiteX68" fmla="*/ 209550 w 921067"/>
              <a:gd name="connsiteY68" fmla="*/ 412091 h 670218"/>
              <a:gd name="connsiteX69" fmla="*/ 209550 w 921067"/>
              <a:gd name="connsiteY69" fmla="*/ 412091 h 670218"/>
              <a:gd name="connsiteX70" fmla="*/ 209550 w 921067"/>
              <a:gd name="connsiteY70" fmla="*/ 412091 h 670218"/>
              <a:gd name="connsiteX71" fmla="*/ 199073 w 921067"/>
              <a:gd name="connsiteY71" fmla="*/ 471146 h 670218"/>
              <a:gd name="connsiteX72" fmla="*/ 180975 w 921067"/>
              <a:gd name="connsiteY72" fmla="*/ 521629 h 670218"/>
              <a:gd name="connsiteX73" fmla="*/ 175260 w 921067"/>
              <a:gd name="connsiteY73" fmla="*/ 504484 h 670218"/>
              <a:gd name="connsiteX74" fmla="*/ 136208 w 921067"/>
              <a:gd name="connsiteY74" fmla="*/ 378754 h 670218"/>
              <a:gd name="connsiteX75" fmla="*/ 54293 w 921067"/>
              <a:gd name="connsiteY75" fmla="*/ 418759 h 670218"/>
              <a:gd name="connsiteX76" fmla="*/ 0 w 921067"/>
              <a:gd name="connsiteY76" fmla="*/ 573064 h 670218"/>
              <a:gd name="connsiteX77" fmla="*/ 208598 w 921067"/>
              <a:gd name="connsiteY77" fmla="*/ 573064 h 670218"/>
              <a:gd name="connsiteX78" fmla="*/ 209550 w 921067"/>
              <a:gd name="connsiteY78" fmla="*/ 573064 h 670218"/>
              <a:gd name="connsiteX79" fmla="*/ 293370 w 921067"/>
              <a:gd name="connsiteY79" fmla="*/ 573064 h 670218"/>
              <a:gd name="connsiteX80" fmla="*/ 414338 w 921067"/>
              <a:gd name="connsiteY80" fmla="*/ 573064 h 670218"/>
              <a:gd name="connsiteX81" fmla="*/ 418148 w 921067"/>
              <a:gd name="connsiteY81" fmla="*/ 573064 h 670218"/>
              <a:gd name="connsiteX82" fmla="*/ 418148 w 921067"/>
              <a:gd name="connsiteY82" fmla="*/ 569254 h 670218"/>
              <a:gd name="connsiteX83" fmla="*/ 499110 w 921067"/>
              <a:gd name="connsiteY83" fmla="*/ 488291 h 670218"/>
              <a:gd name="connsiteX84" fmla="*/ 501015 w 921067"/>
              <a:gd name="connsiteY84" fmla="*/ 487339 h 670218"/>
              <a:gd name="connsiteX85" fmla="*/ 548640 w 921067"/>
              <a:gd name="connsiteY85" fmla="*/ 562586 h 670218"/>
              <a:gd name="connsiteX86" fmla="*/ 628650 w 921067"/>
              <a:gd name="connsiteY86" fmla="*/ 642596 h 670218"/>
              <a:gd name="connsiteX87" fmla="*/ 645795 w 921067"/>
              <a:gd name="connsiteY87" fmla="*/ 659741 h 670218"/>
              <a:gd name="connsiteX88" fmla="*/ 650558 w 921067"/>
              <a:gd name="connsiteY88" fmla="*/ 664504 h 670218"/>
              <a:gd name="connsiteX89" fmla="*/ 663893 w 921067"/>
              <a:gd name="connsiteY89" fmla="*/ 670219 h 670218"/>
              <a:gd name="connsiteX90" fmla="*/ 677228 w 921067"/>
              <a:gd name="connsiteY90" fmla="*/ 664504 h 670218"/>
              <a:gd name="connsiteX91" fmla="*/ 681990 w 921067"/>
              <a:gd name="connsiteY91" fmla="*/ 659741 h 670218"/>
              <a:gd name="connsiteX92" fmla="*/ 762000 w 921067"/>
              <a:gd name="connsiteY92" fmla="*/ 579731 h 670218"/>
              <a:gd name="connsiteX93" fmla="*/ 779145 w 921067"/>
              <a:gd name="connsiteY93" fmla="*/ 562586 h 670218"/>
              <a:gd name="connsiteX94" fmla="*/ 785813 w 921067"/>
              <a:gd name="connsiteY94" fmla="*/ 555919 h 670218"/>
              <a:gd name="connsiteX95" fmla="*/ 863918 w 921067"/>
              <a:gd name="connsiteY95" fmla="*/ 477814 h 670218"/>
              <a:gd name="connsiteX96" fmla="*/ 873443 w 921067"/>
              <a:gd name="connsiteY96" fmla="*/ 468289 h 670218"/>
              <a:gd name="connsiteX97" fmla="*/ 876300 w 921067"/>
              <a:gd name="connsiteY97" fmla="*/ 471146 h 670218"/>
              <a:gd name="connsiteX98" fmla="*/ 879158 w 921067"/>
              <a:gd name="connsiteY98" fmla="*/ 474004 h 670218"/>
              <a:gd name="connsiteX99" fmla="*/ 899160 w 921067"/>
              <a:gd name="connsiteY99" fmla="*/ 494006 h 670218"/>
              <a:gd name="connsiteX100" fmla="*/ 906780 w 921067"/>
              <a:gd name="connsiteY100" fmla="*/ 498769 h 670218"/>
              <a:gd name="connsiteX101" fmla="*/ 910590 w 921067"/>
              <a:gd name="connsiteY101" fmla="*/ 497816 h 670218"/>
              <a:gd name="connsiteX102" fmla="*/ 917258 w 921067"/>
              <a:gd name="connsiteY102" fmla="*/ 485434 h 670218"/>
              <a:gd name="connsiteX103" fmla="*/ 921068 w 921067"/>
              <a:gd name="connsiteY103" fmla="*/ 403519 h 670218"/>
              <a:gd name="connsiteX104" fmla="*/ 909638 w 921067"/>
              <a:gd name="connsiteY104" fmla="*/ 391136 h 670218"/>
              <a:gd name="connsiteX105" fmla="*/ 908685 w 921067"/>
              <a:gd name="connsiteY105" fmla="*/ 391136 h 670218"/>
              <a:gd name="connsiteX106" fmla="*/ 824865 w 921067"/>
              <a:gd name="connsiteY106" fmla="*/ 394946 h 670218"/>
              <a:gd name="connsiteX107" fmla="*/ 813435 w 921067"/>
              <a:gd name="connsiteY107" fmla="*/ 400661 h 670218"/>
              <a:gd name="connsiteX108" fmla="*/ 816293 w 921067"/>
              <a:gd name="connsiteY108" fmla="*/ 412091 h 670218"/>
              <a:gd name="connsiteX109" fmla="*/ 842010 w 921067"/>
              <a:gd name="connsiteY109" fmla="*/ 437809 h 670218"/>
              <a:gd name="connsiteX110" fmla="*/ 832485 w 921067"/>
              <a:gd name="connsiteY110" fmla="*/ 447334 h 670218"/>
              <a:gd name="connsiteX111" fmla="*/ 753428 w 921067"/>
              <a:gd name="connsiteY111" fmla="*/ 525439 h 670218"/>
              <a:gd name="connsiteX112" fmla="*/ 746760 w 921067"/>
              <a:gd name="connsiteY112" fmla="*/ 532106 h 670218"/>
              <a:gd name="connsiteX113" fmla="*/ 729615 w 921067"/>
              <a:gd name="connsiteY113" fmla="*/ 549251 h 670218"/>
              <a:gd name="connsiteX114" fmla="*/ 662940 w 921067"/>
              <a:gd name="connsiteY114" fmla="*/ 615926 h 670218"/>
              <a:gd name="connsiteX115" fmla="*/ 659130 w 921067"/>
              <a:gd name="connsiteY115" fmla="*/ 612116 h 670218"/>
              <a:gd name="connsiteX116" fmla="*/ 579120 w 921067"/>
              <a:gd name="connsiteY116" fmla="*/ 532106 h 670218"/>
              <a:gd name="connsiteX117" fmla="*/ 561975 w 921067"/>
              <a:gd name="connsiteY117" fmla="*/ 514961 h 670218"/>
              <a:gd name="connsiteX118" fmla="*/ 557213 w 921067"/>
              <a:gd name="connsiteY118" fmla="*/ 510199 h 670218"/>
              <a:gd name="connsiteX119" fmla="*/ 543878 w 921067"/>
              <a:gd name="connsiteY119" fmla="*/ 504484 h 670218"/>
              <a:gd name="connsiteX120" fmla="*/ 530543 w 921067"/>
              <a:gd name="connsiteY120" fmla="*/ 510199 h 670218"/>
              <a:gd name="connsiteX121" fmla="*/ 526733 w 921067"/>
              <a:gd name="connsiteY121" fmla="*/ 514961 h 670218"/>
              <a:gd name="connsiteX122" fmla="*/ 429578 w 921067"/>
              <a:gd name="connsiteY122" fmla="*/ 612116 h 670218"/>
              <a:gd name="connsiteX123" fmla="*/ 429578 w 921067"/>
              <a:gd name="connsiteY123" fmla="*/ 638786 h 670218"/>
              <a:gd name="connsiteX124" fmla="*/ 434340 w 921067"/>
              <a:gd name="connsiteY124" fmla="*/ 643549 h 670218"/>
              <a:gd name="connsiteX125" fmla="*/ 447675 w 921067"/>
              <a:gd name="connsiteY125" fmla="*/ 649264 h 670218"/>
              <a:gd name="connsiteX126" fmla="*/ 461010 w 921067"/>
              <a:gd name="connsiteY126" fmla="*/ 643549 h 670218"/>
              <a:gd name="connsiteX127" fmla="*/ 544830 w 921067"/>
              <a:gd name="connsiteY127" fmla="*/ 559729 h 670218"/>
              <a:gd name="connsiteX128" fmla="*/ 548640 w 921067"/>
              <a:gd name="connsiteY128" fmla="*/ 562586 h 670218"/>
              <a:gd name="connsiteX129" fmla="*/ 794385 w 921067"/>
              <a:gd name="connsiteY129" fmla="*/ 324461 h 670218"/>
              <a:gd name="connsiteX130" fmla="*/ 822960 w 921067"/>
              <a:gd name="connsiteY130" fmla="*/ 306364 h 670218"/>
              <a:gd name="connsiteX131" fmla="*/ 806768 w 921067"/>
              <a:gd name="connsiteY131" fmla="*/ 229211 h 670218"/>
              <a:gd name="connsiteX132" fmla="*/ 778193 w 921067"/>
              <a:gd name="connsiteY132" fmla="*/ 216829 h 670218"/>
              <a:gd name="connsiteX133" fmla="*/ 762953 w 921067"/>
              <a:gd name="connsiteY133" fmla="*/ 208256 h 670218"/>
              <a:gd name="connsiteX134" fmla="*/ 766763 w 921067"/>
              <a:gd name="connsiteY134" fmla="*/ 184444 h 670218"/>
              <a:gd name="connsiteX135" fmla="*/ 776288 w 921067"/>
              <a:gd name="connsiteY135" fmla="*/ 182539 h 670218"/>
              <a:gd name="connsiteX136" fmla="*/ 812483 w 921067"/>
              <a:gd name="connsiteY136" fmla="*/ 189206 h 670218"/>
              <a:gd name="connsiteX137" fmla="*/ 822008 w 921067"/>
              <a:gd name="connsiteY137" fmla="*/ 185396 h 670218"/>
              <a:gd name="connsiteX138" fmla="*/ 827723 w 921067"/>
              <a:gd name="connsiteY138" fmla="*/ 166346 h 670218"/>
              <a:gd name="connsiteX139" fmla="*/ 823913 w 921067"/>
              <a:gd name="connsiteY139" fmla="*/ 157774 h 670218"/>
              <a:gd name="connsiteX140" fmla="*/ 801053 w 921067"/>
              <a:gd name="connsiteY140" fmla="*/ 151106 h 670218"/>
              <a:gd name="connsiteX141" fmla="*/ 790575 w 921067"/>
              <a:gd name="connsiteY141" fmla="*/ 138724 h 670218"/>
              <a:gd name="connsiteX142" fmla="*/ 776288 w 921067"/>
              <a:gd name="connsiteY142" fmla="*/ 124436 h 670218"/>
              <a:gd name="connsiteX143" fmla="*/ 769620 w 921067"/>
              <a:gd name="connsiteY143" fmla="*/ 124436 h 670218"/>
              <a:gd name="connsiteX144" fmla="*/ 761048 w 921067"/>
              <a:gd name="connsiteY144" fmla="*/ 133009 h 670218"/>
              <a:gd name="connsiteX145" fmla="*/ 761048 w 921067"/>
              <a:gd name="connsiteY145" fmla="*/ 142534 h 670218"/>
              <a:gd name="connsiteX146" fmla="*/ 752475 w 921067"/>
              <a:gd name="connsiteY146" fmla="*/ 154916 h 670218"/>
              <a:gd name="connsiteX147" fmla="*/ 717233 w 921067"/>
              <a:gd name="connsiteY147" fmla="*/ 199684 h 670218"/>
              <a:gd name="connsiteX148" fmla="*/ 742950 w 921067"/>
              <a:gd name="connsiteY148" fmla="*/ 243499 h 670218"/>
              <a:gd name="connsiteX149" fmla="*/ 775335 w 921067"/>
              <a:gd name="connsiteY149" fmla="*/ 257786 h 670218"/>
              <a:gd name="connsiteX150" fmla="*/ 786765 w 921067"/>
              <a:gd name="connsiteY150" fmla="*/ 264454 h 670218"/>
              <a:gd name="connsiteX151" fmla="*/ 782955 w 921067"/>
              <a:gd name="connsiteY151" fmla="*/ 293029 h 670218"/>
              <a:gd name="connsiteX152" fmla="*/ 762000 w 921067"/>
              <a:gd name="connsiteY152" fmla="*/ 295886 h 670218"/>
              <a:gd name="connsiteX153" fmla="*/ 730568 w 921067"/>
              <a:gd name="connsiteY153" fmla="*/ 286361 h 670218"/>
              <a:gd name="connsiteX154" fmla="*/ 721043 w 921067"/>
              <a:gd name="connsiteY154" fmla="*/ 290171 h 670218"/>
              <a:gd name="connsiteX155" fmla="*/ 716280 w 921067"/>
              <a:gd name="connsiteY155" fmla="*/ 306364 h 670218"/>
              <a:gd name="connsiteX156" fmla="*/ 721995 w 921067"/>
              <a:gd name="connsiteY156" fmla="*/ 318746 h 670218"/>
              <a:gd name="connsiteX157" fmla="*/ 750570 w 921067"/>
              <a:gd name="connsiteY157" fmla="*/ 327319 h 670218"/>
              <a:gd name="connsiteX158" fmla="*/ 758190 w 921067"/>
              <a:gd name="connsiteY158" fmla="*/ 336844 h 670218"/>
              <a:gd name="connsiteX159" fmla="*/ 758190 w 921067"/>
              <a:gd name="connsiteY159" fmla="*/ 347321 h 670218"/>
              <a:gd name="connsiteX160" fmla="*/ 764858 w 921067"/>
              <a:gd name="connsiteY160" fmla="*/ 354941 h 670218"/>
              <a:gd name="connsiteX161" fmla="*/ 781050 w 921067"/>
              <a:gd name="connsiteY161" fmla="*/ 354941 h 670218"/>
              <a:gd name="connsiteX162" fmla="*/ 787718 w 921067"/>
              <a:gd name="connsiteY162" fmla="*/ 348274 h 670218"/>
              <a:gd name="connsiteX163" fmla="*/ 787718 w 921067"/>
              <a:gd name="connsiteY163" fmla="*/ 333034 h 670218"/>
              <a:gd name="connsiteX164" fmla="*/ 794385 w 921067"/>
              <a:gd name="connsiteY164" fmla="*/ 324461 h 67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921067" h="670218">
                <a:moveTo>
                  <a:pt x="541020" y="348274"/>
                </a:moveTo>
                <a:cubicBezTo>
                  <a:pt x="466725" y="342559"/>
                  <a:pt x="443865" y="287314"/>
                  <a:pt x="437198" y="244451"/>
                </a:cubicBezTo>
                <a:cubicBezTo>
                  <a:pt x="431483" y="244451"/>
                  <a:pt x="423863" y="235879"/>
                  <a:pt x="415290" y="206351"/>
                </a:cubicBezTo>
                <a:cubicBezTo>
                  <a:pt x="403860" y="165394"/>
                  <a:pt x="416243" y="159679"/>
                  <a:pt x="426720" y="160631"/>
                </a:cubicBezTo>
                <a:cubicBezTo>
                  <a:pt x="419100" y="139676"/>
                  <a:pt x="419100" y="118721"/>
                  <a:pt x="423863" y="98719"/>
                </a:cubicBezTo>
                <a:cubicBezTo>
                  <a:pt x="429578" y="75859"/>
                  <a:pt x="441960" y="57761"/>
                  <a:pt x="455295" y="43474"/>
                </a:cubicBezTo>
                <a:cubicBezTo>
                  <a:pt x="463868" y="33949"/>
                  <a:pt x="474345" y="26329"/>
                  <a:pt x="484823" y="19661"/>
                </a:cubicBezTo>
                <a:cubicBezTo>
                  <a:pt x="493395" y="13946"/>
                  <a:pt x="502920" y="8231"/>
                  <a:pt x="513398" y="5374"/>
                </a:cubicBezTo>
                <a:lnTo>
                  <a:pt x="513398" y="5374"/>
                </a:lnTo>
                <a:cubicBezTo>
                  <a:pt x="521018" y="2516"/>
                  <a:pt x="529590" y="611"/>
                  <a:pt x="539115" y="611"/>
                </a:cubicBezTo>
                <a:cubicBezTo>
                  <a:pt x="566738" y="-2246"/>
                  <a:pt x="588645" y="5374"/>
                  <a:pt x="603885" y="13946"/>
                </a:cubicBezTo>
                <a:cubicBezTo>
                  <a:pt x="626745" y="26329"/>
                  <a:pt x="635318" y="43474"/>
                  <a:pt x="635318" y="43474"/>
                </a:cubicBezTo>
                <a:cubicBezTo>
                  <a:pt x="635318" y="43474"/>
                  <a:pt x="692468" y="47284"/>
                  <a:pt x="667703" y="168251"/>
                </a:cubicBezTo>
                <a:cubicBezTo>
                  <a:pt x="675323" y="171109"/>
                  <a:pt x="681038" y="181586"/>
                  <a:pt x="671513" y="213019"/>
                </a:cubicBezTo>
                <a:cubicBezTo>
                  <a:pt x="660083" y="251119"/>
                  <a:pt x="650558" y="253976"/>
                  <a:pt x="643890" y="249214"/>
                </a:cubicBezTo>
                <a:cubicBezTo>
                  <a:pt x="636270" y="291124"/>
                  <a:pt x="614363" y="345416"/>
                  <a:pt x="541020" y="348274"/>
                </a:cubicBezTo>
                <a:close/>
                <a:moveTo>
                  <a:pt x="102870" y="264454"/>
                </a:moveTo>
                <a:cubicBezTo>
                  <a:pt x="109538" y="289219"/>
                  <a:pt x="116205" y="296839"/>
                  <a:pt x="121920" y="296839"/>
                </a:cubicBezTo>
                <a:cubicBezTo>
                  <a:pt x="127635" y="333034"/>
                  <a:pt x="147638" y="379706"/>
                  <a:pt x="209550" y="384469"/>
                </a:cubicBezTo>
                <a:cubicBezTo>
                  <a:pt x="270510" y="381611"/>
                  <a:pt x="289560" y="336844"/>
                  <a:pt x="296228" y="301601"/>
                </a:cubicBezTo>
                <a:cubicBezTo>
                  <a:pt x="300990" y="305411"/>
                  <a:pt x="309563" y="303506"/>
                  <a:pt x="319088" y="270169"/>
                </a:cubicBezTo>
                <a:cubicBezTo>
                  <a:pt x="326708" y="243499"/>
                  <a:pt x="321945" y="234926"/>
                  <a:pt x="315278" y="232069"/>
                </a:cubicBezTo>
                <a:cubicBezTo>
                  <a:pt x="336233" y="131104"/>
                  <a:pt x="287655" y="127294"/>
                  <a:pt x="287655" y="127294"/>
                </a:cubicBezTo>
                <a:cubicBezTo>
                  <a:pt x="287655" y="127294"/>
                  <a:pt x="280035" y="113006"/>
                  <a:pt x="260985" y="102529"/>
                </a:cubicBezTo>
                <a:cubicBezTo>
                  <a:pt x="247650" y="94909"/>
                  <a:pt x="230505" y="89194"/>
                  <a:pt x="206693" y="91099"/>
                </a:cubicBezTo>
                <a:cubicBezTo>
                  <a:pt x="199073" y="91099"/>
                  <a:pt x="191453" y="93004"/>
                  <a:pt x="184785" y="94909"/>
                </a:cubicBezTo>
                <a:lnTo>
                  <a:pt x="184785" y="94909"/>
                </a:lnTo>
                <a:cubicBezTo>
                  <a:pt x="176213" y="97766"/>
                  <a:pt x="168593" y="102529"/>
                  <a:pt x="160973" y="107291"/>
                </a:cubicBezTo>
                <a:cubicBezTo>
                  <a:pt x="152400" y="113006"/>
                  <a:pt x="143828" y="119674"/>
                  <a:pt x="136208" y="127294"/>
                </a:cubicBezTo>
                <a:cubicBezTo>
                  <a:pt x="124778" y="138724"/>
                  <a:pt x="114300" y="154916"/>
                  <a:pt x="109538" y="173966"/>
                </a:cubicBezTo>
                <a:cubicBezTo>
                  <a:pt x="105728" y="190159"/>
                  <a:pt x="105728" y="208256"/>
                  <a:pt x="111442" y="225401"/>
                </a:cubicBezTo>
                <a:cubicBezTo>
                  <a:pt x="103823" y="225401"/>
                  <a:pt x="93345" y="230164"/>
                  <a:pt x="102870" y="264454"/>
                </a:cubicBezTo>
                <a:close/>
                <a:moveTo>
                  <a:pt x="605790" y="505436"/>
                </a:moveTo>
                <a:lnTo>
                  <a:pt x="662940" y="562586"/>
                </a:lnTo>
                <a:lnTo>
                  <a:pt x="702945" y="522581"/>
                </a:lnTo>
                <a:lnTo>
                  <a:pt x="720090" y="505436"/>
                </a:lnTo>
                <a:lnTo>
                  <a:pt x="726758" y="498769"/>
                </a:lnTo>
                <a:lnTo>
                  <a:pt x="781050" y="444476"/>
                </a:lnTo>
                <a:cubicBezTo>
                  <a:pt x="772478" y="418759"/>
                  <a:pt x="757238" y="401614"/>
                  <a:pt x="726758" y="390184"/>
                </a:cubicBezTo>
                <a:cubicBezTo>
                  <a:pt x="665798" y="367324"/>
                  <a:pt x="629603" y="343511"/>
                  <a:pt x="629603" y="343511"/>
                </a:cubicBezTo>
                <a:lnTo>
                  <a:pt x="584835" y="484481"/>
                </a:lnTo>
                <a:lnTo>
                  <a:pt x="588645" y="488291"/>
                </a:lnTo>
                <a:lnTo>
                  <a:pt x="605790" y="505436"/>
                </a:lnTo>
                <a:close/>
                <a:moveTo>
                  <a:pt x="542925" y="381611"/>
                </a:moveTo>
                <a:lnTo>
                  <a:pt x="542925" y="381611"/>
                </a:lnTo>
                <a:cubicBezTo>
                  <a:pt x="542925" y="381611"/>
                  <a:pt x="542925" y="381611"/>
                  <a:pt x="542925" y="381611"/>
                </a:cubicBezTo>
                <a:cubicBezTo>
                  <a:pt x="542925" y="381611"/>
                  <a:pt x="542925" y="381611"/>
                  <a:pt x="542925" y="381611"/>
                </a:cubicBezTo>
                <a:cubicBezTo>
                  <a:pt x="541973" y="381611"/>
                  <a:pt x="541973" y="381611"/>
                  <a:pt x="542925" y="381611"/>
                </a:cubicBezTo>
                <a:cubicBezTo>
                  <a:pt x="541973" y="381611"/>
                  <a:pt x="541973" y="381611"/>
                  <a:pt x="542925" y="381611"/>
                </a:cubicBezTo>
                <a:lnTo>
                  <a:pt x="542925" y="381611"/>
                </a:lnTo>
                <a:cubicBezTo>
                  <a:pt x="533400" y="381611"/>
                  <a:pt x="481965" y="384469"/>
                  <a:pt x="529590" y="452096"/>
                </a:cubicBezTo>
                <a:lnTo>
                  <a:pt x="522923" y="472099"/>
                </a:lnTo>
                <a:cubicBezTo>
                  <a:pt x="529590" y="469241"/>
                  <a:pt x="537210" y="467336"/>
                  <a:pt x="544830" y="467336"/>
                </a:cubicBezTo>
                <a:cubicBezTo>
                  <a:pt x="550545" y="467336"/>
                  <a:pt x="556260" y="468289"/>
                  <a:pt x="561975" y="470194"/>
                </a:cubicBezTo>
                <a:lnTo>
                  <a:pt x="555308" y="452096"/>
                </a:lnTo>
                <a:cubicBezTo>
                  <a:pt x="603885" y="384469"/>
                  <a:pt x="551498" y="381611"/>
                  <a:pt x="542925" y="381611"/>
                </a:cubicBezTo>
                <a:close/>
                <a:moveTo>
                  <a:pt x="501015" y="487339"/>
                </a:moveTo>
                <a:lnTo>
                  <a:pt x="455295" y="343511"/>
                </a:lnTo>
                <a:cubicBezTo>
                  <a:pt x="455295" y="343511"/>
                  <a:pt x="419100" y="367324"/>
                  <a:pt x="358140" y="390184"/>
                </a:cubicBezTo>
                <a:cubicBezTo>
                  <a:pt x="347663" y="393994"/>
                  <a:pt x="338138" y="398756"/>
                  <a:pt x="330518" y="404471"/>
                </a:cubicBezTo>
                <a:cubicBezTo>
                  <a:pt x="300038" y="390184"/>
                  <a:pt x="282893" y="379706"/>
                  <a:pt x="282893" y="379706"/>
                </a:cubicBezTo>
                <a:lnTo>
                  <a:pt x="243840" y="504484"/>
                </a:lnTo>
                <a:lnTo>
                  <a:pt x="238125" y="521629"/>
                </a:lnTo>
                <a:lnTo>
                  <a:pt x="220028" y="471146"/>
                </a:lnTo>
                <a:cubicBezTo>
                  <a:pt x="260985" y="414949"/>
                  <a:pt x="217170" y="412091"/>
                  <a:pt x="209550" y="412091"/>
                </a:cubicBezTo>
                <a:lnTo>
                  <a:pt x="209550" y="412091"/>
                </a:lnTo>
                <a:cubicBezTo>
                  <a:pt x="209550" y="412091"/>
                  <a:pt x="209550" y="412091"/>
                  <a:pt x="209550" y="412091"/>
                </a:cubicBezTo>
                <a:cubicBezTo>
                  <a:pt x="209550" y="412091"/>
                  <a:pt x="209550" y="412091"/>
                  <a:pt x="209550" y="412091"/>
                </a:cubicBezTo>
                <a:cubicBezTo>
                  <a:pt x="209550" y="412091"/>
                  <a:pt x="209550" y="412091"/>
                  <a:pt x="209550" y="412091"/>
                </a:cubicBezTo>
                <a:cubicBezTo>
                  <a:pt x="209550" y="412091"/>
                  <a:pt x="209550" y="412091"/>
                  <a:pt x="209550" y="412091"/>
                </a:cubicBezTo>
                <a:lnTo>
                  <a:pt x="209550" y="412091"/>
                </a:lnTo>
                <a:cubicBezTo>
                  <a:pt x="201930" y="412091"/>
                  <a:pt x="158115" y="414949"/>
                  <a:pt x="199073" y="471146"/>
                </a:cubicBezTo>
                <a:lnTo>
                  <a:pt x="180975" y="521629"/>
                </a:lnTo>
                <a:lnTo>
                  <a:pt x="175260" y="504484"/>
                </a:lnTo>
                <a:lnTo>
                  <a:pt x="136208" y="378754"/>
                </a:lnTo>
                <a:cubicBezTo>
                  <a:pt x="136208" y="378754"/>
                  <a:pt x="105728" y="398756"/>
                  <a:pt x="54293" y="418759"/>
                </a:cubicBezTo>
                <a:cubicBezTo>
                  <a:pt x="-1905" y="439714"/>
                  <a:pt x="952" y="485434"/>
                  <a:pt x="0" y="573064"/>
                </a:cubicBezTo>
                <a:lnTo>
                  <a:pt x="208598" y="573064"/>
                </a:lnTo>
                <a:lnTo>
                  <a:pt x="209550" y="573064"/>
                </a:lnTo>
                <a:lnTo>
                  <a:pt x="293370" y="573064"/>
                </a:lnTo>
                <a:lnTo>
                  <a:pt x="414338" y="573064"/>
                </a:lnTo>
                <a:lnTo>
                  <a:pt x="418148" y="573064"/>
                </a:lnTo>
                <a:cubicBezTo>
                  <a:pt x="418148" y="572111"/>
                  <a:pt x="418148" y="570206"/>
                  <a:pt x="418148" y="569254"/>
                </a:cubicBezTo>
                <a:lnTo>
                  <a:pt x="499110" y="488291"/>
                </a:lnTo>
                <a:lnTo>
                  <a:pt x="501015" y="487339"/>
                </a:lnTo>
                <a:close/>
                <a:moveTo>
                  <a:pt x="548640" y="562586"/>
                </a:moveTo>
                <a:lnTo>
                  <a:pt x="628650" y="642596"/>
                </a:lnTo>
                <a:lnTo>
                  <a:pt x="645795" y="659741"/>
                </a:lnTo>
                <a:lnTo>
                  <a:pt x="650558" y="664504"/>
                </a:lnTo>
                <a:cubicBezTo>
                  <a:pt x="654368" y="668314"/>
                  <a:pt x="659130" y="670219"/>
                  <a:pt x="663893" y="670219"/>
                </a:cubicBezTo>
                <a:cubicBezTo>
                  <a:pt x="668655" y="670219"/>
                  <a:pt x="673418" y="668314"/>
                  <a:pt x="677228" y="664504"/>
                </a:cubicBezTo>
                <a:lnTo>
                  <a:pt x="681990" y="659741"/>
                </a:lnTo>
                <a:lnTo>
                  <a:pt x="762000" y="579731"/>
                </a:lnTo>
                <a:lnTo>
                  <a:pt x="779145" y="562586"/>
                </a:lnTo>
                <a:lnTo>
                  <a:pt x="785813" y="555919"/>
                </a:lnTo>
                <a:lnTo>
                  <a:pt x="863918" y="477814"/>
                </a:lnTo>
                <a:lnTo>
                  <a:pt x="873443" y="468289"/>
                </a:lnTo>
                <a:lnTo>
                  <a:pt x="876300" y="471146"/>
                </a:lnTo>
                <a:cubicBezTo>
                  <a:pt x="877253" y="472099"/>
                  <a:pt x="878205" y="473051"/>
                  <a:pt x="879158" y="474004"/>
                </a:cubicBezTo>
                <a:cubicBezTo>
                  <a:pt x="885825" y="480671"/>
                  <a:pt x="892493" y="487339"/>
                  <a:pt x="899160" y="494006"/>
                </a:cubicBezTo>
                <a:cubicBezTo>
                  <a:pt x="901065" y="495911"/>
                  <a:pt x="903923" y="498769"/>
                  <a:pt x="906780" y="498769"/>
                </a:cubicBezTo>
                <a:cubicBezTo>
                  <a:pt x="907733" y="498769"/>
                  <a:pt x="909638" y="498769"/>
                  <a:pt x="910590" y="497816"/>
                </a:cubicBezTo>
                <a:cubicBezTo>
                  <a:pt x="915353" y="494959"/>
                  <a:pt x="916305" y="490196"/>
                  <a:pt x="917258" y="485434"/>
                </a:cubicBezTo>
                <a:cubicBezTo>
                  <a:pt x="918210" y="457811"/>
                  <a:pt x="920115" y="431141"/>
                  <a:pt x="921068" y="403519"/>
                </a:cubicBezTo>
                <a:cubicBezTo>
                  <a:pt x="921068" y="394946"/>
                  <a:pt x="918210" y="391136"/>
                  <a:pt x="909638" y="391136"/>
                </a:cubicBezTo>
                <a:cubicBezTo>
                  <a:pt x="909638" y="391136"/>
                  <a:pt x="908685" y="391136"/>
                  <a:pt x="908685" y="391136"/>
                </a:cubicBezTo>
                <a:cubicBezTo>
                  <a:pt x="881063" y="392089"/>
                  <a:pt x="852488" y="393994"/>
                  <a:pt x="824865" y="394946"/>
                </a:cubicBezTo>
                <a:cubicBezTo>
                  <a:pt x="820103" y="394946"/>
                  <a:pt x="816293" y="394946"/>
                  <a:pt x="813435" y="400661"/>
                </a:cubicBezTo>
                <a:cubicBezTo>
                  <a:pt x="810578" y="405424"/>
                  <a:pt x="813435" y="409234"/>
                  <a:pt x="816293" y="412091"/>
                </a:cubicBezTo>
                <a:cubicBezTo>
                  <a:pt x="824865" y="420664"/>
                  <a:pt x="833438" y="429236"/>
                  <a:pt x="842010" y="437809"/>
                </a:cubicBezTo>
                <a:lnTo>
                  <a:pt x="832485" y="447334"/>
                </a:lnTo>
                <a:lnTo>
                  <a:pt x="753428" y="525439"/>
                </a:lnTo>
                <a:lnTo>
                  <a:pt x="746760" y="532106"/>
                </a:lnTo>
                <a:lnTo>
                  <a:pt x="729615" y="549251"/>
                </a:lnTo>
                <a:lnTo>
                  <a:pt x="662940" y="615926"/>
                </a:lnTo>
                <a:lnTo>
                  <a:pt x="659130" y="612116"/>
                </a:lnTo>
                <a:lnTo>
                  <a:pt x="579120" y="532106"/>
                </a:lnTo>
                <a:lnTo>
                  <a:pt x="561975" y="514961"/>
                </a:lnTo>
                <a:lnTo>
                  <a:pt x="557213" y="510199"/>
                </a:lnTo>
                <a:cubicBezTo>
                  <a:pt x="553403" y="506389"/>
                  <a:pt x="548640" y="504484"/>
                  <a:pt x="543878" y="504484"/>
                </a:cubicBezTo>
                <a:cubicBezTo>
                  <a:pt x="539115" y="504484"/>
                  <a:pt x="534353" y="506389"/>
                  <a:pt x="530543" y="510199"/>
                </a:cubicBezTo>
                <a:lnTo>
                  <a:pt x="526733" y="514961"/>
                </a:lnTo>
                <a:lnTo>
                  <a:pt x="429578" y="612116"/>
                </a:lnTo>
                <a:cubicBezTo>
                  <a:pt x="421958" y="619736"/>
                  <a:pt x="421958" y="631166"/>
                  <a:pt x="429578" y="638786"/>
                </a:cubicBezTo>
                <a:lnTo>
                  <a:pt x="434340" y="643549"/>
                </a:lnTo>
                <a:cubicBezTo>
                  <a:pt x="438150" y="647359"/>
                  <a:pt x="442913" y="649264"/>
                  <a:pt x="447675" y="649264"/>
                </a:cubicBezTo>
                <a:cubicBezTo>
                  <a:pt x="452438" y="649264"/>
                  <a:pt x="457200" y="647359"/>
                  <a:pt x="461010" y="643549"/>
                </a:cubicBezTo>
                <a:lnTo>
                  <a:pt x="544830" y="559729"/>
                </a:lnTo>
                <a:lnTo>
                  <a:pt x="548640" y="562586"/>
                </a:lnTo>
                <a:close/>
                <a:moveTo>
                  <a:pt x="794385" y="324461"/>
                </a:moveTo>
                <a:cubicBezTo>
                  <a:pt x="805815" y="321604"/>
                  <a:pt x="815340" y="314936"/>
                  <a:pt x="822960" y="306364"/>
                </a:cubicBezTo>
                <a:cubicBezTo>
                  <a:pt x="842963" y="281599"/>
                  <a:pt x="835343" y="245404"/>
                  <a:pt x="806768" y="229211"/>
                </a:cubicBezTo>
                <a:cubicBezTo>
                  <a:pt x="797243" y="224449"/>
                  <a:pt x="787718" y="220639"/>
                  <a:pt x="778193" y="216829"/>
                </a:cubicBezTo>
                <a:cubicBezTo>
                  <a:pt x="772478" y="214924"/>
                  <a:pt x="767715" y="212066"/>
                  <a:pt x="762953" y="208256"/>
                </a:cubicBezTo>
                <a:cubicBezTo>
                  <a:pt x="753428" y="200636"/>
                  <a:pt x="755333" y="189206"/>
                  <a:pt x="766763" y="184444"/>
                </a:cubicBezTo>
                <a:cubicBezTo>
                  <a:pt x="769620" y="183491"/>
                  <a:pt x="773430" y="182539"/>
                  <a:pt x="776288" y="182539"/>
                </a:cubicBezTo>
                <a:cubicBezTo>
                  <a:pt x="788670" y="181586"/>
                  <a:pt x="801053" y="184444"/>
                  <a:pt x="812483" y="189206"/>
                </a:cubicBezTo>
                <a:cubicBezTo>
                  <a:pt x="818198" y="192064"/>
                  <a:pt x="820103" y="191111"/>
                  <a:pt x="822008" y="185396"/>
                </a:cubicBezTo>
                <a:cubicBezTo>
                  <a:pt x="823913" y="178729"/>
                  <a:pt x="825818" y="173014"/>
                  <a:pt x="827723" y="166346"/>
                </a:cubicBezTo>
                <a:cubicBezTo>
                  <a:pt x="828675" y="162536"/>
                  <a:pt x="827723" y="159679"/>
                  <a:pt x="823913" y="157774"/>
                </a:cubicBezTo>
                <a:cubicBezTo>
                  <a:pt x="816293" y="154916"/>
                  <a:pt x="809625" y="152059"/>
                  <a:pt x="801053" y="151106"/>
                </a:cubicBezTo>
                <a:cubicBezTo>
                  <a:pt x="790575" y="149201"/>
                  <a:pt x="790575" y="149201"/>
                  <a:pt x="790575" y="138724"/>
                </a:cubicBezTo>
                <a:cubicBezTo>
                  <a:pt x="790575" y="124436"/>
                  <a:pt x="790575" y="124436"/>
                  <a:pt x="776288" y="124436"/>
                </a:cubicBezTo>
                <a:cubicBezTo>
                  <a:pt x="774383" y="124436"/>
                  <a:pt x="772478" y="124436"/>
                  <a:pt x="769620" y="124436"/>
                </a:cubicBezTo>
                <a:cubicBezTo>
                  <a:pt x="762953" y="124436"/>
                  <a:pt x="762000" y="125389"/>
                  <a:pt x="761048" y="133009"/>
                </a:cubicBezTo>
                <a:cubicBezTo>
                  <a:pt x="761048" y="135866"/>
                  <a:pt x="761048" y="138724"/>
                  <a:pt x="761048" y="142534"/>
                </a:cubicBezTo>
                <a:cubicBezTo>
                  <a:pt x="761048" y="152059"/>
                  <a:pt x="761048" y="151106"/>
                  <a:pt x="752475" y="154916"/>
                </a:cubicBezTo>
                <a:cubicBezTo>
                  <a:pt x="731520" y="162536"/>
                  <a:pt x="718185" y="176824"/>
                  <a:pt x="717233" y="199684"/>
                </a:cubicBezTo>
                <a:cubicBezTo>
                  <a:pt x="716280" y="219686"/>
                  <a:pt x="726758" y="233974"/>
                  <a:pt x="742950" y="243499"/>
                </a:cubicBezTo>
                <a:cubicBezTo>
                  <a:pt x="753428" y="249214"/>
                  <a:pt x="764858" y="253024"/>
                  <a:pt x="775335" y="257786"/>
                </a:cubicBezTo>
                <a:cubicBezTo>
                  <a:pt x="779145" y="259691"/>
                  <a:pt x="783908" y="261596"/>
                  <a:pt x="786765" y="264454"/>
                </a:cubicBezTo>
                <a:cubicBezTo>
                  <a:pt x="797243" y="273026"/>
                  <a:pt x="795338" y="287314"/>
                  <a:pt x="782955" y="293029"/>
                </a:cubicBezTo>
                <a:cubicBezTo>
                  <a:pt x="776288" y="295886"/>
                  <a:pt x="769620" y="296839"/>
                  <a:pt x="762000" y="295886"/>
                </a:cubicBezTo>
                <a:cubicBezTo>
                  <a:pt x="750570" y="294934"/>
                  <a:pt x="740093" y="291124"/>
                  <a:pt x="730568" y="286361"/>
                </a:cubicBezTo>
                <a:cubicBezTo>
                  <a:pt x="724853" y="283504"/>
                  <a:pt x="722948" y="284456"/>
                  <a:pt x="721043" y="290171"/>
                </a:cubicBezTo>
                <a:cubicBezTo>
                  <a:pt x="719138" y="295886"/>
                  <a:pt x="718185" y="301601"/>
                  <a:pt x="716280" y="306364"/>
                </a:cubicBezTo>
                <a:cubicBezTo>
                  <a:pt x="714375" y="313984"/>
                  <a:pt x="715328" y="315889"/>
                  <a:pt x="721995" y="318746"/>
                </a:cubicBezTo>
                <a:cubicBezTo>
                  <a:pt x="731520" y="323509"/>
                  <a:pt x="741045" y="325414"/>
                  <a:pt x="750570" y="327319"/>
                </a:cubicBezTo>
                <a:cubicBezTo>
                  <a:pt x="758190" y="328271"/>
                  <a:pt x="758190" y="329224"/>
                  <a:pt x="758190" y="336844"/>
                </a:cubicBezTo>
                <a:cubicBezTo>
                  <a:pt x="758190" y="340654"/>
                  <a:pt x="758190" y="344464"/>
                  <a:pt x="758190" y="347321"/>
                </a:cubicBezTo>
                <a:cubicBezTo>
                  <a:pt x="758190" y="352084"/>
                  <a:pt x="760095" y="354941"/>
                  <a:pt x="764858" y="354941"/>
                </a:cubicBezTo>
                <a:cubicBezTo>
                  <a:pt x="770573" y="354941"/>
                  <a:pt x="775335" y="354941"/>
                  <a:pt x="781050" y="354941"/>
                </a:cubicBezTo>
                <a:cubicBezTo>
                  <a:pt x="785813" y="354941"/>
                  <a:pt x="787718" y="352084"/>
                  <a:pt x="787718" y="348274"/>
                </a:cubicBezTo>
                <a:cubicBezTo>
                  <a:pt x="787718" y="343511"/>
                  <a:pt x="787718" y="338749"/>
                  <a:pt x="787718" y="333034"/>
                </a:cubicBezTo>
                <a:cubicBezTo>
                  <a:pt x="787718" y="328271"/>
                  <a:pt x="789623" y="325414"/>
                  <a:pt x="794385" y="324461"/>
                </a:cubicBezTo>
                <a:close/>
              </a:path>
            </a:pathLst>
          </a:custGeom>
          <a:solidFill>
            <a:schemeClr val="bg1">
              <a:lumMod val="50000"/>
            </a:schemeClr>
          </a:solidFill>
          <a:ln w="9525" cap="flat">
            <a:noFill/>
            <a:prstDash val="solid"/>
            <a:miter/>
          </a:ln>
        </p:spPr>
        <p:txBody>
          <a:bodyPr rtlCol="0" anchor="ctr"/>
          <a:lstStyle/>
          <a:p>
            <a:endParaRPr lang="en-GB"/>
          </a:p>
        </p:txBody>
      </p:sp>
      <p:grpSp>
        <p:nvGrpSpPr>
          <p:cNvPr id="104" name="Graphic 101">
            <a:extLst>
              <a:ext uri="{FF2B5EF4-FFF2-40B4-BE49-F238E27FC236}">
                <a16:creationId xmlns:a16="http://schemas.microsoft.com/office/drawing/2014/main" id="{A42676C1-AA80-48C4-96F2-AB7BF6AFC112}"/>
              </a:ext>
            </a:extLst>
          </p:cNvPr>
          <p:cNvGrpSpPr/>
          <p:nvPr/>
        </p:nvGrpSpPr>
        <p:grpSpPr>
          <a:xfrm>
            <a:off x="7769999" y="4706019"/>
            <a:ext cx="524404" cy="524404"/>
            <a:chOff x="3657600" y="381000"/>
            <a:chExt cx="4876800" cy="4876800"/>
          </a:xfrm>
          <a:solidFill>
            <a:schemeClr val="bg1">
              <a:lumMod val="50000"/>
            </a:schemeClr>
          </a:solidFill>
        </p:grpSpPr>
        <p:sp>
          <p:nvSpPr>
            <p:cNvPr id="105" name="Freeform: Shape 104">
              <a:extLst>
                <a:ext uri="{FF2B5EF4-FFF2-40B4-BE49-F238E27FC236}">
                  <a16:creationId xmlns:a16="http://schemas.microsoft.com/office/drawing/2014/main" id="{B90C582F-B353-4A96-B14C-0A2CF26EDAF6}"/>
                </a:ext>
              </a:extLst>
            </p:cNvPr>
            <p:cNvSpPr/>
            <p:nvPr/>
          </p:nvSpPr>
          <p:spPr>
            <a:xfrm>
              <a:off x="6894159" y="882967"/>
              <a:ext cx="1639570" cy="3867150"/>
            </a:xfrm>
            <a:custGeom>
              <a:avLst/>
              <a:gdLst>
                <a:gd name="connsiteX0" fmla="*/ 101953 w 1639570"/>
                <a:gd name="connsiteY0" fmla="*/ 921067 h 3867150"/>
                <a:gd name="connsiteX1" fmla="*/ 413421 w 1639570"/>
                <a:gd name="connsiteY1" fmla="*/ 921067 h 3867150"/>
                <a:gd name="connsiteX2" fmla="*/ 413421 w 1639570"/>
                <a:gd name="connsiteY2" fmla="*/ 3765233 h 3867150"/>
                <a:gd name="connsiteX3" fmla="*/ 515338 w 1639570"/>
                <a:gd name="connsiteY3" fmla="*/ 3867150 h 3867150"/>
                <a:gd name="connsiteX4" fmla="*/ 1124938 w 1639570"/>
                <a:gd name="connsiteY4" fmla="*/ 3867150 h 3867150"/>
                <a:gd name="connsiteX5" fmla="*/ 1226856 w 1639570"/>
                <a:gd name="connsiteY5" fmla="*/ 3765233 h 3867150"/>
                <a:gd name="connsiteX6" fmla="*/ 1226856 w 1639570"/>
                <a:gd name="connsiteY6" fmla="*/ 921067 h 3867150"/>
                <a:gd name="connsiteX7" fmla="*/ 1538323 w 1639570"/>
                <a:gd name="connsiteY7" fmla="*/ 921067 h 3867150"/>
                <a:gd name="connsiteX8" fmla="*/ 1631668 w 1639570"/>
                <a:gd name="connsiteY8" fmla="*/ 858203 h 3867150"/>
                <a:gd name="connsiteX9" fmla="*/ 1610713 w 1639570"/>
                <a:gd name="connsiteY9" fmla="*/ 747712 h 3867150"/>
                <a:gd name="connsiteX10" fmla="*/ 892528 w 1639570"/>
                <a:gd name="connsiteY10" fmla="*/ 29527 h 3867150"/>
                <a:gd name="connsiteX11" fmla="*/ 820138 w 1639570"/>
                <a:gd name="connsiteY11" fmla="*/ 0 h 3867150"/>
                <a:gd name="connsiteX12" fmla="*/ 747748 w 1639570"/>
                <a:gd name="connsiteY12" fmla="*/ 29527 h 3867150"/>
                <a:gd name="connsiteX13" fmla="*/ 29563 w 1639570"/>
                <a:gd name="connsiteY13" fmla="*/ 747712 h 3867150"/>
                <a:gd name="connsiteX14" fmla="*/ 7656 w 1639570"/>
                <a:gd name="connsiteY14" fmla="*/ 858203 h 3867150"/>
                <a:gd name="connsiteX15" fmla="*/ 101953 w 1639570"/>
                <a:gd name="connsiteY15" fmla="*/ 921067 h 386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9570" h="3867150">
                  <a:moveTo>
                    <a:pt x="101953" y="921067"/>
                  </a:moveTo>
                  <a:lnTo>
                    <a:pt x="413421" y="921067"/>
                  </a:lnTo>
                  <a:lnTo>
                    <a:pt x="413421" y="3765233"/>
                  </a:lnTo>
                  <a:cubicBezTo>
                    <a:pt x="413421" y="3821430"/>
                    <a:pt x="459141" y="3867150"/>
                    <a:pt x="515338" y="3867150"/>
                  </a:cubicBezTo>
                  <a:lnTo>
                    <a:pt x="1124938" y="3867150"/>
                  </a:lnTo>
                  <a:cubicBezTo>
                    <a:pt x="1181136" y="3867150"/>
                    <a:pt x="1226856" y="3821430"/>
                    <a:pt x="1226856" y="3765233"/>
                  </a:cubicBezTo>
                  <a:lnTo>
                    <a:pt x="1226856" y="921067"/>
                  </a:lnTo>
                  <a:lnTo>
                    <a:pt x="1538323" y="921067"/>
                  </a:lnTo>
                  <a:cubicBezTo>
                    <a:pt x="1579281" y="921067"/>
                    <a:pt x="1616428" y="895350"/>
                    <a:pt x="1631668" y="858203"/>
                  </a:cubicBezTo>
                  <a:cubicBezTo>
                    <a:pt x="1647861" y="821055"/>
                    <a:pt x="1638336" y="777240"/>
                    <a:pt x="1610713" y="747712"/>
                  </a:cubicBezTo>
                  <a:lnTo>
                    <a:pt x="892528" y="29527"/>
                  </a:lnTo>
                  <a:cubicBezTo>
                    <a:pt x="873478" y="10477"/>
                    <a:pt x="846808" y="0"/>
                    <a:pt x="820138" y="0"/>
                  </a:cubicBezTo>
                  <a:cubicBezTo>
                    <a:pt x="792516" y="0"/>
                    <a:pt x="767751" y="10477"/>
                    <a:pt x="747748" y="29527"/>
                  </a:cubicBezTo>
                  <a:lnTo>
                    <a:pt x="29563" y="747712"/>
                  </a:lnTo>
                  <a:cubicBezTo>
                    <a:pt x="36" y="777240"/>
                    <a:pt x="-7584" y="821055"/>
                    <a:pt x="7656" y="858203"/>
                  </a:cubicBezTo>
                  <a:cubicBezTo>
                    <a:pt x="23848" y="895350"/>
                    <a:pt x="60043" y="921067"/>
                    <a:pt x="101953" y="921067"/>
                  </a:cubicBezTo>
                  <a:close/>
                </a:path>
              </a:pathLst>
            </a:custGeom>
            <a:grpFill/>
            <a:ln w="9525" cap="flat">
              <a:noFill/>
              <a:prstDash val="solid"/>
              <a:miter/>
            </a:ln>
          </p:spPr>
          <p:txBody>
            <a:bodyPr rtlCol="0" anchor="ctr"/>
            <a:lstStyle/>
            <a:p>
              <a:endParaRPr lang="en-GB"/>
            </a:p>
          </p:txBody>
        </p:sp>
        <p:sp>
          <p:nvSpPr>
            <p:cNvPr id="106" name="Freeform: Shape 105">
              <a:extLst>
                <a:ext uri="{FF2B5EF4-FFF2-40B4-BE49-F238E27FC236}">
                  <a16:creationId xmlns:a16="http://schemas.microsoft.com/office/drawing/2014/main" id="{C51592ED-630E-4C9F-A70F-832B86426054}"/>
                </a:ext>
              </a:extLst>
            </p:cNvPr>
            <p:cNvSpPr/>
            <p:nvPr/>
          </p:nvSpPr>
          <p:spPr>
            <a:xfrm>
              <a:off x="5480189" y="1797605"/>
              <a:ext cx="1638416" cy="2952512"/>
            </a:xfrm>
            <a:custGeom>
              <a:avLst/>
              <a:gdLst>
                <a:gd name="connsiteX0" fmla="*/ 100508 w 1638416"/>
                <a:gd name="connsiteY0" fmla="*/ 920829 h 2952512"/>
                <a:gd name="connsiteX1" fmla="*/ 411975 w 1638416"/>
                <a:gd name="connsiteY1" fmla="*/ 920829 h 2952512"/>
                <a:gd name="connsiteX2" fmla="*/ 411975 w 1638416"/>
                <a:gd name="connsiteY2" fmla="*/ 2850595 h 2952512"/>
                <a:gd name="connsiteX3" fmla="*/ 513893 w 1638416"/>
                <a:gd name="connsiteY3" fmla="*/ 2952512 h 2952512"/>
                <a:gd name="connsiteX4" fmla="*/ 1123493 w 1638416"/>
                <a:gd name="connsiteY4" fmla="*/ 2952512 h 2952512"/>
                <a:gd name="connsiteX5" fmla="*/ 1225410 w 1638416"/>
                <a:gd name="connsiteY5" fmla="*/ 2850595 h 2952512"/>
                <a:gd name="connsiteX6" fmla="*/ 1225410 w 1638416"/>
                <a:gd name="connsiteY6" fmla="*/ 920829 h 2952512"/>
                <a:gd name="connsiteX7" fmla="*/ 1536878 w 1638416"/>
                <a:gd name="connsiteY7" fmla="*/ 920829 h 2952512"/>
                <a:gd name="connsiteX8" fmla="*/ 1631175 w 1638416"/>
                <a:gd name="connsiteY8" fmla="*/ 857964 h 2952512"/>
                <a:gd name="connsiteX9" fmla="*/ 1609268 w 1638416"/>
                <a:gd name="connsiteY9" fmla="*/ 747474 h 2952512"/>
                <a:gd name="connsiteX10" fmla="*/ 891083 w 1638416"/>
                <a:gd name="connsiteY10" fmla="*/ 29289 h 2952512"/>
                <a:gd name="connsiteX11" fmla="*/ 747255 w 1638416"/>
                <a:gd name="connsiteY11" fmla="*/ 29289 h 2952512"/>
                <a:gd name="connsiteX12" fmla="*/ 29070 w 1638416"/>
                <a:gd name="connsiteY12" fmla="*/ 747474 h 2952512"/>
                <a:gd name="connsiteX13" fmla="*/ 8115 w 1638416"/>
                <a:gd name="connsiteY13" fmla="*/ 857964 h 2952512"/>
                <a:gd name="connsiteX14" fmla="*/ 100508 w 1638416"/>
                <a:gd name="connsiteY14" fmla="*/ 920829 h 295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416" h="2952512">
                  <a:moveTo>
                    <a:pt x="100508" y="920829"/>
                  </a:moveTo>
                  <a:lnTo>
                    <a:pt x="411975" y="920829"/>
                  </a:lnTo>
                  <a:lnTo>
                    <a:pt x="411975" y="2850595"/>
                  </a:lnTo>
                  <a:cubicBezTo>
                    <a:pt x="411975" y="2906792"/>
                    <a:pt x="457695" y="2952512"/>
                    <a:pt x="513893" y="2952512"/>
                  </a:cubicBezTo>
                  <a:lnTo>
                    <a:pt x="1123493" y="2952512"/>
                  </a:lnTo>
                  <a:cubicBezTo>
                    <a:pt x="1179691" y="2952512"/>
                    <a:pt x="1225410" y="2906792"/>
                    <a:pt x="1225410" y="2850595"/>
                  </a:cubicBezTo>
                  <a:lnTo>
                    <a:pt x="1225410" y="920829"/>
                  </a:lnTo>
                  <a:lnTo>
                    <a:pt x="1536878" y="920829"/>
                  </a:lnTo>
                  <a:cubicBezTo>
                    <a:pt x="1578788" y="920829"/>
                    <a:pt x="1614983" y="895112"/>
                    <a:pt x="1631175" y="857964"/>
                  </a:cubicBezTo>
                  <a:cubicBezTo>
                    <a:pt x="1646416" y="820817"/>
                    <a:pt x="1636891" y="777002"/>
                    <a:pt x="1609268" y="747474"/>
                  </a:cubicBezTo>
                  <a:lnTo>
                    <a:pt x="891083" y="29289"/>
                  </a:lnTo>
                  <a:cubicBezTo>
                    <a:pt x="852030" y="-9763"/>
                    <a:pt x="785355" y="-9763"/>
                    <a:pt x="747255" y="29289"/>
                  </a:cubicBezTo>
                  <a:lnTo>
                    <a:pt x="29070" y="747474"/>
                  </a:lnTo>
                  <a:cubicBezTo>
                    <a:pt x="495" y="777002"/>
                    <a:pt x="-8077" y="820817"/>
                    <a:pt x="8115" y="857964"/>
                  </a:cubicBezTo>
                  <a:cubicBezTo>
                    <a:pt x="22403" y="895112"/>
                    <a:pt x="58598" y="920829"/>
                    <a:pt x="100508" y="920829"/>
                  </a:cubicBezTo>
                  <a:close/>
                </a:path>
              </a:pathLst>
            </a:custGeom>
            <a:grpFill/>
            <a:ln w="9525" cap="flat">
              <a:noFill/>
              <a:prstDash val="solid"/>
              <a:miter/>
            </a:ln>
          </p:spPr>
          <p:txBody>
            <a:bodyPr rtlCol="0" anchor="ctr"/>
            <a:lstStyle/>
            <a:p>
              <a:endParaRPr lang="en-GB"/>
            </a:p>
          </p:txBody>
        </p:sp>
        <p:sp>
          <p:nvSpPr>
            <p:cNvPr id="107" name="Freeform: Shape 106">
              <a:extLst>
                <a:ext uri="{FF2B5EF4-FFF2-40B4-BE49-F238E27FC236}">
                  <a16:creationId xmlns:a16="http://schemas.microsoft.com/office/drawing/2014/main" id="{EB25FC21-F639-43C4-A07F-222111C3F610}"/>
                </a:ext>
              </a:extLst>
            </p:cNvPr>
            <p:cNvSpPr/>
            <p:nvPr/>
          </p:nvSpPr>
          <p:spPr>
            <a:xfrm>
              <a:off x="4063822" y="3015615"/>
              <a:ext cx="1639572" cy="1734502"/>
            </a:xfrm>
            <a:custGeom>
              <a:avLst/>
              <a:gdLst>
                <a:gd name="connsiteX0" fmla="*/ 101460 w 1639572"/>
                <a:gd name="connsiteY0" fmla="*/ 922020 h 1734502"/>
                <a:gd name="connsiteX1" fmla="*/ 412928 w 1639572"/>
                <a:gd name="connsiteY1" fmla="*/ 922020 h 1734502"/>
                <a:gd name="connsiteX2" fmla="*/ 412928 w 1639572"/>
                <a:gd name="connsiteY2" fmla="*/ 1632585 h 1734502"/>
                <a:gd name="connsiteX3" fmla="*/ 514845 w 1639572"/>
                <a:gd name="connsiteY3" fmla="*/ 1734503 h 1734502"/>
                <a:gd name="connsiteX4" fmla="*/ 1124445 w 1639572"/>
                <a:gd name="connsiteY4" fmla="*/ 1734503 h 1734502"/>
                <a:gd name="connsiteX5" fmla="*/ 1226363 w 1639572"/>
                <a:gd name="connsiteY5" fmla="*/ 1632585 h 1734502"/>
                <a:gd name="connsiteX6" fmla="*/ 1226363 w 1639572"/>
                <a:gd name="connsiteY6" fmla="*/ 921067 h 1734502"/>
                <a:gd name="connsiteX7" fmla="*/ 1537830 w 1639572"/>
                <a:gd name="connsiteY7" fmla="*/ 921067 h 1734502"/>
                <a:gd name="connsiteX8" fmla="*/ 1632128 w 1639572"/>
                <a:gd name="connsiteY8" fmla="*/ 858203 h 1734502"/>
                <a:gd name="connsiteX9" fmla="*/ 1610220 w 1639572"/>
                <a:gd name="connsiteY9" fmla="*/ 747713 h 1734502"/>
                <a:gd name="connsiteX10" fmla="*/ 892035 w 1639572"/>
                <a:gd name="connsiteY10" fmla="*/ 29528 h 1734502"/>
                <a:gd name="connsiteX11" fmla="*/ 819645 w 1639572"/>
                <a:gd name="connsiteY11" fmla="*/ 0 h 1734502"/>
                <a:gd name="connsiteX12" fmla="*/ 747255 w 1639572"/>
                <a:gd name="connsiteY12" fmla="*/ 29528 h 1734502"/>
                <a:gd name="connsiteX13" fmla="*/ 29070 w 1639572"/>
                <a:gd name="connsiteY13" fmla="*/ 747713 h 1734502"/>
                <a:gd name="connsiteX14" fmla="*/ 8115 w 1639572"/>
                <a:gd name="connsiteY14" fmla="*/ 858203 h 1734502"/>
                <a:gd name="connsiteX15" fmla="*/ 101460 w 1639572"/>
                <a:gd name="connsiteY15" fmla="*/ 922020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9572" h="1734502">
                  <a:moveTo>
                    <a:pt x="101460" y="922020"/>
                  </a:moveTo>
                  <a:lnTo>
                    <a:pt x="412928" y="922020"/>
                  </a:lnTo>
                  <a:lnTo>
                    <a:pt x="412928" y="1632585"/>
                  </a:lnTo>
                  <a:cubicBezTo>
                    <a:pt x="412928" y="1688782"/>
                    <a:pt x="458648" y="1734503"/>
                    <a:pt x="514845" y="1734503"/>
                  </a:cubicBezTo>
                  <a:lnTo>
                    <a:pt x="1124445" y="1734503"/>
                  </a:lnTo>
                  <a:cubicBezTo>
                    <a:pt x="1180643" y="1734503"/>
                    <a:pt x="1226363" y="1688782"/>
                    <a:pt x="1226363" y="1632585"/>
                  </a:cubicBezTo>
                  <a:lnTo>
                    <a:pt x="1226363" y="921067"/>
                  </a:lnTo>
                  <a:lnTo>
                    <a:pt x="1537830" y="921067"/>
                  </a:lnTo>
                  <a:cubicBezTo>
                    <a:pt x="1579740" y="921067"/>
                    <a:pt x="1615935" y="895350"/>
                    <a:pt x="1632128" y="858203"/>
                  </a:cubicBezTo>
                  <a:cubicBezTo>
                    <a:pt x="1647368" y="821055"/>
                    <a:pt x="1638795" y="777240"/>
                    <a:pt x="1610220" y="747713"/>
                  </a:cubicBezTo>
                  <a:lnTo>
                    <a:pt x="892035" y="29528"/>
                  </a:lnTo>
                  <a:cubicBezTo>
                    <a:pt x="872985" y="10478"/>
                    <a:pt x="847268" y="0"/>
                    <a:pt x="819645" y="0"/>
                  </a:cubicBezTo>
                  <a:cubicBezTo>
                    <a:pt x="792975" y="0"/>
                    <a:pt x="767258" y="10478"/>
                    <a:pt x="747255" y="29528"/>
                  </a:cubicBezTo>
                  <a:lnTo>
                    <a:pt x="29070" y="747713"/>
                  </a:lnTo>
                  <a:cubicBezTo>
                    <a:pt x="495" y="777240"/>
                    <a:pt x="-8077" y="821055"/>
                    <a:pt x="8115" y="858203"/>
                  </a:cubicBezTo>
                  <a:cubicBezTo>
                    <a:pt x="23355" y="896303"/>
                    <a:pt x="61455" y="922020"/>
                    <a:pt x="101460" y="922020"/>
                  </a:cubicBezTo>
                  <a:close/>
                </a:path>
              </a:pathLst>
            </a:custGeom>
            <a:grpFill/>
            <a:ln w="9525" cap="flat">
              <a:noFill/>
              <a:prstDash val="solid"/>
              <a:miter/>
            </a:ln>
          </p:spPr>
          <p:txBody>
            <a:bodyPr rtlCol="0" anchor="ctr"/>
            <a:lstStyle/>
            <a:p>
              <a:endParaRPr lang="en-GB"/>
            </a:p>
          </p:txBody>
        </p:sp>
        <p:sp>
          <p:nvSpPr>
            <p:cNvPr id="118" name="Freeform: Shape 117">
              <a:extLst>
                <a:ext uri="{FF2B5EF4-FFF2-40B4-BE49-F238E27FC236}">
                  <a16:creationId xmlns:a16="http://schemas.microsoft.com/office/drawing/2014/main" id="{A1DCD8F3-A5C8-4AB7-8E9C-45AEAFFC199E}"/>
                </a:ext>
              </a:extLst>
            </p:cNvPr>
            <p:cNvSpPr/>
            <p:nvPr/>
          </p:nvSpPr>
          <p:spPr>
            <a:xfrm>
              <a:off x="3657600" y="381000"/>
              <a:ext cx="4876800" cy="4876800"/>
            </a:xfrm>
            <a:custGeom>
              <a:avLst/>
              <a:gdLst>
                <a:gd name="connsiteX0" fmla="*/ 202883 w 4876800"/>
                <a:gd name="connsiteY0" fmla="*/ 4673918 h 4876800"/>
                <a:gd name="connsiteX1" fmla="*/ 202883 w 4876800"/>
                <a:gd name="connsiteY1" fmla="*/ 0 h 4876800"/>
                <a:gd name="connsiteX2" fmla="*/ 0 w 4876800"/>
                <a:gd name="connsiteY2" fmla="*/ 0 h 4876800"/>
                <a:gd name="connsiteX3" fmla="*/ 0 w 4876800"/>
                <a:gd name="connsiteY3" fmla="*/ 4876800 h 4876800"/>
                <a:gd name="connsiteX4" fmla="*/ 4876800 w 4876800"/>
                <a:gd name="connsiteY4" fmla="*/ 4876800 h 4876800"/>
                <a:gd name="connsiteX5" fmla="*/ 4876800 w 4876800"/>
                <a:gd name="connsiteY5" fmla="*/ 4673918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4876800">
                  <a:moveTo>
                    <a:pt x="202883" y="4673918"/>
                  </a:moveTo>
                  <a:lnTo>
                    <a:pt x="202883" y="0"/>
                  </a:lnTo>
                  <a:lnTo>
                    <a:pt x="0" y="0"/>
                  </a:lnTo>
                  <a:lnTo>
                    <a:pt x="0" y="4876800"/>
                  </a:lnTo>
                  <a:lnTo>
                    <a:pt x="4876800" y="4876800"/>
                  </a:lnTo>
                  <a:lnTo>
                    <a:pt x="4876800" y="4673918"/>
                  </a:lnTo>
                  <a:close/>
                </a:path>
              </a:pathLst>
            </a:custGeom>
            <a:grpFill/>
            <a:ln w="9525" cap="flat">
              <a:noFill/>
              <a:prstDash val="solid"/>
              <a:miter/>
            </a:ln>
          </p:spPr>
          <p:txBody>
            <a:bodyPr rtlCol="0" anchor="ctr"/>
            <a:lstStyle/>
            <a:p>
              <a:endParaRPr lang="en-GB"/>
            </a:p>
          </p:txBody>
        </p:sp>
      </p:grpSp>
      <p:sp>
        <p:nvSpPr>
          <p:cNvPr id="35" name="Rectangle: Top Corners Rounded 34">
            <a:extLst>
              <a:ext uri="{FF2B5EF4-FFF2-40B4-BE49-F238E27FC236}">
                <a16:creationId xmlns:a16="http://schemas.microsoft.com/office/drawing/2014/main" id="{104B52C9-9267-48CC-B850-9F0644DBF809}"/>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36" name="Rectangle: Top Corners Rounded 35">
            <a:extLst>
              <a:ext uri="{FF2B5EF4-FFF2-40B4-BE49-F238E27FC236}">
                <a16:creationId xmlns:a16="http://schemas.microsoft.com/office/drawing/2014/main" id="{676B53B3-C254-47CC-8177-57C99B19E913}"/>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37" name="Rectangle: Top Corners Rounded 36">
            <a:extLst>
              <a:ext uri="{FF2B5EF4-FFF2-40B4-BE49-F238E27FC236}">
                <a16:creationId xmlns:a16="http://schemas.microsoft.com/office/drawing/2014/main" id="{F0AE13D1-63B2-433B-A78A-A9073BD47A43}"/>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40" name="Rectangle: Top Corners Rounded 39">
            <a:extLst>
              <a:ext uri="{FF2B5EF4-FFF2-40B4-BE49-F238E27FC236}">
                <a16:creationId xmlns:a16="http://schemas.microsoft.com/office/drawing/2014/main" id="{C348C001-9947-4946-9B5A-956EBA86AF37}"/>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41" name="Arrow: Chevron 40">
            <a:extLst>
              <a:ext uri="{FF2B5EF4-FFF2-40B4-BE49-F238E27FC236}">
                <a16:creationId xmlns:a16="http://schemas.microsoft.com/office/drawing/2014/main" id="{6B2C74A4-7EFE-4568-914F-3BE6D75A44CD}"/>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8" name="Arrow: Chevron 67">
            <a:extLst>
              <a:ext uri="{FF2B5EF4-FFF2-40B4-BE49-F238E27FC236}">
                <a16:creationId xmlns:a16="http://schemas.microsoft.com/office/drawing/2014/main" id="{7BF122A0-6280-46B3-913C-3E724768CBE5}"/>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4" name="Arrow: Chevron 73">
            <a:extLst>
              <a:ext uri="{FF2B5EF4-FFF2-40B4-BE49-F238E27FC236}">
                <a16:creationId xmlns:a16="http://schemas.microsoft.com/office/drawing/2014/main" id="{E7C697E0-F271-49A7-BF57-E1EE31993827}"/>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Rectangle: Top Corners Rounded 74">
            <a:extLst>
              <a:ext uri="{FF2B5EF4-FFF2-40B4-BE49-F238E27FC236}">
                <a16:creationId xmlns:a16="http://schemas.microsoft.com/office/drawing/2014/main" id="{1386F308-91A0-4926-82CB-5B2B802022FC}"/>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76" name="Rectangle: Top Corners Rounded 75">
            <a:extLst>
              <a:ext uri="{FF2B5EF4-FFF2-40B4-BE49-F238E27FC236}">
                <a16:creationId xmlns:a16="http://schemas.microsoft.com/office/drawing/2014/main" id="{CC342EC9-F306-4185-96EF-54B634BCBAB6}"/>
              </a:ext>
            </a:extLst>
          </p:cNvPr>
          <p:cNvSpPr/>
          <p:nvPr/>
        </p:nvSpPr>
        <p:spPr>
          <a:xfrm rot="5400000">
            <a:off x="3783504" y="-495289"/>
            <a:ext cx="180301"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87" name="Rectangle: Top Corners Rounded 86">
            <a:extLst>
              <a:ext uri="{FF2B5EF4-FFF2-40B4-BE49-F238E27FC236}">
                <a16:creationId xmlns:a16="http://schemas.microsoft.com/office/drawing/2014/main" id="{F59E8623-18F2-474F-9739-145CF4605488}"/>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89" name="Rectangle: Top Corners Rounded 88">
            <a:extLst>
              <a:ext uri="{FF2B5EF4-FFF2-40B4-BE49-F238E27FC236}">
                <a16:creationId xmlns:a16="http://schemas.microsoft.com/office/drawing/2014/main" id="{D66DE011-C2B0-41B8-A3AE-24DEDF6F60DF}"/>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90" name="Arrow: Chevron 89">
            <a:extLst>
              <a:ext uri="{FF2B5EF4-FFF2-40B4-BE49-F238E27FC236}">
                <a16:creationId xmlns:a16="http://schemas.microsoft.com/office/drawing/2014/main" id="{F726BD0F-EE33-4434-9DAF-973B7B2DF78A}"/>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1" name="Arrow: Chevron 90">
            <a:extLst>
              <a:ext uri="{FF2B5EF4-FFF2-40B4-BE49-F238E27FC236}">
                <a16:creationId xmlns:a16="http://schemas.microsoft.com/office/drawing/2014/main" id="{BA08D0A8-6E8D-4B49-BFD1-2D9DEF3FE74E}"/>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3" name="Arrow: Chevron 92">
            <a:extLst>
              <a:ext uri="{FF2B5EF4-FFF2-40B4-BE49-F238E27FC236}">
                <a16:creationId xmlns:a16="http://schemas.microsoft.com/office/drawing/2014/main" id="{5B139D89-E572-44C8-9DEB-DCFCC4B52355}"/>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4" name="Rectangle: Top Corners Rounded 93">
            <a:extLst>
              <a:ext uri="{FF2B5EF4-FFF2-40B4-BE49-F238E27FC236}">
                <a16:creationId xmlns:a16="http://schemas.microsoft.com/office/drawing/2014/main" id="{D2213995-5376-4B51-8447-578BC0A8DF0F}"/>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95" name="Arrow: Chevron 94">
            <a:extLst>
              <a:ext uri="{FF2B5EF4-FFF2-40B4-BE49-F238E27FC236}">
                <a16:creationId xmlns:a16="http://schemas.microsoft.com/office/drawing/2014/main" id="{7FD6AA9B-6FC2-4567-881A-5C10DE631B89}"/>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6" name="Arrow: Chevron 95">
            <a:extLst>
              <a:ext uri="{FF2B5EF4-FFF2-40B4-BE49-F238E27FC236}">
                <a16:creationId xmlns:a16="http://schemas.microsoft.com/office/drawing/2014/main" id="{C9BCA87E-703B-4A7C-B0A5-2AD1C1BE5D2C}"/>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82760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Sales and advertising model</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solidFill>
                  <a:srgbClr val="00162F"/>
                </a:solidFill>
                <a:latin typeface="Calibri" panose="020F0502020204030204" pitchFamily="34" charset="0"/>
              </a:rPr>
              <a:t>Demand side can be boosted by introducing more channels and improving overall promotions</a:t>
            </a:r>
          </a:p>
        </p:txBody>
      </p:sp>
      <p:sp>
        <p:nvSpPr>
          <p:cNvPr id="78" name="Rectangle: Top Corners Rounded 77">
            <a:extLst>
              <a:ext uri="{FF2B5EF4-FFF2-40B4-BE49-F238E27FC236}">
                <a16:creationId xmlns:a16="http://schemas.microsoft.com/office/drawing/2014/main" id="{B536935D-8CB4-409E-ACC0-7868A8E05930}"/>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79" name="Rectangle: Top Corners Rounded 78">
            <a:extLst>
              <a:ext uri="{FF2B5EF4-FFF2-40B4-BE49-F238E27FC236}">
                <a16:creationId xmlns:a16="http://schemas.microsoft.com/office/drawing/2014/main" id="{0D002348-67F6-42E1-B8C4-DED9605B608E}"/>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80" name="Rectangle: Top Corners Rounded 79">
            <a:extLst>
              <a:ext uri="{FF2B5EF4-FFF2-40B4-BE49-F238E27FC236}">
                <a16:creationId xmlns:a16="http://schemas.microsoft.com/office/drawing/2014/main" id="{1B2D422A-CF35-483E-8723-50F53C915A56}"/>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131" name="Rectangle: Top Corners Rounded 130">
            <a:extLst>
              <a:ext uri="{FF2B5EF4-FFF2-40B4-BE49-F238E27FC236}">
                <a16:creationId xmlns:a16="http://schemas.microsoft.com/office/drawing/2014/main" id="{04582E9A-2BBB-44F2-BAAE-E35B5EDD21BA}"/>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32" name="Arrow: Chevron 131">
            <a:extLst>
              <a:ext uri="{FF2B5EF4-FFF2-40B4-BE49-F238E27FC236}">
                <a16:creationId xmlns:a16="http://schemas.microsoft.com/office/drawing/2014/main" id="{70FF8F96-769F-40A6-A81D-52345B396944}"/>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2" name="Arrow: Chevron 141">
            <a:extLst>
              <a:ext uri="{FF2B5EF4-FFF2-40B4-BE49-F238E27FC236}">
                <a16:creationId xmlns:a16="http://schemas.microsoft.com/office/drawing/2014/main" id="{7141B18E-67D6-4468-8439-A472180CD0DF}"/>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3" name="Arrow: Chevron 142">
            <a:extLst>
              <a:ext uri="{FF2B5EF4-FFF2-40B4-BE49-F238E27FC236}">
                <a16:creationId xmlns:a16="http://schemas.microsoft.com/office/drawing/2014/main" id="{1D87D7E4-B81E-4C2D-B81B-2FA22A880E2C}"/>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5" name="Group 4">
            <a:extLst>
              <a:ext uri="{FF2B5EF4-FFF2-40B4-BE49-F238E27FC236}">
                <a16:creationId xmlns:a16="http://schemas.microsoft.com/office/drawing/2014/main" id="{715DD82C-6AA2-4B47-AFA0-106998CFA183}"/>
              </a:ext>
            </a:extLst>
          </p:cNvPr>
          <p:cNvGrpSpPr/>
          <p:nvPr/>
        </p:nvGrpSpPr>
        <p:grpSpPr>
          <a:xfrm>
            <a:off x="444655" y="1244661"/>
            <a:ext cx="11329172" cy="5328646"/>
            <a:chOff x="925983" y="1361440"/>
            <a:chExt cx="10291956" cy="4840794"/>
          </a:xfrm>
        </p:grpSpPr>
        <p:sp>
          <p:nvSpPr>
            <p:cNvPr id="212" name="Rectangle 211">
              <a:extLst>
                <a:ext uri="{FF2B5EF4-FFF2-40B4-BE49-F238E27FC236}">
                  <a16:creationId xmlns:a16="http://schemas.microsoft.com/office/drawing/2014/main" id="{31E65CE0-6804-492B-A588-BA691717E7AB}"/>
                </a:ext>
              </a:extLst>
            </p:cNvPr>
            <p:cNvSpPr/>
            <p:nvPr/>
          </p:nvSpPr>
          <p:spPr>
            <a:xfrm>
              <a:off x="8636661" y="1506946"/>
              <a:ext cx="2570226" cy="1644365"/>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3" name="Rectangle 212">
              <a:extLst>
                <a:ext uri="{FF2B5EF4-FFF2-40B4-BE49-F238E27FC236}">
                  <a16:creationId xmlns:a16="http://schemas.microsoft.com/office/drawing/2014/main" id="{E86B1333-EB69-474C-8E10-7BFA3402804E}"/>
                </a:ext>
              </a:extLst>
            </p:cNvPr>
            <p:cNvSpPr/>
            <p:nvPr/>
          </p:nvSpPr>
          <p:spPr>
            <a:xfrm>
              <a:off x="6066436" y="1500960"/>
              <a:ext cx="2570226" cy="1650351"/>
            </a:xfrm>
            <a:prstGeom prst="rect">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4" name="Isosceles Triangle 213">
              <a:extLst>
                <a:ext uri="{FF2B5EF4-FFF2-40B4-BE49-F238E27FC236}">
                  <a16:creationId xmlns:a16="http://schemas.microsoft.com/office/drawing/2014/main" id="{43FF9FC4-B112-40D1-84D4-39DCDC1067D4}"/>
                </a:ext>
              </a:extLst>
            </p:cNvPr>
            <p:cNvSpPr/>
            <p:nvPr/>
          </p:nvSpPr>
          <p:spPr>
            <a:xfrm rot="5400000">
              <a:off x="8467457" y="2264419"/>
              <a:ext cx="729078" cy="390674"/>
            </a:xfrm>
            <a:prstGeom prst="triangle">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5" name="Rectangle 214">
              <a:extLst>
                <a:ext uri="{FF2B5EF4-FFF2-40B4-BE49-F238E27FC236}">
                  <a16:creationId xmlns:a16="http://schemas.microsoft.com/office/drawing/2014/main" id="{D4496E78-34CA-4604-8C3E-FB6985BE2701}"/>
                </a:ext>
              </a:extLst>
            </p:cNvPr>
            <p:cNvSpPr/>
            <p:nvPr/>
          </p:nvSpPr>
          <p:spPr>
            <a:xfrm>
              <a:off x="3496209" y="1506946"/>
              <a:ext cx="2570226" cy="1650351"/>
            </a:xfrm>
            <a:prstGeom prst="rect">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6" name="Isosceles Triangle 215">
              <a:extLst>
                <a:ext uri="{FF2B5EF4-FFF2-40B4-BE49-F238E27FC236}">
                  <a16:creationId xmlns:a16="http://schemas.microsoft.com/office/drawing/2014/main" id="{62E9C063-3D3C-4949-8B97-F3F7A9D8C174}"/>
                </a:ext>
              </a:extLst>
            </p:cNvPr>
            <p:cNvSpPr/>
            <p:nvPr/>
          </p:nvSpPr>
          <p:spPr>
            <a:xfrm rot="5400000">
              <a:off x="5897231" y="2264419"/>
              <a:ext cx="729078" cy="390674"/>
            </a:xfrm>
            <a:prstGeom prst="triangle">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7" name="Rectangle 216">
              <a:extLst>
                <a:ext uri="{FF2B5EF4-FFF2-40B4-BE49-F238E27FC236}">
                  <a16:creationId xmlns:a16="http://schemas.microsoft.com/office/drawing/2014/main" id="{08F58987-E864-4694-B07F-209B38051C31}"/>
                </a:ext>
              </a:extLst>
            </p:cNvPr>
            <p:cNvSpPr/>
            <p:nvPr/>
          </p:nvSpPr>
          <p:spPr>
            <a:xfrm>
              <a:off x="937036" y="1506945"/>
              <a:ext cx="2570226" cy="1644366"/>
            </a:xfrm>
            <a:prstGeom prst="rect">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8" name="Isosceles Triangle 217">
              <a:extLst>
                <a:ext uri="{FF2B5EF4-FFF2-40B4-BE49-F238E27FC236}">
                  <a16:creationId xmlns:a16="http://schemas.microsoft.com/office/drawing/2014/main" id="{CED82B1B-C55B-494D-A558-BF69FF1384E1}"/>
                </a:ext>
              </a:extLst>
            </p:cNvPr>
            <p:cNvSpPr/>
            <p:nvPr/>
          </p:nvSpPr>
          <p:spPr>
            <a:xfrm rot="5400000">
              <a:off x="3338060" y="2264419"/>
              <a:ext cx="729078" cy="390674"/>
            </a:xfrm>
            <a:prstGeom prst="triangle">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21" name="TextBox 220">
              <a:extLst>
                <a:ext uri="{FF2B5EF4-FFF2-40B4-BE49-F238E27FC236}">
                  <a16:creationId xmlns:a16="http://schemas.microsoft.com/office/drawing/2014/main" id="{1F3B7ED7-2F39-44AE-BB79-32FDD30AE2C5}"/>
                </a:ext>
              </a:extLst>
            </p:cNvPr>
            <p:cNvSpPr txBox="1"/>
            <p:nvPr/>
          </p:nvSpPr>
          <p:spPr>
            <a:xfrm>
              <a:off x="3781787" y="3241380"/>
              <a:ext cx="1999069" cy="307558"/>
            </a:xfrm>
            <a:prstGeom prst="rect">
              <a:avLst/>
            </a:prstGeom>
            <a:noFill/>
          </p:spPr>
          <p:txBody>
            <a:bodyPr wrap="square" rtlCol="0">
              <a:spAutoFit/>
            </a:bodyPr>
            <a:lstStyle/>
            <a:p>
              <a:pPr algn="ctr"/>
              <a:r>
                <a:rPr lang="en-GB" sz="1600" b="1" dirty="0">
                  <a:solidFill>
                    <a:schemeClr val="bg1"/>
                  </a:solidFill>
                </a:rPr>
                <a:t>Regulatory Compliance</a:t>
              </a:r>
            </a:p>
          </p:txBody>
        </p:sp>
        <p:sp>
          <p:nvSpPr>
            <p:cNvPr id="222" name="TextBox 221">
              <a:extLst>
                <a:ext uri="{FF2B5EF4-FFF2-40B4-BE49-F238E27FC236}">
                  <a16:creationId xmlns:a16="http://schemas.microsoft.com/office/drawing/2014/main" id="{359B957F-442D-4D13-960F-6800638E2B20}"/>
                </a:ext>
              </a:extLst>
            </p:cNvPr>
            <p:cNvSpPr txBox="1"/>
            <p:nvPr/>
          </p:nvSpPr>
          <p:spPr>
            <a:xfrm>
              <a:off x="6457108" y="3241380"/>
              <a:ext cx="1788882" cy="531237"/>
            </a:xfrm>
            <a:prstGeom prst="rect">
              <a:avLst/>
            </a:prstGeom>
            <a:noFill/>
          </p:spPr>
          <p:txBody>
            <a:bodyPr wrap="square" rtlCol="0">
              <a:spAutoFit/>
            </a:bodyPr>
            <a:lstStyle/>
            <a:p>
              <a:pPr algn="ctr"/>
              <a:r>
                <a:rPr lang="en-GB" sz="1600" b="1" dirty="0">
                  <a:solidFill>
                    <a:schemeClr val="bg1"/>
                  </a:solidFill>
                </a:rPr>
                <a:t>Effectiveness and Efficiency</a:t>
              </a:r>
            </a:p>
          </p:txBody>
        </p:sp>
        <p:sp>
          <p:nvSpPr>
            <p:cNvPr id="223" name="TextBox 222">
              <a:extLst>
                <a:ext uri="{FF2B5EF4-FFF2-40B4-BE49-F238E27FC236}">
                  <a16:creationId xmlns:a16="http://schemas.microsoft.com/office/drawing/2014/main" id="{2741C803-D51C-4443-9FEC-4729419A3ABB}"/>
                </a:ext>
              </a:extLst>
            </p:cNvPr>
            <p:cNvSpPr txBox="1"/>
            <p:nvPr/>
          </p:nvSpPr>
          <p:spPr>
            <a:xfrm>
              <a:off x="9027334" y="3241380"/>
              <a:ext cx="1893974" cy="531237"/>
            </a:xfrm>
            <a:prstGeom prst="rect">
              <a:avLst/>
            </a:prstGeom>
            <a:noFill/>
          </p:spPr>
          <p:txBody>
            <a:bodyPr wrap="square" rtlCol="0">
              <a:spAutoFit/>
            </a:bodyPr>
            <a:lstStyle/>
            <a:p>
              <a:pPr algn="ctr"/>
              <a:r>
                <a:rPr lang="en-GB" sz="1600" b="1" dirty="0">
                  <a:solidFill>
                    <a:schemeClr val="bg1"/>
                  </a:solidFill>
                </a:rPr>
                <a:t>Environmental Protection</a:t>
              </a:r>
            </a:p>
          </p:txBody>
        </p:sp>
        <p:sp>
          <p:nvSpPr>
            <p:cNvPr id="224" name="Rectangle 223">
              <a:extLst>
                <a:ext uri="{FF2B5EF4-FFF2-40B4-BE49-F238E27FC236}">
                  <a16:creationId xmlns:a16="http://schemas.microsoft.com/office/drawing/2014/main" id="{14E623E6-7E51-438C-AAF2-02BFCFF125E9}"/>
                </a:ext>
              </a:extLst>
            </p:cNvPr>
            <p:cNvSpPr/>
            <p:nvPr/>
          </p:nvSpPr>
          <p:spPr>
            <a:xfrm>
              <a:off x="925983" y="3921126"/>
              <a:ext cx="10280903" cy="49261"/>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dirty="0" err="1">
                <a:solidFill>
                  <a:schemeClr val="tx1"/>
                </a:solidFill>
              </a:endParaRPr>
            </a:p>
          </p:txBody>
        </p:sp>
        <p:sp>
          <p:nvSpPr>
            <p:cNvPr id="225" name="Rectangle 224">
              <a:extLst>
                <a:ext uri="{FF2B5EF4-FFF2-40B4-BE49-F238E27FC236}">
                  <a16:creationId xmlns:a16="http://schemas.microsoft.com/office/drawing/2014/main" id="{0EF13072-FFF0-42C1-BC14-39FA3D9FEE72}"/>
                </a:ext>
              </a:extLst>
            </p:cNvPr>
            <p:cNvSpPr/>
            <p:nvPr/>
          </p:nvSpPr>
          <p:spPr>
            <a:xfrm>
              <a:off x="3496209" y="3970386"/>
              <a:ext cx="2570226" cy="22318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Complying with across-government and </a:t>
              </a:r>
            </a:p>
            <a:p>
              <a:pPr algn="ctr"/>
              <a:r>
                <a:rPr lang="en-GB" sz="1400" dirty="0">
                  <a:solidFill>
                    <a:schemeClr val="bg1"/>
                  </a:solidFill>
                </a:rPr>
                <a:t>GPO requirements </a:t>
              </a:r>
            </a:p>
            <a:p>
              <a:pPr algn="ctr"/>
              <a:r>
                <a:rPr lang="en-GB" sz="1400" dirty="0">
                  <a:solidFill>
                    <a:schemeClr val="bg1"/>
                  </a:solidFill>
                </a:rPr>
                <a:t>regarding asset </a:t>
              </a:r>
            </a:p>
            <a:p>
              <a:pPr algn="ctr"/>
              <a:r>
                <a:rPr lang="en-GB" sz="1400" dirty="0">
                  <a:solidFill>
                    <a:schemeClr val="bg1"/>
                  </a:solidFill>
                </a:rPr>
                <a:t>management</a:t>
              </a:r>
            </a:p>
          </p:txBody>
        </p:sp>
        <p:sp>
          <p:nvSpPr>
            <p:cNvPr id="110" name="Rectangle 109">
              <a:extLst>
                <a:ext uri="{FF2B5EF4-FFF2-40B4-BE49-F238E27FC236}">
                  <a16:creationId xmlns:a16="http://schemas.microsoft.com/office/drawing/2014/main" id="{B1E4D589-F7AD-48D4-B806-886D98E8E6DE}"/>
                </a:ext>
              </a:extLst>
            </p:cNvPr>
            <p:cNvSpPr/>
            <p:nvPr/>
          </p:nvSpPr>
          <p:spPr>
            <a:xfrm>
              <a:off x="937036" y="3214709"/>
              <a:ext cx="2570226" cy="2977720"/>
            </a:xfrm>
            <a:prstGeom prst="rect">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bg1"/>
                </a:solidFill>
              </a:endParaRPr>
            </a:p>
            <a:p>
              <a:r>
                <a:rPr lang="en-GB" sz="1600" b="1" dirty="0">
                  <a:solidFill>
                    <a:schemeClr val="bg1"/>
                  </a:solidFill>
                </a:rPr>
                <a:t>1. PHYSICAL-</a:t>
              </a:r>
            </a:p>
            <a:p>
              <a:pPr marL="447675" lvl="1" indent="-265113">
                <a:buFont typeface="Arial" panose="020B0604020202020204" pitchFamily="34" charset="0"/>
                <a:buChar char="•"/>
              </a:pPr>
              <a:r>
                <a:rPr lang="en-GB" sz="1600" dirty="0">
                  <a:solidFill>
                    <a:schemeClr val="bg1"/>
                  </a:solidFill>
                </a:rPr>
                <a:t>Partnering with garages </a:t>
              </a:r>
            </a:p>
            <a:p>
              <a:pPr marL="447675" lvl="1" indent="-265113">
                <a:buFont typeface="Arial" panose="020B0604020202020204" pitchFamily="34" charset="0"/>
                <a:buChar char="•"/>
              </a:pPr>
              <a:r>
                <a:rPr lang="en-GB" sz="1600" dirty="0">
                  <a:solidFill>
                    <a:schemeClr val="bg1"/>
                  </a:solidFill>
                </a:rPr>
                <a:t>Fleet management for MNCs, delivery platforms</a:t>
              </a:r>
            </a:p>
            <a:p>
              <a:pPr marL="447675" indent="-447675"/>
              <a:endParaRPr lang="en-GB" sz="1600" dirty="0">
                <a:solidFill>
                  <a:schemeClr val="bg1"/>
                </a:solidFill>
              </a:endParaRPr>
            </a:p>
            <a:p>
              <a:pPr marL="447675" indent="-447675"/>
              <a:r>
                <a:rPr lang="en-GB" sz="1600" b="1" dirty="0">
                  <a:solidFill>
                    <a:schemeClr val="bg1"/>
                  </a:solidFill>
                </a:rPr>
                <a:t>2. ONLINE</a:t>
              </a:r>
            </a:p>
            <a:p>
              <a:pPr marL="447675" lvl="1" indent="-265113">
                <a:buFont typeface="Arial" panose="020B0604020202020204" pitchFamily="34" charset="0"/>
                <a:buChar char="•"/>
              </a:pPr>
              <a:r>
                <a:rPr lang="en-GB" sz="1600" dirty="0">
                  <a:solidFill>
                    <a:schemeClr val="bg1"/>
                  </a:solidFill>
                </a:rPr>
                <a:t>Application</a:t>
              </a:r>
            </a:p>
            <a:p>
              <a:pPr marL="447675" lvl="1" indent="-265113">
                <a:buFont typeface="Arial" panose="020B0604020202020204" pitchFamily="34" charset="0"/>
                <a:buChar char="•"/>
              </a:pPr>
              <a:r>
                <a:rPr lang="en-GB" sz="1600" dirty="0">
                  <a:solidFill>
                    <a:schemeClr val="bg1"/>
                  </a:solidFill>
                </a:rPr>
                <a:t>Web browser</a:t>
              </a:r>
            </a:p>
            <a:p>
              <a:pPr marL="447675" lvl="1" indent="-265113">
                <a:buFont typeface="Arial" panose="020B0604020202020204" pitchFamily="34" charset="0"/>
                <a:buChar char="•"/>
              </a:pPr>
              <a:endParaRPr lang="en-GB" sz="1600" dirty="0">
                <a:solidFill>
                  <a:schemeClr val="bg1"/>
                </a:solidFill>
              </a:endParaRPr>
            </a:p>
            <a:p>
              <a:pPr marL="447675" indent="-447675"/>
              <a:r>
                <a:rPr lang="en-GB" sz="1600" b="1" dirty="0">
                  <a:solidFill>
                    <a:schemeClr val="bg1"/>
                  </a:solidFill>
                </a:rPr>
                <a:t>3. TELEPHONIC</a:t>
              </a:r>
            </a:p>
            <a:p>
              <a:pPr marL="447675" lvl="1" indent="-265113">
                <a:buFont typeface="Arial" panose="020B0604020202020204" pitchFamily="34" charset="0"/>
                <a:buChar char="•"/>
              </a:pPr>
              <a:r>
                <a:rPr lang="en-GB" sz="1600" dirty="0">
                  <a:solidFill>
                    <a:schemeClr val="bg1"/>
                  </a:solidFill>
                </a:rPr>
                <a:t>Helpline/Assistance</a:t>
              </a:r>
            </a:p>
            <a:p>
              <a:endParaRPr lang="en-GB" sz="1600" dirty="0">
                <a:solidFill>
                  <a:schemeClr val="bg1"/>
                </a:solidFill>
              </a:endParaRPr>
            </a:p>
            <a:p>
              <a:pPr marL="742937" lvl="1" indent="-285750">
                <a:buFont typeface="Arial" panose="020B0604020202020204" pitchFamily="34" charset="0"/>
                <a:buChar char="•"/>
              </a:pPr>
              <a:endParaRPr lang="en-GB" sz="1600" dirty="0">
                <a:solidFill>
                  <a:schemeClr val="bg1"/>
                </a:solidFill>
              </a:endParaRPr>
            </a:p>
          </p:txBody>
        </p:sp>
        <p:sp>
          <p:nvSpPr>
            <p:cNvPr id="111" name="Rectangle 110">
              <a:extLst>
                <a:ext uri="{FF2B5EF4-FFF2-40B4-BE49-F238E27FC236}">
                  <a16:creationId xmlns:a16="http://schemas.microsoft.com/office/drawing/2014/main" id="{721B24E7-0E9E-4492-B387-B8781148024A}"/>
                </a:ext>
              </a:extLst>
            </p:cNvPr>
            <p:cNvSpPr/>
            <p:nvPr/>
          </p:nvSpPr>
          <p:spPr>
            <a:xfrm>
              <a:off x="3496208" y="3213626"/>
              <a:ext cx="2570226" cy="2977720"/>
            </a:xfrm>
            <a:prstGeom prst="rect">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tx1"/>
                  </a:solidFill>
                </a:rPr>
                <a:t>1. ONLINE</a:t>
              </a:r>
            </a:p>
            <a:p>
              <a:pPr marL="447675" lvl="1" indent="-265113">
                <a:buFont typeface="Arial" panose="020B0604020202020204" pitchFamily="34" charset="0"/>
                <a:buChar char="•"/>
              </a:pPr>
              <a:r>
                <a:rPr lang="en-GB" sz="1600" dirty="0">
                  <a:solidFill>
                    <a:schemeClr val="tx1"/>
                  </a:solidFill>
                </a:rPr>
                <a:t>Social media – Facebook, Instagram, Twitter</a:t>
              </a:r>
            </a:p>
            <a:p>
              <a:pPr marL="447675" lvl="1" indent="-265113">
                <a:buFont typeface="Arial" panose="020B0604020202020204" pitchFamily="34" charset="0"/>
                <a:buChar char="•"/>
              </a:pPr>
              <a:r>
                <a:rPr lang="en-GB" sz="1600" dirty="0">
                  <a:solidFill>
                    <a:schemeClr val="tx1"/>
                  </a:solidFill>
                </a:rPr>
                <a:t>Content broadcasters – YouTube, OTT platforms</a:t>
              </a:r>
            </a:p>
            <a:p>
              <a:pPr marL="742937" lvl="1" indent="-285750">
                <a:buFont typeface="Arial" panose="020B0604020202020204" pitchFamily="34" charset="0"/>
                <a:buChar char="•"/>
              </a:pPr>
              <a:endParaRPr lang="en-GB" sz="1600" dirty="0">
                <a:solidFill>
                  <a:schemeClr val="tx1"/>
                </a:solidFill>
              </a:endParaRPr>
            </a:p>
            <a:p>
              <a:r>
                <a:rPr lang="en-GB" sz="1600" b="1" dirty="0">
                  <a:solidFill>
                    <a:schemeClr val="tx1"/>
                  </a:solidFill>
                </a:rPr>
                <a:t>2. OFFLINE</a:t>
              </a:r>
            </a:p>
            <a:p>
              <a:pPr marL="447675" lvl="1" indent="-265113">
                <a:buFont typeface="Arial" panose="020B0604020202020204" pitchFamily="34" charset="0"/>
                <a:buChar char="•"/>
              </a:pPr>
              <a:r>
                <a:rPr lang="en-GB" sz="1600" dirty="0">
                  <a:solidFill>
                    <a:schemeClr val="tx1"/>
                  </a:solidFill>
                </a:rPr>
                <a:t>Pamphlets @ partner garages</a:t>
              </a:r>
            </a:p>
            <a:p>
              <a:pPr marL="447675" lvl="1" indent="-265113">
                <a:buFont typeface="Arial" panose="020B0604020202020204" pitchFamily="34" charset="0"/>
                <a:buChar char="•"/>
              </a:pPr>
              <a:r>
                <a:rPr lang="en-GB" sz="1600" dirty="0">
                  <a:solidFill>
                    <a:schemeClr val="tx1"/>
                  </a:solidFill>
                </a:rPr>
                <a:t>Billboards @ highway motels</a:t>
              </a:r>
            </a:p>
            <a:p>
              <a:pPr marL="742937" lvl="1" indent="-285750">
                <a:buFont typeface="Arial" panose="020B0604020202020204" pitchFamily="34" charset="0"/>
                <a:buChar char="•"/>
              </a:pPr>
              <a:endParaRPr lang="en-GB" sz="1600" dirty="0">
                <a:solidFill>
                  <a:schemeClr val="tx1"/>
                </a:solidFill>
              </a:endParaRPr>
            </a:p>
          </p:txBody>
        </p:sp>
        <p:sp>
          <p:nvSpPr>
            <p:cNvPr id="9" name="Oval 8">
              <a:extLst>
                <a:ext uri="{FF2B5EF4-FFF2-40B4-BE49-F238E27FC236}">
                  <a16:creationId xmlns:a16="http://schemas.microsoft.com/office/drawing/2014/main" id="{DC26DA10-49DE-4D82-AF59-134A0E8BE1FB}"/>
                </a:ext>
              </a:extLst>
            </p:cNvPr>
            <p:cNvSpPr/>
            <p:nvPr/>
          </p:nvSpPr>
          <p:spPr>
            <a:xfrm>
              <a:off x="1591578"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3" name="Oval 112">
              <a:extLst>
                <a:ext uri="{FF2B5EF4-FFF2-40B4-BE49-F238E27FC236}">
                  <a16:creationId xmlns:a16="http://schemas.microsoft.com/office/drawing/2014/main" id="{C2FE6F92-16A3-43B3-B018-528DCBD8FF95}"/>
                </a:ext>
              </a:extLst>
            </p:cNvPr>
            <p:cNvSpPr/>
            <p:nvPr/>
          </p:nvSpPr>
          <p:spPr>
            <a:xfrm>
              <a:off x="9345773"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4" name="Oval 113">
              <a:extLst>
                <a:ext uri="{FF2B5EF4-FFF2-40B4-BE49-F238E27FC236}">
                  <a16:creationId xmlns:a16="http://schemas.microsoft.com/office/drawing/2014/main" id="{08FCEE1C-0710-415E-94F4-54BFD64235BB}"/>
                </a:ext>
              </a:extLst>
            </p:cNvPr>
            <p:cNvSpPr/>
            <p:nvPr/>
          </p:nvSpPr>
          <p:spPr>
            <a:xfrm>
              <a:off x="6970883"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5" name="Oval 114">
              <a:extLst>
                <a:ext uri="{FF2B5EF4-FFF2-40B4-BE49-F238E27FC236}">
                  <a16:creationId xmlns:a16="http://schemas.microsoft.com/office/drawing/2014/main" id="{474BCF10-4A53-40F2-8BDC-1E5C4229D620}"/>
                </a:ext>
              </a:extLst>
            </p:cNvPr>
            <p:cNvSpPr/>
            <p:nvPr/>
          </p:nvSpPr>
          <p:spPr>
            <a:xfrm>
              <a:off x="4262513" y="1824769"/>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0" name="TextBox 9">
              <a:extLst>
                <a:ext uri="{FF2B5EF4-FFF2-40B4-BE49-F238E27FC236}">
                  <a16:creationId xmlns:a16="http://schemas.microsoft.com/office/drawing/2014/main" id="{DBA21441-BCE5-47B9-95EC-8FACEAEF9B48}"/>
                </a:ext>
              </a:extLst>
            </p:cNvPr>
            <p:cNvSpPr txBox="1"/>
            <p:nvPr/>
          </p:nvSpPr>
          <p:spPr>
            <a:xfrm>
              <a:off x="1419614" y="1361440"/>
              <a:ext cx="1505266" cy="307777"/>
            </a:xfrm>
            <a:prstGeom prst="rect">
              <a:avLst/>
            </a:prstGeom>
            <a:solidFill>
              <a:schemeClr val="bg1"/>
            </a:solidFill>
            <a:ln>
              <a:solidFill>
                <a:schemeClr val="tx2"/>
              </a:solidFill>
            </a:ln>
          </p:spPr>
          <p:txBody>
            <a:bodyPr wrap="square" rtlCol="0">
              <a:spAutoFit/>
            </a:bodyPr>
            <a:lstStyle/>
            <a:p>
              <a:pPr algn="ctr"/>
              <a:r>
                <a:rPr lang="en-IN" sz="1600" b="1" dirty="0"/>
                <a:t>CHANNELS</a:t>
              </a:r>
            </a:p>
          </p:txBody>
        </p:sp>
        <p:sp>
          <p:nvSpPr>
            <p:cNvPr id="117" name="TextBox 116">
              <a:extLst>
                <a:ext uri="{FF2B5EF4-FFF2-40B4-BE49-F238E27FC236}">
                  <a16:creationId xmlns:a16="http://schemas.microsoft.com/office/drawing/2014/main" id="{C9C6B77C-CF3F-41E6-B49A-F4BCEB5A4237}"/>
                </a:ext>
              </a:extLst>
            </p:cNvPr>
            <p:cNvSpPr txBox="1"/>
            <p:nvPr/>
          </p:nvSpPr>
          <p:spPr>
            <a:xfrm>
              <a:off x="4085880" y="1361440"/>
              <a:ext cx="1505266" cy="307777"/>
            </a:xfrm>
            <a:prstGeom prst="rect">
              <a:avLst/>
            </a:prstGeom>
            <a:solidFill>
              <a:schemeClr val="bg1"/>
            </a:solidFill>
            <a:ln>
              <a:solidFill>
                <a:srgbClr val="D6DCE5"/>
              </a:solidFill>
            </a:ln>
          </p:spPr>
          <p:txBody>
            <a:bodyPr wrap="square" rtlCol="0">
              <a:spAutoFit/>
            </a:bodyPr>
            <a:lstStyle/>
            <a:p>
              <a:pPr algn="ctr"/>
              <a:r>
                <a:rPr lang="en-IN" sz="1600" b="1" dirty="0"/>
                <a:t>ADVERTISING</a:t>
              </a:r>
            </a:p>
          </p:txBody>
        </p:sp>
        <p:sp>
          <p:nvSpPr>
            <p:cNvPr id="118" name="TextBox 117">
              <a:extLst>
                <a:ext uri="{FF2B5EF4-FFF2-40B4-BE49-F238E27FC236}">
                  <a16:creationId xmlns:a16="http://schemas.microsoft.com/office/drawing/2014/main" id="{C80EDC63-DB24-4798-A227-0D450D4CD617}"/>
                </a:ext>
              </a:extLst>
            </p:cNvPr>
            <p:cNvSpPr txBox="1"/>
            <p:nvPr/>
          </p:nvSpPr>
          <p:spPr>
            <a:xfrm>
              <a:off x="6733319" y="1361440"/>
              <a:ext cx="1505266" cy="307777"/>
            </a:xfrm>
            <a:prstGeom prst="rect">
              <a:avLst/>
            </a:prstGeom>
            <a:solidFill>
              <a:schemeClr val="bg1"/>
            </a:solidFill>
            <a:ln>
              <a:solidFill>
                <a:srgbClr val="A6A6A6"/>
              </a:solidFill>
            </a:ln>
          </p:spPr>
          <p:txBody>
            <a:bodyPr wrap="square" rtlCol="0">
              <a:spAutoFit/>
            </a:bodyPr>
            <a:lstStyle/>
            <a:p>
              <a:pPr algn="ctr"/>
              <a:r>
                <a:rPr lang="en-IN" sz="1600" b="1" dirty="0"/>
                <a:t>PROMOTION</a:t>
              </a:r>
            </a:p>
          </p:txBody>
        </p:sp>
        <p:sp>
          <p:nvSpPr>
            <p:cNvPr id="119" name="TextBox 118">
              <a:extLst>
                <a:ext uri="{FF2B5EF4-FFF2-40B4-BE49-F238E27FC236}">
                  <a16:creationId xmlns:a16="http://schemas.microsoft.com/office/drawing/2014/main" id="{D74CDB59-39C5-4499-A832-B588006C32BA}"/>
                </a:ext>
              </a:extLst>
            </p:cNvPr>
            <p:cNvSpPr txBox="1"/>
            <p:nvPr/>
          </p:nvSpPr>
          <p:spPr>
            <a:xfrm>
              <a:off x="9221688" y="1361440"/>
              <a:ext cx="1505266" cy="307777"/>
            </a:xfrm>
            <a:prstGeom prst="rect">
              <a:avLst/>
            </a:prstGeom>
            <a:solidFill>
              <a:schemeClr val="bg1"/>
            </a:solidFill>
            <a:ln>
              <a:solidFill>
                <a:srgbClr val="F2F2F2"/>
              </a:solidFill>
            </a:ln>
          </p:spPr>
          <p:txBody>
            <a:bodyPr wrap="square" rtlCol="0">
              <a:spAutoFit/>
            </a:bodyPr>
            <a:lstStyle/>
            <a:p>
              <a:pPr algn="ctr"/>
              <a:r>
                <a:rPr lang="en-IN" sz="1600" b="1" dirty="0"/>
                <a:t>CEO ACTIVISM</a:t>
              </a:r>
            </a:p>
          </p:txBody>
        </p:sp>
        <p:sp>
          <p:nvSpPr>
            <p:cNvPr id="120" name="Rectangle 119">
              <a:extLst>
                <a:ext uri="{FF2B5EF4-FFF2-40B4-BE49-F238E27FC236}">
                  <a16:creationId xmlns:a16="http://schemas.microsoft.com/office/drawing/2014/main" id="{B240433A-CFB7-4D9E-B01F-1E7892D0DF5E}"/>
                </a:ext>
              </a:extLst>
            </p:cNvPr>
            <p:cNvSpPr/>
            <p:nvPr/>
          </p:nvSpPr>
          <p:spPr>
            <a:xfrm>
              <a:off x="6077487" y="3213626"/>
              <a:ext cx="2570226" cy="2977720"/>
            </a:xfrm>
            <a:prstGeom prst="rect">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bg1"/>
                  </a:solidFill>
                </a:rPr>
                <a:t>1. DISCOUNTS &amp; OFFERS</a:t>
              </a:r>
            </a:p>
            <a:p>
              <a:pPr marL="447675" lvl="1" indent="-265113">
                <a:buFont typeface="Arial" panose="020B0604020202020204" pitchFamily="34" charset="0"/>
                <a:buChar char="•"/>
              </a:pPr>
              <a:r>
                <a:rPr lang="en-GB" sz="1600" dirty="0">
                  <a:solidFill>
                    <a:schemeClr val="bg1"/>
                  </a:solidFill>
                </a:rPr>
                <a:t>Discounts on next visit in 2-3 months time</a:t>
              </a:r>
            </a:p>
            <a:p>
              <a:pPr marL="447675" lvl="1" indent="-265113">
                <a:buFont typeface="Arial" panose="020B0604020202020204" pitchFamily="34" charset="0"/>
                <a:buChar char="•"/>
              </a:pPr>
              <a:r>
                <a:rPr lang="en-GB" sz="1600" dirty="0">
                  <a:solidFill>
                    <a:schemeClr val="bg1"/>
                  </a:solidFill>
                </a:rPr>
                <a:t>QR codes on posters for downloading app for first user discount</a:t>
              </a:r>
            </a:p>
            <a:p>
              <a:pPr marL="447675" lvl="1" indent="-265113">
                <a:buFont typeface="Arial" panose="020B0604020202020204" pitchFamily="34" charset="0"/>
                <a:buChar char="•"/>
              </a:pPr>
              <a:r>
                <a:rPr lang="en-GB" sz="1600" dirty="0">
                  <a:solidFill>
                    <a:schemeClr val="bg1"/>
                  </a:solidFill>
                </a:rPr>
                <a:t>Package deals/ bulk discounts</a:t>
              </a:r>
            </a:p>
            <a:p>
              <a:pPr marL="742937" lvl="1" indent="-285750">
                <a:buFont typeface="Arial" panose="020B0604020202020204" pitchFamily="34" charset="0"/>
                <a:buChar char="•"/>
              </a:pPr>
              <a:endParaRPr lang="en-GB" sz="1600" dirty="0">
                <a:solidFill>
                  <a:schemeClr val="bg1"/>
                </a:solidFill>
              </a:endParaRPr>
            </a:p>
            <a:p>
              <a:r>
                <a:rPr lang="en-GB" sz="1600" b="1" dirty="0">
                  <a:solidFill>
                    <a:schemeClr val="bg1"/>
                  </a:solidFill>
                </a:rPr>
                <a:t>2. REFERAL PROGRAMS</a:t>
              </a:r>
            </a:p>
            <a:p>
              <a:endParaRPr lang="en-GB" sz="1600" b="1" dirty="0">
                <a:solidFill>
                  <a:schemeClr val="bg1"/>
                </a:solidFill>
              </a:endParaRPr>
            </a:p>
            <a:p>
              <a:r>
                <a:rPr lang="en-GB" sz="1600" b="1" dirty="0">
                  <a:solidFill>
                    <a:schemeClr val="bg1"/>
                  </a:solidFill>
                </a:rPr>
                <a:t>3. GUERRILLA MARKETING</a:t>
              </a:r>
            </a:p>
          </p:txBody>
        </p:sp>
        <p:sp>
          <p:nvSpPr>
            <p:cNvPr id="121" name="Rectangle 120">
              <a:extLst>
                <a:ext uri="{FF2B5EF4-FFF2-40B4-BE49-F238E27FC236}">
                  <a16:creationId xmlns:a16="http://schemas.microsoft.com/office/drawing/2014/main" id="{6AE884FB-7D4D-4594-9850-CAFE0F3D6CFD}"/>
                </a:ext>
              </a:extLst>
            </p:cNvPr>
            <p:cNvSpPr/>
            <p:nvPr/>
          </p:nvSpPr>
          <p:spPr>
            <a:xfrm>
              <a:off x="8647713" y="3213626"/>
              <a:ext cx="2570226" cy="297772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tx1"/>
                  </a:solidFill>
                </a:rPr>
                <a:t>1. STANCE BUILDING</a:t>
              </a:r>
            </a:p>
            <a:p>
              <a:pPr marL="447675" lvl="1" indent="-265113">
                <a:buFont typeface="Arial" panose="020B0604020202020204" pitchFamily="34" charset="0"/>
                <a:buChar char="•"/>
              </a:pPr>
              <a:r>
                <a:rPr lang="en-GB" sz="1600" dirty="0">
                  <a:solidFill>
                    <a:schemeClr val="tx1"/>
                  </a:solidFill>
                </a:rPr>
                <a:t>Opinions on recent issues reflecting company’s stand</a:t>
              </a:r>
            </a:p>
            <a:p>
              <a:pPr marL="447675" lvl="1" indent="-265113">
                <a:buFont typeface="Arial" panose="020B0604020202020204" pitchFamily="34" charset="0"/>
                <a:buChar char="•"/>
              </a:pPr>
              <a:r>
                <a:rPr lang="en-GB" sz="1600" dirty="0">
                  <a:solidFill>
                    <a:schemeClr val="tx1"/>
                  </a:solidFill>
                </a:rPr>
                <a:t>Blogs, podcasts etc. </a:t>
              </a:r>
            </a:p>
            <a:p>
              <a:pPr marL="182562" lvl="1"/>
              <a:endParaRPr lang="en-GB" sz="1600" dirty="0">
                <a:solidFill>
                  <a:schemeClr val="tx1"/>
                </a:solidFill>
              </a:endParaRPr>
            </a:p>
            <a:p>
              <a:r>
                <a:rPr lang="en-GB" sz="1600" b="1" dirty="0">
                  <a:solidFill>
                    <a:schemeClr val="tx1"/>
                  </a:solidFill>
                </a:rPr>
                <a:t>2. ASSOCIATION WITH CAUSE</a:t>
              </a:r>
            </a:p>
            <a:p>
              <a:pPr marL="447675" lvl="1" indent="-265113">
                <a:buFont typeface="Arial" panose="020B0604020202020204" pitchFamily="34" charset="0"/>
                <a:buChar char="•"/>
              </a:pPr>
              <a:r>
                <a:rPr lang="en-GB" sz="1600" dirty="0">
                  <a:solidFill>
                    <a:schemeClr val="tx1"/>
                  </a:solidFill>
                </a:rPr>
                <a:t>Overall support of the company to social causes</a:t>
              </a:r>
            </a:p>
            <a:p>
              <a:pPr marL="447675" lvl="1" indent="-265113">
                <a:buFont typeface="Arial" panose="020B0604020202020204" pitchFamily="34" charset="0"/>
                <a:buChar char="•"/>
              </a:pPr>
              <a:r>
                <a:rPr lang="en-GB" sz="1600" dirty="0">
                  <a:solidFill>
                    <a:schemeClr val="tx1"/>
                  </a:solidFill>
                </a:rPr>
                <a:t>CSR, mention of explicit volunteering work by employees on website</a:t>
              </a:r>
            </a:p>
            <a:p>
              <a:endParaRPr lang="en-GB" sz="1600" b="1" dirty="0">
                <a:solidFill>
                  <a:schemeClr val="tx1"/>
                </a:solidFill>
              </a:endParaRPr>
            </a:p>
          </p:txBody>
        </p:sp>
        <p:pic>
          <p:nvPicPr>
            <p:cNvPr id="1026" name="Picture 2">
              <a:extLst>
                <a:ext uri="{FF2B5EF4-FFF2-40B4-BE49-F238E27FC236}">
                  <a16:creationId xmlns:a16="http://schemas.microsoft.com/office/drawing/2014/main" id="{A3F3E12C-380D-4DFF-8628-5417EF8F3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731" y="1955101"/>
              <a:ext cx="1601613"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F8359B9-6185-4616-A236-7F270CA76E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3811" y="2001838"/>
              <a:ext cx="810000" cy="81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1B3C228-9287-43D0-B775-C1C33DFE2A5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5109" r="98152">
                          <a14:foregroundMark x1="5109" y1="71413" x2="10761" y2="80109"/>
                          <a14:foregroundMark x1="6957" y1="24022" x2="20652" y2="30978"/>
                          <a14:foregroundMark x1="13699" y1="40057" x2="11413" y2="43043"/>
                          <a14:foregroundMark x1="20652" y1="30978" x2="17290" y2="35369"/>
                          <a14:foregroundMark x1="11413" y1="43043" x2="8261" y2="42065"/>
                          <a14:foregroundMark x1="71739" y1="31196" x2="77391" y2="24348"/>
                          <a14:foregroundMark x1="79891" y1="38370" x2="89114" y2="36613"/>
                          <a14:foregroundMark x1="86739" y1="49891" x2="98152" y2="48370"/>
                          <a14:backgroundMark x1="12283" y1="36196" x2="15109" y2="37717"/>
                          <a14:backgroundMark x1="11413" y1="37717" x2="21304" y2="37717"/>
                          <a14:backgroundMark x1="88261" y1="38370" x2="93587" y2="35543"/>
                        </a14:backgroundRemoval>
                      </a14:imgEffect>
                    </a14:imgLayer>
                  </a14:imgProps>
                </a:ext>
                <a:ext uri="{28A0092B-C50C-407E-A947-70E740481C1C}">
                  <a14:useLocalDpi xmlns:a14="http://schemas.microsoft.com/office/drawing/2010/main" val="0"/>
                </a:ext>
              </a:extLst>
            </a:blip>
            <a:srcRect/>
            <a:stretch>
              <a:fillRect/>
            </a:stretch>
          </p:blipFill>
          <p:spPr bwMode="auto">
            <a:xfrm>
              <a:off x="7163221" y="1955101"/>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67398C2-9739-4653-B995-C199D7DA12E2}"/>
                </a:ext>
              </a:extLst>
            </p:cNvPr>
            <p:cNvPicPr>
              <a:picLocks noChangeAspect="1" noChangeArrowheads="1"/>
            </p:cNvPicPr>
            <p:nvPr/>
          </p:nvPicPr>
          <p:blipFill>
            <a:blip r:embed="rId7">
              <a:duotone>
                <a:schemeClr val="accent5">
                  <a:shade val="45000"/>
                  <a:satMod val="135000"/>
                </a:schemeClr>
                <a:prstClr val="white"/>
              </a:duotone>
              <a:extLst>
                <a:ext uri="{BEBA8EAE-BF5A-486C-A8C5-ECC9F3942E4B}">
                  <a14:imgProps xmlns:a14="http://schemas.microsoft.com/office/drawing/2010/main">
                    <a14:imgLayer r:embed="rId8">
                      <a14:imgEffect>
                        <a14:backgroundRemoval t="2442" b="95360" l="610" r="96463">
                          <a14:foregroundMark x1="12073" y1="13431" x2="21707" y2="10623"/>
                          <a14:foregroundMark x1="6220" y1="19658" x2="10000" y2="31746"/>
                          <a14:foregroundMark x1="35122" y1="5739" x2="41829" y2="3297"/>
                          <a14:foregroundMark x1="41829" y1="3297" x2="48293" y2="6838"/>
                          <a14:foregroundMark x1="48293" y1="6838" x2="49024" y2="9035"/>
                          <a14:foregroundMark x1="41829" y1="2808" x2="46341" y2="2808"/>
                          <a14:foregroundMark x1="7073" y1="45910" x2="9634" y2="56410"/>
                          <a14:foregroundMark x1="9634" y1="56410" x2="27317" y2="76190"/>
                          <a14:foregroundMark x1="27317" y1="76190" x2="29146" y2="85470"/>
                          <a14:foregroundMark x1="3659" y1="70696" x2="4634" y2="85348"/>
                          <a14:foregroundMark x1="4634" y1="85348" x2="610" y2="95604"/>
                          <a14:foregroundMark x1="58293" y1="54335" x2="95732" y2="82662"/>
                          <a14:foregroundMark x1="96463" y1="26618" x2="96341" y2="29060"/>
                        </a14:backgroundRemoval>
                      </a14:imgEffect>
                    </a14:imgLayer>
                  </a14:imgProps>
                </a:ext>
                <a:ext uri="{28A0092B-C50C-407E-A947-70E740481C1C}">
                  <a14:useLocalDpi xmlns:a14="http://schemas.microsoft.com/office/drawing/2010/main" val="0"/>
                </a:ext>
              </a:extLst>
            </a:blip>
            <a:srcRect/>
            <a:stretch>
              <a:fillRect/>
            </a:stretch>
          </p:blipFill>
          <p:spPr bwMode="auto">
            <a:xfrm>
              <a:off x="9482305" y="1911838"/>
              <a:ext cx="901042" cy="90000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Rectangle: Top Corners Rounded 10">
            <a:extLst>
              <a:ext uri="{FF2B5EF4-FFF2-40B4-BE49-F238E27FC236}">
                <a16:creationId xmlns:a16="http://schemas.microsoft.com/office/drawing/2014/main" id="{539C4FDF-17F2-4704-9566-2F242937C76A}"/>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12" name="Rectangle: Top Corners Rounded 11">
            <a:extLst>
              <a:ext uri="{FF2B5EF4-FFF2-40B4-BE49-F238E27FC236}">
                <a16:creationId xmlns:a16="http://schemas.microsoft.com/office/drawing/2014/main" id="{55C86E7C-F774-4841-A6A0-5028CF0CB669}"/>
              </a:ext>
            </a:extLst>
          </p:cNvPr>
          <p:cNvSpPr/>
          <p:nvPr/>
        </p:nvSpPr>
        <p:spPr>
          <a:xfrm rot="5400000">
            <a:off x="3783504" y="-495289"/>
            <a:ext cx="180301"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13" name="Rectangle: Top Corners Rounded 12">
            <a:extLst>
              <a:ext uri="{FF2B5EF4-FFF2-40B4-BE49-F238E27FC236}">
                <a16:creationId xmlns:a16="http://schemas.microsoft.com/office/drawing/2014/main" id="{8E306E3D-26F5-4E0D-9CE1-1097BB5AAC48}"/>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14" name="Rectangle: Top Corners Rounded 13">
            <a:extLst>
              <a:ext uri="{FF2B5EF4-FFF2-40B4-BE49-F238E27FC236}">
                <a16:creationId xmlns:a16="http://schemas.microsoft.com/office/drawing/2014/main" id="{FCFBFB1A-A0B1-49BE-B649-E3E124AA6A17}"/>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15" name="Arrow: Chevron 14">
            <a:extLst>
              <a:ext uri="{FF2B5EF4-FFF2-40B4-BE49-F238E27FC236}">
                <a16:creationId xmlns:a16="http://schemas.microsoft.com/office/drawing/2014/main" id="{8B4834CD-CCE2-4058-8C8D-C88E4BC3274C}"/>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Arrow: Chevron 15">
            <a:extLst>
              <a:ext uri="{FF2B5EF4-FFF2-40B4-BE49-F238E27FC236}">
                <a16:creationId xmlns:a16="http://schemas.microsoft.com/office/drawing/2014/main" id="{4175CB3B-F2A4-474E-9AE4-655618E0233A}"/>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7" name="Arrow: Chevron 16">
            <a:extLst>
              <a:ext uri="{FF2B5EF4-FFF2-40B4-BE49-F238E27FC236}">
                <a16:creationId xmlns:a16="http://schemas.microsoft.com/office/drawing/2014/main" id="{68F7F32B-7337-4041-ABC1-39D0676924C1}"/>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Rectangle: Top Corners Rounded 17">
            <a:extLst>
              <a:ext uri="{FF2B5EF4-FFF2-40B4-BE49-F238E27FC236}">
                <a16:creationId xmlns:a16="http://schemas.microsoft.com/office/drawing/2014/main" id="{24CF37F3-CB49-4B35-98D3-B84E3A436EED}"/>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9" name="Arrow: Chevron 18">
            <a:extLst>
              <a:ext uri="{FF2B5EF4-FFF2-40B4-BE49-F238E27FC236}">
                <a16:creationId xmlns:a16="http://schemas.microsoft.com/office/drawing/2014/main" id="{79AC3D02-7885-4837-916C-E7CED7547758}"/>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5CAEC681-E451-4535-8093-D2DFE8F54EEB}"/>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TextBox 59">
            <a:extLst>
              <a:ext uri="{FF2B5EF4-FFF2-40B4-BE49-F238E27FC236}">
                <a16:creationId xmlns:a16="http://schemas.microsoft.com/office/drawing/2014/main" id="{8EAF5FB8-F7AB-4FD4-B8E0-E46A290A82DC}"/>
              </a:ext>
            </a:extLst>
          </p:cNvPr>
          <p:cNvSpPr txBox="1"/>
          <p:nvPr/>
        </p:nvSpPr>
        <p:spPr>
          <a:xfrm>
            <a:off x="11824981" y="6573307"/>
            <a:ext cx="242374" cy="230832"/>
          </a:xfrm>
          <a:prstGeom prst="rect">
            <a:avLst/>
          </a:prstGeom>
          <a:noFill/>
        </p:spPr>
        <p:txBody>
          <a:bodyPr wrap="none" rtlCol="0">
            <a:spAutoFit/>
          </a:bodyPr>
          <a:lstStyle/>
          <a:p>
            <a:r>
              <a:rPr lang="en-GB" sz="900" dirty="0"/>
              <a:t>7</a:t>
            </a:r>
            <a:endParaRPr lang="en-GB" dirty="0"/>
          </a:p>
        </p:txBody>
      </p:sp>
    </p:spTree>
    <p:extLst>
      <p:ext uri="{BB962C8B-B14F-4D97-AF65-F5344CB8AC3E}">
        <p14:creationId xmlns:p14="http://schemas.microsoft.com/office/powerpoint/2010/main" val="2922605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Supply side management</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solidFill>
                  <a:srgbClr val="00162F"/>
                </a:solidFill>
                <a:latin typeface="Calibri" panose="020F0502020204030204" pitchFamily="34" charset="0"/>
              </a:rPr>
              <a:t>Supply side can be catalyzed by increasing partnerships while maintaining relationships</a:t>
            </a:r>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grpSp>
        <p:nvGrpSpPr>
          <p:cNvPr id="16" name="Group 15">
            <a:extLst>
              <a:ext uri="{FF2B5EF4-FFF2-40B4-BE49-F238E27FC236}">
                <a16:creationId xmlns:a16="http://schemas.microsoft.com/office/drawing/2014/main" id="{25D5AED9-C083-4D0E-A9FA-C3E56F59D5D8}"/>
              </a:ext>
            </a:extLst>
          </p:cNvPr>
          <p:cNvGrpSpPr/>
          <p:nvPr/>
        </p:nvGrpSpPr>
        <p:grpSpPr>
          <a:xfrm>
            <a:off x="473867" y="1078182"/>
            <a:ext cx="11110697" cy="5436811"/>
            <a:chOff x="925983" y="1166059"/>
            <a:chExt cx="10291956" cy="5036175"/>
          </a:xfrm>
        </p:grpSpPr>
        <p:sp>
          <p:nvSpPr>
            <p:cNvPr id="212" name="Rectangle 211">
              <a:extLst>
                <a:ext uri="{FF2B5EF4-FFF2-40B4-BE49-F238E27FC236}">
                  <a16:creationId xmlns:a16="http://schemas.microsoft.com/office/drawing/2014/main" id="{31E65CE0-6804-492B-A588-BA691717E7AB}"/>
                </a:ext>
              </a:extLst>
            </p:cNvPr>
            <p:cNvSpPr/>
            <p:nvPr/>
          </p:nvSpPr>
          <p:spPr>
            <a:xfrm>
              <a:off x="8636661" y="1506946"/>
              <a:ext cx="2570226" cy="1644365"/>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3" name="Rectangle 212">
              <a:extLst>
                <a:ext uri="{FF2B5EF4-FFF2-40B4-BE49-F238E27FC236}">
                  <a16:creationId xmlns:a16="http://schemas.microsoft.com/office/drawing/2014/main" id="{E86B1333-EB69-474C-8E10-7BFA3402804E}"/>
                </a:ext>
              </a:extLst>
            </p:cNvPr>
            <p:cNvSpPr/>
            <p:nvPr/>
          </p:nvSpPr>
          <p:spPr>
            <a:xfrm>
              <a:off x="6066436" y="1500960"/>
              <a:ext cx="2570226" cy="1650351"/>
            </a:xfrm>
            <a:prstGeom prst="rect">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4" name="Isosceles Triangle 213">
              <a:extLst>
                <a:ext uri="{FF2B5EF4-FFF2-40B4-BE49-F238E27FC236}">
                  <a16:creationId xmlns:a16="http://schemas.microsoft.com/office/drawing/2014/main" id="{43FF9FC4-B112-40D1-84D4-39DCDC1067D4}"/>
                </a:ext>
              </a:extLst>
            </p:cNvPr>
            <p:cNvSpPr/>
            <p:nvPr/>
          </p:nvSpPr>
          <p:spPr>
            <a:xfrm rot="5400000">
              <a:off x="8467457" y="2264419"/>
              <a:ext cx="729078" cy="390674"/>
            </a:xfrm>
            <a:prstGeom prst="triangle">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5" name="Rectangle 214">
              <a:extLst>
                <a:ext uri="{FF2B5EF4-FFF2-40B4-BE49-F238E27FC236}">
                  <a16:creationId xmlns:a16="http://schemas.microsoft.com/office/drawing/2014/main" id="{D4496E78-34CA-4604-8C3E-FB6985BE2701}"/>
                </a:ext>
              </a:extLst>
            </p:cNvPr>
            <p:cNvSpPr/>
            <p:nvPr/>
          </p:nvSpPr>
          <p:spPr>
            <a:xfrm>
              <a:off x="3496209" y="1506946"/>
              <a:ext cx="2570226" cy="1650351"/>
            </a:xfrm>
            <a:prstGeom prst="rect">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6" name="Isosceles Triangle 215">
              <a:extLst>
                <a:ext uri="{FF2B5EF4-FFF2-40B4-BE49-F238E27FC236}">
                  <a16:creationId xmlns:a16="http://schemas.microsoft.com/office/drawing/2014/main" id="{62E9C063-3D3C-4949-8B97-F3F7A9D8C174}"/>
                </a:ext>
              </a:extLst>
            </p:cNvPr>
            <p:cNvSpPr/>
            <p:nvPr/>
          </p:nvSpPr>
          <p:spPr>
            <a:xfrm rot="5400000">
              <a:off x="5897231" y="2264419"/>
              <a:ext cx="729078" cy="390674"/>
            </a:xfrm>
            <a:prstGeom prst="triangle">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7" name="Rectangle 216">
              <a:extLst>
                <a:ext uri="{FF2B5EF4-FFF2-40B4-BE49-F238E27FC236}">
                  <a16:creationId xmlns:a16="http://schemas.microsoft.com/office/drawing/2014/main" id="{08F58987-E864-4694-B07F-209B38051C31}"/>
                </a:ext>
              </a:extLst>
            </p:cNvPr>
            <p:cNvSpPr/>
            <p:nvPr/>
          </p:nvSpPr>
          <p:spPr>
            <a:xfrm>
              <a:off x="937036" y="1506945"/>
              <a:ext cx="2570226" cy="1644366"/>
            </a:xfrm>
            <a:prstGeom prst="rect">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218" name="Isosceles Triangle 217">
              <a:extLst>
                <a:ext uri="{FF2B5EF4-FFF2-40B4-BE49-F238E27FC236}">
                  <a16:creationId xmlns:a16="http://schemas.microsoft.com/office/drawing/2014/main" id="{CED82B1B-C55B-494D-A558-BF69FF1384E1}"/>
                </a:ext>
              </a:extLst>
            </p:cNvPr>
            <p:cNvSpPr/>
            <p:nvPr/>
          </p:nvSpPr>
          <p:spPr>
            <a:xfrm rot="5400000">
              <a:off x="3338060" y="2264419"/>
              <a:ext cx="729078" cy="390674"/>
            </a:xfrm>
            <a:prstGeom prst="triangle">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err="1">
                <a:solidFill>
                  <a:schemeClr val="tx1"/>
                </a:solidFill>
              </a:endParaRPr>
            </a:p>
          </p:txBody>
        </p:sp>
        <p:sp>
          <p:nvSpPr>
            <p:cNvPr id="9" name="Oval 8">
              <a:extLst>
                <a:ext uri="{FF2B5EF4-FFF2-40B4-BE49-F238E27FC236}">
                  <a16:creationId xmlns:a16="http://schemas.microsoft.com/office/drawing/2014/main" id="{DC26DA10-49DE-4D82-AF59-134A0E8BE1FB}"/>
                </a:ext>
              </a:extLst>
            </p:cNvPr>
            <p:cNvSpPr/>
            <p:nvPr/>
          </p:nvSpPr>
          <p:spPr>
            <a:xfrm>
              <a:off x="1591578"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3" name="Oval 112">
              <a:extLst>
                <a:ext uri="{FF2B5EF4-FFF2-40B4-BE49-F238E27FC236}">
                  <a16:creationId xmlns:a16="http://schemas.microsoft.com/office/drawing/2014/main" id="{C2FE6F92-16A3-43B3-B018-528DCBD8FF95}"/>
                </a:ext>
              </a:extLst>
            </p:cNvPr>
            <p:cNvSpPr/>
            <p:nvPr/>
          </p:nvSpPr>
          <p:spPr>
            <a:xfrm>
              <a:off x="9345773"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4" name="Oval 113">
              <a:extLst>
                <a:ext uri="{FF2B5EF4-FFF2-40B4-BE49-F238E27FC236}">
                  <a16:creationId xmlns:a16="http://schemas.microsoft.com/office/drawing/2014/main" id="{08FCEE1C-0710-415E-94F4-54BFD64235BB}"/>
                </a:ext>
              </a:extLst>
            </p:cNvPr>
            <p:cNvSpPr/>
            <p:nvPr/>
          </p:nvSpPr>
          <p:spPr>
            <a:xfrm>
              <a:off x="6970883" y="1822257"/>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15" name="Oval 114">
              <a:extLst>
                <a:ext uri="{FF2B5EF4-FFF2-40B4-BE49-F238E27FC236}">
                  <a16:creationId xmlns:a16="http://schemas.microsoft.com/office/drawing/2014/main" id="{474BCF10-4A53-40F2-8BDC-1E5C4229D620}"/>
                </a:ext>
              </a:extLst>
            </p:cNvPr>
            <p:cNvSpPr/>
            <p:nvPr/>
          </p:nvSpPr>
          <p:spPr>
            <a:xfrm>
              <a:off x="4262513" y="1824769"/>
              <a:ext cx="1152000" cy="115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0" name="TextBox 9">
              <a:extLst>
                <a:ext uri="{FF2B5EF4-FFF2-40B4-BE49-F238E27FC236}">
                  <a16:creationId xmlns:a16="http://schemas.microsoft.com/office/drawing/2014/main" id="{DBA21441-BCE5-47B9-95EC-8FACEAEF9B48}"/>
                </a:ext>
              </a:extLst>
            </p:cNvPr>
            <p:cNvSpPr txBox="1"/>
            <p:nvPr/>
          </p:nvSpPr>
          <p:spPr>
            <a:xfrm>
              <a:off x="1419614" y="1361440"/>
              <a:ext cx="1505266" cy="313606"/>
            </a:xfrm>
            <a:prstGeom prst="rect">
              <a:avLst/>
            </a:prstGeom>
            <a:solidFill>
              <a:schemeClr val="bg1"/>
            </a:solidFill>
            <a:ln>
              <a:solidFill>
                <a:schemeClr val="tx2"/>
              </a:solidFill>
            </a:ln>
          </p:spPr>
          <p:txBody>
            <a:bodyPr wrap="square" rtlCol="0">
              <a:spAutoFit/>
            </a:bodyPr>
            <a:lstStyle/>
            <a:p>
              <a:pPr algn="ctr"/>
              <a:r>
                <a:rPr lang="en-IN" sz="1600" b="1" dirty="0"/>
                <a:t>CHANNELS</a:t>
              </a:r>
            </a:p>
          </p:txBody>
        </p:sp>
        <p:sp>
          <p:nvSpPr>
            <p:cNvPr id="117" name="TextBox 116">
              <a:extLst>
                <a:ext uri="{FF2B5EF4-FFF2-40B4-BE49-F238E27FC236}">
                  <a16:creationId xmlns:a16="http://schemas.microsoft.com/office/drawing/2014/main" id="{C9C6B77C-CF3F-41E6-B49A-F4BCEB5A4237}"/>
                </a:ext>
              </a:extLst>
            </p:cNvPr>
            <p:cNvSpPr txBox="1"/>
            <p:nvPr/>
          </p:nvSpPr>
          <p:spPr>
            <a:xfrm>
              <a:off x="4085880" y="1166059"/>
              <a:ext cx="1505266" cy="541683"/>
            </a:xfrm>
            <a:prstGeom prst="rect">
              <a:avLst/>
            </a:prstGeom>
            <a:solidFill>
              <a:schemeClr val="bg1"/>
            </a:solidFill>
            <a:ln>
              <a:solidFill>
                <a:srgbClr val="D6DCE5"/>
              </a:solidFill>
            </a:ln>
          </p:spPr>
          <p:txBody>
            <a:bodyPr wrap="square" rtlCol="0">
              <a:spAutoFit/>
            </a:bodyPr>
            <a:lstStyle/>
            <a:p>
              <a:pPr algn="ctr"/>
              <a:r>
                <a:rPr lang="en-IN" sz="1600" b="1" dirty="0"/>
                <a:t>PARTNER MANAGEMENT</a:t>
              </a:r>
            </a:p>
          </p:txBody>
        </p:sp>
        <p:sp>
          <p:nvSpPr>
            <p:cNvPr id="118" name="TextBox 117">
              <a:extLst>
                <a:ext uri="{FF2B5EF4-FFF2-40B4-BE49-F238E27FC236}">
                  <a16:creationId xmlns:a16="http://schemas.microsoft.com/office/drawing/2014/main" id="{C80EDC63-DB24-4798-A227-0D450D4CD617}"/>
                </a:ext>
              </a:extLst>
            </p:cNvPr>
            <p:cNvSpPr txBox="1"/>
            <p:nvPr/>
          </p:nvSpPr>
          <p:spPr>
            <a:xfrm>
              <a:off x="6733319" y="1166059"/>
              <a:ext cx="1505266" cy="541683"/>
            </a:xfrm>
            <a:prstGeom prst="rect">
              <a:avLst/>
            </a:prstGeom>
            <a:solidFill>
              <a:schemeClr val="bg1"/>
            </a:solidFill>
            <a:ln>
              <a:solidFill>
                <a:srgbClr val="A6A6A6"/>
              </a:solidFill>
            </a:ln>
          </p:spPr>
          <p:txBody>
            <a:bodyPr wrap="square" rtlCol="0">
              <a:spAutoFit/>
            </a:bodyPr>
            <a:lstStyle/>
            <a:p>
              <a:pPr algn="ctr"/>
              <a:r>
                <a:rPr lang="en-IN" sz="1600" b="1" dirty="0"/>
                <a:t>PERCEPTION MANAGEMENT</a:t>
              </a:r>
            </a:p>
          </p:txBody>
        </p:sp>
        <p:sp>
          <p:nvSpPr>
            <p:cNvPr id="119" name="TextBox 118">
              <a:extLst>
                <a:ext uri="{FF2B5EF4-FFF2-40B4-BE49-F238E27FC236}">
                  <a16:creationId xmlns:a16="http://schemas.microsoft.com/office/drawing/2014/main" id="{D74CDB59-39C5-4499-A832-B588006C32BA}"/>
                </a:ext>
              </a:extLst>
            </p:cNvPr>
            <p:cNvSpPr txBox="1"/>
            <p:nvPr/>
          </p:nvSpPr>
          <p:spPr>
            <a:xfrm>
              <a:off x="9221688" y="1166059"/>
              <a:ext cx="1505266" cy="541683"/>
            </a:xfrm>
            <a:prstGeom prst="rect">
              <a:avLst/>
            </a:prstGeom>
            <a:solidFill>
              <a:schemeClr val="bg1"/>
            </a:solidFill>
            <a:ln>
              <a:solidFill>
                <a:srgbClr val="F2F2F2"/>
              </a:solidFill>
            </a:ln>
          </p:spPr>
          <p:txBody>
            <a:bodyPr wrap="square" rtlCol="0">
              <a:spAutoFit/>
            </a:bodyPr>
            <a:lstStyle/>
            <a:p>
              <a:pPr algn="ctr"/>
              <a:r>
                <a:rPr lang="en-IN" sz="1600" b="1" dirty="0"/>
                <a:t>SENTIMENT MANAGEMENT</a:t>
              </a:r>
            </a:p>
          </p:txBody>
        </p:sp>
        <p:pic>
          <p:nvPicPr>
            <p:cNvPr id="4" name="Picture 2">
              <a:extLst>
                <a:ext uri="{FF2B5EF4-FFF2-40B4-BE49-F238E27FC236}">
                  <a16:creationId xmlns:a16="http://schemas.microsoft.com/office/drawing/2014/main" id="{93A06C6A-5A7C-449C-BE1E-7FEF202E4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731" y="1955101"/>
              <a:ext cx="1601613" cy="90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663B9D-D8BF-4E5E-A7DA-26188D8FF161}"/>
                </a:ext>
              </a:extLst>
            </p:cNvPr>
            <p:cNvSpPr txBox="1"/>
            <p:nvPr/>
          </p:nvSpPr>
          <p:spPr>
            <a:xfrm>
              <a:off x="3781787" y="3241380"/>
              <a:ext cx="1999069" cy="313606"/>
            </a:xfrm>
            <a:prstGeom prst="rect">
              <a:avLst/>
            </a:prstGeom>
            <a:noFill/>
          </p:spPr>
          <p:txBody>
            <a:bodyPr wrap="square" rtlCol="0">
              <a:spAutoFit/>
            </a:bodyPr>
            <a:lstStyle/>
            <a:p>
              <a:pPr algn="ctr"/>
              <a:r>
                <a:rPr lang="en-GB" sz="1600" b="1" dirty="0">
                  <a:solidFill>
                    <a:schemeClr val="bg1"/>
                  </a:solidFill>
                </a:rPr>
                <a:t>Regulatory Compliance</a:t>
              </a:r>
            </a:p>
          </p:txBody>
        </p:sp>
        <p:sp>
          <p:nvSpPr>
            <p:cNvPr id="6" name="TextBox 5">
              <a:extLst>
                <a:ext uri="{FF2B5EF4-FFF2-40B4-BE49-F238E27FC236}">
                  <a16:creationId xmlns:a16="http://schemas.microsoft.com/office/drawing/2014/main" id="{20E5960A-954D-44A0-989A-0B064060A675}"/>
                </a:ext>
              </a:extLst>
            </p:cNvPr>
            <p:cNvSpPr txBox="1"/>
            <p:nvPr/>
          </p:nvSpPr>
          <p:spPr>
            <a:xfrm>
              <a:off x="6457108" y="3241380"/>
              <a:ext cx="1788882" cy="541683"/>
            </a:xfrm>
            <a:prstGeom prst="rect">
              <a:avLst/>
            </a:prstGeom>
            <a:noFill/>
          </p:spPr>
          <p:txBody>
            <a:bodyPr wrap="square" rtlCol="0">
              <a:spAutoFit/>
            </a:bodyPr>
            <a:lstStyle/>
            <a:p>
              <a:pPr algn="ctr"/>
              <a:r>
                <a:rPr lang="en-GB" sz="1600" b="1" dirty="0">
                  <a:solidFill>
                    <a:schemeClr val="bg1"/>
                  </a:solidFill>
                </a:rPr>
                <a:t>Effectiveness and Efficiency</a:t>
              </a:r>
            </a:p>
          </p:txBody>
        </p:sp>
        <p:sp>
          <p:nvSpPr>
            <p:cNvPr id="7" name="TextBox 6">
              <a:extLst>
                <a:ext uri="{FF2B5EF4-FFF2-40B4-BE49-F238E27FC236}">
                  <a16:creationId xmlns:a16="http://schemas.microsoft.com/office/drawing/2014/main" id="{9DECBEDC-68EA-4D03-9D35-8176E0EDED01}"/>
                </a:ext>
              </a:extLst>
            </p:cNvPr>
            <p:cNvSpPr txBox="1"/>
            <p:nvPr/>
          </p:nvSpPr>
          <p:spPr>
            <a:xfrm>
              <a:off x="9027334" y="3241380"/>
              <a:ext cx="1893974" cy="541683"/>
            </a:xfrm>
            <a:prstGeom prst="rect">
              <a:avLst/>
            </a:prstGeom>
            <a:noFill/>
          </p:spPr>
          <p:txBody>
            <a:bodyPr wrap="square" rtlCol="0">
              <a:spAutoFit/>
            </a:bodyPr>
            <a:lstStyle/>
            <a:p>
              <a:pPr algn="ctr"/>
              <a:r>
                <a:rPr lang="en-GB" sz="1600" b="1" dirty="0">
                  <a:solidFill>
                    <a:schemeClr val="bg1"/>
                  </a:solidFill>
                </a:rPr>
                <a:t>Environmental Protection</a:t>
              </a:r>
            </a:p>
          </p:txBody>
        </p:sp>
        <p:sp>
          <p:nvSpPr>
            <p:cNvPr id="8" name="Rectangle 7">
              <a:extLst>
                <a:ext uri="{FF2B5EF4-FFF2-40B4-BE49-F238E27FC236}">
                  <a16:creationId xmlns:a16="http://schemas.microsoft.com/office/drawing/2014/main" id="{60CC86FE-55A0-4FE1-BDFD-5786C9874CA0}"/>
                </a:ext>
              </a:extLst>
            </p:cNvPr>
            <p:cNvSpPr/>
            <p:nvPr/>
          </p:nvSpPr>
          <p:spPr>
            <a:xfrm>
              <a:off x="925983" y="3921126"/>
              <a:ext cx="10280903" cy="49261"/>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dirty="0" err="1">
                <a:solidFill>
                  <a:schemeClr val="tx1"/>
                </a:solidFill>
              </a:endParaRPr>
            </a:p>
          </p:txBody>
        </p:sp>
        <p:sp>
          <p:nvSpPr>
            <p:cNvPr id="11" name="Rectangle 10">
              <a:extLst>
                <a:ext uri="{FF2B5EF4-FFF2-40B4-BE49-F238E27FC236}">
                  <a16:creationId xmlns:a16="http://schemas.microsoft.com/office/drawing/2014/main" id="{4084E979-3E03-46F7-8520-FAC69AEB7893}"/>
                </a:ext>
              </a:extLst>
            </p:cNvPr>
            <p:cNvSpPr/>
            <p:nvPr/>
          </p:nvSpPr>
          <p:spPr>
            <a:xfrm>
              <a:off x="3496209" y="3970386"/>
              <a:ext cx="2570226" cy="22318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Complying with across-government and </a:t>
              </a:r>
            </a:p>
            <a:p>
              <a:pPr algn="ctr"/>
              <a:r>
                <a:rPr lang="en-GB" sz="1400" dirty="0">
                  <a:solidFill>
                    <a:schemeClr val="bg1"/>
                  </a:solidFill>
                </a:rPr>
                <a:t>GPO requirements </a:t>
              </a:r>
            </a:p>
            <a:p>
              <a:pPr algn="ctr"/>
              <a:r>
                <a:rPr lang="en-GB" sz="1400" dirty="0">
                  <a:solidFill>
                    <a:schemeClr val="bg1"/>
                  </a:solidFill>
                </a:rPr>
                <a:t>regarding asset </a:t>
              </a:r>
            </a:p>
            <a:p>
              <a:pPr algn="ctr"/>
              <a:r>
                <a:rPr lang="en-GB" sz="1400" dirty="0">
                  <a:solidFill>
                    <a:schemeClr val="bg1"/>
                  </a:solidFill>
                </a:rPr>
                <a:t>management</a:t>
              </a:r>
            </a:p>
          </p:txBody>
        </p:sp>
        <p:sp>
          <p:nvSpPr>
            <p:cNvPr id="12" name="Rectangle 11">
              <a:extLst>
                <a:ext uri="{FF2B5EF4-FFF2-40B4-BE49-F238E27FC236}">
                  <a16:creationId xmlns:a16="http://schemas.microsoft.com/office/drawing/2014/main" id="{0C901779-87B8-4B33-906C-909C4A75F926}"/>
                </a:ext>
              </a:extLst>
            </p:cNvPr>
            <p:cNvSpPr/>
            <p:nvPr/>
          </p:nvSpPr>
          <p:spPr>
            <a:xfrm>
              <a:off x="937036" y="3214709"/>
              <a:ext cx="2570226" cy="2977720"/>
            </a:xfrm>
            <a:prstGeom prst="rect">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bg1"/>
                </a:solidFill>
              </a:endParaRPr>
            </a:p>
            <a:p>
              <a:r>
                <a:rPr lang="en-GB" sz="1600" b="1" dirty="0">
                  <a:solidFill>
                    <a:schemeClr val="bg1"/>
                  </a:solidFill>
                </a:rPr>
                <a:t>1. PHYSICAL-</a:t>
              </a:r>
            </a:p>
            <a:p>
              <a:pPr marL="447675" lvl="1" indent="-265113">
                <a:buFont typeface="Arial" panose="020B0604020202020204" pitchFamily="34" charset="0"/>
                <a:buChar char="•"/>
              </a:pPr>
              <a:r>
                <a:rPr lang="en-GB" sz="1600" dirty="0">
                  <a:solidFill>
                    <a:schemeClr val="bg1"/>
                  </a:solidFill>
                </a:rPr>
                <a:t>On-ground team to facilitate partnership with garages </a:t>
              </a:r>
            </a:p>
            <a:p>
              <a:pPr marL="447675" indent="-447675"/>
              <a:endParaRPr lang="en-GB" sz="1600" dirty="0">
                <a:solidFill>
                  <a:schemeClr val="bg1"/>
                </a:solidFill>
              </a:endParaRPr>
            </a:p>
            <a:p>
              <a:pPr marL="447675" indent="-447675"/>
              <a:r>
                <a:rPr lang="en-GB" sz="1600" b="1" dirty="0">
                  <a:solidFill>
                    <a:schemeClr val="bg1"/>
                  </a:solidFill>
                </a:rPr>
                <a:t>2. ONLINE</a:t>
              </a:r>
            </a:p>
            <a:p>
              <a:pPr marL="447675" lvl="1" indent="-265113">
                <a:buFont typeface="Arial" panose="020B0604020202020204" pitchFamily="34" charset="0"/>
                <a:buChar char="•"/>
              </a:pPr>
              <a:r>
                <a:rPr lang="en-GB" sz="1600" dirty="0">
                  <a:solidFill>
                    <a:schemeClr val="bg1"/>
                  </a:solidFill>
                </a:rPr>
                <a:t>Application</a:t>
              </a:r>
            </a:p>
            <a:p>
              <a:pPr marL="447675" lvl="1" indent="-265113">
                <a:buFont typeface="Arial" panose="020B0604020202020204" pitchFamily="34" charset="0"/>
                <a:buChar char="•"/>
              </a:pPr>
              <a:r>
                <a:rPr lang="en-GB" sz="1600" dirty="0">
                  <a:solidFill>
                    <a:schemeClr val="bg1"/>
                  </a:solidFill>
                </a:rPr>
                <a:t>Web browser</a:t>
              </a:r>
            </a:p>
            <a:p>
              <a:pPr marL="447675" lvl="1" indent="-265113">
                <a:buFont typeface="Arial" panose="020B0604020202020204" pitchFamily="34" charset="0"/>
                <a:buChar char="•"/>
              </a:pPr>
              <a:endParaRPr lang="en-GB" sz="1600" dirty="0">
                <a:solidFill>
                  <a:schemeClr val="bg1"/>
                </a:solidFill>
              </a:endParaRPr>
            </a:p>
            <a:p>
              <a:pPr marL="447675" indent="-447675"/>
              <a:r>
                <a:rPr lang="en-GB" sz="1600" b="1" dirty="0">
                  <a:solidFill>
                    <a:schemeClr val="bg1"/>
                  </a:solidFill>
                </a:rPr>
                <a:t>3. TELEPHONIC</a:t>
              </a:r>
            </a:p>
            <a:p>
              <a:pPr marL="447675" lvl="1" indent="-265113">
                <a:buFont typeface="Arial" panose="020B0604020202020204" pitchFamily="34" charset="0"/>
                <a:buChar char="•"/>
              </a:pPr>
              <a:r>
                <a:rPr lang="en-GB" sz="1600" dirty="0">
                  <a:solidFill>
                    <a:schemeClr val="bg1"/>
                  </a:solidFill>
                </a:rPr>
                <a:t>Helpline/Assistance</a:t>
              </a:r>
            </a:p>
            <a:p>
              <a:endParaRPr lang="en-GB" sz="1600" dirty="0">
                <a:solidFill>
                  <a:schemeClr val="bg1"/>
                </a:solidFill>
              </a:endParaRPr>
            </a:p>
            <a:p>
              <a:pPr marL="742937" lvl="1" indent="-285750">
                <a:buFont typeface="Arial" panose="020B0604020202020204" pitchFamily="34" charset="0"/>
                <a:buChar char="•"/>
              </a:pPr>
              <a:endParaRPr lang="en-GB" sz="1600" dirty="0">
                <a:solidFill>
                  <a:schemeClr val="bg1"/>
                </a:solidFill>
              </a:endParaRPr>
            </a:p>
          </p:txBody>
        </p:sp>
        <p:sp>
          <p:nvSpPr>
            <p:cNvPr id="13" name="Rectangle 12">
              <a:extLst>
                <a:ext uri="{FF2B5EF4-FFF2-40B4-BE49-F238E27FC236}">
                  <a16:creationId xmlns:a16="http://schemas.microsoft.com/office/drawing/2014/main" id="{CBACC280-3C6C-4BA5-9A2F-BA29B01E63D0}"/>
                </a:ext>
              </a:extLst>
            </p:cNvPr>
            <p:cNvSpPr/>
            <p:nvPr/>
          </p:nvSpPr>
          <p:spPr>
            <a:xfrm>
              <a:off x="3496208" y="3213626"/>
              <a:ext cx="2570226" cy="2977720"/>
            </a:xfrm>
            <a:prstGeom prst="rect">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tx1"/>
                  </a:solidFill>
                </a:rPr>
                <a:t>1. BUSINESS</a:t>
              </a:r>
            </a:p>
            <a:p>
              <a:pPr marL="447675" lvl="1" indent="-265113">
                <a:buFont typeface="Arial" panose="020B0604020202020204" pitchFamily="34" charset="0"/>
                <a:buChar char="•"/>
              </a:pPr>
              <a:r>
                <a:rPr lang="en-GB" sz="1600" dirty="0">
                  <a:solidFill>
                    <a:schemeClr val="tx1"/>
                  </a:solidFill>
                </a:rPr>
                <a:t>Best quality spare parts/ </a:t>
              </a:r>
              <a:r>
                <a:rPr lang="en-GB" sz="1600">
                  <a:solidFill>
                    <a:schemeClr val="tx1"/>
                  </a:solidFill>
                </a:rPr>
                <a:t>other resources </a:t>
              </a:r>
              <a:r>
                <a:rPr lang="en-GB" sz="1600" dirty="0">
                  <a:solidFill>
                    <a:schemeClr val="tx1"/>
                  </a:solidFill>
                </a:rPr>
                <a:t>to </a:t>
              </a:r>
              <a:r>
                <a:rPr lang="en-GB" sz="1600">
                  <a:solidFill>
                    <a:schemeClr val="tx1"/>
                  </a:solidFill>
                </a:rPr>
                <a:t>all partners</a:t>
              </a:r>
              <a:endParaRPr lang="en-GB" sz="1600" dirty="0">
                <a:solidFill>
                  <a:schemeClr val="tx1"/>
                </a:solidFill>
              </a:endParaRPr>
            </a:p>
            <a:p>
              <a:pPr marL="447675" lvl="1" indent="-265113">
                <a:buFont typeface="Arial" panose="020B0604020202020204" pitchFamily="34" charset="0"/>
                <a:buChar char="•"/>
              </a:pPr>
              <a:r>
                <a:rPr lang="en-GB" sz="1600" dirty="0">
                  <a:solidFill>
                    <a:schemeClr val="tx1"/>
                  </a:solidFill>
                </a:rPr>
                <a:t>Assistance in marketing activities and platforms</a:t>
              </a:r>
            </a:p>
            <a:p>
              <a:pPr marL="742937" lvl="1" indent="-285750">
                <a:buFont typeface="Arial" panose="020B0604020202020204" pitchFamily="34" charset="0"/>
                <a:buChar char="•"/>
              </a:pPr>
              <a:endParaRPr lang="en-GB" sz="1600" dirty="0">
                <a:solidFill>
                  <a:schemeClr val="tx1"/>
                </a:solidFill>
              </a:endParaRPr>
            </a:p>
            <a:p>
              <a:r>
                <a:rPr lang="en-GB" sz="1600" b="1" dirty="0">
                  <a:solidFill>
                    <a:schemeClr val="tx1"/>
                  </a:solidFill>
                </a:rPr>
                <a:t>2. EVENTS</a:t>
              </a:r>
            </a:p>
            <a:p>
              <a:pPr marL="447675" lvl="1" indent="-265113">
                <a:buFont typeface="Arial" panose="020B0604020202020204" pitchFamily="34" charset="0"/>
                <a:buChar char="•"/>
              </a:pPr>
              <a:r>
                <a:rPr lang="en-GB" sz="1600" dirty="0">
                  <a:solidFill>
                    <a:schemeClr val="tx1"/>
                  </a:solidFill>
                </a:rPr>
                <a:t>City meets for partner garages for knowledge sharing and</a:t>
              </a:r>
              <a:r>
                <a:rPr lang="en-GB" sz="1600">
                  <a:solidFill>
                    <a:schemeClr val="tx1"/>
                  </a:solidFill>
                </a:rPr>
                <a:t> networking</a:t>
              </a:r>
              <a:endParaRPr lang="en-GB" sz="1600" dirty="0">
                <a:solidFill>
                  <a:schemeClr val="tx1"/>
                </a:solidFill>
              </a:endParaRPr>
            </a:p>
            <a:p>
              <a:pPr marL="742937" lvl="1" indent="-285750">
                <a:buFont typeface="Arial" panose="020B0604020202020204" pitchFamily="34" charset="0"/>
                <a:buChar char="•"/>
              </a:pPr>
              <a:endParaRPr lang="en-GB" sz="1600" dirty="0">
                <a:solidFill>
                  <a:schemeClr val="tx1"/>
                </a:solidFill>
              </a:endParaRPr>
            </a:p>
          </p:txBody>
        </p:sp>
        <p:sp>
          <p:nvSpPr>
            <p:cNvPr id="14" name="Rectangle 13">
              <a:extLst>
                <a:ext uri="{FF2B5EF4-FFF2-40B4-BE49-F238E27FC236}">
                  <a16:creationId xmlns:a16="http://schemas.microsoft.com/office/drawing/2014/main" id="{61711950-8DB9-4FAB-8099-DA2BFF7DB839}"/>
                </a:ext>
              </a:extLst>
            </p:cNvPr>
            <p:cNvSpPr/>
            <p:nvPr/>
          </p:nvSpPr>
          <p:spPr>
            <a:xfrm>
              <a:off x="6077487" y="3213626"/>
              <a:ext cx="2570226" cy="2977720"/>
            </a:xfrm>
            <a:prstGeom prst="rect">
              <a:avLst/>
            </a:prstGeom>
            <a:solidFill>
              <a:srgbClr val="A6A6A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bg1"/>
                  </a:solidFill>
                </a:rPr>
                <a:t>1. UPSKILLING WORKFORCE</a:t>
              </a:r>
            </a:p>
            <a:p>
              <a:pPr marL="447675" lvl="1" indent="-265113">
                <a:buFont typeface="Arial" panose="020B0604020202020204" pitchFamily="34" charset="0"/>
                <a:buChar char="•"/>
              </a:pPr>
              <a:r>
                <a:rPr lang="en-GB" sz="1600">
                  <a:solidFill>
                    <a:schemeClr val="bg1"/>
                  </a:solidFill>
                </a:rPr>
                <a:t>Standard uniforms </a:t>
              </a:r>
              <a:r>
                <a:rPr lang="en-GB" sz="1600" dirty="0">
                  <a:solidFill>
                    <a:schemeClr val="bg1"/>
                  </a:solidFill>
                </a:rPr>
                <a:t>for all customer touchpoints</a:t>
              </a:r>
            </a:p>
            <a:p>
              <a:pPr marL="447675" lvl="1" indent="-265113">
                <a:buFont typeface="Arial" panose="020B0604020202020204" pitchFamily="34" charset="0"/>
                <a:buChar char="•"/>
              </a:pPr>
              <a:r>
                <a:rPr lang="en-GB" sz="1600" dirty="0">
                  <a:solidFill>
                    <a:schemeClr val="bg1"/>
                  </a:solidFill>
                </a:rPr>
                <a:t>Regular training and information of </a:t>
              </a:r>
              <a:r>
                <a:rPr lang="en-GB" sz="1600">
                  <a:solidFill>
                    <a:schemeClr val="bg1"/>
                  </a:solidFill>
                </a:rPr>
                <a:t>quality standards</a:t>
              </a:r>
            </a:p>
            <a:p>
              <a:pPr marL="447675" lvl="1" indent="-265113">
                <a:buFont typeface="Arial" panose="020B0604020202020204" pitchFamily="34" charset="0"/>
                <a:buChar char="•"/>
              </a:pPr>
              <a:r>
                <a:rPr lang="en-GB" sz="1600" dirty="0">
                  <a:solidFill>
                    <a:schemeClr val="bg1"/>
                  </a:solidFill>
                </a:rPr>
                <a:t>Special training on professionalism and customer handling</a:t>
              </a:r>
            </a:p>
            <a:p>
              <a:pPr marL="742937" lvl="1" indent="-285750">
                <a:buFont typeface="Arial" panose="020B0604020202020204" pitchFamily="34" charset="0"/>
                <a:buChar char="•"/>
              </a:pPr>
              <a:endParaRPr lang="en-GB" sz="1600" dirty="0">
                <a:solidFill>
                  <a:schemeClr val="bg1"/>
                </a:solidFill>
              </a:endParaRPr>
            </a:p>
            <a:p>
              <a:r>
                <a:rPr lang="en-GB" sz="1600" b="1" dirty="0">
                  <a:solidFill>
                    <a:schemeClr val="bg1"/>
                  </a:solidFill>
                </a:rPr>
                <a:t>2. INCENTIVISING WORD OF MOUTH</a:t>
              </a:r>
            </a:p>
          </p:txBody>
        </p:sp>
        <p:sp>
          <p:nvSpPr>
            <p:cNvPr id="15" name="Rectangle 14">
              <a:extLst>
                <a:ext uri="{FF2B5EF4-FFF2-40B4-BE49-F238E27FC236}">
                  <a16:creationId xmlns:a16="http://schemas.microsoft.com/office/drawing/2014/main" id="{576811D9-D49C-476B-95A1-1CABC4AEB455}"/>
                </a:ext>
              </a:extLst>
            </p:cNvPr>
            <p:cNvSpPr/>
            <p:nvPr/>
          </p:nvSpPr>
          <p:spPr>
            <a:xfrm>
              <a:off x="8647713" y="3213626"/>
              <a:ext cx="2570226" cy="297772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sz="1600" dirty="0">
                <a:solidFill>
                  <a:schemeClr val="tx1"/>
                </a:solidFill>
              </a:endParaRPr>
            </a:p>
            <a:p>
              <a:r>
                <a:rPr lang="en-GB" sz="1600" b="1" dirty="0">
                  <a:solidFill>
                    <a:schemeClr val="tx1"/>
                  </a:solidFill>
                </a:rPr>
                <a:t>1. COVID RELIEF</a:t>
              </a:r>
            </a:p>
            <a:p>
              <a:pPr marL="447675" lvl="1" indent="-265113">
                <a:buFont typeface="Arial" panose="020B0604020202020204" pitchFamily="34" charset="0"/>
                <a:buChar char="•"/>
              </a:pPr>
              <a:r>
                <a:rPr lang="en-GB" sz="1600" dirty="0">
                  <a:solidFill>
                    <a:schemeClr val="tx1"/>
                  </a:solidFill>
                </a:rPr>
                <a:t>Emergency monetary support to partners</a:t>
              </a:r>
            </a:p>
            <a:p>
              <a:pPr marL="447675" lvl="1" indent="-265113">
                <a:buFont typeface="Arial" panose="020B0604020202020204" pitchFamily="34" charset="0"/>
                <a:buChar char="•"/>
              </a:pPr>
              <a:r>
                <a:rPr lang="en-GB" sz="1600" dirty="0">
                  <a:solidFill>
                    <a:schemeClr val="tx1"/>
                  </a:solidFill>
                </a:rPr>
                <a:t>Minimum basic salaries in non-operational services</a:t>
              </a:r>
            </a:p>
            <a:p>
              <a:pPr marL="447675" lvl="1" indent="-265113">
                <a:buFont typeface="Arial" panose="020B0604020202020204" pitchFamily="34" charset="0"/>
                <a:buChar char="•"/>
              </a:pPr>
              <a:r>
                <a:rPr lang="en-GB" sz="1600" dirty="0">
                  <a:solidFill>
                    <a:schemeClr val="tx1"/>
                  </a:solidFill>
                </a:rPr>
                <a:t>Assurance of continuity of service post pandemic</a:t>
              </a:r>
            </a:p>
            <a:p>
              <a:r>
                <a:rPr lang="en-GB" sz="1600" b="1" dirty="0">
                  <a:solidFill>
                    <a:schemeClr val="tx1"/>
                  </a:solidFill>
                </a:rPr>
                <a:t>2. BRANDING</a:t>
              </a:r>
            </a:p>
            <a:p>
              <a:pPr marL="447675" lvl="1" indent="-265113">
                <a:buFont typeface="Arial" panose="020B0604020202020204" pitchFamily="34" charset="0"/>
                <a:buChar char="•"/>
              </a:pPr>
              <a:r>
                <a:rPr lang="en-GB" sz="1600" dirty="0">
                  <a:solidFill>
                    <a:schemeClr val="tx1"/>
                  </a:solidFill>
                </a:rPr>
                <a:t>Facilitate internal branding of partners by annual all partners meetings</a:t>
              </a:r>
            </a:p>
            <a:p>
              <a:endParaRPr lang="en-GB" sz="1600" b="1" dirty="0">
                <a:solidFill>
                  <a:schemeClr val="tx1"/>
                </a:solidFill>
              </a:endParaRPr>
            </a:p>
          </p:txBody>
        </p:sp>
        <p:pic>
          <p:nvPicPr>
            <p:cNvPr id="2050" name="Picture 2">
              <a:extLst>
                <a:ext uri="{FF2B5EF4-FFF2-40B4-BE49-F238E27FC236}">
                  <a16:creationId xmlns:a16="http://schemas.microsoft.com/office/drawing/2014/main" id="{64BB4060-C41D-4393-AE8E-76DD00C5A41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961" b="89844" l="4102" r="91211">
                          <a14:foregroundMark x1="7227" y1="31445" x2="9180" y2="41211"/>
                          <a14:foregroundMark x1="9180" y1="41211" x2="11914" y2="42578"/>
                          <a14:foregroundMark x1="5273" y1="34766" x2="4102" y2="38672"/>
                          <a14:foregroundMark x1="91211" y1="33398" x2="91211" y2="39258"/>
                          <a14:foregroundMark x1="44531" y1="52930" x2="56055" y2="58789"/>
                        </a14:backgroundRemoval>
                      </a14:imgEffect>
                    </a14:imgLayer>
                  </a14:imgProps>
                </a:ext>
                <a:ext uri="{28A0092B-C50C-407E-A947-70E740481C1C}">
                  <a14:useLocalDpi xmlns:a14="http://schemas.microsoft.com/office/drawing/2010/main" val="0"/>
                </a:ext>
              </a:extLst>
            </a:blip>
            <a:srcRect/>
            <a:stretch>
              <a:fillRect/>
            </a:stretch>
          </p:blipFill>
          <p:spPr bwMode="auto">
            <a:xfrm>
              <a:off x="4387406" y="1949108"/>
              <a:ext cx="1008000" cy="1008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E207444-9382-4EE1-B6D2-9AFE3EADCEA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3176" b="61373" l="33796" r="68519">
                          <a14:foregroundMark x1="43147" y1="37768" x2="44444" y2="37768"/>
                          <a14:foregroundMark x1="36574" y1="37768" x2="37485" y2="37768"/>
                          <a14:foregroundMark x1="54167" y1="34764" x2="54167" y2="38197"/>
                          <a14:foregroundMark x1="48611" y1="24034" x2="54009" y2="23796"/>
                          <a14:foregroundMark x1="54167" y1="61373" x2="63889" y2="60086"/>
                          <a14:foregroundMark x1="45000" y1="35622" x2="47685" y2="35622"/>
                          <a14:foregroundMark x1="39352" y1="36052" x2="46296" y2="36052"/>
                          <a14:foregroundMark x1="36574" y1="35622" x2="44444" y2="36481"/>
                          <a14:foregroundMark x1="38889" y1="36910" x2="45370" y2="36910"/>
                          <a14:foregroundMark x1="39815" y1="35622" x2="47222" y2="36481"/>
                          <a14:foregroundMark x1="45370" y1="32618" x2="49034" y2="30580"/>
                          <a14:foregroundMark x1="48148" y1="33047" x2="49537" y2="40773"/>
                          <a14:foregroundMark x1="37500" y1="39056" x2="54630" y2="31760"/>
                          <a14:foregroundMark x1="56944" y1="31760" x2="51389" y2="40343"/>
                          <a14:backgroundMark x1="55093" y1="22318" x2="59722" y2="22747"/>
                        </a14:backgroundRemoval>
                      </a14:imgEffect>
                    </a14:imgLayer>
                  </a14:imgProps>
                </a:ext>
                <a:ext uri="{28A0092B-C50C-407E-A947-70E740481C1C}">
                  <a14:useLocalDpi xmlns:a14="http://schemas.microsoft.com/office/drawing/2010/main" val="0"/>
                </a:ext>
              </a:extLst>
            </a:blip>
            <a:srcRect l="30112" t="21032" r="27002" b="35736"/>
            <a:stretch/>
          </p:blipFill>
          <p:spPr bwMode="auto">
            <a:xfrm>
              <a:off x="7105710" y="1953858"/>
              <a:ext cx="882346" cy="83700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ed image">
              <a:extLst>
                <a:ext uri="{FF2B5EF4-FFF2-40B4-BE49-F238E27FC236}">
                  <a16:creationId xmlns:a16="http://schemas.microsoft.com/office/drawing/2014/main" id="{D2C6DB7F-50F2-4C9D-9A10-45E7A7DE3660}"/>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7240" b="93213" l="10000" r="90000">
                          <a14:foregroundMark x1="44643" y1="7843" x2="55952" y2="8899"/>
                          <a14:foregroundMark x1="43929" y1="91101" x2="51071" y2="89593"/>
                          <a14:foregroundMark x1="51071" y1="89593" x2="60952" y2="89744"/>
                          <a14:foregroundMark x1="46667" y1="93816" x2="52857" y2="93363"/>
                          <a14:foregroundMark x1="52857" y1="93363" x2="54286" y2="93363"/>
                          <a14:foregroundMark x1="45714" y1="7240" x2="56429" y2="7994"/>
                        </a14:backgroundRemoval>
                      </a14:imgEffect>
                    </a14:imgLayer>
                  </a14:imgProps>
                </a:ext>
                <a:ext uri="{28A0092B-C50C-407E-A947-70E740481C1C}">
                  <a14:useLocalDpi xmlns:a14="http://schemas.microsoft.com/office/drawing/2010/main" val="0"/>
                </a:ext>
              </a:extLst>
            </a:blip>
            <a:srcRect/>
            <a:stretch>
              <a:fillRect/>
            </a:stretch>
          </p:blipFill>
          <p:spPr bwMode="auto">
            <a:xfrm>
              <a:off x="9351637" y="1943775"/>
              <a:ext cx="1140271" cy="900000"/>
            </a:xfrm>
            <a:prstGeom prst="rect">
              <a:avLst/>
            </a:prstGeom>
            <a:noFill/>
            <a:extLst>
              <a:ext uri="{909E8E84-426E-40DD-AFC4-6F175D3DCCD1}">
                <a14:hiddenFill xmlns:a14="http://schemas.microsoft.com/office/drawing/2010/main">
                  <a:solidFill>
                    <a:srgbClr val="FFFFFF"/>
                  </a:solidFill>
                </a14:hiddenFill>
              </a:ext>
            </a:extLst>
          </p:spPr>
        </p:pic>
      </p:grpSp>
      <p:sp>
        <p:nvSpPr>
          <p:cNvPr id="51" name="Rectangle: Top Corners Rounded 50">
            <a:extLst>
              <a:ext uri="{FF2B5EF4-FFF2-40B4-BE49-F238E27FC236}">
                <a16:creationId xmlns:a16="http://schemas.microsoft.com/office/drawing/2014/main" id="{6FE765C7-57A7-4AD2-834E-BF4F25B689B4}"/>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53" name="Rectangle: Top Corners Rounded 52">
            <a:extLst>
              <a:ext uri="{FF2B5EF4-FFF2-40B4-BE49-F238E27FC236}">
                <a16:creationId xmlns:a16="http://schemas.microsoft.com/office/drawing/2014/main" id="{FC34ABB3-106E-4AD2-B13D-9432FFB0239A}"/>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55" name="Rectangle: Top Corners Rounded 54">
            <a:extLst>
              <a:ext uri="{FF2B5EF4-FFF2-40B4-BE49-F238E27FC236}">
                <a16:creationId xmlns:a16="http://schemas.microsoft.com/office/drawing/2014/main" id="{DF20E031-9B95-4836-8FB9-A47693238A4C}"/>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57" name="Rectangle: Top Corners Rounded 56">
            <a:extLst>
              <a:ext uri="{FF2B5EF4-FFF2-40B4-BE49-F238E27FC236}">
                <a16:creationId xmlns:a16="http://schemas.microsoft.com/office/drawing/2014/main" id="{D3C284FD-B28B-43B3-9CCF-9E7E83F357CA}"/>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59" name="Arrow: Chevron 58">
            <a:extLst>
              <a:ext uri="{FF2B5EF4-FFF2-40B4-BE49-F238E27FC236}">
                <a16:creationId xmlns:a16="http://schemas.microsoft.com/office/drawing/2014/main" id="{759655F0-DD3C-4B7A-8633-A777625B3651}"/>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1" name="Arrow: Chevron 60">
            <a:extLst>
              <a:ext uri="{FF2B5EF4-FFF2-40B4-BE49-F238E27FC236}">
                <a16:creationId xmlns:a16="http://schemas.microsoft.com/office/drawing/2014/main" id="{218B8956-38E7-40FB-8764-5B2EBB91A5A0}"/>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3" name="Arrow: Chevron 62">
            <a:extLst>
              <a:ext uri="{FF2B5EF4-FFF2-40B4-BE49-F238E27FC236}">
                <a16:creationId xmlns:a16="http://schemas.microsoft.com/office/drawing/2014/main" id="{26684ED3-52C3-4FE6-AE9A-5EE0B05A8912}"/>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5" name="Rectangle: Top Corners Rounded 64">
            <a:extLst>
              <a:ext uri="{FF2B5EF4-FFF2-40B4-BE49-F238E27FC236}">
                <a16:creationId xmlns:a16="http://schemas.microsoft.com/office/drawing/2014/main" id="{6ACB75F9-BB64-4E5F-A2A9-2657ABF7DC72}"/>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66" name="Rectangle: Top Corners Rounded 65">
            <a:extLst>
              <a:ext uri="{FF2B5EF4-FFF2-40B4-BE49-F238E27FC236}">
                <a16:creationId xmlns:a16="http://schemas.microsoft.com/office/drawing/2014/main" id="{F14A4087-01DC-45D8-BC7C-C1D16D703708}"/>
              </a:ext>
            </a:extLst>
          </p:cNvPr>
          <p:cNvSpPr/>
          <p:nvPr/>
        </p:nvSpPr>
        <p:spPr>
          <a:xfrm rot="5400000">
            <a:off x="3783504" y="-495289"/>
            <a:ext cx="180301"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67" name="Rectangle: Top Corners Rounded 66">
            <a:extLst>
              <a:ext uri="{FF2B5EF4-FFF2-40B4-BE49-F238E27FC236}">
                <a16:creationId xmlns:a16="http://schemas.microsoft.com/office/drawing/2014/main" id="{0DD15051-46F3-4F4D-8DD1-690A53BDDF83}"/>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68" name="Rectangle: Top Corners Rounded 67">
            <a:extLst>
              <a:ext uri="{FF2B5EF4-FFF2-40B4-BE49-F238E27FC236}">
                <a16:creationId xmlns:a16="http://schemas.microsoft.com/office/drawing/2014/main" id="{DA1661D0-4AE1-4671-839D-A5F5148A8C73}"/>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70" name="Arrow: Chevron 69">
            <a:extLst>
              <a:ext uri="{FF2B5EF4-FFF2-40B4-BE49-F238E27FC236}">
                <a16:creationId xmlns:a16="http://schemas.microsoft.com/office/drawing/2014/main" id="{39321F15-AA61-467B-AD95-FF4676D075C9}"/>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2" name="Arrow: Chevron 71">
            <a:extLst>
              <a:ext uri="{FF2B5EF4-FFF2-40B4-BE49-F238E27FC236}">
                <a16:creationId xmlns:a16="http://schemas.microsoft.com/office/drawing/2014/main" id="{54F94BBC-A17E-4B6B-813A-66011CD23136}"/>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4" name="Arrow: Chevron 73">
            <a:extLst>
              <a:ext uri="{FF2B5EF4-FFF2-40B4-BE49-F238E27FC236}">
                <a16:creationId xmlns:a16="http://schemas.microsoft.com/office/drawing/2014/main" id="{7AA83863-AEA3-4E55-929A-F5A67A59F1A1}"/>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6" name="Rectangle: Top Corners Rounded 75">
            <a:extLst>
              <a:ext uri="{FF2B5EF4-FFF2-40B4-BE49-F238E27FC236}">
                <a16:creationId xmlns:a16="http://schemas.microsoft.com/office/drawing/2014/main" id="{739E4262-5A3B-4E8F-AEA3-BDDD3A967F62}"/>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100" name="Arrow: Chevron 99">
            <a:extLst>
              <a:ext uri="{FF2B5EF4-FFF2-40B4-BE49-F238E27FC236}">
                <a16:creationId xmlns:a16="http://schemas.microsoft.com/office/drawing/2014/main" id="{37315820-AABA-4E30-9010-02C292302DCC}"/>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2" name="Arrow: Chevron 101">
            <a:extLst>
              <a:ext uri="{FF2B5EF4-FFF2-40B4-BE49-F238E27FC236}">
                <a16:creationId xmlns:a16="http://schemas.microsoft.com/office/drawing/2014/main" id="{45D36392-919B-4B98-A596-A3E0F999EF33}"/>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TextBox 59">
            <a:extLst>
              <a:ext uri="{FF2B5EF4-FFF2-40B4-BE49-F238E27FC236}">
                <a16:creationId xmlns:a16="http://schemas.microsoft.com/office/drawing/2014/main" id="{ACFBEBB6-73F4-400A-8408-D059F60948BE}"/>
              </a:ext>
            </a:extLst>
          </p:cNvPr>
          <p:cNvSpPr txBox="1"/>
          <p:nvPr/>
        </p:nvSpPr>
        <p:spPr>
          <a:xfrm>
            <a:off x="11824981" y="6573307"/>
            <a:ext cx="242374" cy="230832"/>
          </a:xfrm>
          <a:prstGeom prst="rect">
            <a:avLst/>
          </a:prstGeom>
          <a:noFill/>
        </p:spPr>
        <p:txBody>
          <a:bodyPr wrap="none" rtlCol="0">
            <a:spAutoFit/>
          </a:bodyPr>
          <a:lstStyle/>
          <a:p>
            <a:r>
              <a:rPr lang="en-GB" sz="900" dirty="0"/>
              <a:t>8</a:t>
            </a:r>
            <a:endParaRPr lang="en-GB" dirty="0"/>
          </a:p>
        </p:txBody>
      </p:sp>
    </p:spTree>
    <p:extLst>
      <p:ext uri="{BB962C8B-B14F-4D97-AF65-F5344CB8AC3E}">
        <p14:creationId xmlns:p14="http://schemas.microsoft.com/office/powerpoint/2010/main" val="3198286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0CAEFB2D-58C3-422A-AFA2-042243DA36AC}"/>
              </a:ext>
            </a:extLst>
          </p:cNvPr>
          <p:cNvSpPr/>
          <p:nvPr/>
        </p:nvSpPr>
        <p:spPr>
          <a:xfrm>
            <a:off x="259445" y="1584960"/>
            <a:ext cx="1222399" cy="146669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bject 4">
            <a:extLst>
              <a:ext uri="{FF2B5EF4-FFF2-40B4-BE49-F238E27FC236}">
                <a16:creationId xmlns:a16="http://schemas.microsoft.com/office/drawing/2014/main" id="{A25779B6-6118-4B97-A56E-B93461A561D8}"/>
              </a:ext>
            </a:extLst>
          </p:cNvPr>
          <p:cNvSpPr txBox="1"/>
          <p:nvPr/>
        </p:nvSpPr>
        <p:spPr>
          <a:xfrm>
            <a:off x="258748" y="2174006"/>
            <a:ext cx="1222399" cy="369332"/>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NEED AND DISCOVERY</a:t>
            </a:r>
            <a:endParaRPr sz="1200" b="1" dirty="0">
              <a:solidFill>
                <a:schemeClr val="bg1"/>
              </a:solidFill>
              <a:latin typeface="Tw Cen MT"/>
              <a:cs typeface="Tw Cen MT"/>
            </a:endParaRPr>
          </a:p>
        </p:txBody>
      </p:sp>
      <p:sp>
        <p:nvSpPr>
          <p:cNvPr id="182" name="object 4">
            <a:extLst>
              <a:ext uri="{FF2B5EF4-FFF2-40B4-BE49-F238E27FC236}">
                <a16:creationId xmlns:a16="http://schemas.microsoft.com/office/drawing/2014/main" id="{2191EAF1-BEA8-4969-9DDD-50CFEF2BEBEE}"/>
              </a:ext>
            </a:extLst>
          </p:cNvPr>
          <p:cNvSpPr txBox="1"/>
          <p:nvPr/>
        </p:nvSpPr>
        <p:spPr>
          <a:xfrm>
            <a:off x="258862" y="4302811"/>
            <a:ext cx="1222399" cy="369332"/>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SERVICE</a:t>
            </a:r>
          </a:p>
          <a:p>
            <a:pPr marL="12700" algn="ctr"/>
            <a:r>
              <a:rPr lang="en-IN" sz="1200" b="1" dirty="0">
                <a:solidFill>
                  <a:schemeClr val="bg1"/>
                </a:solidFill>
                <a:latin typeface="Tw Cen MT"/>
                <a:cs typeface="Tw Cen MT"/>
              </a:rPr>
              <a:t>FULFILLMENT</a:t>
            </a:r>
            <a:endParaRPr sz="1200" b="1" dirty="0">
              <a:solidFill>
                <a:schemeClr val="bg1"/>
              </a:solidFill>
              <a:latin typeface="Tw Cen MT"/>
              <a:cs typeface="Tw Cen MT"/>
            </a:endParaRPr>
          </a:p>
        </p:txBody>
      </p:sp>
      <p:sp>
        <p:nvSpPr>
          <p:cNvPr id="135" name="Rectangle 134">
            <a:extLst>
              <a:ext uri="{FF2B5EF4-FFF2-40B4-BE49-F238E27FC236}">
                <a16:creationId xmlns:a16="http://schemas.microsoft.com/office/drawing/2014/main" id="{AB29F173-A5BC-4B22-B323-B8F82F481DC9}"/>
              </a:ext>
            </a:extLst>
          </p:cNvPr>
          <p:cNvSpPr/>
          <p:nvPr/>
        </p:nvSpPr>
        <p:spPr>
          <a:xfrm>
            <a:off x="1622931" y="1611469"/>
            <a:ext cx="2431463" cy="1440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endParaRPr lang="en-US" sz="1100" dirty="0">
              <a:solidFill>
                <a:schemeClr val="tx1"/>
              </a:solidFill>
            </a:endParaRPr>
          </a:p>
        </p:txBody>
      </p:sp>
      <p:sp>
        <p:nvSpPr>
          <p:cNvPr id="222" name="Rectangle 221">
            <a:extLst>
              <a:ext uri="{FF2B5EF4-FFF2-40B4-BE49-F238E27FC236}">
                <a16:creationId xmlns:a16="http://schemas.microsoft.com/office/drawing/2014/main" id="{F1E114DC-6294-4878-BB39-8896D5FA7D7D}"/>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Rectangle 262">
            <a:extLst>
              <a:ext uri="{FF2B5EF4-FFF2-40B4-BE49-F238E27FC236}">
                <a16:creationId xmlns:a16="http://schemas.microsoft.com/office/drawing/2014/main" id="{60961931-D0F6-4D02-A41F-CA8E6F0C7F88}"/>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Guerrilla marketing can be used to further increase the reach and recallability </a:t>
            </a:r>
          </a:p>
        </p:txBody>
      </p:sp>
      <p:sp>
        <p:nvSpPr>
          <p:cNvPr id="294" name="TextBox 293">
            <a:extLst>
              <a:ext uri="{FF2B5EF4-FFF2-40B4-BE49-F238E27FC236}">
                <a16:creationId xmlns:a16="http://schemas.microsoft.com/office/drawing/2014/main" id="{93D18DC5-D852-4AEA-AE53-1CE27A799584}"/>
              </a:ext>
            </a:extLst>
          </p:cNvPr>
          <p:cNvSpPr txBox="1"/>
          <p:nvPr/>
        </p:nvSpPr>
        <p:spPr>
          <a:xfrm>
            <a:off x="0" y="6596820"/>
            <a:ext cx="5734192" cy="215444"/>
          </a:xfrm>
          <a:prstGeom prst="rect">
            <a:avLst/>
          </a:prstGeom>
          <a:noFill/>
        </p:spPr>
        <p:txBody>
          <a:bodyPr wrap="square" rtlCol="0">
            <a:spAutoFit/>
          </a:bodyPr>
          <a:lstStyle/>
          <a:p>
            <a:r>
              <a:rPr lang="en-GB" sz="800" i="1" dirty="0"/>
              <a:t> Sources: </a:t>
            </a:r>
            <a:r>
              <a:rPr lang="en-GB" sz="800" i="1" dirty="0" err="1"/>
              <a:t>AdHitch</a:t>
            </a:r>
            <a:r>
              <a:rPr lang="en-GB" sz="800" i="1" dirty="0"/>
              <a:t>, Desktop research, University of </a:t>
            </a:r>
            <a:r>
              <a:rPr lang="en-GB" sz="800" i="1" dirty="0" err="1"/>
              <a:t>Loyla</a:t>
            </a:r>
            <a:r>
              <a:rPr lang="en-GB" sz="800" i="1" dirty="0"/>
              <a:t>, Internal analysis</a:t>
            </a:r>
          </a:p>
        </p:txBody>
      </p:sp>
      <p:grpSp>
        <p:nvGrpSpPr>
          <p:cNvPr id="209" name="Group 208">
            <a:extLst>
              <a:ext uri="{FF2B5EF4-FFF2-40B4-BE49-F238E27FC236}">
                <a16:creationId xmlns:a16="http://schemas.microsoft.com/office/drawing/2014/main" id="{0DC755E7-FF87-431B-AE9C-1B196451AD8C}"/>
              </a:ext>
            </a:extLst>
          </p:cNvPr>
          <p:cNvGrpSpPr/>
          <p:nvPr/>
        </p:nvGrpSpPr>
        <p:grpSpPr>
          <a:xfrm>
            <a:off x="65515" y="52817"/>
            <a:ext cx="307865" cy="238659"/>
            <a:chOff x="12605240" y="-37073"/>
            <a:chExt cx="6681054" cy="5179185"/>
          </a:xfrm>
          <a:solidFill>
            <a:srgbClr val="00162F"/>
          </a:solidFill>
        </p:grpSpPr>
        <p:sp>
          <p:nvSpPr>
            <p:cNvPr id="210" name="Rectangle 209">
              <a:extLst>
                <a:ext uri="{FF2B5EF4-FFF2-40B4-BE49-F238E27FC236}">
                  <a16:creationId xmlns:a16="http://schemas.microsoft.com/office/drawing/2014/main" id="{2BD71EDB-995A-4744-81D3-BF7ADC7104C6}"/>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11" name="Rectangle 210">
              <a:extLst>
                <a:ext uri="{FF2B5EF4-FFF2-40B4-BE49-F238E27FC236}">
                  <a16:creationId xmlns:a16="http://schemas.microsoft.com/office/drawing/2014/main" id="{75443E74-97A8-4D0E-877E-6515DC0CC78B}"/>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12" name="Rectangle 211">
              <a:extLst>
                <a:ext uri="{FF2B5EF4-FFF2-40B4-BE49-F238E27FC236}">
                  <a16:creationId xmlns:a16="http://schemas.microsoft.com/office/drawing/2014/main" id="{A9E7D6EC-F54E-4DF5-8194-91F974F4EEBB}"/>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13" name="Rectangle 212">
              <a:extLst>
                <a:ext uri="{FF2B5EF4-FFF2-40B4-BE49-F238E27FC236}">
                  <a16:creationId xmlns:a16="http://schemas.microsoft.com/office/drawing/2014/main" id="{E75900A2-4638-44EA-A5F5-ADE643B58F29}"/>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214" name="Rectangle 213">
              <a:extLst>
                <a:ext uri="{FF2B5EF4-FFF2-40B4-BE49-F238E27FC236}">
                  <a16:creationId xmlns:a16="http://schemas.microsoft.com/office/drawing/2014/main" id="{0D9DDE04-DBE1-494C-9A6F-DF3BE9391340}"/>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15" name="Rectangle 214">
              <a:extLst>
                <a:ext uri="{FF2B5EF4-FFF2-40B4-BE49-F238E27FC236}">
                  <a16:creationId xmlns:a16="http://schemas.microsoft.com/office/drawing/2014/main" id="{925836C3-3894-4CC3-9F3B-FF2620B028D1}"/>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16" name="Rectangle 215">
              <a:extLst>
                <a:ext uri="{FF2B5EF4-FFF2-40B4-BE49-F238E27FC236}">
                  <a16:creationId xmlns:a16="http://schemas.microsoft.com/office/drawing/2014/main" id="{591B3B0B-4945-430A-8278-22B1C28350F0}"/>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217" name="Isosceles Triangle 216">
              <a:extLst>
                <a:ext uri="{FF2B5EF4-FFF2-40B4-BE49-F238E27FC236}">
                  <a16:creationId xmlns:a16="http://schemas.microsoft.com/office/drawing/2014/main" id="{3BE7F311-6F89-4A90-A3A9-F63F9BA0994A}"/>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218" name="Rectangle: Top Corners Rounded 217">
            <a:extLst>
              <a:ext uri="{FF2B5EF4-FFF2-40B4-BE49-F238E27FC236}">
                <a16:creationId xmlns:a16="http://schemas.microsoft.com/office/drawing/2014/main" id="{DEF46541-B958-4063-9AAA-3441C0DDC9D5}"/>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219" name="Rectangle: Top Corners Rounded 218">
            <a:extLst>
              <a:ext uri="{FF2B5EF4-FFF2-40B4-BE49-F238E27FC236}">
                <a16:creationId xmlns:a16="http://schemas.microsoft.com/office/drawing/2014/main" id="{219EF8ED-7E98-44C9-B9E8-CA40BB2CBED7}"/>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220" name="Rectangle: Top Corners Rounded 219">
            <a:extLst>
              <a:ext uri="{FF2B5EF4-FFF2-40B4-BE49-F238E27FC236}">
                <a16:creationId xmlns:a16="http://schemas.microsoft.com/office/drawing/2014/main" id="{B1E3F698-01BD-4405-9192-139EB8AF538B}"/>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221" name="Rectangle: Top Corners Rounded 220">
            <a:extLst>
              <a:ext uri="{FF2B5EF4-FFF2-40B4-BE49-F238E27FC236}">
                <a16:creationId xmlns:a16="http://schemas.microsoft.com/office/drawing/2014/main" id="{B4E77F46-1292-4399-A811-CFCD494A2131}"/>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224" name="Arrow: Chevron 223">
            <a:extLst>
              <a:ext uri="{FF2B5EF4-FFF2-40B4-BE49-F238E27FC236}">
                <a16:creationId xmlns:a16="http://schemas.microsoft.com/office/drawing/2014/main" id="{A0CA3E8C-3958-4D8B-BA49-1BB6B2AB02A5}"/>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5" name="Arrow: Chevron 224">
            <a:extLst>
              <a:ext uri="{FF2B5EF4-FFF2-40B4-BE49-F238E27FC236}">
                <a16:creationId xmlns:a16="http://schemas.microsoft.com/office/drawing/2014/main" id="{6117644E-8EA0-4C8A-90E6-4F56A08EEF54}"/>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6" name="Arrow: Chevron 225">
            <a:extLst>
              <a:ext uri="{FF2B5EF4-FFF2-40B4-BE49-F238E27FC236}">
                <a16:creationId xmlns:a16="http://schemas.microsoft.com/office/drawing/2014/main" id="{C6D1C5FC-B9E9-4D9D-AE5B-F0B24F8F05E9}"/>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7" name="Rectangle: Top Corners Rounded 226">
            <a:extLst>
              <a:ext uri="{FF2B5EF4-FFF2-40B4-BE49-F238E27FC236}">
                <a16:creationId xmlns:a16="http://schemas.microsoft.com/office/drawing/2014/main" id="{6C52464B-1A6E-4883-92EB-624435188EF3}"/>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228" name="Rectangle: Top Corners Rounded 227">
            <a:extLst>
              <a:ext uri="{FF2B5EF4-FFF2-40B4-BE49-F238E27FC236}">
                <a16:creationId xmlns:a16="http://schemas.microsoft.com/office/drawing/2014/main" id="{FBED3FB8-28BD-4D55-BD43-E815AE2BF042}"/>
              </a:ext>
            </a:extLst>
          </p:cNvPr>
          <p:cNvSpPr/>
          <p:nvPr/>
        </p:nvSpPr>
        <p:spPr>
          <a:xfrm rot="5400000">
            <a:off x="3783504" y="-495289"/>
            <a:ext cx="180301"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229" name="Rectangle: Top Corners Rounded 228">
            <a:extLst>
              <a:ext uri="{FF2B5EF4-FFF2-40B4-BE49-F238E27FC236}">
                <a16:creationId xmlns:a16="http://schemas.microsoft.com/office/drawing/2014/main" id="{EDE92F84-8FFE-460E-BAA8-23A3D9D6A29D}"/>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30" name="Rectangle: Top Corners Rounded 229">
            <a:extLst>
              <a:ext uri="{FF2B5EF4-FFF2-40B4-BE49-F238E27FC236}">
                <a16:creationId xmlns:a16="http://schemas.microsoft.com/office/drawing/2014/main" id="{760FA4B4-29D3-4084-9FDC-9FEB8275F41F}"/>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231" name="Arrow: Chevron 230">
            <a:extLst>
              <a:ext uri="{FF2B5EF4-FFF2-40B4-BE49-F238E27FC236}">
                <a16:creationId xmlns:a16="http://schemas.microsoft.com/office/drawing/2014/main" id="{38EA2C3D-4B65-4AD3-9254-033529FD67A3}"/>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2" name="Arrow: Chevron 231">
            <a:extLst>
              <a:ext uri="{FF2B5EF4-FFF2-40B4-BE49-F238E27FC236}">
                <a16:creationId xmlns:a16="http://schemas.microsoft.com/office/drawing/2014/main" id="{0C1DFB16-39B0-42DE-B3F5-C415431E4C1F}"/>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3" name="Arrow: Chevron 232">
            <a:extLst>
              <a:ext uri="{FF2B5EF4-FFF2-40B4-BE49-F238E27FC236}">
                <a16:creationId xmlns:a16="http://schemas.microsoft.com/office/drawing/2014/main" id="{4CC41FAD-3EE4-4783-B5C3-872BCE60DDD1}"/>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3" name="Rectangle: Top Corners Rounded 242">
            <a:extLst>
              <a:ext uri="{FF2B5EF4-FFF2-40B4-BE49-F238E27FC236}">
                <a16:creationId xmlns:a16="http://schemas.microsoft.com/office/drawing/2014/main" id="{B51227EF-3698-4838-A595-C6D296570C67}"/>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244" name="Arrow: Chevron 243">
            <a:extLst>
              <a:ext uri="{FF2B5EF4-FFF2-40B4-BE49-F238E27FC236}">
                <a16:creationId xmlns:a16="http://schemas.microsoft.com/office/drawing/2014/main" id="{9ED0E798-AE9B-4DD2-8D80-98A0F0F547AD}"/>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6" name="Arrow: Chevron 245">
            <a:extLst>
              <a:ext uri="{FF2B5EF4-FFF2-40B4-BE49-F238E27FC236}">
                <a16:creationId xmlns:a16="http://schemas.microsoft.com/office/drawing/2014/main" id="{468A8D5D-AC12-4602-8EB7-A5E913355E7E}"/>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8" name="Rectangle 247">
            <a:extLst>
              <a:ext uri="{FF2B5EF4-FFF2-40B4-BE49-F238E27FC236}">
                <a16:creationId xmlns:a16="http://schemas.microsoft.com/office/drawing/2014/main" id="{8DE0D9A6-629F-46ED-B71D-C4ACCD6792A8}"/>
              </a:ext>
            </a:extLst>
          </p:cNvPr>
          <p:cNvSpPr/>
          <p:nvPr/>
        </p:nvSpPr>
        <p:spPr>
          <a:xfrm>
            <a:off x="4275312" y="1619513"/>
            <a:ext cx="2431463" cy="1440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endParaRPr lang="en-US" sz="1100" dirty="0">
              <a:solidFill>
                <a:schemeClr val="tx1"/>
              </a:solidFill>
            </a:endParaRPr>
          </a:p>
        </p:txBody>
      </p:sp>
      <p:sp>
        <p:nvSpPr>
          <p:cNvPr id="249" name="Rectangle 248">
            <a:extLst>
              <a:ext uri="{FF2B5EF4-FFF2-40B4-BE49-F238E27FC236}">
                <a16:creationId xmlns:a16="http://schemas.microsoft.com/office/drawing/2014/main" id="{F1F99C42-9291-4905-96FE-BF3B3F9CA300}"/>
              </a:ext>
            </a:extLst>
          </p:cNvPr>
          <p:cNvSpPr/>
          <p:nvPr/>
        </p:nvSpPr>
        <p:spPr>
          <a:xfrm>
            <a:off x="6927693" y="1627557"/>
            <a:ext cx="2431463" cy="1440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endParaRPr lang="en-US" sz="1100" dirty="0">
              <a:solidFill>
                <a:schemeClr val="tx1"/>
              </a:solidFill>
            </a:endParaRPr>
          </a:p>
        </p:txBody>
      </p:sp>
      <p:sp>
        <p:nvSpPr>
          <p:cNvPr id="250" name="Rectangle 249">
            <a:extLst>
              <a:ext uri="{FF2B5EF4-FFF2-40B4-BE49-F238E27FC236}">
                <a16:creationId xmlns:a16="http://schemas.microsoft.com/office/drawing/2014/main" id="{CCB2CC21-5672-4A93-817D-3BE65D5C7875}"/>
              </a:ext>
            </a:extLst>
          </p:cNvPr>
          <p:cNvSpPr/>
          <p:nvPr/>
        </p:nvSpPr>
        <p:spPr>
          <a:xfrm>
            <a:off x="9580074" y="1635601"/>
            <a:ext cx="2431463" cy="1440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endParaRPr lang="en-US" sz="1100" dirty="0">
              <a:solidFill>
                <a:schemeClr val="tx1"/>
              </a:solidFill>
            </a:endParaRPr>
          </a:p>
        </p:txBody>
      </p:sp>
      <p:sp>
        <p:nvSpPr>
          <p:cNvPr id="251" name="Rectangle 250">
            <a:extLst>
              <a:ext uri="{FF2B5EF4-FFF2-40B4-BE49-F238E27FC236}">
                <a16:creationId xmlns:a16="http://schemas.microsoft.com/office/drawing/2014/main" id="{235D0CBB-490C-47F5-8652-A473DD832A95}"/>
              </a:ext>
            </a:extLst>
          </p:cNvPr>
          <p:cNvSpPr/>
          <p:nvPr/>
        </p:nvSpPr>
        <p:spPr>
          <a:xfrm>
            <a:off x="257987" y="4043756"/>
            <a:ext cx="1225374" cy="105382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Rectangle 253">
            <a:extLst>
              <a:ext uri="{FF2B5EF4-FFF2-40B4-BE49-F238E27FC236}">
                <a16:creationId xmlns:a16="http://schemas.microsoft.com/office/drawing/2014/main" id="{E0A79303-F963-4FD4-A30F-10DF09347AC8}"/>
              </a:ext>
            </a:extLst>
          </p:cNvPr>
          <p:cNvSpPr/>
          <p:nvPr/>
        </p:nvSpPr>
        <p:spPr>
          <a:xfrm>
            <a:off x="258747" y="3158353"/>
            <a:ext cx="1222399" cy="8176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Rectangle 254">
            <a:extLst>
              <a:ext uri="{FF2B5EF4-FFF2-40B4-BE49-F238E27FC236}">
                <a16:creationId xmlns:a16="http://schemas.microsoft.com/office/drawing/2014/main" id="{030A2C8C-805A-417E-96A6-58355DC25813}"/>
              </a:ext>
            </a:extLst>
          </p:cNvPr>
          <p:cNvSpPr/>
          <p:nvPr/>
        </p:nvSpPr>
        <p:spPr>
          <a:xfrm>
            <a:off x="258281" y="5180795"/>
            <a:ext cx="1225373" cy="105382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Rectangle 256">
            <a:extLst>
              <a:ext uri="{FF2B5EF4-FFF2-40B4-BE49-F238E27FC236}">
                <a16:creationId xmlns:a16="http://schemas.microsoft.com/office/drawing/2014/main" id="{C5392663-8E63-446F-B96B-9F13FA9E6D13}"/>
              </a:ext>
            </a:extLst>
          </p:cNvPr>
          <p:cNvSpPr/>
          <p:nvPr/>
        </p:nvSpPr>
        <p:spPr>
          <a:xfrm>
            <a:off x="1617888" y="3162006"/>
            <a:ext cx="2431463" cy="8128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Witty stickers on bumpers, rims, windshields etc. attract attention in parking slots and traffic jams</a:t>
            </a:r>
          </a:p>
        </p:txBody>
      </p:sp>
      <p:sp>
        <p:nvSpPr>
          <p:cNvPr id="258" name="Rectangle 257">
            <a:extLst>
              <a:ext uri="{FF2B5EF4-FFF2-40B4-BE49-F238E27FC236}">
                <a16:creationId xmlns:a16="http://schemas.microsoft.com/office/drawing/2014/main" id="{F6C3C369-6052-4005-9C6B-5AA13B1ACA37}"/>
              </a:ext>
            </a:extLst>
          </p:cNvPr>
          <p:cNvSpPr/>
          <p:nvPr/>
        </p:nvSpPr>
        <p:spPr>
          <a:xfrm>
            <a:off x="1622929" y="4056609"/>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100" dirty="0">
                <a:solidFill>
                  <a:schemeClr val="tx1"/>
                </a:solidFill>
              </a:rPr>
              <a:t>Mobile marketing- 2.5x more effective than static </a:t>
            </a:r>
          </a:p>
          <a:p>
            <a:pPr marL="171450" indent="-171450">
              <a:buFont typeface="Arial" panose="020B0604020202020204" pitchFamily="34" charset="0"/>
              <a:buChar char="•"/>
            </a:pPr>
            <a:r>
              <a:rPr lang="en-US" sz="1100" dirty="0">
                <a:solidFill>
                  <a:schemeClr val="tx1"/>
                </a:solidFill>
              </a:rPr>
              <a:t>Brand identity and visibility – directly to target audience</a:t>
            </a:r>
          </a:p>
          <a:p>
            <a:pPr marL="171450" indent="-171450">
              <a:buFont typeface="Arial" panose="020B0604020202020204" pitchFamily="34" charset="0"/>
              <a:buChar char="•"/>
            </a:pPr>
            <a:r>
              <a:rPr lang="en-US" sz="1100" dirty="0">
                <a:solidFill>
                  <a:schemeClr val="tx1"/>
                </a:solidFill>
              </a:rPr>
              <a:t>Versatile, cheap and creative</a:t>
            </a:r>
          </a:p>
        </p:txBody>
      </p:sp>
      <p:sp>
        <p:nvSpPr>
          <p:cNvPr id="259" name="Rectangle 258">
            <a:extLst>
              <a:ext uri="{FF2B5EF4-FFF2-40B4-BE49-F238E27FC236}">
                <a16:creationId xmlns:a16="http://schemas.microsoft.com/office/drawing/2014/main" id="{94299420-9C35-4789-B9BC-37726BBBC57C}"/>
              </a:ext>
            </a:extLst>
          </p:cNvPr>
          <p:cNvSpPr/>
          <p:nvPr/>
        </p:nvSpPr>
        <p:spPr>
          <a:xfrm>
            <a:off x="1622929" y="5180795"/>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b="1" dirty="0">
                <a:solidFill>
                  <a:schemeClr val="tx1"/>
                </a:solidFill>
              </a:rPr>
              <a:t>COST</a:t>
            </a:r>
          </a:p>
          <a:p>
            <a:pPr>
              <a:lnSpc>
                <a:spcPct val="150000"/>
              </a:lnSpc>
            </a:pPr>
            <a:r>
              <a:rPr lang="en-US" sz="1200" b="1" dirty="0">
                <a:solidFill>
                  <a:schemeClr val="tx1"/>
                </a:solidFill>
              </a:rPr>
              <a:t>EFFORT</a:t>
            </a:r>
          </a:p>
          <a:p>
            <a:pPr>
              <a:lnSpc>
                <a:spcPct val="150000"/>
              </a:lnSpc>
            </a:pPr>
            <a:r>
              <a:rPr lang="en-US" sz="1200" b="1" dirty="0">
                <a:solidFill>
                  <a:schemeClr val="tx1"/>
                </a:solidFill>
              </a:rPr>
              <a:t>PERSONNEL</a:t>
            </a:r>
          </a:p>
        </p:txBody>
      </p:sp>
      <p:sp>
        <p:nvSpPr>
          <p:cNvPr id="260" name="Rectangle 259">
            <a:extLst>
              <a:ext uri="{FF2B5EF4-FFF2-40B4-BE49-F238E27FC236}">
                <a16:creationId xmlns:a16="http://schemas.microsoft.com/office/drawing/2014/main" id="{49BACF7F-AF3D-48B1-B2F5-449FC7165ADD}"/>
              </a:ext>
            </a:extLst>
          </p:cNvPr>
          <p:cNvSpPr/>
          <p:nvPr/>
        </p:nvSpPr>
        <p:spPr>
          <a:xfrm>
            <a:off x="4275312" y="3153701"/>
            <a:ext cx="2431463" cy="8128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Uniforms and toolkits with </a:t>
            </a:r>
            <a:r>
              <a:rPr lang="en-US" sz="1200" dirty="0" err="1">
                <a:solidFill>
                  <a:schemeClr val="tx1"/>
                </a:solidFill>
              </a:rPr>
              <a:t>Careasy</a:t>
            </a:r>
            <a:r>
              <a:rPr lang="en-US" sz="1200" dirty="0">
                <a:solidFill>
                  <a:schemeClr val="tx1"/>
                </a:solidFill>
              </a:rPr>
              <a:t> color scheme and logo ensures standardization and recallability</a:t>
            </a:r>
          </a:p>
        </p:txBody>
      </p:sp>
      <p:sp>
        <p:nvSpPr>
          <p:cNvPr id="261" name="Rectangle 260">
            <a:extLst>
              <a:ext uri="{FF2B5EF4-FFF2-40B4-BE49-F238E27FC236}">
                <a16:creationId xmlns:a16="http://schemas.microsoft.com/office/drawing/2014/main" id="{F2A978B6-4C7C-4163-A0D6-D72F9B0CF940}"/>
              </a:ext>
            </a:extLst>
          </p:cNvPr>
          <p:cNvSpPr/>
          <p:nvPr/>
        </p:nvSpPr>
        <p:spPr>
          <a:xfrm>
            <a:off x="4275312" y="4050602"/>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solidFill>
                  <a:schemeClr val="tx1"/>
                </a:solidFill>
              </a:rPr>
              <a:t>CUSTOMERS</a:t>
            </a:r>
          </a:p>
          <a:p>
            <a:pPr marL="171450" indent="-171450">
              <a:buFont typeface="Arial" panose="020B0604020202020204" pitchFamily="34" charset="0"/>
              <a:buChar char="•"/>
            </a:pPr>
            <a:r>
              <a:rPr lang="en-US" sz="1100" dirty="0">
                <a:solidFill>
                  <a:schemeClr val="tx1"/>
                </a:solidFill>
              </a:rPr>
              <a:t>Colors increase brand recognition by 80%</a:t>
            </a:r>
            <a:r>
              <a:rPr lang="en-US" sz="1100" baseline="30000" dirty="0">
                <a:solidFill>
                  <a:schemeClr val="tx1"/>
                </a:solidFill>
              </a:rPr>
              <a:t>2</a:t>
            </a:r>
          </a:p>
          <a:p>
            <a:pPr marL="171450" indent="-171450">
              <a:buFont typeface="Arial" panose="020B0604020202020204" pitchFamily="34" charset="0"/>
              <a:buChar char="•"/>
            </a:pPr>
            <a:r>
              <a:rPr lang="en-US" sz="1100" dirty="0">
                <a:solidFill>
                  <a:schemeClr val="tx1"/>
                </a:solidFill>
              </a:rPr>
              <a:t>Free advertising and promotion</a:t>
            </a:r>
          </a:p>
          <a:p>
            <a:r>
              <a:rPr lang="en-US" sz="1100" b="1" dirty="0">
                <a:solidFill>
                  <a:schemeClr val="tx1"/>
                </a:solidFill>
              </a:rPr>
              <a:t>EMPLOYEES</a:t>
            </a:r>
            <a:endParaRPr lang="en-US" sz="1100" dirty="0">
              <a:solidFill>
                <a:schemeClr val="tx1"/>
              </a:solidFill>
            </a:endParaRPr>
          </a:p>
          <a:p>
            <a:pPr marL="171450" indent="-171450">
              <a:buFont typeface="Arial" panose="020B0604020202020204" pitchFamily="34" charset="0"/>
              <a:buChar char="•"/>
            </a:pPr>
            <a:r>
              <a:rPr lang="en-US" sz="1100" dirty="0">
                <a:solidFill>
                  <a:schemeClr val="tx1"/>
                </a:solidFill>
              </a:rPr>
              <a:t>Sense of belonging &amp; responsibility</a:t>
            </a:r>
          </a:p>
        </p:txBody>
      </p:sp>
      <p:sp>
        <p:nvSpPr>
          <p:cNvPr id="264" name="Rectangle 263">
            <a:extLst>
              <a:ext uri="{FF2B5EF4-FFF2-40B4-BE49-F238E27FC236}">
                <a16:creationId xmlns:a16="http://schemas.microsoft.com/office/drawing/2014/main" id="{F8DCAAB6-4922-49A9-8437-01AF40EC8F0C}"/>
              </a:ext>
            </a:extLst>
          </p:cNvPr>
          <p:cNvSpPr/>
          <p:nvPr/>
        </p:nvSpPr>
        <p:spPr>
          <a:xfrm>
            <a:off x="4270267" y="5174803"/>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100" b="1" dirty="0">
                <a:solidFill>
                  <a:schemeClr val="tx1"/>
                </a:solidFill>
              </a:rPr>
              <a:t>COST</a:t>
            </a:r>
          </a:p>
          <a:p>
            <a:pPr>
              <a:lnSpc>
                <a:spcPct val="150000"/>
              </a:lnSpc>
            </a:pPr>
            <a:r>
              <a:rPr lang="en-US" sz="1100" b="1" dirty="0">
                <a:solidFill>
                  <a:schemeClr val="tx1"/>
                </a:solidFill>
              </a:rPr>
              <a:t>EFFORT</a:t>
            </a:r>
          </a:p>
          <a:p>
            <a:pPr>
              <a:lnSpc>
                <a:spcPct val="150000"/>
              </a:lnSpc>
            </a:pPr>
            <a:r>
              <a:rPr lang="en-US" sz="1100" b="1" dirty="0">
                <a:solidFill>
                  <a:schemeClr val="tx1"/>
                </a:solidFill>
              </a:rPr>
              <a:t>PERSONNEL</a:t>
            </a:r>
          </a:p>
        </p:txBody>
      </p:sp>
      <p:sp>
        <p:nvSpPr>
          <p:cNvPr id="265" name="Rectangle 264">
            <a:extLst>
              <a:ext uri="{FF2B5EF4-FFF2-40B4-BE49-F238E27FC236}">
                <a16:creationId xmlns:a16="http://schemas.microsoft.com/office/drawing/2014/main" id="{5927FE1D-EF39-4390-9F68-EED41F37F866}"/>
              </a:ext>
            </a:extLst>
          </p:cNvPr>
          <p:cNvSpPr/>
          <p:nvPr/>
        </p:nvSpPr>
        <p:spPr>
          <a:xfrm>
            <a:off x="6922650" y="3158334"/>
            <a:ext cx="2431463" cy="8128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Personalized car notes (as per car condition) under windshields with </a:t>
            </a:r>
            <a:r>
              <a:rPr lang="en-US" sz="1200" dirty="0" err="1">
                <a:solidFill>
                  <a:schemeClr val="tx1"/>
                </a:solidFill>
              </a:rPr>
              <a:t>Careasy</a:t>
            </a:r>
            <a:r>
              <a:rPr lang="en-US" sz="1200" dirty="0">
                <a:solidFill>
                  <a:schemeClr val="tx1"/>
                </a:solidFill>
              </a:rPr>
              <a:t> business cards</a:t>
            </a:r>
          </a:p>
        </p:txBody>
      </p:sp>
      <p:sp>
        <p:nvSpPr>
          <p:cNvPr id="266" name="Rectangle 265">
            <a:extLst>
              <a:ext uri="{FF2B5EF4-FFF2-40B4-BE49-F238E27FC236}">
                <a16:creationId xmlns:a16="http://schemas.microsoft.com/office/drawing/2014/main" id="{6DFB6875-8706-4EAC-9FC8-F64E354A0D4F}"/>
              </a:ext>
            </a:extLst>
          </p:cNvPr>
          <p:cNvSpPr/>
          <p:nvPr/>
        </p:nvSpPr>
        <p:spPr>
          <a:xfrm>
            <a:off x="6913447" y="4050602"/>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US" sz="1100" dirty="0">
                <a:solidFill>
                  <a:schemeClr val="tx1"/>
                </a:solidFill>
              </a:rPr>
              <a:t>Personalization increases ROI by 20%</a:t>
            </a:r>
            <a:r>
              <a:rPr lang="en-US" sz="1100" baseline="30000" dirty="0">
                <a:solidFill>
                  <a:schemeClr val="tx1"/>
                </a:solidFill>
              </a:rPr>
              <a:t>3</a:t>
            </a:r>
          </a:p>
          <a:p>
            <a:pPr marL="115888" indent="-115888">
              <a:buFont typeface="Arial" panose="020B0604020202020204" pitchFamily="34" charset="0"/>
              <a:buChar char="•"/>
            </a:pPr>
            <a:r>
              <a:rPr lang="en-US" sz="1100" dirty="0">
                <a:solidFill>
                  <a:schemeClr val="tx1"/>
                </a:solidFill>
              </a:rPr>
              <a:t>Improvement in CRM</a:t>
            </a:r>
          </a:p>
          <a:p>
            <a:pPr marL="115888" indent="-115888">
              <a:buFont typeface="Arial" panose="020B0604020202020204" pitchFamily="34" charset="0"/>
              <a:buChar char="•"/>
            </a:pPr>
            <a:r>
              <a:rPr lang="en-US" sz="1100" dirty="0">
                <a:solidFill>
                  <a:schemeClr val="tx1"/>
                </a:solidFill>
              </a:rPr>
              <a:t>78% repeat customers in case of personalization of services</a:t>
            </a:r>
            <a:r>
              <a:rPr lang="en-US" sz="1100" baseline="30000" dirty="0">
                <a:solidFill>
                  <a:schemeClr val="tx1"/>
                </a:solidFill>
              </a:rPr>
              <a:t>3</a:t>
            </a:r>
          </a:p>
        </p:txBody>
      </p:sp>
      <p:sp>
        <p:nvSpPr>
          <p:cNvPr id="267" name="Rectangle 266">
            <a:extLst>
              <a:ext uri="{FF2B5EF4-FFF2-40B4-BE49-F238E27FC236}">
                <a16:creationId xmlns:a16="http://schemas.microsoft.com/office/drawing/2014/main" id="{700D7FB9-6AE0-4698-A4EB-F8BBB032B021}"/>
              </a:ext>
            </a:extLst>
          </p:cNvPr>
          <p:cNvSpPr/>
          <p:nvPr/>
        </p:nvSpPr>
        <p:spPr>
          <a:xfrm>
            <a:off x="6922650" y="5197831"/>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100" b="1" dirty="0">
                <a:solidFill>
                  <a:schemeClr val="tx1"/>
                </a:solidFill>
              </a:rPr>
              <a:t>COST</a:t>
            </a:r>
          </a:p>
          <a:p>
            <a:pPr>
              <a:lnSpc>
                <a:spcPct val="150000"/>
              </a:lnSpc>
            </a:pPr>
            <a:r>
              <a:rPr lang="en-US" sz="1100" b="1" dirty="0">
                <a:solidFill>
                  <a:schemeClr val="tx1"/>
                </a:solidFill>
              </a:rPr>
              <a:t>EFFORT</a:t>
            </a:r>
          </a:p>
          <a:p>
            <a:pPr>
              <a:lnSpc>
                <a:spcPct val="150000"/>
              </a:lnSpc>
            </a:pPr>
            <a:r>
              <a:rPr lang="en-US" sz="1100" b="1" dirty="0">
                <a:solidFill>
                  <a:schemeClr val="tx1"/>
                </a:solidFill>
              </a:rPr>
              <a:t>PERSONNEL</a:t>
            </a:r>
          </a:p>
        </p:txBody>
      </p:sp>
      <p:sp>
        <p:nvSpPr>
          <p:cNvPr id="268" name="Rectangle 267">
            <a:extLst>
              <a:ext uri="{FF2B5EF4-FFF2-40B4-BE49-F238E27FC236}">
                <a16:creationId xmlns:a16="http://schemas.microsoft.com/office/drawing/2014/main" id="{4DFC8FAE-EA0C-45C0-AFCB-3C2A25A92CBE}"/>
              </a:ext>
            </a:extLst>
          </p:cNvPr>
          <p:cNvSpPr/>
          <p:nvPr/>
        </p:nvSpPr>
        <p:spPr>
          <a:xfrm>
            <a:off x="9580074" y="3158334"/>
            <a:ext cx="2431463" cy="8128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Videos capturing reactions of people to new scratches on their cars, followed by </a:t>
            </a:r>
            <a:r>
              <a:rPr lang="en-US" sz="1200" dirty="0" err="1">
                <a:solidFill>
                  <a:schemeClr val="tx1"/>
                </a:solidFill>
              </a:rPr>
              <a:t>Careasy</a:t>
            </a:r>
            <a:r>
              <a:rPr lang="en-US" sz="1200" dirty="0">
                <a:solidFill>
                  <a:schemeClr val="tx1"/>
                </a:solidFill>
              </a:rPr>
              <a:t> vouchers</a:t>
            </a:r>
          </a:p>
        </p:txBody>
      </p:sp>
      <p:sp>
        <p:nvSpPr>
          <p:cNvPr id="270" name="Rectangle 269">
            <a:extLst>
              <a:ext uri="{FF2B5EF4-FFF2-40B4-BE49-F238E27FC236}">
                <a16:creationId xmlns:a16="http://schemas.microsoft.com/office/drawing/2014/main" id="{A50152A7-5958-446B-AA68-E469F8011DDB}"/>
              </a:ext>
            </a:extLst>
          </p:cNvPr>
          <p:cNvSpPr/>
          <p:nvPr/>
        </p:nvSpPr>
        <p:spPr>
          <a:xfrm>
            <a:off x="9572423" y="4057449"/>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indent="-115888">
              <a:buFont typeface="Arial" panose="020B0604020202020204" pitchFamily="34" charset="0"/>
              <a:buChar char="•"/>
            </a:pPr>
            <a:r>
              <a:rPr lang="en-US" sz="1100" dirty="0">
                <a:solidFill>
                  <a:schemeClr val="tx1"/>
                </a:solidFill>
              </a:rPr>
              <a:t>Marketing initiative to be streamed on social media handles</a:t>
            </a:r>
          </a:p>
          <a:p>
            <a:pPr marL="115888" indent="-115888">
              <a:buFont typeface="Arial" panose="020B0604020202020204" pitchFamily="34" charset="0"/>
              <a:buChar char="•"/>
            </a:pPr>
            <a:r>
              <a:rPr lang="en-US" sz="1100" dirty="0">
                <a:solidFill>
                  <a:schemeClr val="tx1"/>
                </a:solidFill>
              </a:rPr>
              <a:t>Vouchers increase potential customer base by 18%</a:t>
            </a:r>
          </a:p>
          <a:p>
            <a:pPr marL="115888" indent="-115888">
              <a:buFont typeface="Arial" panose="020B0604020202020204" pitchFamily="34" charset="0"/>
              <a:buChar char="•"/>
            </a:pPr>
            <a:r>
              <a:rPr lang="en-US" sz="1100" dirty="0">
                <a:solidFill>
                  <a:schemeClr val="tx1"/>
                </a:solidFill>
              </a:rPr>
              <a:t>Increased reach as challenge</a:t>
            </a:r>
          </a:p>
        </p:txBody>
      </p:sp>
      <p:sp>
        <p:nvSpPr>
          <p:cNvPr id="271" name="Rectangle 270">
            <a:extLst>
              <a:ext uri="{FF2B5EF4-FFF2-40B4-BE49-F238E27FC236}">
                <a16:creationId xmlns:a16="http://schemas.microsoft.com/office/drawing/2014/main" id="{01FF2B3C-BBA6-490C-AD67-E3340DAA8C98}"/>
              </a:ext>
            </a:extLst>
          </p:cNvPr>
          <p:cNvSpPr/>
          <p:nvPr/>
        </p:nvSpPr>
        <p:spPr>
          <a:xfrm>
            <a:off x="9575029" y="5177372"/>
            <a:ext cx="2431463" cy="1040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100" b="1" dirty="0">
                <a:solidFill>
                  <a:schemeClr val="tx1"/>
                </a:solidFill>
              </a:rPr>
              <a:t>COST</a:t>
            </a:r>
          </a:p>
          <a:p>
            <a:pPr>
              <a:lnSpc>
                <a:spcPct val="150000"/>
              </a:lnSpc>
            </a:pPr>
            <a:r>
              <a:rPr lang="en-US" sz="1100" b="1" dirty="0">
                <a:solidFill>
                  <a:schemeClr val="tx1"/>
                </a:solidFill>
              </a:rPr>
              <a:t>EFFORT</a:t>
            </a:r>
          </a:p>
          <a:p>
            <a:pPr>
              <a:lnSpc>
                <a:spcPct val="150000"/>
              </a:lnSpc>
            </a:pPr>
            <a:r>
              <a:rPr lang="en-US" sz="1100" b="1" dirty="0">
                <a:solidFill>
                  <a:schemeClr val="tx1"/>
                </a:solidFill>
              </a:rPr>
              <a:t>PERSONNEL</a:t>
            </a:r>
          </a:p>
        </p:txBody>
      </p:sp>
      <p:pic>
        <p:nvPicPr>
          <p:cNvPr id="282" name="Picture 281" descr="Zomato To Lay Off 13% Employees, Up To 50% Salary Cuts For The ...">
            <a:extLst>
              <a:ext uri="{FF2B5EF4-FFF2-40B4-BE49-F238E27FC236}">
                <a16:creationId xmlns:a16="http://schemas.microsoft.com/office/drawing/2014/main" id="{7176C9AD-C916-43FF-AE68-98284C8B95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69" r="7445"/>
          <a:stretch/>
        </p:blipFill>
        <p:spPr bwMode="auto">
          <a:xfrm>
            <a:off x="4282153" y="1611470"/>
            <a:ext cx="893603" cy="1456278"/>
          </a:xfrm>
          <a:prstGeom prst="rect">
            <a:avLst/>
          </a:prstGeom>
          <a:noFill/>
          <a:extLst>
            <a:ext uri="{909E8E84-426E-40DD-AFC4-6F175D3DCCD1}">
              <a14:hiddenFill xmlns:a14="http://schemas.microsoft.com/office/drawing/2010/main">
                <a:solidFill>
                  <a:srgbClr val="FFFFFF"/>
                </a:solidFill>
              </a14:hiddenFill>
            </a:ext>
          </a:extLst>
        </p:spPr>
      </p:pic>
      <p:pic>
        <p:nvPicPr>
          <p:cNvPr id="283" name="Picture 282" descr="Book Affordable Car Services From GoMechanic | LBB, Delhi">
            <a:extLst>
              <a:ext uri="{FF2B5EF4-FFF2-40B4-BE49-F238E27FC236}">
                <a16:creationId xmlns:a16="http://schemas.microsoft.com/office/drawing/2014/main" id="{A53D84E7-A872-447D-842B-AEE11354A9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701"/>
          <a:stretch/>
        </p:blipFill>
        <p:spPr bwMode="auto">
          <a:xfrm>
            <a:off x="5168522" y="1607564"/>
            <a:ext cx="795882" cy="1445346"/>
          </a:xfrm>
          <a:prstGeom prst="rect">
            <a:avLst/>
          </a:prstGeom>
          <a:noFill/>
          <a:extLst>
            <a:ext uri="{909E8E84-426E-40DD-AFC4-6F175D3DCCD1}">
              <a14:hiddenFill xmlns:a14="http://schemas.microsoft.com/office/drawing/2010/main">
                <a:solidFill>
                  <a:srgbClr val="FFFFFF"/>
                </a:solidFill>
              </a14:hiddenFill>
            </a:ext>
          </a:extLst>
        </p:spPr>
      </p:pic>
      <p:pic>
        <p:nvPicPr>
          <p:cNvPr id="284" name="Picture 283" descr="Swiggy gives BigBasket, Grofers food for thought with new ...">
            <a:extLst>
              <a:ext uri="{FF2B5EF4-FFF2-40B4-BE49-F238E27FC236}">
                <a16:creationId xmlns:a16="http://schemas.microsoft.com/office/drawing/2014/main" id="{0573E62B-A6B0-45A0-900C-060307DC18E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018" r="24341"/>
          <a:stretch/>
        </p:blipFill>
        <p:spPr bwMode="auto">
          <a:xfrm>
            <a:off x="5977969" y="1584960"/>
            <a:ext cx="741680" cy="1462842"/>
          </a:xfrm>
          <a:prstGeom prst="rect">
            <a:avLst/>
          </a:prstGeom>
          <a:noFill/>
          <a:extLst>
            <a:ext uri="{909E8E84-426E-40DD-AFC4-6F175D3DCCD1}">
              <a14:hiddenFill xmlns:a14="http://schemas.microsoft.com/office/drawing/2010/main">
                <a:solidFill>
                  <a:srgbClr val="FFFFFF"/>
                </a:solidFill>
              </a14:hiddenFill>
            </a:ext>
          </a:extLst>
        </p:spPr>
      </p:pic>
      <p:grpSp>
        <p:nvGrpSpPr>
          <p:cNvPr id="286" name="Group 285">
            <a:extLst>
              <a:ext uri="{FF2B5EF4-FFF2-40B4-BE49-F238E27FC236}">
                <a16:creationId xmlns:a16="http://schemas.microsoft.com/office/drawing/2014/main" id="{42C2D21C-64A4-4A57-A26C-82687CFE2D07}"/>
              </a:ext>
            </a:extLst>
          </p:cNvPr>
          <p:cNvGrpSpPr/>
          <p:nvPr/>
        </p:nvGrpSpPr>
        <p:grpSpPr>
          <a:xfrm>
            <a:off x="1622929" y="1579544"/>
            <a:ext cx="2431463" cy="1478616"/>
            <a:chOff x="-937260" y="1687316"/>
            <a:chExt cx="5715000" cy="2846786"/>
          </a:xfrm>
        </p:grpSpPr>
        <p:pic>
          <p:nvPicPr>
            <p:cNvPr id="287" name="Picture 2">
              <a:extLst>
                <a:ext uri="{FF2B5EF4-FFF2-40B4-BE49-F238E27FC236}">
                  <a16:creationId xmlns:a16="http://schemas.microsoft.com/office/drawing/2014/main" id="{658966FB-1A2A-4AEA-A12C-773564781D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1754" b="11682"/>
            <a:stretch/>
          </p:blipFill>
          <p:spPr bwMode="auto">
            <a:xfrm>
              <a:off x="-937260" y="1687316"/>
              <a:ext cx="5715000" cy="2846786"/>
            </a:xfrm>
            <a:prstGeom prst="rect">
              <a:avLst/>
            </a:prstGeom>
            <a:noFill/>
            <a:extLst>
              <a:ext uri="{909E8E84-426E-40DD-AFC4-6F175D3DCCD1}">
                <a14:hiddenFill xmlns:a14="http://schemas.microsoft.com/office/drawing/2010/main">
                  <a:solidFill>
                    <a:srgbClr val="FFFFFF"/>
                  </a:solidFill>
                </a14:hiddenFill>
              </a:ext>
            </a:extLst>
          </p:spPr>
        </p:pic>
        <p:sp>
          <p:nvSpPr>
            <p:cNvPr id="288" name="Oval 287">
              <a:extLst>
                <a:ext uri="{FF2B5EF4-FFF2-40B4-BE49-F238E27FC236}">
                  <a16:creationId xmlns:a16="http://schemas.microsoft.com/office/drawing/2014/main" id="{5C8D4B9D-4AE0-490C-B70D-2E2888149E27}"/>
                </a:ext>
              </a:extLst>
            </p:cNvPr>
            <p:cNvSpPr/>
            <p:nvPr/>
          </p:nvSpPr>
          <p:spPr>
            <a:xfrm>
              <a:off x="1210550" y="2988968"/>
              <a:ext cx="727874" cy="5761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9" name="Picture 4">
              <a:extLst>
                <a:ext uri="{FF2B5EF4-FFF2-40B4-BE49-F238E27FC236}">
                  <a16:creationId xmlns:a16="http://schemas.microsoft.com/office/drawing/2014/main" id="{AC225D07-87E3-40C8-8AE7-BB04B76ABC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8754" y="2909418"/>
              <a:ext cx="727876" cy="727877"/>
            </a:xfrm>
            <a:prstGeom prst="rect">
              <a:avLst/>
            </a:prstGeom>
            <a:noFill/>
            <a:extLst>
              <a:ext uri="{909E8E84-426E-40DD-AFC4-6F175D3DCCD1}">
                <a14:hiddenFill xmlns:a14="http://schemas.microsoft.com/office/drawing/2010/main">
                  <a:solidFill>
                    <a:srgbClr val="FFFFFF"/>
                  </a:solidFill>
                </a14:hiddenFill>
              </a:ext>
            </a:extLst>
          </p:spPr>
        </p:pic>
        <p:sp>
          <p:nvSpPr>
            <p:cNvPr id="290" name="Rectangle 289">
              <a:extLst>
                <a:ext uri="{FF2B5EF4-FFF2-40B4-BE49-F238E27FC236}">
                  <a16:creationId xmlns:a16="http://schemas.microsoft.com/office/drawing/2014/main" id="{95D3AE6B-8AA8-4B78-BE18-00E100FF4CD4}"/>
                </a:ext>
              </a:extLst>
            </p:cNvPr>
            <p:cNvSpPr/>
            <p:nvPr/>
          </p:nvSpPr>
          <p:spPr>
            <a:xfrm>
              <a:off x="2149479" y="2991652"/>
              <a:ext cx="1800221" cy="576150"/>
            </a:xfrm>
            <a:prstGeom prst="rect">
              <a:avLst/>
            </a:prstGeom>
            <a:solidFill>
              <a:schemeClr val="accent3">
                <a:lumMod val="20000"/>
                <a:lumOff val="80000"/>
              </a:schemeClr>
            </a:solidFill>
            <a:ln w="19050">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00" dirty="0">
                  <a:solidFill>
                    <a:schemeClr val="tx1"/>
                  </a:solidFill>
                  <a:latin typeface="Harlow Solid Italic" panose="04030604020F02020D02" pitchFamily="82" charset="0"/>
                </a:rPr>
                <a:t>Life is too short to spend on a car repair!!</a:t>
              </a:r>
            </a:p>
          </p:txBody>
        </p:sp>
      </p:grpSp>
      <p:grpSp>
        <p:nvGrpSpPr>
          <p:cNvPr id="307" name="Group 306">
            <a:extLst>
              <a:ext uri="{FF2B5EF4-FFF2-40B4-BE49-F238E27FC236}">
                <a16:creationId xmlns:a16="http://schemas.microsoft.com/office/drawing/2014/main" id="{9149B95A-7B62-4546-B76D-5E67C5A39461}"/>
              </a:ext>
            </a:extLst>
          </p:cNvPr>
          <p:cNvGrpSpPr/>
          <p:nvPr/>
        </p:nvGrpSpPr>
        <p:grpSpPr>
          <a:xfrm>
            <a:off x="6857614" y="1611910"/>
            <a:ext cx="2496500" cy="1435892"/>
            <a:chOff x="6698445" y="3944999"/>
            <a:chExt cx="4879248" cy="2350216"/>
          </a:xfrm>
        </p:grpSpPr>
        <p:pic>
          <p:nvPicPr>
            <p:cNvPr id="308" name="Picture 4">
              <a:extLst>
                <a:ext uri="{FF2B5EF4-FFF2-40B4-BE49-F238E27FC236}">
                  <a16:creationId xmlns:a16="http://schemas.microsoft.com/office/drawing/2014/main" id="{D3AAC1AD-7BAC-4138-A8EE-D0695FE2D1D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9864"/>
            <a:stretch/>
          </p:blipFill>
          <p:spPr bwMode="auto">
            <a:xfrm>
              <a:off x="6698445" y="3944999"/>
              <a:ext cx="4879248" cy="2350216"/>
            </a:xfrm>
            <a:prstGeom prst="rect">
              <a:avLst/>
            </a:prstGeom>
            <a:noFill/>
            <a:extLst>
              <a:ext uri="{909E8E84-426E-40DD-AFC4-6F175D3DCCD1}">
                <a14:hiddenFill xmlns:a14="http://schemas.microsoft.com/office/drawing/2010/main">
                  <a:solidFill>
                    <a:srgbClr val="FFFFFF"/>
                  </a:solidFill>
                </a14:hiddenFill>
              </a:ext>
            </a:extLst>
          </p:spPr>
        </p:pic>
        <p:sp>
          <p:nvSpPr>
            <p:cNvPr id="310" name="Rectangle 309">
              <a:extLst>
                <a:ext uri="{FF2B5EF4-FFF2-40B4-BE49-F238E27FC236}">
                  <a16:creationId xmlns:a16="http://schemas.microsoft.com/office/drawing/2014/main" id="{7D3803D8-F2E2-4591-B8B7-C4B81855B555}"/>
                </a:ext>
              </a:extLst>
            </p:cNvPr>
            <p:cNvSpPr/>
            <p:nvPr/>
          </p:nvSpPr>
          <p:spPr>
            <a:xfrm rot="208703">
              <a:off x="7217448" y="4202437"/>
              <a:ext cx="1820203" cy="49642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00" dirty="0">
                  <a:solidFill>
                    <a:srgbClr val="C00000"/>
                  </a:solidFill>
                  <a:latin typeface="Harlow Solid Italic" panose="04030604020F02020D02" pitchFamily="82" charset="0"/>
                </a:rPr>
                <a:t>We can fix that bumper. Won’t cost as much as you think !</a:t>
              </a:r>
            </a:p>
          </p:txBody>
        </p:sp>
        <p:pic>
          <p:nvPicPr>
            <p:cNvPr id="311" name="Picture 4">
              <a:extLst>
                <a:ext uri="{FF2B5EF4-FFF2-40B4-BE49-F238E27FC236}">
                  <a16:creationId xmlns:a16="http://schemas.microsoft.com/office/drawing/2014/main" id="{AC7F3C04-2222-4635-87DE-1E7B4A1A10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85731">
              <a:off x="8480039" y="4760173"/>
              <a:ext cx="340069" cy="273710"/>
            </a:xfrm>
            <a:prstGeom prst="rect">
              <a:avLst/>
            </a:prstGeom>
            <a:noFill/>
            <a:extLst>
              <a:ext uri="{909E8E84-426E-40DD-AFC4-6F175D3DCCD1}">
                <a14:hiddenFill xmlns:a14="http://schemas.microsoft.com/office/drawing/2010/main">
                  <a:solidFill>
                    <a:srgbClr val="FFFFFF"/>
                  </a:solidFill>
                </a14:hiddenFill>
              </a:ext>
            </a:extLst>
          </p:spPr>
        </p:pic>
        <p:pic>
          <p:nvPicPr>
            <p:cNvPr id="316" name="Picture 4">
              <a:extLst>
                <a:ext uri="{FF2B5EF4-FFF2-40B4-BE49-F238E27FC236}">
                  <a16:creationId xmlns:a16="http://schemas.microsoft.com/office/drawing/2014/main" id="{D06762CE-CE4D-4423-B452-74089B0D2A7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1339772">
              <a:off x="7104579" y="5299995"/>
              <a:ext cx="340069" cy="273710"/>
            </a:xfrm>
            <a:prstGeom prst="rect">
              <a:avLst/>
            </a:prstGeom>
            <a:noFill/>
            <a:extLst>
              <a:ext uri="{909E8E84-426E-40DD-AFC4-6F175D3DCCD1}">
                <a14:hiddenFill xmlns:a14="http://schemas.microsoft.com/office/drawing/2010/main">
                  <a:solidFill>
                    <a:srgbClr val="FFFFFF"/>
                  </a:solidFill>
                </a14:hiddenFill>
              </a:ext>
            </a:extLst>
          </p:spPr>
        </p:pic>
        <p:pic>
          <p:nvPicPr>
            <p:cNvPr id="317" name="Picture 4">
              <a:extLst>
                <a:ext uri="{FF2B5EF4-FFF2-40B4-BE49-F238E27FC236}">
                  <a16:creationId xmlns:a16="http://schemas.microsoft.com/office/drawing/2014/main" id="{B7420503-60DD-4B98-A29D-FBA9E0D3CB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887559">
              <a:off x="10929666" y="4629565"/>
              <a:ext cx="340069" cy="273710"/>
            </a:xfrm>
            <a:prstGeom prst="rect">
              <a:avLst/>
            </a:prstGeom>
            <a:noFill/>
            <a:extLst>
              <a:ext uri="{909E8E84-426E-40DD-AFC4-6F175D3DCCD1}">
                <a14:hiddenFill xmlns:a14="http://schemas.microsoft.com/office/drawing/2010/main">
                  <a:solidFill>
                    <a:srgbClr val="FFFFFF"/>
                  </a:solidFill>
                </a14:hiddenFill>
              </a:ext>
            </a:extLst>
          </p:spPr>
        </p:pic>
        <p:pic>
          <p:nvPicPr>
            <p:cNvPr id="318" name="Picture 4">
              <a:extLst>
                <a:ext uri="{FF2B5EF4-FFF2-40B4-BE49-F238E27FC236}">
                  <a16:creationId xmlns:a16="http://schemas.microsoft.com/office/drawing/2014/main" id="{2272DB9F-8F86-476D-A287-803BD08082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413389">
              <a:off x="9477904" y="5231554"/>
              <a:ext cx="340069" cy="273710"/>
            </a:xfrm>
            <a:prstGeom prst="rect">
              <a:avLst/>
            </a:prstGeom>
            <a:noFill/>
            <a:extLst>
              <a:ext uri="{909E8E84-426E-40DD-AFC4-6F175D3DCCD1}">
                <a14:hiddenFill xmlns:a14="http://schemas.microsoft.com/office/drawing/2010/main">
                  <a:solidFill>
                    <a:srgbClr val="FFFFFF"/>
                  </a:solidFill>
                </a14:hiddenFill>
              </a:ext>
            </a:extLst>
          </p:spPr>
        </p:pic>
        <p:sp>
          <p:nvSpPr>
            <p:cNvPr id="319" name="Rectangle 318">
              <a:extLst>
                <a:ext uri="{FF2B5EF4-FFF2-40B4-BE49-F238E27FC236}">
                  <a16:creationId xmlns:a16="http://schemas.microsoft.com/office/drawing/2014/main" id="{ACABC004-88C6-499F-9718-0FC80BD22C51}"/>
                </a:ext>
              </a:extLst>
            </p:cNvPr>
            <p:cNvSpPr/>
            <p:nvPr/>
          </p:nvSpPr>
          <p:spPr>
            <a:xfrm rot="166241">
              <a:off x="9473217" y="5592949"/>
              <a:ext cx="1597624" cy="47322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00" dirty="0">
                  <a:solidFill>
                    <a:srgbClr val="C00000"/>
                  </a:solidFill>
                  <a:latin typeface="Harlow Solid Italic" panose="04030604020F02020D02" pitchFamily="82" charset="0"/>
                </a:rPr>
                <a:t>Nice car! A racing strip would be sick! Interested?</a:t>
              </a:r>
            </a:p>
          </p:txBody>
        </p:sp>
        <p:sp>
          <p:nvSpPr>
            <p:cNvPr id="320" name="Rectangle 319">
              <a:extLst>
                <a:ext uri="{FF2B5EF4-FFF2-40B4-BE49-F238E27FC236}">
                  <a16:creationId xmlns:a16="http://schemas.microsoft.com/office/drawing/2014/main" id="{D0DBBA74-A7BB-4EA4-90DF-009BC3A05508}"/>
                </a:ext>
              </a:extLst>
            </p:cNvPr>
            <p:cNvSpPr/>
            <p:nvPr/>
          </p:nvSpPr>
          <p:spPr>
            <a:xfrm rot="21279302">
              <a:off x="9465154" y="4210599"/>
              <a:ext cx="1597624" cy="47322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00" dirty="0">
                  <a:solidFill>
                    <a:srgbClr val="C00000"/>
                  </a:solidFill>
                  <a:latin typeface="Harlow Solid Italic" panose="04030604020F02020D02" pitchFamily="82" charset="0"/>
                </a:rPr>
                <a:t>We ensure your family’s safety in testing times!</a:t>
              </a:r>
            </a:p>
          </p:txBody>
        </p:sp>
        <p:sp>
          <p:nvSpPr>
            <p:cNvPr id="321" name="Rectangle 320">
              <a:extLst>
                <a:ext uri="{FF2B5EF4-FFF2-40B4-BE49-F238E27FC236}">
                  <a16:creationId xmlns:a16="http://schemas.microsoft.com/office/drawing/2014/main" id="{8E94C6CA-4BD2-4023-A052-781C556571DF}"/>
                </a:ext>
              </a:extLst>
            </p:cNvPr>
            <p:cNvSpPr/>
            <p:nvPr/>
          </p:nvSpPr>
          <p:spPr>
            <a:xfrm rot="21440535">
              <a:off x="7222963" y="5477329"/>
              <a:ext cx="1597624" cy="47322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00" dirty="0">
                  <a:solidFill>
                    <a:srgbClr val="C00000"/>
                  </a:solidFill>
                  <a:latin typeface="Harlow Solid Italic" panose="04030604020F02020D02" pitchFamily="82" charset="0"/>
                </a:rPr>
                <a:t>I can bang that dent out of you!</a:t>
              </a:r>
            </a:p>
          </p:txBody>
        </p:sp>
      </p:grpSp>
      <p:pic>
        <p:nvPicPr>
          <p:cNvPr id="322" name="Picture 321" descr="Guerrilla marketing campaign Scratches On You Car - examples">
            <a:extLst>
              <a:ext uri="{FF2B5EF4-FFF2-40B4-BE49-F238E27FC236}">
                <a16:creationId xmlns:a16="http://schemas.microsoft.com/office/drawing/2014/main" id="{580EBDD7-63D5-4B10-BAED-5D0B216CBB4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45762" r="65802" b="13077"/>
          <a:stretch/>
        </p:blipFill>
        <p:spPr bwMode="auto">
          <a:xfrm>
            <a:off x="9575030" y="1607564"/>
            <a:ext cx="1274289" cy="1450596"/>
          </a:xfrm>
          <a:prstGeom prst="rect">
            <a:avLst/>
          </a:prstGeom>
          <a:noFill/>
          <a:extLst>
            <a:ext uri="{909E8E84-426E-40DD-AFC4-6F175D3DCCD1}">
              <a14:hiddenFill xmlns:a14="http://schemas.microsoft.com/office/drawing/2010/main">
                <a:solidFill>
                  <a:srgbClr val="FFFFFF"/>
                </a:solidFill>
              </a14:hiddenFill>
            </a:ext>
          </a:extLst>
        </p:spPr>
      </p:pic>
      <p:pic>
        <p:nvPicPr>
          <p:cNvPr id="323" name="Picture 322" descr="18 Times When People Fixed Their Cars With Creativity Instead Of A ...">
            <a:extLst>
              <a:ext uri="{FF2B5EF4-FFF2-40B4-BE49-F238E27FC236}">
                <a16:creationId xmlns:a16="http://schemas.microsoft.com/office/drawing/2014/main" id="{7C949EE8-46C5-4F31-A1B1-CC36561717F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56971" y="1609607"/>
            <a:ext cx="1146915" cy="1456087"/>
          </a:xfrm>
          <a:prstGeom prst="rect">
            <a:avLst/>
          </a:prstGeom>
          <a:noFill/>
          <a:extLst>
            <a:ext uri="{909E8E84-426E-40DD-AFC4-6F175D3DCCD1}">
              <a14:hiddenFill xmlns:a14="http://schemas.microsoft.com/office/drawing/2010/main">
                <a:solidFill>
                  <a:srgbClr val="FFFFFF"/>
                </a:solidFill>
              </a14:hiddenFill>
            </a:ext>
          </a:extLst>
        </p:spPr>
      </p:pic>
      <p:sp>
        <p:nvSpPr>
          <p:cNvPr id="252" name="Rectangle 251">
            <a:extLst>
              <a:ext uri="{FF2B5EF4-FFF2-40B4-BE49-F238E27FC236}">
                <a16:creationId xmlns:a16="http://schemas.microsoft.com/office/drawing/2014/main" id="{B7E6B6ED-4B5B-432A-8968-8781FA09FF1A}"/>
              </a:ext>
            </a:extLst>
          </p:cNvPr>
          <p:cNvSpPr/>
          <p:nvPr/>
        </p:nvSpPr>
        <p:spPr>
          <a:xfrm>
            <a:off x="4275313" y="1467922"/>
            <a:ext cx="2431463" cy="332394"/>
          </a:xfrm>
          <a:prstGeom prst="rect">
            <a:avLst/>
          </a:prstGeom>
          <a:solidFill>
            <a:srgbClr val="00162F">
              <a:alpha val="42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UNIFORMS</a:t>
            </a:r>
            <a:endParaRPr lang="en-GB" b="1" dirty="0"/>
          </a:p>
        </p:txBody>
      </p:sp>
      <p:sp>
        <p:nvSpPr>
          <p:cNvPr id="272" name="Rectangle 271">
            <a:extLst>
              <a:ext uri="{FF2B5EF4-FFF2-40B4-BE49-F238E27FC236}">
                <a16:creationId xmlns:a16="http://schemas.microsoft.com/office/drawing/2014/main" id="{534E5B79-A41D-406E-B351-088EC42803DC}"/>
              </a:ext>
            </a:extLst>
          </p:cNvPr>
          <p:cNvSpPr/>
          <p:nvPr/>
        </p:nvSpPr>
        <p:spPr>
          <a:xfrm>
            <a:off x="6922650" y="1460813"/>
            <a:ext cx="2431463" cy="332394"/>
          </a:xfrm>
          <a:prstGeom prst="rect">
            <a:avLst/>
          </a:prstGeom>
          <a:solidFill>
            <a:srgbClr val="00162F">
              <a:alpha val="42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CAR NOTES</a:t>
            </a:r>
          </a:p>
        </p:txBody>
      </p:sp>
      <p:sp>
        <p:nvSpPr>
          <p:cNvPr id="247" name="Rectangle 246">
            <a:extLst>
              <a:ext uri="{FF2B5EF4-FFF2-40B4-BE49-F238E27FC236}">
                <a16:creationId xmlns:a16="http://schemas.microsoft.com/office/drawing/2014/main" id="{36D407EF-8EF8-4428-BC22-CF23435C2E4E}"/>
              </a:ext>
            </a:extLst>
          </p:cNvPr>
          <p:cNvSpPr/>
          <p:nvPr/>
        </p:nvSpPr>
        <p:spPr>
          <a:xfrm>
            <a:off x="9564772" y="1467923"/>
            <a:ext cx="2431463" cy="332394"/>
          </a:xfrm>
          <a:prstGeom prst="rect">
            <a:avLst/>
          </a:prstGeom>
          <a:solidFill>
            <a:srgbClr val="00162F">
              <a:alpha val="42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SCRATCH STICKERS</a:t>
            </a:r>
          </a:p>
        </p:txBody>
      </p:sp>
      <p:sp>
        <p:nvSpPr>
          <p:cNvPr id="7" name="Rectangle 6">
            <a:extLst>
              <a:ext uri="{FF2B5EF4-FFF2-40B4-BE49-F238E27FC236}">
                <a16:creationId xmlns:a16="http://schemas.microsoft.com/office/drawing/2014/main" id="{C9DCC84F-E00C-4714-8839-161ABED1F147}"/>
              </a:ext>
            </a:extLst>
          </p:cNvPr>
          <p:cNvSpPr/>
          <p:nvPr/>
        </p:nvSpPr>
        <p:spPr>
          <a:xfrm>
            <a:off x="1627976" y="1460813"/>
            <a:ext cx="2431463" cy="332394"/>
          </a:xfrm>
          <a:prstGeom prst="rect">
            <a:avLst/>
          </a:prstGeom>
          <a:solidFill>
            <a:srgbClr val="00162F">
              <a:alpha val="42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BUMPER STICKERS</a:t>
            </a:r>
          </a:p>
        </p:txBody>
      </p:sp>
      <p:sp>
        <p:nvSpPr>
          <p:cNvPr id="324" name="object 4">
            <a:extLst>
              <a:ext uri="{FF2B5EF4-FFF2-40B4-BE49-F238E27FC236}">
                <a16:creationId xmlns:a16="http://schemas.microsoft.com/office/drawing/2014/main" id="{CFF510B8-9A72-421C-993D-0C8338BC2C87}"/>
              </a:ext>
            </a:extLst>
          </p:cNvPr>
          <p:cNvSpPr txBox="1"/>
          <p:nvPr/>
        </p:nvSpPr>
        <p:spPr>
          <a:xfrm>
            <a:off x="256995" y="3474633"/>
            <a:ext cx="1222399" cy="184666"/>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DESCRIPTION</a:t>
            </a:r>
            <a:endParaRPr sz="1200" b="1" dirty="0">
              <a:solidFill>
                <a:schemeClr val="bg1"/>
              </a:solidFill>
              <a:latin typeface="Tw Cen MT"/>
              <a:cs typeface="Tw Cen MT"/>
            </a:endParaRPr>
          </a:p>
        </p:txBody>
      </p:sp>
      <p:sp>
        <p:nvSpPr>
          <p:cNvPr id="325" name="object 4">
            <a:extLst>
              <a:ext uri="{FF2B5EF4-FFF2-40B4-BE49-F238E27FC236}">
                <a16:creationId xmlns:a16="http://schemas.microsoft.com/office/drawing/2014/main" id="{F6B8C67C-23AB-483B-B513-72A8FDFC2C6B}"/>
              </a:ext>
            </a:extLst>
          </p:cNvPr>
          <p:cNvSpPr txBox="1"/>
          <p:nvPr/>
        </p:nvSpPr>
        <p:spPr>
          <a:xfrm>
            <a:off x="219447" y="4480822"/>
            <a:ext cx="1222399" cy="184666"/>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IMPACT</a:t>
            </a:r>
            <a:endParaRPr sz="1200" b="1" dirty="0">
              <a:solidFill>
                <a:schemeClr val="bg1"/>
              </a:solidFill>
              <a:latin typeface="Tw Cen MT"/>
              <a:cs typeface="Tw Cen MT"/>
            </a:endParaRPr>
          </a:p>
        </p:txBody>
      </p:sp>
      <p:sp>
        <p:nvSpPr>
          <p:cNvPr id="386" name="object 4">
            <a:extLst>
              <a:ext uri="{FF2B5EF4-FFF2-40B4-BE49-F238E27FC236}">
                <a16:creationId xmlns:a16="http://schemas.microsoft.com/office/drawing/2014/main" id="{7951657B-3E69-4F5C-AD16-D08850FC201B}"/>
              </a:ext>
            </a:extLst>
          </p:cNvPr>
          <p:cNvSpPr txBox="1"/>
          <p:nvPr/>
        </p:nvSpPr>
        <p:spPr>
          <a:xfrm>
            <a:off x="219446" y="5596783"/>
            <a:ext cx="1222399" cy="184666"/>
          </a:xfrm>
          <a:prstGeom prst="rect">
            <a:avLst/>
          </a:prstGeom>
        </p:spPr>
        <p:txBody>
          <a:bodyPr vert="horz" wrap="square" lIns="0" tIns="0" rIns="0" bIns="0" rtlCol="0">
            <a:spAutoFit/>
          </a:bodyPr>
          <a:lstStyle/>
          <a:p>
            <a:pPr marL="12700" algn="ctr"/>
            <a:r>
              <a:rPr lang="en-IN" sz="1200" b="1" dirty="0">
                <a:solidFill>
                  <a:schemeClr val="bg1"/>
                </a:solidFill>
                <a:latin typeface="Tw Cen MT"/>
                <a:cs typeface="Tw Cen MT"/>
              </a:rPr>
              <a:t>FEASIBILITY</a:t>
            </a:r>
            <a:endParaRPr sz="1200" b="1" dirty="0">
              <a:solidFill>
                <a:schemeClr val="bg1"/>
              </a:solidFill>
              <a:latin typeface="Tw Cen MT"/>
              <a:cs typeface="Tw Cen MT"/>
            </a:endParaRPr>
          </a:p>
        </p:txBody>
      </p:sp>
      <p:grpSp>
        <p:nvGrpSpPr>
          <p:cNvPr id="20" name="Group 19">
            <a:extLst>
              <a:ext uri="{FF2B5EF4-FFF2-40B4-BE49-F238E27FC236}">
                <a16:creationId xmlns:a16="http://schemas.microsoft.com/office/drawing/2014/main" id="{B4AEBB84-C9F5-41CB-A9ED-2F5528A883DC}"/>
              </a:ext>
            </a:extLst>
          </p:cNvPr>
          <p:cNvGrpSpPr/>
          <p:nvPr/>
        </p:nvGrpSpPr>
        <p:grpSpPr>
          <a:xfrm>
            <a:off x="2827434" y="5395259"/>
            <a:ext cx="874666" cy="627398"/>
            <a:chOff x="2827434" y="5395259"/>
            <a:chExt cx="874666" cy="627398"/>
          </a:xfrm>
        </p:grpSpPr>
        <p:sp>
          <p:nvSpPr>
            <p:cNvPr id="17" name="Rectangle: Rounded Corners 16">
              <a:extLst>
                <a:ext uri="{FF2B5EF4-FFF2-40B4-BE49-F238E27FC236}">
                  <a16:creationId xmlns:a16="http://schemas.microsoft.com/office/drawing/2014/main" id="{39117E90-2589-4912-98AA-338AD2DAA55E}"/>
                </a:ext>
              </a:extLst>
            </p:cNvPr>
            <p:cNvSpPr/>
            <p:nvPr/>
          </p:nvSpPr>
          <p:spPr>
            <a:xfrm>
              <a:off x="2827434" y="5395259"/>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28940DA-6039-4A07-A95E-5459B8F3CBCA}"/>
                </a:ext>
              </a:extLst>
            </p:cNvPr>
            <p:cNvSpPr/>
            <p:nvPr/>
          </p:nvSpPr>
          <p:spPr>
            <a:xfrm>
              <a:off x="3130543"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E686E7F5-86A1-4897-B8DD-AEF44226027C}"/>
                </a:ext>
              </a:extLst>
            </p:cNvPr>
            <p:cNvSpPr/>
            <p:nvPr/>
          </p:nvSpPr>
          <p:spPr>
            <a:xfrm>
              <a:off x="3433652"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0" name="Rectangle: Rounded Corners 389">
              <a:extLst>
                <a:ext uri="{FF2B5EF4-FFF2-40B4-BE49-F238E27FC236}">
                  <a16:creationId xmlns:a16="http://schemas.microsoft.com/office/drawing/2014/main" id="{DC9C7716-315B-44A7-8CE5-3D7EE5F90E14}"/>
                </a:ext>
              </a:extLst>
            </p:cNvPr>
            <p:cNvSpPr/>
            <p:nvPr/>
          </p:nvSpPr>
          <p:spPr>
            <a:xfrm>
              <a:off x="2827434" y="5654090"/>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1" name="Rectangle: Rounded Corners 390">
              <a:extLst>
                <a:ext uri="{FF2B5EF4-FFF2-40B4-BE49-F238E27FC236}">
                  <a16:creationId xmlns:a16="http://schemas.microsoft.com/office/drawing/2014/main" id="{6885EC26-DA5D-44B8-AC2B-65936ED06632}"/>
                </a:ext>
              </a:extLst>
            </p:cNvPr>
            <p:cNvSpPr/>
            <p:nvPr/>
          </p:nvSpPr>
          <p:spPr>
            <a:xfrm>
              <a:off x="3130543"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2" name="Rectangle: Rounded Corners 391">
              <a:extLst>
                <a:ext uri="{FF2B5EF4-FFF2-40B4-BE49-F238E27FC236}">
                  <a16:creationId xmlns:a16="http://schemas.microsoft.com/office/drawing/2014/main" id="{D6891973-2882-4EE6-9912-1E54F72E1983}"/>
                </a:ext>
              </a:extLst>
            </p:cNvPr>
            <p:cNvSpPr/>
            <p:nvPr/>
          </p:nvSpPr>
          <p:spPr>
            <a:xfrm>
              <a:off x="3433652"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3" name="Rectangle: Rounded Corners 392">
              <a:extLst>
                <a:ext uri="{FF2B5EF4-FFF2-40B4-BE49-F238E27FC236}">
                  <a16:creationId xmlns:a16="http://schemas.microsoft.com/office/drawing/2014/main" id="{388BDF8E-0007-4F30-9AAC-CF376776131E}"/>
                </a:ext>
              </a:extLst>
            </p:cNvPr>
            <p:cNvSpPr/>
            <p:nvPr/>
          </p:nvSpPr>
          <p:spPr>
            <a:xfrm>
              <a:off x="2827434" y="5921989"/>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4" name="Rectangle: Rounded Corners 393">
              <a:extLst>
                <a:ext uri="{FF2B5EF4-FFF2-40B4-BE49-F238E27FC236}">
                  <a16:creationId xmlns:a16="http://schemas.microsoft.com/office/drawing/2014/main" id="{ACA4ABE0-2DA9-4AE3-8374-00372DE7AF1D}"/>
                </a:ext>
              </a:extLst>
            </p:cNvPr>
            <p:cNvSpPr/>
            <p:nvPr/>
          </p:nvSpPr>
          <p:spPr>
            <a:xfrm>
              <a:off x="3130543" y="592198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5" name="Rectangle: Rounded Corners 394">
              <a:extLst>
                <a:ext uri="{FF2B5EF4-FFF2-40B4-BE49-F238E27FC236}">
                  <a16:creationId xmlns:a16="http://schemas.microsoft.com/office/drawing/2014/main" id="{5CED7BF4-E504-4ECB-9B5E-13771BB1FEC0}"/>
                </a:ext>
              </a:extLst>
            </p:cNvPr>
            <p:cNvSpPr/>
            <p:nvPr/>
          </p:nvSpPr>
          <p:spPr>
            <a:xfrm>
              <a:off x="3433652" y="592198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96" name="Group 395">
            <a:extLst>
              <a:ext uri="{FF2B5EF4-FFF2-40B4-BE49-F238E27FC236}">
                <a16:creationId xmlns:a16="http://schemas.microsoft.com/office/drawing/2014/main" id="{CF84B131-7E0C-4BD0-A28F-5E3F06E0D4CD}"/>
              </a:ext>
            </a:extLst>
          </p:cNvPr>
          <p:cNvGrpSpPr/>
          <p:nvPr/>
        </p:nvGrpSpPr>
        <p:grpSpPr>
          <a:xfrm>
            <a:off x="5540636" y="5383741"/>
            <a:ext cx="874666" cy="627398"/>
            <a:chOff x="2827434" y="5395259"/>
            <a:chExt cx="874666" cy="627398"/>
          </a:xfrm>
        </p:grpSpPr>
        <p:sp>
          <p:nvSpPr>
            <p:cNvPr id="397" name="Rectangle: Rounded Corners 396">
              <a:extLst>
                <a:ext uri="{FF2B5EF4-FFF2-40B4-BE49-F238E27FC236}">
                  <a16:creationId xmlns:a16="http://schemas.microsoft.com/office/drawing/2014/main" id="{B578FC1C-2E4F-4368-9CFE-350B2337A7F6}"/>
                </a:ext>
              </a:extLst>
            </p:cNvPr>
            <p:cNvSpPr/>
            <p:nvPr/>
          </p:nvSpPr>
          <p:spPr>
            <a:xfrm>
              <a:off x="2827434" y="539525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398" name="Rectangle: Rounded Corners 397">
              <a:extLst>
                <a:ext uri="{FF2B5EF4-FFF2-40B4-BE49-F238E27FC236}">
                  <a16:creationId xmlns:a16="http://schemas.microsoft.com/office/drawing/2014/main" id="{7DAA605D-3241-4882-8060-6A7B1CEFA87D}"/>
                </a:ext>
              </a:extLst>
            </p:cNvPr>
            <p:cNvSpPr/>
            <p:nvPr/>
          </p:nvSpPr>
          <p:spPr>
            <a:xfrm>
              <a:off x="3130543" y="539525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9" name="Rectangle: Rounded Corners 398">
              <a:extLst>
                <a:ext uri="{FF2B5EF4-FFF2-40B4-BE49-F238E27FC236}">
                  <a16:creationId xmlns:a16="http://schemas.microsoft.com/office/drawing/2014/main" id="{7AA05864-8550-4F05-8960-088870E879EF}"/>
                </a:ext>
              </a:extLst>
            </p:cNvPr>
            <p:cNvSpPr/>
            <p:nvPr/>
          </p:nvSpPr>
          <p:spPr>
            <a:xfrm>
              <a:off x="3433652"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0" name="Rectangle: Rounded Corners 399">
              <a:extLst>
                <a:ext uri="{FF2B5EF4-FFF2-40B4-BE49-F238E27FC236}">
                  <a16:creationId xmlns:a16="http://schemas.microsoft.com/office/drawing/2014/main" id="{E1F86AD9-B37E-430A-B01B-DDFB20E8EE89}"/>
                </a:ext>
              </a:extLst>
            </p:cNvPr>
            <p:cNvSpPr/>
            <p:nvPr/>
          </p:nvSpPr>
          <p:spPr>
            <a:xfrm>
              <a:off x="2827434" y="5654090"/>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1" name="Rectangle: Rounded Corners 400">
              <a:extLst>
                <a:ext uri="{FF2B5EF4-FFF2-40B4-BE49-F238E27FC236}">
                  <a16:creationId xmlns:a16="http://schemas.microsoft.com/office/drawing/2014/main" id="{543257C7-BA78-4F25-B3EA-A8D856FFF034}"/>
                </a:ext>
              </a:extLst>
            </p:cNvPr>
            <p:cNvSpPr/>
            <p:nvPr/>
          </p:nvSpPr>
          <p:spPr>
            <a:xfrm>
              <a:off x="3130543"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2" name="Rectangle: Rounded Corners 401">
              <a:extLst>
                <a:ext uri="{FF2B5EF4-FFF2-40B4-BE49-F238E27FC236}">
                  <a16:creationId xmlns:a16="http://schemas.microsoft.com/office/drawing/2014/main" id="{D64B7749-9A6C-44B9-8838-C399DD42404D}"/>
                </a:ext>
              </a:extLst>
            </p:cNvPr>
            <p:cNvSpPr/>
            <p:nvPr/>
          </p:nvSpPr>
          <p:spPr>
            <a:xfrm>
              <a:off x="3433652"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3" name="Rectangle: Rounded Corners 402">
              <a:extLst>
                <a:ext uri="{FF2B5EF4-FFF2-40B4-BE49-F238E27FC236}">
                  <a16:creationId xmlns:a16="http://schemas.microsoft.com/office/drawing/2014/main" id="{B4C776C0-881F-4F06-ACFB-8EC78C56D14B}"/>
                </a:ext>
              </a:extLst>
            </p:cNvPr>
            <p:cNvSpPr/>
            <p:nvPr/>
          </p:nvSpPr>
          <p:spPr>
            <a:xfrm>
              <a:off x="2827434" y="5921989"/>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4" name="Rectangle: Rounded Corners 403">
              <a:extLst>
                <a:ext uri="{FF2B5EF4-FFF2-40B4-BE49-F238E27FC236}">
                  <a16:creationId xmlns:a16="http://schemas.microsoft.com/office/drawing/2014/main" id="{E4AD1B74-78CB-4BC4-9840-7A27FC25227A}"/>
                </a:ext>
              </a:extLst>
            </p:cNvPr>
            <p:cNvSpPr/>
            <p:nvPr/>
          </p:nvSpPr>
          <p:spPr>
            <a:xfrm>
              <a:off x="3130543" y="592198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5" name="Rectangle: Rounded Corners 404">
              <a:extLst>
                <a:ext uri="{FF2B5EF4-FFF2-40B4-BE49-F238E27FC236}">
                  <a16:creationId xmlns:a16="http://schemas.microsoft.com/office/drawing/2014/main" id="{2E3D8856-B5F6-45F0-A728-80B2C9F1C498}"/>
                </a:ext>
              </a:extLst>
            </p:cNvPr>
            <p:cNvSpPr/>
            <p:nvPr/>
          </p:nvSpPr>
          <p:spPr>
            <a:xfrm>
              <a:off x="3433652" y="592198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06" name="Group 405">
            <a:extLst>
              <a:ext uri="{FF2B5EF4-FFF2-40B4-BE49-F238E27FC236}">
                <a16:creationId xmlns:a16="http://schemas.microsoft.com/office/drawing/2014/main" id="{A4D4219D-3B3F-45EE-8F93-78BAA34C6697}"/>
              </a:ext>
            </a:extLst>
          </p:cNvPr>
          <p:cNvGrpSpPr/>
          <p:nvPr/>
        </p:nvGrpSpPr>
        <p:grpSpPr>
          <a:xfrm>
            <a:off x="8226625" y="5375417"/>
            <a:ext cx="874666" cy="627398"/>
            <a:chOff x="2827434" y="5395259"/>
            <a:chExt cx="874666" cy="627398"/>
          </a:xfrm>
        </p:grpSpPr>
        <p:sp>
          <p:nvSpPr>
            <p:cNvPr id="407" name="Rectangle: Rounded Corners 406">
              <a:extLst>
                <a:ext uri="{FF2B5EF4-FFF2-40B4-BE49-F238E27FC236}">
                  <a16:creationId xmlns:a16="http://schemas.microsoft.com/office/drawing/2014/main" id="{44EF1C3A-6031-44DB-A00D-3A73CB2BBF2E}"/>
                </a:ext>
              </a:extLst>
            </p:cNvPr>
            <p:cNvSpPr/>
            <p:nvPr/>
          </p:nvSpPr>
          <p:spPr>
            <a:xfrm>
              <a:off x="2827434" y="5395259"/>
              <a:ext cx="268448" cy="100668"/>
            </a:xfrm>
            <a:prstGeom prst="roundRect">
              <a:avLst/>
            </a:prstGeom>
            <a:solidFill>
              <a:schemeClr val="accent6"/>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8" name="Rectangle: Rounded Corners 407">
              <a:extLst>
                <a:ext uri="{FF2B5EF4-FFF2-40B4-BE49-F238E27FC236}">
                  <a16:creationId xmlns:a16="http://schemas.microsoft.com/office/drawing/2014/main" id="{253C62A1-9A21-48CE-859B-6E39DAA16618}"/>
                </a:ext>
              </a:extLst>
            </p:cNvPr>
            <p:cNvSpPr/>
            <p:nvPr/>
          </p:nvSpPr>
          <p:spPr>
            <a:xfrm>
              <a:off x="3130543"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9" name="Rectangle: Rounded Corners 408">
              <a:extLst>
                <a:ext uri="{FF2B5EF4-FFF2-40B4-BE49-F238E27FC236}">
                  <a16:creationId xmlns:a16="http://schemas.microsoft.com/office/drawing/2014/main" id="{CB6E1797-0DE3-433A-B9F1-8C149BA62616}"/>
                </a:ext>
              </a:extLst>
            </p:cNvPr>
            <p:cNvSpPr/>
            <p:nvPr/>
          </p:nvSpPr>
          <p:spPr>
            <a:xfrm>
              <a:off x="3433652"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0" name="Rectangle: Rounded Corners 409">
              <a:extLst>
                <a:ext uri="{FF2B5EF4-FFF2-40B4-BE49-F238E27FC236}">
                  <a16:creationId xmlns:a16="http://schemas.microsoft.com/office/drawing/2014/main" id="{D6A2C5D4-421D-49F0-85CF-D9414A73052C}"/>
                </a:ext>
              </a:extLst>
            </p:cNvPr>
            <p:cNvSpPr/>
            <p:nvPr/>
          </p:nvSpPr>
          <p:spPr>
            <a:xfrm>
              <a:off x="2827434" y="5654090"/>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1" name="Rectangle: Rounded Corners 410">
              <a:extLst>
                <a:ext uri="{FF2B5EF4-FFF2-40B4-BE49-F238E27FC236}">
                  <a16:creationId xmlns:a16="http://schemas.microsoft.com/office/drawing/2014/main" id="{DC7C1081-D8B3-4FAD-B024-C6A90ECF58B3}"/>
                </a:ext>
              </a:extLst>
            </p:cNvPr>
            <p:cNvSpPr/>
            <p:nvPr/>
          </p:nvSpPr>
          <p:spPr>
            <a:xfrm>
              <a:off x="3130543" y="5654090"/>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2" name="Rectangle: Rounded Corners 411">
              <a:extLst>
                <a:ext uri="{FF2B5EF4-FFF2-40B4-BE49-F238E27FC236}">
                  <a16:creationId xmlns:a16="http://schemas.microsoft.com/office/drawing/2014/main" id="{2C547B82-020B-4E67-90F8-885D863FE480}"/>
                </a:ext>
              </a:extLst>
            </p:cNvPr>
            <p:cNvSpPr/>
            <p:nvPr/>
          </p:nvSpPr>
          <p:spPr>
            <a:xfrm>
              <a:off x="3433652"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3" name="Rectangle: Rounded Corners 412">
              <a:extLst>
                <a:ext uri="{FF2B5EF4-FFF2-40B4-BE49-F238E27FC236}">
                  <a16:creationId xmlns:a16="http://schemas.microsoft.com/office/drawing/2014/main" id="{AD49CB11-0452-4156-9E59-6B6565EF4C24}"/>
                </a:ext>
              </a:extLst>
            </p:cNvPr>
            <p:cNvSpPr/>
            <p:nvPr/>
          </p:nvSpPr>
          <p:spPr>
            <a:xfrm>
              <a:off x="2827434" y="5921989"/>
              <a:ext cx="268448" cy="100668"/>
            </a:xfrm>
            <a:prstGeom prst="roundRect">
              <a:avLst/>
            </a:prstGeom>
            <a:solidFill>
              <a:srgbClr val="D61D1D"/>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4" name="Rectangle: Rounded Corners 413">
              <a:extLst>
                <a:ext uri="{FF2B5EF4-FFF2-40B4-BE49-F238E27FC236}">
                  <a16:creationId xmlns:a16="http://schemas.microsoft.com/office/drawing/2014/main" id="{18E45230-9BA8-4D43-986A-59EA1EA8EADF}"/>
                </a:ext>
              </a:extLst>
            </p:cNvPr>
            <p:cNvSpPr/>
            <p:nvPr/>
          </p:nvSpPr>
          <p:spPr>
            <a:xfrm>
              <a:off x="3130543" y="5921989"/>
              <a:ext cx="268448" cy="100668"/>
            </a:xfrm>
            <a:prstGeom prst="roundRect">
              <a:avLst/>
            </a:prstGeom>
            <a:solidFill>
              <a:srgbClr val="D61D1D"/>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5" name="Rectangle: Rounded Corners 414">
              <a:extLst>
                <a:ext uri="{FF2B5EF4-FFF2-40B4-BE49-F238E27FC236}">
                  <a16:creationId xmlns:a16="http://schemas.microsoft.com/office/drawing/2014/main" id="{8D0BABFD-0A36-4BA4-A315-28B8FD790002}"/>
                </a:ext>
              </a:extLst>
            </p:cNvPr>
            <p:cNvSpPr/>
            <p:nvPr/>
          </p:nvSpPr>
          <p:spPr>
            <a:xfrm>
              <a:off x="3433652" y="5921989"/>
              <a:ext cx="268448" cy="100668"/>
            </a:xfrm>
            <a:prstGeom prst="roundRect">
              <a:avLst/>
            </a:prstGeom>
            <a:solidFill>
              <a:srgbClr val="D61D1D"/>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16" name="Group 415">
            <a:extLst>
              <a:ext uri="{FF2B5EF4-FFF2-40B4-BE49-F238E27FC236}">
                <a16:creationId xmlns:a16="http://schemas.microsoft.com/office/drawing/2014/main" id="{21A944B5-2B0D-4A36-BA42-B93B26805ED6}"/>
              </a:ext>
            </a:extLst>
          </p:cNvPr>
          <p:cNvGrpSpPr/>
          <p:nvPr/>
        </p:nvGrpSpPr>
        <p:grpSpPr>
          <a:xfrm>
            <a:off x="10931039" y="5357290"/>
            <a:ext cx="874666" cy="627398"/>
            <a:chOff x="2827434" y="5395259"/>
            <a:chExt cx="874666" cy="627398"/>
          </a:xfrm>
        </p:grpSpPr>
        <p:sp>
          <p:nvSpPr>
            <p:cNvPr id="417" name="Rectangle: Rounded Corners 416">
              <a:extLst>
                <a:ext uri="{FF2B5EF4-FFF2-40B4-BE49-F238E27FC236}">
                  <a16:creationId xmlns:a16="http://schemas.microsoft.com/office/drawing/2014/main" id="{085E877B-0A5A-4A92-8116-627CABE1618A}"/>
                </a:ext>
              </a:extLst>
            </p:cNvPr>
            <p:cNvSpPr/>
            <p:nvPr/>
          </p:nvSpPr>
          <p:spPr>
            <a:xfrm>
              <a:off x="2827434" y="539525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8" name="Rectangle: Rounded Corners 417">
              <a:extLst>
                <a:ext uri="{FF2B5EF4-FFF2-40B4-BE49-F238E27FC236}">
                  <a16:creationId xmlns:a16="http://schemas.microsoft.com/office/drawing/2014/main" id="{09D73AEC-748D-465C-BEB4-9D5D5AC690A3}"/>
                </a:ext>
              </a:extLst>
            </p:cNvPr>
            <p:cNvSpPr/>
            <p:nvPr/>
          </p:nvSpPr>
          <p:spPr>
            <a:xfrm>
              <a:off x="3130543" y="539525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9" name="Rectangle: Rounded Corners 418">
              <a:extLst>
                <a:ext uri="{FF2B5EF4-FFF2-40B4-BE49-F238E27FC236}">
                  <a16:creationId xmlns:a16="http://schemas.microsoft.com/office/drawing/2014/main" id="{1D6C396F-B411-4377-B8AA-1600CB19680B}"/>
                </a:ext>
              </a:extLst>
            </p:cNvPr>
            <p:cNvSpPr/>
            <p:nvPr/>
          </p:nvSpPr>
          <p:spPr>
            <a:xfrm>
              <a:off x="3433652" y="539525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0" name="Rectangle: Rounded Corners 419">
              <a:extLst>
                <a:ext uri="{FF2B5EF4-FFF2-40B4-BE49-F238E27FC236}">
                  <a16:creationId xmlns:a16="http://schemas.microsoft.com/office/drawing/2014/main" id="{C4A99B83-69B6-42B3-914F-D697B197AE4A}"/>
                </a:ext>
              </a:extLst>
            </p:cNvPr>
            <p:cNvSpPr/>
            <p:nvPr/>
          </p:nvSpPr>
          <p:spPr>
            <a:xfrm>
              <a:off x="2827434" y="5654090"/>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1" name="Rectangle: Rounded Corners 420">
              <a:extLst>
                <a:ext uri="{FF2B5EF4-FFF2-40B4-BE49-F238E27FC236}">
                  <a16:creationId xmlns:a16="http://schemas.microsoft.com/office/drawing/2014/main" id="{52BF646D-A7AE-47A1-985C-D2AC4ACE1DD1}"/>
                </a:ext>
              </a:extLst>
            </p:cNvPr>
            <p:cNvSpPr/>
            <p:nvPr/>
          </p:nvSpPr>
          <p:spPr>
            <a:xfrm>
              <a:off x="3130543" y="5654090"/>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2" name="Rectangle: Rounded Corners 421">
              <a:extLst>
                <a:ext uri="{FF2B5EF4-FFF2-40B4-BE49-F238E27FC236}">
                  <a16:creationId xmlns:a16="http://schemas.microsoft.com/office/drawing/2014/main" id="{AC2B6A69-2712-48AF-8A67-4BF12DBC616E}"/>
                </a:ext>
              </a:extLst>
            </p:cNvPr>
            <p:cNvSpPr/>
            <p:nvPr/>
          </p:nvSpPr>
          <p:spPr>
            <a:xfrm>
              <a:off x="3433652" y="5654090"/>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3" name="Rectangle: Rounded Corners 422">
              <a:extLst>
                <a:ext uri="{FF2B5EF4-FFF2-40B4-BE49-F238E27FC236}">
                  <a16:creationId xmlns:a16="http://schemas.microsoft.com/office/drawing/2014/main" id="{51284B8F-6413-48BF-B5E6-E716ED3998D2}"/>
                </a:ext>
              </a:extLst>
            </p:cNvPr>
            <p:cNvSpPr/>
            <p:nvPr/>
          </p:nvSpPr>
          <p:spPr>
            <a:xfrm>
              <a:off x="2827434" y="592198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4" name="Rectangle: Rounded Corners 423">
              <a:extLst>
                <a:ext uri="{FF2B5EF4-FFF2-40B4-BE49-F238E27FC236}">
                  <a16:creationId xmlns:a16="http://schemas.microsoft.com/office/drawing/2014/main" id="{675E31D4-3541-4573-BDC0-7A30AA8F52A2}"/>
                </a:ext>
              </a:extLst>
            </p:cNvPr>
            <p:cNvSpPr/>
            <p:nvPr/>
          </p:nvSpPr>
          <p:spPr>
            <a:xfrm>
              <a:off x="3130543" y="5921989"/>
              <a:ext cx="268448" cy="100668"/>
            </a:xfrm>
            <a:prstGeom prst="roundRect">
              <a:avLst/>
            </a:prstGeom>
            <a:solidFill>
              <a:schemeClr val="accent4"/>
            </a:solid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5" name="Rectangle: Rounded Corners 424">
              <a:extLst>
                <a:ext uri="{FF2B5EF4-FFF2-40B4-BE49-F238E27FC236}">
                  <a16:creationId xmlns:a16="http://schemas.microsoft.com/office/drawing/2014/main" id="{D2942DF5-F4E9-4E91-B065-25DFD9858780}"/>
                </a:ext>
              </a:extLst>
            </p:cNvPr>
            <p:cNvSpPr/>
            <p:nvPr/>
          </p:nvSpPr>
          <p:spPr>
            <a:xfrm>
              <a:off x="3433652" y="5921989"/>
              <a:ext cx="268448" cy="100668"/>
            </a:xfrm>
            <a:prstGeom prst="roundRect">
              <a:avLst/>
            </a:prstGeom>
            <a:noFill/>
            <a:ln>
              <a:solidFill>
                <a:srgbClr val="040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0" name="TextBox 119">
            <a:extLst>
              <a:ext uri="{FF2B5EF4-FFF2-40B4-BE49-F238E27FC236}">
                <a16:creationId xmlns:a16="http://schemas.microsoft.com/office/drawing/2014/main" id="{E7D742BB-F3A8-4365-B1CB-DCC1836E83EF}"/>
              </a:ext>
            </a:extLst>
          </p:cNvPr>
          <p:cNvSpPr txBox="1"/>
          <p:nvPr/>
        </p:nvSpPr>
        <p:spPr>
          <a:xfrm>
            <a:off x="85105" y="817880"/>
            <a:ext cx="2817121" cy="338554"/>
          </a:xfrm>
          <a:prstGeom prst="rect">
            <a:avLst/>
          </a:prstGeom>
          <a:noFill/>
        </p:spPr>
        <p:txBody>
          <a:bodyPr wrap="square" rtlCol="0">
            <a:spAutoFit/>
          </a:bodyPr>
          <a:lstStyle/>
          <a:p>
            <a:r>
              <a:rPr lang="en-GB" sz="1600" b="1" dirty="0"/>
              <a:t>Guerrilla Marketing Strategies</a:t>
            </a:r>
          </a:p>
        </p:txBody>
      </p:sp>
    </p:spTree>
    <p:extLst>
      <p:ext uri="{BB962C8B-B14F-4D97-AF65-F5344CB8AC3E}">
        <p14:creationId xmlns:p14="http://schemas.microsoft.com/office/powerpoint/2010/main" val="4263553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grpSp>
        <p:nvGrpSpPr>
          <p:cNvPr id="460" name="Group 459">
            <a:extLst>
              <a:ext uri="{FF2B5EF4-FFF2-40B4-BE49-F238E27FC236}">
                <a16:creationId xmlns:a16="http://schemas.microsoft.com/office/drawing/2014/main" id="{C745554B-13D8-48F4-A587-59276185D854}"/>
              </a:ext>
            </a:extLst>
          </p:cNvPr>
          <p:cNvGrpSpPr/>
          <p:nvPr/>
        </p:nvGrpSpPr>
        <p:grpSpPr>
          <a:xfrm>
            <a:off x="65515" y="52817"/>
            <a:ext cx="307865" cy="238659"/>
            <a:chOff x="12605240" y="-37073"/>
            <a:chExt cx="6681054" cy="5179185"/>
          </a:xfrm>
          <a:solidFill>
            <a:srgbClr val="00162F"/>
          </a:solidFill>
        </p:grpSpPr>
        <p:sp>
          <p:nvSpPr>
            <p:cNvPr id="461" name="Rectangle 460">
              <a:extLst>
                <a:ext uri="{FF2B5EF4-FFF2-40B4-BE49-F238E27FC236}">
                  <a16:creationId xmlns:a16="http://schemas.microsoft.com/office/drawing/2014/main" id="{297F39F4-040A-4151-BE08-BF210C2FBF6E}"/>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1200" b="1" dirty="0"/>
            </a:p>
          </p:txBody>
        </p:sp>
        <p:sp>
          <p:nvSpPr>
            <p:cNvPr id="462" name="Rectangle 461">
              <a:extLst>
                <a:ext uri="{FF2B5EF4-FFF2-40B4-BE49-F238E27FC236}">
                  <a16:creationId xmlns:a16="http://schemas.microsoft.com/office/drawing/2014/main" id="{01282ED2-9B09-48F0-9A4A-A332CEFDD11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1200" b="1" dirty="0"/>
            </a:p>
          </p:txBody>
        </p:sp>
        <p:sp>
          <p:nvSpPr>
            <p:cNvPr id="463" name="Rectangle 462">
              <a:extLst>
                <a:ext uri="{FF2B5EF4-FFF2-40B4-BE49-F238E27FC236}">
                  <a16:creationId xmlns:a16="http://schemas.microsoft.com/office/drawing/2014/main" id="{1B7B7193-5F43-48A1-873B-194D9F961E78}"/>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1200" b="1" dirty="0"/>
            </a:p>
          </p:txBody>
        </p:sp>
        <p:sp>
          <p:nvSpPr>
            <p:cNvPr id="464" name="Rectangle 463">
              <a:extLst>
                <a:ext uri="{FF2B5EF4-FFF2-40B4-BE49-F238E27FC236}">
                  <a16:creationId xmlns:a16="http://schemas.microsoft.com/office/drawing/2014/main" id="{A3F77342-23AA-4BAC-AD81-FE1483988548}"/>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1200" b="1" dirty="0"/>
            </a:p>
          </p:txBody>
        </p:sp>
        <p:sp>
          <p:nvSpPr>
            <p:cNvPr id="465" name="Rectangle 464">
              <a:extLst>
                <a:ext uri="{FF2B5EF4-FFF2-40B4-BE49-F238E27FC236}">
                  <a16:creationId xmlns:a16="http://schemas.microsoft.com/office/drawing/2014/main" id="{9137F467-5F80-44C5-9BEC-367BDE3269E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dirty="0"/>
            </a:p>
          </p:txBody>
        </p:sp>
        <p:sp>
          <p:nvSpPr>
            <p:cNvPr id="466" name="Rectangle 465">
              <a:extLst>
                <a:ext uri="{FF2B5EF4-FFF2-40B4-BE49-F238E27FC236}">
                  <a16:creationId xmlns:a16="http://schemas.microsoft.com/office/drawing/2014/main" id="{E9B13CF5-299A-4F4D-84B7-98812B317882}"/>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dirty="0"/>
            </a:p>
          </p:txBody>
        </p:sp>
        <p:sp>
          <p:nvSpPr>
            <p:cNvPr id="467" name="Rectangle 466">
              <a:extLst>
                <a:ext uri="{FF2B5EF4-FFF2-40B4-BE49-F238E27FC236}">
                  <a16:creationId xmlns:a16="http://schemas.microsoft.com/office/drawing/2014/main" id="{13A35BEB-0086-4C47-838A-AC1B909853C5}"/>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dirty="0"/>
            </a:p>
          </p:txBody>
        </p:sp>
        <p:sp>
          <p:nvSpPr>
            <p:cNvPr id="468" name="Isosceles Triangle 467">
              <a:extLst>
                <a:ext uri="{FF2B5EF4-FFF2-40B4-BE49-F238E27FC236}">
                  <a16:creationId xmlns:a16="http://schemas.microsoft.com/office/drawing/2014/main" id="{47C20A3F-43BE-45EB-AB5B-73DFC938B230}"/>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1200" b="1" dirty="0"/>
            </a:p>
          </p:txBody>
        </p:sp>
      </p:grpSp>
      <p:sp>
        <p:nvSpPr>
          <p:cNvPr id="3" name="Rectangle: Top Corners Rounded 2">
            <a:extLst>
              <a:ext uri="{FF2B5EF4-FFF2-40B4-BE49-F238E27FC236}">
                <a16:creationId xmlns:a16="http://schemas.microsoft.com/office/drawing/2014/main" id="{1D08BA00-F360-4275-BA4B-AF2D4C6FC4DB}"/>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200" b="1" dirty="0"/>
              <a:t>xx</a:t>
            </a:r>
          </a:p>
        </p:txBody>
      </p:sp>
      <p:sp>
        <p:nvSpPr>
          <p:cNvPr id="4" name="Rectangle: Top Corners Rounded 3">
            <a:extLst>
              <a:ext uri="{FF2B5EF4-FFF2-40B4-BE49-F238E27FC236}">
                <a16:creationId xmlns:a16="http://schemas.microsoft.com/office/drawing/2014/main" id="{F7C4C0C8-61C3-4888-AD55-FE2035069218}"/>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200" b="1" dirty="0"/>
              <a:t>xx</a:t>
            </a:r>
          </a:p>
        </p:txBody>
      </p:sp>
      <p:sp>
        <p:nvSpPr>
          <p:cNvPr id="5" name="Rectangle: Top Corners Rounded 4">
            <a:extLst>
              <a:ext uri="{FF2B5EF4-FFF2-40B4-BE49-F238E27FC236}">
                <a16:creationId xmlns:a16="http://schemas.microsoft.com/office/drawing/2014/main" id="{C86E89A9-9420-47CE-AA95-5B36CCD09452}"/>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200" b="1" dirty="0"/>
              <a:t>xx</a:t>
            </a:r>
          </a:p>
        </p:txBody>
      </p:sp>
      <p:sp>
        <p:nvSpPr>
          <p:cNvPr id="6" name="Rectangle: Top Corners Rounded 5">
            <a:extLst>
              <a:ext uri="{FF2B5EF4-FFF2-40B4-BE49-F238E27FC236}">
                <a16:creationId xmlns:a16="http://schemas.microsoft.com/office/drawing/2014/main" id="{74E1475F-91F2-445F-A59D-E5BBEAD55207}"/>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200" b="1" dirty="0"/>
              <a:t>xx</a:t>
            </a:r>
          </a:p>
        </p:txBody>
      </p:sp>
      <p:sp>
        <p:nvSpPr>
          <p:cNvPr id="11" name="Arrow: Chevron 10">
            <a:extLst>
              <a:ext uri="{FF2B5EF4-FFF2-40B4-BE49-F238E27FC236}">
                <a16:creationId xmlns:a16="http://schemas.microsoft.com/office/drawing/2014/main" id="{3424FA4B-BDB0-478F-A245-93B3DD37BF02}"/>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16" name="Arrow: Chevron 15">
            <a:extLst>
              <a:ext uri="{FF2B5EF4-FFF2-40B4-BE49-F238E27FC236}">
                <a16:creationId xmlns:a16="http://schemas.microsoft.com/office/drawing/2014/main" id="{31541F7F-FFB8-49B8-B478-DA0C76953B75}"/>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17" name="Arrow: Chevron 16">
            <a:extLst>
              <a:ext uri="{FF2B5EF4-FFF2-40B4-BE49-F238E27FC236}">
                <a16:creationId xmlns:a16="http://schemas.microsoft.com/office/drawing/2014/main" id="{DD82E3BC-983A-4269-BEBD-CD0AA6EE1553}"/>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18" name="Rectangle: Top Corners Rounded 17">
            <a:extLst>
              <a:ext uri="{FF2B5EF4-FFF2-40B4-BE49-F238E27FC236}">
                <a16:creationId xmlns:a16="http://schemas.microsoft.com/office/drawing/2014/main" id="{67E03722-3EB4-4763-B329-90B1F0EA9C72}"/>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19" name="Rectangle: Top Corners Rounded 18">
            <a:extLst>
              <a:ext uri="{FF2B5EF4-FFF2-40B4-BE49-F238E27FC236}">
                <a16:creationId xmlns:a16="http://schemas.microsoft.com/office/drawing/2014/main" id="{2ADDE3F3-5F50-4E1D-A3E1-579C96DE2EE1}"/>
              </a:ext>
            </a:extLst>
          </p:cNvPr>
          <p:cNvSpPr/>
          <p:nvPr/>
        </p:nvSpPr>
        <p:spPr>
          <a:xfrm rot="5400000">
            <a:off x="3783505" y="-495289"/>
            <a:ext cx="180301"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20" name="Rectangle: Top Corners Rounded 19">
            <a:extLst>
              <a:ext uri="{FF2B5EF4-FFF2-40B4-BE49-F238E27FC236}">
                <a16:creationId xmlns:a16="http://schemas.microsoft.com/office/drawing/2014/main" id="{9E682618-FA59-42B2-85E0-6672D60499E7}"/>
              </a:ext>
            </a:extLst>
          </p:cNvPr>
          <p:cNvSpPr/>
          <p:nvPr/>
        </p:nvSpPr>
        <p:spPr>
          <a:xfrm rot="5400000">
            <a:off x="2404834"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1" name="Rectangle: Top Corners Rounded 20">
            <a:extLst>
              <a:ext uri="{FF2B5EF4-FFF2-40B4-BE49-F238E27FC236}">
                <a16:creationId xmlns:a16="http://schemas.microsoft.com/office/drawing/2014/main" id="{54BB9C47-1D39-4424-8787-9D1DA997D034}"/>
              </a:ext>
            </a:extLst>
          </p:cNvPr>
          <p:cNvSpPr/>
          <p:nvPr/>
        </p:nvSpPr>
        <p:spPr>
          <a:xfrm rot="5400000">
            <a:off x="1033234"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22" name="Arrow: Chevron 21">
            <a:extLst>
              <a:ext uri="{FF2B5EF4-FFF2-40B4-BE49-F238E27FC236}">
                <a16:creationId xmlns:a16="http://schemas.microsoft.com/office/drawing/2014/main" id="{6A09E22F-06A8-481E-8DD8-FA0FBEE41A49}"/>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23" name="Arrow: Chevron 22">
            <a:extLst>
              <a:ext uri="{FF2B5EF4-FFF2-40B4-BE49-F238E27FC236}">
                <a16:creationId xmlns:a16="http://schemas.microsoft.com/office/drawing/2014/main" id="{815ED96E-BBB1-434F-A681-C0F01EDD8BD9}"/>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24" name="Arrow: Chevron 23">
            <a:extLst>
              <a:ext uri="{FF2B5EF4-FFF2-40B4-BE49-F238E27FC236}">
                <a16:creationId xmlns:a16="http://schemas.microsoft.com/office/drawing/2014/main" id="{1D93BC59-9480-4CB2-8C1A-DC2F1F8BD926}"/>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25" name="Rectangle: Top Corners Rounded 24">
            <a:extLst>
              <a:ext uri="{FF2B5EF4-FFF2-40B4-BE49-F238E27FC236}">
                <a16:creationId xmlns:a16="http://schemas.microsoft.com/office/drawing/2014/main" id="{1D20F66E-9BD0-4C1F-9E1A-8D6B7664B7ED}"/>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26" name="Arrow: Chevron 25">
            <a:extLst>
              <a:ext uri="{FF2B5EF4-FFF2-40B4-BE49-F238E27FC236}">
                <a16:creationId xmlns:a16="http://schemas.microsoft.com/office/drawing/2014/main" id="{8A3083D0-40F8-4A69-8F7E-FD3DC7E1D2A6}"/>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27" name="Arrow: Chevron 26">
            <a:extLst>
              <a:ext uri="{FF2B5EF4-FFF2-40B4-BE49-F238E27FC236}">
                <a16:creationId xmlns:a16="http://schemas.microsoft.com/office/drawing/2014/main" id="{B3A4704A-8C5C-4A9F-B761-569874E1CAA5}"/>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tx1"/>
              </a:solidFill>
            </a:endParaRPr>
          </a:p>
        </p:txBody>
      </p:sp>
      <p:sp>
        <p:nvSpPr>
          <p:cNvPr id="29" name="Rectangle 28">
            <a:extLst>
              <a:ext uri="{FF2B5EF4-FFF2-40B4-BE49-F238E27FC236}">
                <a16:creationId xmlns:a16="http://schemas.microsoft.com/office/drawing/2014/main" id="{6764A419-629C-46A1-A683-A19EDAA8E1FD}"/>
              </a:ext>
            </a:extLst>
          </p:cNvPr>
          <p:cNvSpPr/>
          <p:nvPr/>
        </p:nvSpPr>
        <p:spPr>
          <a:xfrm>
            <a:off x="205829" y="2009508"/>
            <a:ext cx="1413246" cy="532355"/>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Impressions (in lacs)</a:t>
            </a:r>
          </a:p>
        </p:txBody>
      </p:sp>
      <p:sp>
        <p:nvSpPr>
          <p:cNvPr id="30" name="Rectangle 29">
            <a:extLst>
              <a:ext uri="{FF2B5EF4-FFF2-40B4-BE49-F238E27FC236}">
                <a16:creationId xmlns:a16="http://schemas.microsoft.com/office/drawing/2014/main" id="{43E044BA-8223-490D-A3AE-C73AE73B029E}"/>
              </a:ext>
            </a:extLst>
          </p:cNvPr>
          <p:cNvSpPr/>
          <p:nvPr/>
        </p:nvSpPr>
        <p:spPr>
          <a:xfrm>
            <a:off x="205829" y="2598135"/>
            <a:ext cx="1413246" cy="42329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CTR</a:t>
            </a:r>
          </a:p>
        </p:txBody>
      </p:sp>
      <p:sp>
        <p:nvSpPr>
          <p:cNvPr id="31" name="Rectangle 30">
            <a:extLst>
              <a:ext uri="{FF2B5EF4-FFF2-40B4-BE49-F238E27FC236}">
                <a16:creationId xmlns:a16="http://schemas.microsoft.com/office/drawing/2014/main" id="{67A06A95-973A-497A-8A3D-CAB73A885B7E}"/>
              </a:ext>
            </a:extLst>
          </p:cNvPr>
          <p:cNvSpPr/>
          <p:nvPr/>
        </p:nvSpPr>
        <p:spPr>
          <a:xfrm>
            <a:off x="205829" y="3119650"/>
            <a:ext cx="1413246" cy="42329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Reach</a:t>
            </a:r>
          </a:p>
        </p:txBody>
      </p:sp>
      <p:sp>
        <p:nvSpPr>
          <p:cNvPr id="32" name="Rectangle 31">
            <a:extLst>
              <a:ext uri="{FF2B5EF4-FFF2-40B4-BE49-F238E27FC236}">
                <a16:creationId xmlns:a16="http://schemas.microsoft.com/office/drawing/2014/main" id="{FEC22868-A645-4B6E-A865-83990A89E2B0}"/>
              </a:ext>
            </a:extLst>
          </p:cNvPr>
          <p:cNvSpPr/>
          <p:nvPr/>
        </p:nvSpPr>
        <p:spPr>
          <a:xfrm>
            <a:off x="205829" y="4848825"/>
            <a:ext cx="1413246" cy="147611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Strategy</a:t>
            </a:r>
          </a:p>
        </p:txBody>
      </p:sp>
      <p:sp>
        <p:nvSpPr>
          <p:cNvPr id="33" name="Rectangle 32">
            <a:extLst>
              <a:ext uri="{FF2B5EF4-FFF2-40B4-BE49-F238E27FC236}">
                <a16:creationId xmlns:a16="http://schemas.microsoft.com/office/drawing/2014/main" id="{8175F1BD-A6AE-48DF-8EA2-B15CF8B09721}"/>
              </a:ext>
            </a:extLst>
          </p:cNvPr>
          <p:cNvSpPr/>
          <p:nvPr/>
        </p:nvSpPr>
        <p:spPr>
          <a:xfrm>
            <a:off x="1619075" y="1997968"/>
            <a:ext cx="7222713" cy="543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4" name="Rectangle 33">
            <a:extLst>
              <a:ext uri="{FF2B5EF4-FFF2-40B4-BE49-F238E27FC236}">
                <a16:creationId xmlns:a16="http://schemas.microsoft.com/office/drawing/2014/main" id="{A5D0A4C1-9900-4C2F-AE54-82C205799F0C}"/>
              </a:ext>
            </a:extLst>
          </p:cNvPr>
          <p:cNvSpPr/>
          <p:nvPr/>
        </p:nvSpPr>
        <p:spPr>
          <a:xfrm>
            <a:off x="1619076" y="2624846"/>
            <a:ext cx="7222712" cy="4232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35" name="Rectangle 34">
            <a:extLst>
              <a:ext uri="{FF2B5EF4-FFF2-40B4-BE49-F238E27FC236}">
                <a16:creationId xmlns:a16="http://schemas.microsoft.com/office/drawing/2014/main" id="{6E6848C5-FC98-4F44-8F3B-7C485AF5015A}"/>
              </a:ext>
            </a:extLst>
          </p:cNvPr>
          <p:cNvSpPr/>
          <p:nvPr/>
        </p:nvSpPr>
        <p:spPr>
          <a:xfrm>
            <a:off x="1619076" y="3131190"/>
            <a:ext cx="7222712" cy="4232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36" name="Rectangle 35">
            <a:extLst>
              <a:ext uri="{FF2B5EF4-FFF2-40B4-BE49-F238E27FC236}">
                <a16:creationId xmlns:a16="http://schemas.microsoft.com/office/drawing/2014/main" id="{7A8505AC-2141-4DF8-925F-F14C339727D8}"/>
              </a:ext>
            </a:extLst>
          </p:cNvPr>
          <p:cNvSpPr/>
          <p:nvPr/>
        </p:nvSpPr>
        <p:spPr>
          <a:xfrm>
            <a:off x="1619076" y="4848825"/>
            <a:ext cx="7222712" cy="147611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37" name="TextBox 36">
            <a:extLst>
              <a:ext uri="{FF2B5EF4-FFF2-40B4-BE49-F238E27FC236}">
                <a16:creationId xmlns:a16="http://schemas.microsoft.com/office/drawing/2014/main" id="{EB2A4057-0130-4D6E-ACEF-DDCF611C9EEC}"/>
              </a:ext>
            </a:extLst>
          </p:cNvPr>
          <p:cNvSpPr txBox="1"/>
          <p:nvPr/>
        </p:nvSpPr>
        <p:spPr>
          <a:xfrm>
            <a:off x="2230094" y="2089348"/>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10/video</a:t>
            </a:r>
          </a:p>
        </p:txBody>
      </p:sp>
      <p:sp>
        <p:nvSpPr>
          <p:cNvPr id="38" name="TextBox 37">
            <a:extLst>
              <a:ext uri="{FF2B5EF4-FFF2-40B4-BE49-F238E27FC236}">
                <a16:creationId xmlns:a16="http://schemas.microsoft.com/office/drawing/2014/main" id="{3313536A-7BEE-4B92-A02A-B073745C315C}"/>
              </a:ext>
            </a:extLst>
          </p:cNvPr>
          <p:cNvSpPr txBox="1"/>
          <p:nvPr/>
        </p:nvSpPr>
        <p:spPr>
          <a:xfrm>
            <a:off x="2381714" y="2655895"/>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0.33%</a:t>
            </a:r>
          </a:p>
        </p:txBody>
      </p:sp>
      <p:sp>
        <p:nvSpPr>
          <p:cNvPr id="39" name="TextBox 38">
            <a:extLst>
              <a:ext uri="{FF2B5EF4-FFF2-40B4-BE49-F238E27FC236}">
                <a16:creationId xmlns:a16="http://schemas.microsoft.com/office/drawing/2014/main" id="{ECE2FA99-C4B6-4028-9AC6-7B6BEB92B539}"/>
              </a:ext>
            </a:extLst>
          </p:cNvPr>
          <p:cNvSpPr txBox="1"/>
          <p:nvPr/>
        </p:nvSpPr>
        <p:spPr>
          <a:xfrm>
            <a:off x="2088043" y="3166381"/>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3000-5000 / video</a:t>
            </a:r>
          </a:p>
        </p:txBody>
      </p:sp>
      <p:sp>
        <p:nvSpPr>
          <p:cNvPr id="40" name="TextBox 39">
            <a:extLst>
              <a:ext uri="{FF2B5EF4-FFF2-40B4-BE49-F238E27FC236}">
                <a16:creationId xmlns:a16="http://schemas.microsoft.com/office/drawing/2014/main" id="{7243D633-56AA-4431-82BA-AF0766277F83}"/>
              </a:ext>
            </a:extLst>
          </p:cNvPr>
          <p:cNvSpPr txBox="1"/>
          <p:nvPr/>
        </p:nvSpPr>
        <p:spPr>
          <a:xfrm>
            <a:off x="1826446" y="5181851"/>
            <a:ext cx="197889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Advertising on channels like Autocar India with customer segments limited by cities</a:t>
            </a:r>
          </a:p>
        </p:txBody>
      </p:sp>
      <p:sp>
        <p:nvSpPr>
          <p:cNvPr id="41" name="TextBox 40">
            <a:extLst>
              <a:ext uri="{FF2B5EF4-FFF2-40B4-BE49-F238E27FC236}">
                <a16:creationId xmlns:a16="http://schemas.microsoft.com/office/drawing/2014/main" id="{8F882D3A-BBE7-4A87-97E7-0F490B098E52}"/>
              </a:ext>
            </a:extLst>
          </p:cNvPr>
          <p:cNvSpPr txBox="1"/>
          <p:nvPr/>
        </p:nvSpPr>
        <p:spPr>
          <a:xfrm>
            <a:off x="4457400" y="2089347"/>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15-30/promotion</a:t>
            </a:r>
          </a:p>
        </p:txBody>
      </p:sp>
      <p:sp>
        <p:nvSpPr>
          <p:cNvPr id="42" name="TextBox 41">
            <a:extLst>
              <a:ext uri="{FF2B5EF4-FFF2-40B4-BE49-F238E27FC236}">
                <a16:creationId xmlns:a16="http://schemas.microsoft.com/office/drawing/2014/main" id="{0DE12328-0BFD-44E3-BF3A-A380452E6714}"/>
              </a:ext>
            </a:extLst>
          </p:cNvPr>
          <p:cNvSpPr txBox="1"/>
          <p:nvPr/>
        </p:nvSpPr>
        <p:spPr>
          <a:xfrm>
            <a:off x="4761708" y="2665301"/>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0.8%</a:t>
            </a:r>
          </a:p>
        </p:txBody>
      </p:sp>
      <p:sp>
        <p:nvSpPr>
          <p:cNvPr id="43" name="Rectangle 42">
            <a:extLst>
              <a:ext uri="{FF2B5EF4-FFF2-40B4-BE49-F238E27FC236}">
                <a16:creationId xmlns:a16="http://schemas.microsoft.com/office/drawing/2014/main" id="{E2C375A7-B7B7-4EC6-A041-F001DD2C545A}"/>
              </a:ext>
            </a:extLst>
          </p:cNvPr>
          <p:cNvSpPr/>
          <p:nvPr/>
        </p:nvSpPr>
        <p:spPr>
          <a:xfrm>
            <a:off x="205829" y="3655783"/>
            <a:ext cx="1413246" cy="42329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CPC/CPM</a:t>
            </a:r>
          </a:p>
        </p:txBody>
      </p:sp>
      <p:sp>
        <p:nvSpPr>
          <p:cNvPr id="44" name="Rectangle 43">
            <a:extLst>
              <a:ext uri="{FF2B5EF4-FFF2-40B4-BE49-F238E27FC236}">
                <a16:creationId xmlns:a16="http://schemas.microsoft.com/office/drawing/2014/main" id="{2A279AAE-3E57-4F7F-ACA3-98EA75CC968F}"/>
              </a:ext>
            </a:extLst>
          </p:cNvPr>
          <p:cNvSpPr/>
          <p:nvPr/>
        </p:nvSpPr>
        <p:spPr>
          <a:xfrm>
            <a:off x="1619076" y="3667323"/>
            <a:ext cx="7222712" cy="4232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45" name="TextBox 44">
            <a:extLst>
              <a:ext uri="{FF2B5EF4-FFF2-40B4-BE49-F238E27FC236}">
                <a16:creationId xmlns:a16="http://schemas.microsoft.com/office/drawing/2014/main" id="{6A44090A-881F-47A3-8524-ACF58176EEA5}"/>
              </a:ext>
            </a:extLst>
          </p:cNvPr>
          <p:cNvSpPr txBox="1"/>
          <p:nvPr/>
        </p:nvSpPr>
        <p:spPr>
          <a:xfrm>
            <a:off x="2292573" y="3719725"/>
            <a:ext cx="11953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Rs 15-25</a:t>
            </a:r>
          </a:p>
        </p:txBody>
      </p:sp>
      <p:sp>
        <p:nvSpPr>
          <p:cNvPr id="46" name="Rectangle 45">
            <a:extLst>
              <a:ext uri="{FF2B5EF4-FFF2-40B4-BE49-F238E27FC236}">
                <a16:creationId xmlns:a16="http://schemas.microsoft.com/office/drawing/2014/main" id="{825E37C9-C36F-4C35-BC10-3C2ACD31035D}"/>
              </a:ext>
            </a:extLst>
          </p:cNvPr>
          <p:cNvSpPr/>
          <p:nvPr/>
        </p:nvSpPr>
        <p:spPr>
          <a:xfrm>
            <a:off x="205829" y="4210101"/>
            <a:ext cx="1413246" cy="496123"/>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Estimated Cost</a:t>
            </a:r>
          </a:p>
        </p:txBody>
      </p:sp>
      <p:sp>
        <p:nvSpPr>
          <p:cNvPr id="47" name="Rectangle 46">
            <a:extLst>
              <a:ext uri="{FF2B5EF4-FFF2-40B4-BE49-F238E27FC236}">
                <a16:creationId xmlns:a16="http://schemas.microsoft.com/office/drawing/2014/main" id="{4838FE3C-135F-4CB3-AF23-0CE84E042B82}"/>
              </a:ext>
            </a:extLst>
          </p:cNvPr>
          <p:cNvSpPr/>
          <p:nvPr/>
        </p:nvSpPr>
        <p:spPr>
          <a:xfrm>
            <a:off x="1619076" y="4221641"/>
            <a:ext cx="7222712" cy="47523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cxnSp>
        <p:nvCxnSpPr>
          <p:cNvPr id="48" name="Straight Connector 47">
            <a:extLst>
              <a:ext uri="{FF2B5EF4-FFF2-40B4-BE49-F238E27FC236}">
                <a16:creationId xmlns:a16="http://schemas.microsoft.com/office/drawing/2014/main" id="{6DCAB5FC-FBE4-4276-B926-402998D152A8}"/>
              </a:ext>
            </a:extLst>
          </p:cNvPr>
          <p:cNvCxnSpPr>
            <a:cxnSpLocks/>
          </p:cNvCxnSpPr>
          <p:nvPr/>
        </p:nvCxnSpPr>
        <p:spPr>
          <a:xfrm>
            <a:off x="3891675" y="1074680"/>
            <a:ext cx="0" cy="5230844"/>
          </a:xfrm>
          <a:prstGeom prst="line">
            <a:avLst/>
          </a:prstGeom>
          <a:ln w="19050">
            <a:solidFill>
              <a:srgbClr val="00162F"/>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B018322-DECA-46A6-BB73-DEEA6ED9A97B}"/>
              </a:ext>
            </a:extLst>
          </p:cNvPr>
          <p:cNvCxnSpPr>
            <a:cxnSpLocks/>
          </p:cNvCxnSpPr>
          <p:nvPr/>
        </p:nvCxnSpPr>
        <p:spPr>
          <a:xfrm>
            <a:off x="6434937" y="1074680"/>
            <a:ext cx="0" cy="5230844"/>
          </a:xfrm>
          <a:prstGeom prst="line">
            <a:avLst/>
          </a:prstGeom>
          <a:ln w="19050">
            <a:solidFill>
              <a:srgbClr val="00162F"/>
            </a:solidFill>
            <a:prstDash val="sysDot"/>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9739BC2C-030F-43D5-9D2B-CA48A10BF26C}"/>
              </a:ext>
            </a:extLst>
          </p:cNvPr>
          <p:cNvSpPr txBox="1"/>
          <p:nvPr/>
        </p:nvSpPr>
        <p:spPr>
          <a:xfrm>
            <a:off x="2000293" y="4311186"/>
            <a:ext cx="171871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Rs 40k-50k/video</a:t>
            </a:r>
          </a:p>
        </p:txBody>
      </p:sp>
      <p:sp>
        <p:nvSpPr>
          <p:cNvPr id="51" name="TextBox 50">
            <a:extLst>
              <a:ext uri="{FF2B5EF4-FFF2-40B4-BE49-F238E27FC236}">
                <a16:creationId xmlns:a16="http://schemas.microsoft.com/office/drawing/2014/main" id="{B45CE55F-8CE8-42C2-BE50-0171F7E481F0}"/>
              </a:ext>
            </a:extLst>
          </p:cNvPr>
          <p:cNvSpPr txBox="1"/>
          <p:nvPr/>
        </p:nvSpPr>
        <p:spPr>
          <a:xfrm>
            <a:off x="4443028" y="3149241"/>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10k-30k/promotion</a:t>
            </a:r>
          </a:p>
        </p:txBody>
      </p:sp>
      <p:pic>
        <p:nvPicPr>
          <p:cNvPr id="52" name="Picture 4" descr="Instagram Prototypes “Latest Posts” Feature | Inventiva">
            <a:extLst>
              <a:ext uri="{FF2B5EF4-FFF2-40B4-BE49-F238E27FC236}">
                <a16:creationId xmlns:a16="http://schemas.microsoft.com/office/drawing/2014/main" id="{1F9BF3D6-45F7-4D3C-841D-07255F763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8359" y="1220550"/>
            <a:ext cx="909598" cy="50937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Facebook - Home | Facebook">
            <a:extLst>
              <a:ext uri="{FF2B5EF4-FFF2-40B4-BE49-F238E27FC236}">
                <a16:creationId xmlns:a16="http://schemas.microsoft.com/office/drawing/2014/main" id="{46F5BB8B-688A-4B68-8B4B-5CE45FBC8A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255" y="1225014"/>
            <a:ext cx="574515" cy="574515"/>
          </a:xfrm>
          <a:prstGeom prst="rect">
            <a:avLst/>
          </a:prstGeom>
          <a:noFill/>
          <a:extLst>
            <a:ext uri="{909E8E84-426E-40DD-AFC4-6F175D3DCCD1}">
              <a14:hiddenFill xmlns:a14="http://schemas.microsoft.com/office/drawing/2010/main">
                <a:solidFill>
                  <a:srgbClr val="FFFFFF"/>
                </a:solidFill>
              </a14:hiddenFill>
            </a:ext>
          </a:extLst>
        </p:spPr>
      </p:pic>
      <p:cxnSp>
        <p:nvCxnSpPr>
          <p:cNvPr id="54" name="Straight Connector 53">
            <a:extLst>
              <a:ext uri="{FF2B5EF4-FFF2-40B4-BE49-F238E27FC236}">
                <a16:creationId xmlns:a16="http://schemas.microsoft.com/office/drawing/2014/main" id="{83BB0B8A-AD31-4C0E-9281-9E8905C7E3B5}"/>
              </a:ext>
            </a:extLst>
          </p:cNvPr>
          <p:cNvCxnSpPr>
            <a:cxnSpLocks/>
          </p:cNvCxnSpPr>
          <p:nvPr/>
        </p:nvCxnSpPr>
        <p:spPr>
          <a:xfrm>
            <a:off x="8841788" y="1208284"/>
            <a:ext cx="0" cy="5230844"/>
          </a:xfrm>
          <a:prstGeom prst="line">
            <a:avLst/>
          </a:prstGeom>
          <a:ln w="19050">
            <a:solidFill>
              <a:srgbClr val="00162F"/>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89F9AAE-8576-42B5-9738-26A766F9E8CF}"/>
              </a:ext>
            </a:extLst>
          </p:cNvPr>
          <p:cNvSpPr txBox="1"/>
          <p:nvPr/>
        </p:nvSpPr>
        <p:spPr>
          <a:xfrm>
            <a:off x="4330022" y="4325831"/>
            <a:ext cx="174585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 1.5 lac/promotion</a:t>
            </a:r>
          </a:p>
        </p:txBody>
      </p:sp>
      <p:sp>
        <p:nvSpPr>
          <p:cNvPr id="56" name="TextBox 55">
            <a:extLst>
              <a:ext uri="{FF2B5EF4-FFF2-40B4-BE49-F238E27FC236}">
                <a16:creationId xmlns:a16="http://schemas.microsoft.com/office/drawing/2014/main" id="{720355C8-104C-4269-8B1C-3341AF05E8DC}"/>
              </a:ext>
            </a:extLst>
          </p:cNvPr>
          <p:cNvSpPr txBox="1"/>
          <p:nvPr/>
        </p:nvSpPr>
        <p:spPr>
          <a:xfrm>
            <a:off x="3952164" y="5047172"/>
            <a:ext cx="232559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Advertising with geo-fencing and specific age groups. Keywords to target can be automobile company and other car related interests</a:t>
            </a:r>
          </a:p>
        </p:txBody>
      </p:sp>
      <p:sp>
        <p:nvSpPr>
          <p:cNvPr id="57" name="TextBox 56">
            <a:extLst>
              <a:ext uri="{FF2B5EF4-FFF2-40B4-BE49-F238E27FC236}">
                <a16:creationId xmlns:a16="http://schemas.microsoft.com/office/drawing/2014/main" id="{F307F51B-2394-4E1F-B518-08EEB923EFC8}"/>
              </a:ext>
            </a:extLst>
          </p:cNvPr>
          <p:cNvSpPr txBox="1"/>
          <p:nvPr/>
        </p:nvSpPr>
        <p:spPr>
          <a:xfrm>
            <a:off x="6822394" y="2120629"/>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20-30/promotion</a:t>
            </a:r>
          </a:p>
        </p:txBody>
      </p:sp>
      <p:sp>
        <p:nvSpPr>
          <p:cNvPr id="58" name="TextBox 57">
            <a:extLst>
              <a:ext uri="{FF2B5EF4-FFF2-40B4-BE49-F238E27FC236}">
                <a16:creationId xmlns:a16="http://schemas.microsoft.com/office/drawing/2014/main" id="{210AF95D-4D5E-4ACE-AD28-E3CD77058D25}"/>
              </a:ext>
            </a:extLst>
          </p:cNvPr>
          <p:cNvSpPr txBox="1"/>
          <p:nvPr/>
        </p:nvSpPr>
        <p:spPr>
          <a:xfrm>
            <a:off x="6822394" y="4311186"/>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~2 lac/promotion</a:t>
            </a:r>
          </a:p>
        </p:txBody>
      </p:sp>
      <p:sp>
        <p:nvSpPr>
          <p:cNvPr id="59" name="TextBox 58">
            <a:extLst>
              <a:ext uri="{FF2B5EF4-FFF2-40B4-BE49-F238E27FC236}">
                <a16:creationId xmlns:a16="http://schemas.microsoft.com/office/drawing/2014/main" id="{9018FBEC-1263-415D-9A7E-CB789CD4E714}"/>
              </a:ext>
            </a:extLst>
          </p:cNvPr>
          <p:cNvSpPr txBox="1"/>
          <p:nvPr/>
        </p:nvSpPr>
        <p:spPr>
          <a:xfrm>
            <a:off x="6822394" y="3155560"/>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10k-30k/promotion</a:t>
            </a:r>
          </a:p>
        </p:txBody>
      </p:sp>
      <p:sp>
        <p:nvSpPr>
          <p:cNvPr id="60" name="TextBox 59">
            <a:extLst>
              <a:ext uri="{FF2B5EF4-FFF2-40B4-BE49-F238E27FC236}">
                <a16:creationId xmlns:a16="http://schemas.microsoft.com/office/drawing/2014/main" id="{52043DEB-25B7-43CD-977A-0F2B45B2AE21}"/>
              </a:ext>
            </a:extLst>
          </p:cNvPr>
          <p:cNvSpPr txBox="1"/>
          <p:nvPr/>
        </p:nvSpPr>
        <p:spPr>
          <a:xfrm>
            <a:off x="6822394" y="2661996"/>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0.6%</a:t>
            </a:r>
          </a:p>
        </p:txBody>
      </p:sp>
      <p:sp>
        <p:nvSpPr>
          <p:cNvPr id="61" name="TextBox 60">
            <a:extLst>
              <a:ext uri="{FF2B5EF4-FFF2-40B4-BE49-F238E27FC236}">
                <a16:creationId xmlns:a16="http://schemas.microsoft.com/office/drawing/2014/main" id="{0C5292D8-475F-4AE5-99A8-CCCEB8D99ED5}"/>
              </a:ext>
            </a:extLst>
          </p:cNvPr>
          <p:cNvSpPr txBox="1"/>
          <p:nvPr/>
        </p:nvSpPr>
        <p:spPr>
          <a:xfrm>
            <a:off x="6405295" y="4936931"/>
            <a:ext cx="243649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Similar to Instagram’s strategy of hyperlocal targeting. Interests can be expanded based on groups and common search keywords used by consumers</a:t>
            </a:r>
          </a:p>
        </p:txBody>
      </p:sp>
      <p:sp>
        <p:nvSpPr>
          <p:cNvPr id="62" name="Rectangle 61">
            <a:extLst>
              <a:ext uri="{FF2B5EF4-FFF2-40B4-BE49-F238E27FC236}">
                <a16:creationId xmlns:a16="http://schemas.microsoft.com/office/drawing/2014/main" id="{EC615BA1-6291-44B3-B4CE-F18E493E7CEA}"/>
              </a:ext>
            </a:extLst>
          </p:cNvPr>
          <p:cNvSpPr/>
          <p:nvPr/>
        </p:nvSpPr>
        <p:spPr>
          <a:xfrm>
            <a:off x="9084972" y="1703988"/>
            <a:ext cx="2697913" cy="44251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60325" algn="ctr"/>
            <a:endParaRPr lang="en-GB" sz="1200" b="1" dirty="0">
              <a:solidFill>
                <a:schemeClr val="tx1"/>
              </a:solidFill>
            </a:endParaRPr>
          </a:p>
        </p:txBody>
      </p:sp>
      <p:sp>
        <p:nvSpPr>
          <p:cNvPr id="63" name="Rectangle 62">
            <a:extLst>
              <a:ext uri="{FF2B5EF4-FFF2-40B4-BE49-F238E27FC236}">
                <a16:creationId xmlns:a16="http://schemas.microsoft.com/office/drawing/2014/main" id="{8DD7CB29-53B1-431B-BA63-2984026A0518}"/>
              </a:ext>
            </a:extLst>
          </p:cNvPr>
          <p:cNvSpPr/>
          <p:nvPr/>
        </p:nvSpPr>
        <p:spPr>
          <a:xfrm>
            <a:off x="9073759" y="1399793"/>
            <a:ext cx="2697946"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200" b="1" dirty="0"/>
              <a:t>Cost-Effective Media Strategy</a:t>
            </a:r>
          </a:p>
        </p:txBody>
      </p:sp>
      <p:pic>
        <p:nvPicPr>
          <p:cNvPr id="64" name="Picture 4" descr="Instagram Prototypes “Latest Posts” Feature | Inventiva">
            <a:extLst>
              <a:ext uri="{FF2B5EF4-FFF2-40B4-BE49-F238E27FC236}">
                <a16:creationId xmlns:a16="http://schemas.microsoft.com/office/drawing/2014/main" id="{8927D57C-44AF-42BC-AEAA-A29410B1E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5471" y="2963672"/>
            <a:ext cx="697831" cy="39078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 descr="Facebook - Home | Facebook">
            <a:extLst>
              <a:ext uri="{FF2B5EF4-FFF2-40B4-BE49-F238E27FC236}">
                <a16:creationId xmlns:a16="http://schemas.microsoft.com/office/drawing/2014/main" id="{1D05EDA7-2DA2-44F2-A85A-78B0FF48A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1086" y="2365898"/>
            <a:ext cx="446600" cy="44660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6" descr="Youtube PNG images free download">
            <a:extLst>
              <a:ext uri="{FF2B5EF4-FFF2-40B4-BE49-F238E27FC236}">
                <a16:creationId xmlns:a16="http://schemas.microsoft.com/office/drawing/2014/main" id="{40E98420-F940-4A0A-88C6-7F1AD4E14D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5471" y="1779059"/>
            <a:ext cx="697831" cy="697831"/>
          </a:xfrm>
          <a:prstGeom prst="rect">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95BE0508-1138-4493-A7D5-216B890140E7}"/>
              </a:ext>
            </a:extLst>
          </p:cNvPr>
          <p:cNvSpPr txBox="1"/>
          <p:nvPr/>
        </p:nvSpPr>
        <p:spPr>
          <a:xfrm>
            <a:off x="5007576" y="3729110"/>
            <a:ext cx="11953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t>
            </a:r>
          </a:p>
        </p:txBody>
      </p:sp>
      <p:sp>
        <p:nvSpPr>
          <p:cNvPr id="68" name="TextBox 67">
            <a:extLst>
              <a:ext uri="{FF2B5EF4-FFF2-40B4-BE49-F238E27FC236}">
                <a16:creationId xmlns:a16="http://schemas.microsoft.com/office/drawing/2014/main" id="{4FE08EB9-B7E5-4369-84AD-C7E2247F7313}"/>
              </a:ext>
            </a:extLst>
          </p:cNvPr>
          <p:cNvSpPr txBox="1"/>
          <p:nvPr/>
        </p:nvSpPr>
        <p:spPr>
          <a:xfrm>
            <a:off x="7564440" y="3678863"/>
            <a:ext cx="11953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t>
            </a:r>
          </a:p>
        </p:txBody>
      </p:sp>
      <p:pic>
        <p:nvPicPr>
          <p:cNvPr id="69" name="Picture 18" descr="Google Ads - Wikipedia">
            <a:extLst>
              <a:ext uri="{FF2B5EF4-FFF2-40B4-BE49-F238E27FC236}">
                <a16:creationId xmlns:a16="http://schemas.microsoft.com/office/drawing/2014/main" id="{0DC52A14-83E6-4FCC-8BFB-E0E95A3F86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5208" y="3554890"/>
            <a:ext cx="446512" cy="557585"/>
          </a:xfrm>
          <a:prstGeom prst="rect">
            <a:avLst/>
          </a:prstGeom>
          <a:noFill/>
          <a:extLst>
            <a:ext uri="{909E8E84-426E-40DD-AFC4-6F175D3DCCD1}">
              <a14:hiddenFill xmlns:a14="http://schemas.microsoft.com/office/drawing/2010/main">
                <a:solidFill>
                  <a:srgbClr val="FFFFFF"/>
                </a:solidFill>
              </a14:hiddenFill>
            </a:ext>
          </a:extLst>
        </p:spPr>
      </p:pic>
      <p:cxnSp>
        <p:nvCxnSpPr>
          <p:cNvPr id="70" name="Straight Connector 69">
            <a:extLst>
              <a:ext uri="{FF2B5EF4-FFF2-40B4-BE49-F238E27FC236}">
                <a16:creationId xmlns:a16="http://schemas.microsoft.com/office/drawing/2014/main" id="{C36E5952-DA3A-4DA1-BE47-009AED6AEEB1}"/>
              </a:ext>
            </a:extLst>
          </p:cNvPr>
          <p:cNvCxnSpPr>
            <a:cxnSpLocks/>
          </p:cNvCxnSpPr>
          <p:nvPr/>
        </p:nvCxnSpPr>
        <p:spPr>
          <a:xfrm flipV="1">
            <a:off x="9397163" y="2060564"/>
            <a:ext cx="421241" cy="1125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FCAE7EB-C38A-4D7C-BE35-0FC14235D10F}"/>
              </a:ext>
            </a:extLst>
          </p:cNvPr>
          <p:cNvCxnSpPr/>
          <p:nvPr/>
        </p:nvCxnSpPr>
        <p:spPr>
          <a:xfrm>
            <a:off x="9818404" y="2060564"/>
            <a:ext cx="8688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9EFA136-A54E-46CF-A939-C0B056D3B1C6}"/>
              </a:ext>
            </a:extLst>
          </p:cNvPr>
          <p:cNvCxnSpPr>
            <a:cxnSpLocks/>
          </p:cNvCxnSpPr>
          <p:nvPr/>
        </p:nvCxnSpPr>
        <p:spPr>
          <a:xfrm>
            <a:off x="9396685" y="3207234"/>
            <a:ext cx="425446" cy="1114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D6E42E5-C239-47D8-86C9-80EF0F8892D8}"/>
              </a:ext>
            </a:extLst>
          </p:cNvPr>
          <p:cNvCxnSpPr>
            <a:cxnSpLocks/>
          </p:cNvCxnSpPr>
          <p:nvPr/>
        </p:nvCxnSpPr>
        <p:spPr>
          <a:xfrm>
            <a:off x="9593060" y="2623280"/>
            <a:ext cx="9938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FE61B44-DC3D-4DC2-9D2C-8D0E9E115400}"/>
              </a:ext>
            </a:extLst>
          </p:cNvPr>
          <p:cNvCxnSpPr>
            <a:cxnSpLocks/>
          </p:cNvCxnSpPr>
          <p:nvPr/>
        </p:nvCxnSpPr>
        <p:spPr>
          <a:xfrm>
            <a:off x="9375836" y="3194497"/>
            <a:ext cx="1303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54553DD-6591-47D7-A7A6-DDBB284F957F}"/>
              </a:ext>
            </a:extLst>
          </p:cNvPr>
          <p:cNvCxnSpPr>
            <a:cxnSpLocks/>
          </p:cNvCxnSpPr>
          <p:nvPr/>
        </p:nvCxnSpPr>
        <p:spPr>
          <a:xfrm flipV="1">
            <a:off x="9609408" y="3747072"/>
            <a:ext cx="977498" cy="10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49FADFF-D80B-4ADC-BD83-2B2C3B3C9BB7}"/>
              </a:ext>
            </a:extLst>
          </p:cNvPr>
          <p:cNvCxnSpPr/>
          <p:nvPr/>
        </p:nvCxnSpPr>
        <p:spPr>
          <a:xfrm>
            <a:off x="9827807" y="4311186"/>
            <a:ext cx="8688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1A5FF480-8EF0-40E8-B266-F55215ECB73F}"/>
              </a:ext>
            </a:extLst>
          </p:cNvPr>
          <p:cNvSpPr txBox="1"/>
          <p:nvPr/>
        </p:nvSpPr>
        <p:spPr>
          <a:xfrm>
            <a:off x="10027510" y="1817361"/>
            <a:ext cx="513323" cy="276999"/>
          </a:xfrm>
          <a:prstGeom prst="rect">
            <a:avLst/>
          </a:prstGeom>
          <a:noFill/>
        </p:spPr>
        <p:txBody>
          <a:bodyPr wrap="square" rtlCol="0">
            <a:spAutoFit/>
          </a:bodyPr>
          <a:lstStyle/>
          <a:p>
            <a:r>
              <a:rPr lang="en-US" sz="1200" dirty="0"/>
              <a:t>15%</a:t>
            </a:r>
            <a:endParaRPr lang="en-IN" sz="1200" dirty="0"/>
          </a:p>
        </p:txBody>
      </p:sp>
      <p:sp>
        <p:nvSpPr>
          <p:cNvPr id="78" name="TextBox 77">
            <a:extLst>
              <a:ext uri="{FF2B5EF4-FFF2-40B4-BE49-F238E27FC236}">
                <a16:creationId xmlns:a16="http://schemas.microsoft.com/office/drawing/2014/main" id="{12AFC81A-E51A-4BB7-BB0F-2B3978D7FDD2}"/>
              </a:ext>
            </a:extLst>
          </p:cNvPr>
          <p:cNvSpPr txBox="1"/>
          <p:nvPr/>
        </p:nvSpPr>
        <p:spPr>
          <a:xfrm>
            <a:off x="9980576" y="2340977"/>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30%</a:t>
            </a:r>
          </a:p>
        </p:txBody>
      </p:sp>
      <p:sp>
        <p:nvSpPr>
          <p:cNvPr id="79" name="TextBox 78">
            <a:extLst>
              <a:ext uri="{FF2B5EF4-FFF2-40B4-BE49-F238E27FC236}">
                <a16:creationId xmlns:a16="http://schemas.microsoft.com/office/drawing/2014/main" id="{333085A5-B885-484E-8A75-0D43F6F33BF1}"/>
              </a:ext>
            </a:extLst>
          </p:cNvPr>
          <p:cNvSpPr txBox="1"/>
          <p:nvPr/>
        </p:nvSpPr>
        <p:spPr>
          <a:xfrm>
            <a:off x="9876958" y="2898473"/>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20%</a:t>
            </a:r>
          </a:p>
        </p:txBody>
      </p:sp>
      <p:sp>
        <p:nvSpPr>
          <p:cNvPr id="80" name="TextBox 79">
            <a:extLst>
              <a:ext uri="{FF2B5EF4-FFF2-40B4-BE49-F238E27FC236}">
                <a16:creationId xmlns:a16="http://schemas.microsoft.com/office/drawing/2014/main" id="{93257952-F966-44BF-BDA1-57F39452ECA4}"/>
              </a:ext>
            </a:extLst>
          </p:cNvPr>
          <p:cNvSpPr txBox="1"/>
          <p:nvPr/>
        </p:nvSpPr>
        <p:spPr>
          <a:xfrm>
            <a:off x="9908450" y="3474169"/>
            <a:ext cx="5855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15%</a:t>
            </a:r>
          </a:p>
        </p:txBody>
      </p:sp>
      <p:sp>
        <p:nvSpPr>
          <p:cNvPr id="81" name="TextBox 80">
            <a:extLst>
              <a:ext uri="{FF2B5EF4-FFF2-40B4-BE49-F238E27FC236}">
                <a16:creationId xmlns:a16="http://schemas.microsoft.com/office/drawing/2014/main" id="{7EF715D0-2FA6-4140-B5B8-3B40A871B50D}"/>
              </a:ext>
            </a:extLst>
          </p:cNvPr>
          <p:cNvSpPr txBox="1"/>
          <p:nvPr/>
        </p:nvSpPr>
        <p:spPr>
          <a:xfrm>
            <a:off x="9963245" y="4039532"/>
            <a:ext cx="617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20%</a:t>
            </a:r>
          </a:p>
        </p:txBody>
      </p:sp>
      <p:sp>
        <p:nvSpPr>
          <p:cNvPr id="82" name="TextBox 81">
            <a:extLst>
              <a:ext uri="{FF2B5EF4-FFF2-40B4-BE49-F238E27FC236}">
                <a16:creationId xmlns:a16="http://schemas.microsoft.com/office/drawing/2014/main" id="{84C0E470-2DE7-4643-A4EB-ABBA1E2419DA}"/>
              </a:ext>
            </a:extLst>
          </p:cNvPr>
          <p:cNvSpPr txBox="1"/>
          <p:nvPr/>
        </p:nvSpPr>
        <p:spPr>
          <a:xfrm>
            <a:off x="9770697" y="5102415"/>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dirty="0"/>
          </a:p>
        </p:txBody>
      </p:sp>
      <p:sp>
        <p:nvSpPr>
          <p:cNvPr id="83" name="TextBox 82">
            <a:extLst>
              <a:ext uri="{FF2B5EF4-FFF2-40B4-BE49-F238E27FC236}">
                <a16:creationId xmlns:a16="http://schemas.microsoft.com/office/drawing/2014/main" id="{5D64BE41-E56A-44B0-98E8-091C88DF27CF}"/>
              </a:ext>
            </a:extLst>
          </p:cNvPr>
          <p:cNvSpPr txBox="1"/>
          <p:nvPr/>
        </p:nvSpPr>
        <p:spPr>
          <a:xfrm>
            <a:off x="9084935" y="4481679"/>
            <a:ext cx="269794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While Instagram offers the best return on investment, facebook has the best potential in terms of target market. While Youtube is not the exact go to channel for advertising but can be used to improve consumer perception by advertising in the right Youtube channels  </a:t>
            </a:r>
          </a:p>
        </p:txBody>
      </p:sp>
      <p:pic>
        <p:nvPicPr>
          <p:cNvPr id="84" name="Picture 2" descr="YouTube">
            <a:extLst>
              <a:ext uri="{FF2B5EF4-FFF2-40B4-BE49-F238E27FC236}">
                <a16:creationId xmlns:a16="http://schemas.microsoft.com/office/drawing/2014/main" id="{4CEDB046-3051-4CA0-B7E8-3FF5DB99C7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5354" y="822464"/>
            <a:ext cx="1152787" cy="1152787"/>
          </a:xfrm>
          <a:prstGeom prst="rect">
            <a:avLst/>
          </a:prstGeom>
          <a:noFill/>
          <a:extLst>
            <a:ext uri="{909E8E84-426E-40DD-AFC4-6F175D3DCCD1}">
              <a14:hiddenFill xmlns:a14="http://schemas.microsoft.com/office/drawing/2010/main">
                <a:solidFill>
                  <a:srgbClr val="FFFFFF"/>
                </a:solidFill>
              </a14:hiddenFill>
            </a:ext>
          </a:extLst>
        </p:spPr>
      </p:pic>
      <p:sp>
        <p:nvSpPr>
          <p:cNvPr id="85" name="Rectangle 84">
            <a:extLst>
              <a:ext uri="{FF2B5EF4-FFF2-40B4-BE49-F238E27FC236}">
                <a16:creationId xmlns:a16="http://schemas.microsoft.com/office/drawing/2014/main" id="{76673DC3-7112-46A3-9322-2A5E2B461194}"/>
              </a:ext>
            </a:extLst>
          </p:cNvPr>
          <p:cNvSpPr/>
          <p:nvPr/>
        </p:nvSpPr>
        <p:spPr>
          <a:xfrm>
            <a:off x="-5979" y="393814"/>
            <a:ext cx="12001840" cy="400110"/>
          </a:xfrm>
          <a:prstGeom prst="rect">
            <a:avLst/>
          </a:prstGeom>
        </p:spPr>
        <p:txBody>
          <a:bodyPr wrap="square">
            <a:spAutoFit/>
          </a:bodyPr>
          <a:lstStyle/>
          <a:p>
            <a:r>
              <a:rPr lang="en-IN" sz="2000" b="1" dirty="0">
                <a:latin typeface="Calibri" panose="020F0502020204030204" pitchFamily="34" charset="0"/>
              </a:rPr>
              <a:t>Cost effective digital marketing is the way forward</a:t>
            </a:r>
          </a:p>
        </p:txBody>
      </p:sp>
      <p:sp>
        <p:nvSpPr>
          <p:cNvPr id="86" name="TextBox 85">
            <a:extLst>
              <a:ext uri="{FF2B5EF4-FFF2-40B4-BE49-F238E27FC236}">
                <a16:creationId xmlns:a16="http://schemas.microsoft.com/office/drawing/2014/main" id="{05F3946E-13F8-4658-AF09-7ACF3BDB87D1}"/>
              </a:ext>
            </a:extLst>
          </p:cNvPr>
          <p:cNvSpPr txBox="1"/>
          <p:nvPr/>
        </p:nvSpPr>
        <p:spPr>
          <a:xfrm>
            <a:off x="11824981" y="6573307"/>
            <a:ext cx="341760" cy="276999"/>
          </a:xfrm>
          <a:prstGeom prst="rect">
            <a:avLst/>
          </a:prstGeom>
          <a:noFill/>
        </p:spPr>
        <p:txBody>
          <a:bodyPr wrap="none" rtlCol="0">
            <a:spAutoFit/>
          </a:bodyPr>
          <a:lstStyle/>
          <a:p>
            <a:r>
              <a:rPr lang="en-GB" sz="1200" dirty="0"/>
              <a:t>10</a:t>
            </a:r>
          </a:p>
        </p:txBody>
      </p:sp>
      <p:sp>
        <p:nvSpPr>
          <p:cNvPr id="90" name="TextBox 89">
            <a:extLst>
              <a:ext uri="{FF2B5EF4-FFF2-40B4-BE49-F238E27FC236}">
                <a16:creationId xmlns:a16="http://schemas.microsoft.com/office/drawing/2014/main" id="{919FCA5C-1F07-4951-8E47-98D6B2CD16D2}"/>
              </a:ext>
            </a:extLst>
          </p:cNvPr>
          <p:cNvSpPr txBox="1"/>
          <p:nvPr/>
        </p:nvSpPr>
        <p:spPr>
          <a:xfrm>
            <a:off x="85105" y="817880"/>
            <a:ext cx="2817121" cy="338554"/>
          </a:xfrm>
          <a:prstGeom prst="rect">
            <a:avLst/>
          </a:prstGeom>
          <a:noFill/>
        </p:spPr>
        <p:txBody>
          <a:bodyPr wrap="square" rtlCol="0">
            <a:spAutoFit/>
          </a:bodyPr>
          <a:lstStyle/>
          <a:p>
            <a:r>
              <a:rPr lang="en-GB" sz="1600" b="1" dirty="0"/>
              <a:t>Online Marketing Strategy</a:t>
            </a:r>
          </a:p>
        </p:txBody>
      </p:sp>
      <p:sp>
        <p:nvSpPr>
          <p:cNvPr id="88" name="TextBox 87">
            <a:extLst>
              <a:ext uri="{FF2B5EF4-FFF2-40B4-BE49-F238E27FC236}">
                <a16:creationId xmlns:a16="http://schemas.microsoft.com/office/drawing/2014/main" id="{E37C81B4-FC48-44AD-B330-2FD3A769750B}"/>
              </a:ext>
            </a:extLst>
          </p:cNvPr>
          <p:cNvSpPr txBox="1"/>
          <p:nvPr/>
        </p:nvSpPr>
        <p:spPr>
          <a:xfrm>
            <a:off x="10262256" y="4172686"/>
            <a:ext cx="1604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Others</a:t>
            </a:r>
          </a:p>
        </p:txBody>
      </p:sp>
    </p:spTree>
    <p:extLst>
      <p:ext uri="{BB962C8B-B14F-4D97-AF65-F5344CB8AC3E}">
        <p14:creationId xmlns:p14="http://schemas.microsoft.com/office/powerpoint/2010/main" val="2431189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A01D2752-BC83-4833-95BC-70AD8372D965}"/>
              </a:ext>
            </a:extLst>
          </p:cNvPr>
          <p:cNvSpPr/>
          <p:nvPr/>
        </p:nvSpPr>
        <p:spPr>
          <a:xfrm>
            <a:off x="1805024" y="1644828"/>
            <a:ext cx="4950690" cy="24251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91440" rtlCol="0" anchor="ctr"/>
          <a:lstStyle/>
          <a:p>
            <a:pPr marL="514350" indent="-285750">
              <a:buFont typeface="Arial" panose="020B0604020202020204" pitchFamily="34" charset="0"/>
              <a:buChar char="•"/>
            </a:pPr>
            <a:endParaRPr lang="en-GB" sz="1400" b="1" dirty="0">
              <a:solidFill>
                <a:schemeClr val="tx1"/>
              </a:solidFill>
              <a:latin typeface="Calibri" panose="020F0502020204030204" pitchFamily="34" charset="0"/>
            </a:endParaRPr>
          </a:p>
        </p:txBody>
      </p:sp>
      <p:sp>
        <p:nvSpPr>
          <p:cNvPr id="9" name="Oval 8">
            <a:extLst>
              <a:ext uri="{FF2B5EF4-FFF2-40B4-BE49-F238E27FC236}">
                <a16:creationId xmlns:a16="http://schemas.microsoft.com/office/drawing/2014/main" id="{7ABC8BB2-1D60-4637-A787-FAD61DBEC67F}"/>
              </a:ext>
            </a:extLst>
          </p:cNvPr>
          <p:cNvSpPr/>
          <p:nvPr/>
        </p:nvSpPr>
        <p:spPr>
          <a:xfrm>
            <a:off x="2420400" y="3249323"/>
            <a:ext cx="654021" cy="6540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B2B Partnership Opportunities</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err="1">
                <a:latin typeface="Calibri" panose="020F0502020204030204" pitchFamily="34" charset="0"/>
              </a:rPr>
              <a:t>CarEasy</a:t>
            </a:r>
            <a:r>
              <a:rPr lang="en-IN" sz="2000" b="1" dirty="0">
                <a:latin typeface="Calibri" panose="020F0502020204030204" pitchFamily="34" charset="0"/>
              </a:rPr>
              <a:t> has immense partnership opportunities in automotive and related industries</a:t>
            </a:r>
          </a:p>
        </p:txBody>
      </p:sp>
      <p:sp>
        <p:nvSpPr>
          <p:cNvPr id="456" name="TextBox 455">
            <a:extLst>
              <a:ext uri="{FF2B5EF4-FFF2-40B4-BE49-F238E27FC236}">
                <a16:creationId xmlns:a16="http://schemas.microsoft.com/office/drawing/2014/main" id="{691E917E-968B-4CBC-B85A-FC81CAC3F43C}"/>
              </a:ext>
            </a:extLst>
          </p:cNvPr>
          <p:cNvSpPr txBox="1"/>
          <p:nvPr/>
        </p:nvSpPr>
        <p:spPr>
          <a:xfrm>
            <a:off x="11824981" y="6573307"/>
            <a:ext cx="300082" cy="230832"/>
          </a:xfrm>
          <a:prstGeom prst="rect">
            <a:avLst/>
          </a:prstGeom>
          <a:noFill/>
        </p:spPr>
        <p:txBody>
          <a:bodyPr wrap="none" rtlCol="0">
            <a:spAutoFit/>
          </a:bodyPr>
          <a:lstStyle/>
          <a:p>
            <a:r>
              <a:rPr lang="en-GB" sz="900" dirty="0"/>
              <a:t>11</a:t>
            </a:r>
            <a:endParaRPr lang="en-GB" dirty="0"/>
          </a:p>
        </p:txBody>
      </p:sp>
      <p:grpSp>
        <p:nvGrpSpPr>
          <p:cNvPr id="460" name="Group 459">
            <a:extLst>
              <a:ext uri="{FF2B5EF4-FFF2-40B4-BE49-F238E27FC236}">
                <a16:creationId xmlns:a16="http://schemas.microsoft.com/office/drawing/2014/main" id="{C745554B-13D8-48F4-A587-59276185D854}"/>
              </a:ext>
            </a:extLst>
          </p:cNvPr>
          <p:cNvGrpSpPr/>
          <p:nvPr/>
        </p:nvGrpSpPr>
        <p:grpSpPr>
          <a:xfrm>
            <a:off x="65515" y="52817"/>
            <a:ext cx="307865" cy="238659"/>
            <a:chOff x="12605240" y="-37073"/>
            <a:chExt cx="6681054" cy="5179185"/>
          </a:xfrm>
          <a:solidFill>
            <a:srgbClr val="00162F"/>
          </a:solidFill>
        </p:grpSpPr>
        <p:sp>
          <p:nvSpPr>
            <p:cNvPr id="461" name="Rectangle 460">
              <a:extLst>
                <a:ext uri="{FF2B5EF4-FFF2-40B4-BE49-F238E27FC236}">
                  <a16:creationId xmlns:a16="http://schemas.microsoft.com/office/drawing/2014/main" id="{297F39F4-040A-4151-BE08-BF210C2FBF6E}"/>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2" name="Rectangle 461">
              <a:extLst>
                <a:ext uri="{FF2B5EF4-FFF2-40B4-BE49-F238E27FC236}">
                  <a16:creationId xmlns:a16="http://schemas.microsoft.com/office/drawing/2014/main" id="{01282ED2-9B09-48F0-9A4A-A332CEFDD11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3" name="Rectangle 462">
              <a:extLst>
                <a:ext uri="{FF2B5EF4-FFF2-40B4-BE49-F238E27FC236}">
                  <a16:creationId xmlns:a16="http://schemas.microsoft.com/office/drawing/2014/main" id="{1B7B7193-5F43-48A1-873B-194D9F961E78}"/>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4" name="Rectangle 463">
              <a:extLst>
                <a:ext uri="{FF2B5EF4-FFF2-40B4-BE49-F238E27FC236}">
                  <a16:creationId xmlns:a16="http://schemas.microsoft.com/office/drawing/2014/main" id="{A3F77342-23AA-4BAC-AD81-FE1483988548}"/>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5" name="Rectangle 464">
              <a:extLst>
                <a:ext uri="{FF2B5EF4-FFF2-40B4-BE49-F238E27FC236}">
                  <a16:creationId xmlns:a16="http://schemas.microsoft.com/office/drawing/2014/main" id="{9137F467-5F80-44C5-9BEC-367BDE3269E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6" name="Rectangle 465">
              <a:extLst>
                <a:ext uri="{FF2B5EF4-FFF2-40B4-BE49-F238E27FC236}">
                  <a16:creationId xmlns:a16="http://schemas.microsoft.com/office/drawing/2014/main" id="{E9B13CF5-299A-4F4D-84B7-98812B317882}"/>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7" name="Rectangle 466">
              <a:extLst>
                <a:ext uri="{FF2B5EF4-FFF2-40B4-BE49-F238E27FC236}">
                  <a16:creationId xmlns:a16="http://schemas.microsoft.com/office/drawing/2014/main" id="{13A35BEB-0086-4C47-838A-AC1B909853C5}"/>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8" name="Isosceles Triangle 467">
              <a:extLst>
                <a:ext uri="{FF2B5EF4-FFF2-40B4-BE49-F238E27FC236}">
                  <a16:creationId xmlns:a16="http://schemas.microsoft.com/office/drawing/2014/main" id="{47C20A3F-43BE-45EB-AB5B-73DFC938B230}"/>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57" name="Rectangle 56">
            <a:extLst>
              <a:ext uri="{FF2B5EF4-FFF2-40B4-BE49-F238E27FC236}">
                <a16:creationId xmlns:a16="http://schemas.microsoft.com/office/drawing/2014/main" id="{42C3612E-197D-4123-A723-CED46EFDA52E}"/>
              </a:ext>
            </a:extLst>
          </p:cNvPr>
          <p:cNvSpPr/>
          <p:nvPr/>
        </p:nvSpPr>
        <p:spPr>
          <a:xfrm>
            <a:off x="1805024" y="1202154"/>
            <a:ext cx="4950690" cy="442674"/>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pPr algn="ctr"/>
            <a:r>
              <a:rPr lang="en-GB" sz="1600" b="1" dirty="0"/>
              <a:t>Automotive Industry</a:t>
            </a:r>
          </a:p>
        </p:txBody>
      </p:sp>
      <p:sp>
        <p:nvSpPr>
          <p:cNvPr id="59" name="Rectangle 58">
            <a:extLst>
              <a:ext uri="{FF2B5EF4-FFF2-40B4-BE49-F238E27FC236}">
                <a16:creationId xmlns:a16="http://schemas.microsoft.com/office/drawing/2014/main" id="{345A038D-8FB2-4AEA-81A5-D57B6BAD5820}"/>
              </a:ext>
            </a:extLst>
          </p:cNvPr>
          <p:cNvSpPr/>
          <p:nvPr/>
        </p:nvSpPr>
        <p:spPr>
          <a:xfrm>
            <a:off x="6893954" y="1202154"/>
            <a:ext cx="4950690" cy="442674"/>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pPr algn="ctr"/>
            <a:r>
              <a:rPr lang="en-GB" sz="1600" b="1" dirty="0"/>
              <a:t>Other Industries</a:t>
            </a:r>
          </a:p>
        </p:txBody>
      </p:sp>
      <p:sp>
        <p:nvSpPr>
          <p:cNvPr id="61" name="Rectangle 60">
            <a:extLst>
              <a:ext uri="{FF2B5EF4-FFF2-40B4-BE49-F238E27FC236}">
                <a16:creationId xmlns:a16="http://schemas.microsoft.com/office/drawing/2014/main" id="{136570A6-9D38-489B-A787-3FDE46B029A5}"/>
              </a:ext>
            </a:extLst>
          </p:cNvPr>
          <p:cNvSpPr/>
          <p:nvPr/>
        </p:nvSpPr>
        <p:spPr>
          <a:xfrm>
            <a:off x="268353" y="4217423"/>
            <a:ext cx="1384119" cy="229757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dirty="0"/>
          </a:p>
          <a:p>
            <a:pPr algn="ctr"/>
            <a:endParaRPr lang="en-GB" sz="1600" b="1" dirty="0"/>
          </a:p>
          <a:p>
            <a:pPr algn="ctr"/>
            <a:endParaRPr lang="en-GB" sz="1600" b="1" dirty="0"/>
          </a:p>
          <a:p>
            <a:pPr algn="ctr"/>
            <a:endParaRPr lang="en-GB" sz="1600" b="1" dirty="0"/>
          </a:p>
          <a:p>
            <a:pPr algn="ctr"/>
            <a:r>
              <a:rPr lang="en-GB" sz="1600" b="1" dirty="0"/>
              <a:t>Service Excellence</a:t>
            </a:r>
          </a:p>
        </p:txBody>
      </p:sp>
      <p:sp>
        <p:nvSpPr>
          <p:cNvPr id="63" name="Rectangle 62">
            <a:extLst>
              <a:ext uri="{FF2B5EF4-FFF2-40B4-BE49-F238E27FC236}">
                <a16:creationId xmlns:a16="http://schemas.microsoft.com/office/drawing/2014/main" id="{AAF4001A-AD86-49E2-B757-86E21480897C}"/>
              </a:ext>
            </a:extLst>
          </p:cNvPr>
          <p:cNvSpPr/>
          <p:nvPr/>
        </p:nvSpPr>
        <p:spPr>
          <a:xfrm>
            <a:off x="1805024" y="4222399"/>
            <a:ext cx="4950690" cy="22876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91440" rtlCol="0" anchor="ctr"/>
          <a:lstStyle/>
          <a:p>
            <a:pPr marL="514350" indent="-285750">
              <a:buFont typeface="Arial" panose="020B0604020202020204" pitchFamily="34" charset="0"/>
              <a:buChar char="•"/>
            </a:pPr>
            <a:endParaRPr lang="en-GB" sz="1400" dirty="0">
              <a:solidFill>
                <a:schemeClr val="tx1"/>
              </a:solidFill>
              <a:latin typeface="Calibri" panose="020F0502020204030204" pitchFamily="34" charset="0"/>
            </a:endParaRPr>
          </a:p>
        </p:txBody>
      </p:sp>
      <p:sp>
        <p:nvSpPr>
          <p:cNvPr id="65" name="Rectangle 64">
            <a:extLst>
              <a:ext uri="{FF2B5EF4-FFF2-40B4-BE49-F238E27FC236}">
                <a16:creationId xmlns:a16="http://schemas.microsoft.com/office/drawing/2014/main" id="{DBE4EED1-8DEE-4121-A72D-99C0E5D0C9A6}"/>
              </a:ext>
            </a:extLst>
          </p:cNvPr>
          <p:cNvSpPr/>
          <p:nvPr/>
        </p:nvSpPr>
        <p:spPr>
          <a:xfrm>
            <a:off x="6893954" y="4222399"/>
            <a:ext cx="4950690" cy="22876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91440" rtlCol="0" anchor="ctr"/>
          <a:lstStyle/>
          <a:p>
            <a:pPr marL="514350" indent="-285750">
              <a:buFont typeface="Arial" panose="020B0604020202020204" pitchFamily="34" charset="0"/>
              <a:buChar char="•"/>
            </a:pPr>
            <a:endParaRPr lang="en-GB" sz="1400" b="1" dirty="0">
              <a:solidFill>
                <a:schemeClr val="tx1"/>
              </a:solidFill>
              <a:latin typeface="Calibri" panose="020F0502020204030204" pitchFamily="34" charset="0"/>
            </a:endParaRPr>
          </a:p>
        </p:txBody>
      </p:sp>
      <p:sp>
        <p:nvSpPr>
          <p:cNvPr id="60" name="Rectangle 59">
            <a:extLst>
              <a:ext uri="{FF2B5EF4-FFF2-40B4-BE49-F238E27FC236}">
                <a16:creationId xmlns:a16="http://schemas.microsoft.com/office/drawing/2014/main" id="{1143F5B0-FDFB-4126-B38D-EF5E48E90C5B}"/>
              </a:ext>
            </a:extLst>
          </p:cNvPr>
          <p:cNvSpPr/>
          <p:nvPr/>
        </p:nvSpPr>
        <p:spPr>
          <a:xfrm>
            <a:off x="268353" y="1782340"/>
            <a:ext cx="1384119" cy="22975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dirty="0"/>
          </a:p>
          <a:p>
            <a:pPr algn="ctr"/>
            <a:endParaRPr lang="en-GB" sz="1600" b="1" dirty="0"/>
          </a:p>
          <a:p>
            <a:pPr algn="ctr"/>
            <a:endParaRPr lang="en-GB" sz="1600" b="1" dirty="0"/>
          </a:p>
          <a:p>
            <a:pPr algn="ctr"/>
            <a:endParaRPr lang="en-GB" sz="1600" b="1" dirty="0"/>
          </a:p>
          <a:p>
            <a:pPr algn="ctr"/>
            <a:r>
              <a:rPr lang="en-GB" sz="1600" b="1" dirty="0"/>
              <a:t>Business Expansion</a:t>
            </a:r>
          </a:p>
        </p:txBody>
      </p:sp>
      <p:sp>
        <p:nvSpPr>
          <p:cNvPr id="64" name="Rectangle 63">
            <a:extLst>
              <a:ext uri="{FF2B5EF4-FFF2-40B4-BE49-F238E27FC236}">
                <a16:creationId xmlns:a16="http://schemas.microsoft.com/office/drawing/2014/main" id="{6E957D3B-F3E7-431D-910C-10961978D5FB}"/>
              </a:ext>
            </a:extLst>
          </p:cNvPr>
          <p:cNvSpPr/>
          <p:nvPr/>
        </p:nvSpPr>
        <p:spPr>
          <a:xfrm>
            <a:off x="6893954" y="1608297"/>
            <a:ext cx="4950690" cy="24616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91440" rtlCol="0" anchor="ctr"/>
          <a:lstStyle/>
          <a:p>
            <a:pPr marL="514350" indent="-285750">
              <a:buFont typeface="Arial" panose="020B0604020202020204" pitchFamily="34" charset="0"/>
              <a:buChar char="•"/>
            </a:pPr>
            <a:endParaRPr lang="en-GB" sz="1400" b="1" dirty="0">
              <a:solidFill>
                <a:schemeClr val="tx1"/>
              </a:solidFill>
              <a:latin typeface="Calibri" panose="020F0502020204030204" pitchFamily="34" charset="0"/>
            </a:endParaRPr>
          </a:p>
        </p:txBody>
      </p:sp>
      <p:pic>
        <p:nvPicPr>
          <p:cNvPr id="1026" name="Picture 2" descr="global expansion Icon 3313623">
            <a:extLst>
              <a:ext uri="{FF2B5EF4-FFF2-40B4-BE49-F238E27FC236}">
                <a16:creationId xmlns:a16="http://schemas.microsoft.com/office/drawing/2014/main" id="{B82B32EB-F725-4A5E-8593-99863AC44B2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1629" y="2154736"/>
            <a:ext cx="771413" cy="7714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tomer Icon 840497">
            <a:extLst>
              <a:ext uri="{FF2B5EF4-FFF2-40B4-BE49-F238E27FC236}">
                <a16:creationId xmlns:a16="http://schemas.microsoft.com/office/drawing/2014/main" id="{717A7DE4-8336-4299-BE7C-CEFCBDEDB5C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16463" y="4705817"/>
            <a:ext cx="696772" cy="6967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obile Icon 1749268">
            <a:extLst>
              <a:ext uri="{FF2B5EF4-FFF2-40B4-BE49-F238E27FC236}">
                <a16:creationId xmlns:a16="http://schemas.microsoft.com/office/drawing/2014/main" id="{00F6B4AD-161E-4A83-B32E-D5C280C0CD9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854048" y="1139990"/>
            <a:ext cx="566129" cy="56612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other Icon 3264335">
            <a:extLst>
              <a:ext uri="{FF2B5EF4-FFF2-40B4-BE49-F238E27FC236}">
                <a16:creationId xmlns:a16="http://schemas.microsoft.com/office/drawing/2014/main" id="{222AB29C-DDC6-4E9C-8DB6-53BB314BD41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8033067" y="1156434"/>
            <a:ext cx="520700" cy="5207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ola logo">
            <a:extLst>
              <a:ext uri="{FF2B5EF4-FFF2-40B4-BE49-F238E27FC236}">
                <a16:creationId xmlns:a16="http://schemas.microsoft.com/office/drawing/2014/main" id="{B68A93D6-4BBB-479B-BCF3-2CD78E27CBDE}"/>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68341" y="2011826"/>
            <a:ext cx="482088" cy="48208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uber logo">
            <a:extLst>
              <a:ext uri="{FF2B5EF4-FFF2-40B4-BE49-F238E27FC236}">
                <a16:creationId xmlns:a16="http://schemas.microsoft.com/office/drawing/2014/main" id="{338C7DE8-1A90-4D90-937C-EC54D40BD4F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2981" y="2104325"/>
            <a:ext cx="492609" cy="29708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eru Cabs - Home | Facebook">
            <a:extLst>
              <a:ext uri="{FF2B5EF4-FFF2-40B4-BE49-F238E27FC236}">
                <a16:creationId xmlns:a16="http://schemas.microsoft.com/office/drawing/2014/main" id="{050A584B-9875-458B-ADFC-BFBB2BB148E3}"/>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22320" y="2055788"/>
            <a:ext cx="389588" cy="3895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A145D28-B73C-4816-9788-25D4394D93C0}"/>
              </a:ext>
            </a:extLst>
          </p:cNvPr>
          <p:cNvSpPr txBox="1"/>
          <p:nvPr/>
        </p:nvSpPr>
        <p:spPr>
          <a:xfrm>
            <a:off x="1861359" y="2570135"/>
            <a:ext cx="2423014" cy="492443"/>
          </a:xfrm>
          <a:prstGeom prst="rect">
            <a:avLst/>
          </a:prstGeom>
          <a:noFill/>
        </p:spPr>
        <p:txBody>
          <a:bodyPr wrap="square" rtlCol="0">
            <a:spAutoFit/>
          </a:bodyPr>
          <a:lstStyle/>
          <a:p>
            <a:pPr algn="ctr"/>
            <a:r>
              <a:rPr lang="en-GB" sz="1400" b="1" dirty="0"/>
              <a:t>Ride-hailing Platforms</a:t>
            </a:r>
          </a:p>
          <a:p>
            <a:pPr algn="ctr"/>
            <a:r>
              <a:rPr lang="en-GB" sz="1100" i="1" dirty="0"/>
              <a:t>(e.g., </a:t>
            </a:r>
            <a:r>
              <a:rPr lang="en-GB" sz="1100" i="1" dirty="0" err="1"/>
              <a:t>Olacabs</a:t>
            </a:r>
            <a:r>
              <a:rPr lang="en-GB" sz="1100" i="1" dirty="0"/>
              <a:t>, Uber and Meru)</a:t>
            </a:r>
            <a:endParaRPr lang="en-GB" sz="1400" i="1" dirty="0"/>
          </a:p>
        </p:txBody>
      </p:sp>
      <p:pic>
        <p:nvPicPr>
          <p:cNvPr id="1040" name="Picture 16" descr="ZoomCar | Crunchbase">
            <a:extLst>
              <a:ext uri="{FF2B5EF4-FFF2-40B4-BE49-F238E27FC236}">
                <a16:creationId xmlns:a16="http://schemas.microsoft.com/office/drawing/2014/main" id="{D115BDA7-4D25-4B8C-8A2F-AF1A5923BC3F}"/>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l="15038" t="14787" r="12281" b="16040"/>
          <a:stretch>
            <a:fillRect/>
          </a:stretch>
        </p:blipFill>
        <p:spPr bwMode="auto">
          <a:xfrm>
            <a:off x="4890110" y="2104325"/>
            <a:ext cx="546990" cy="520584"/>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FEC4433D-6738-43D9-A9A7-69E36E5AADE7}"/>
              </a:ext>
            </a:extLst>
          </p:cNvPr>
          <p:cNvSpPr txBox="1"/>
          <p:nvPr/>
        </p:nvSpPr>
        <p:spPr>
          <a:xfrm>
            <a:off x="4280369" y="2575612"/>
            <a:ext cx="2423014" cy="492443"/>
          </a:xfrm>
          <a:prstGeom prst="rect">
            <a:avLst/>
          </a:prstGeom>
          <a:noFill/>
        </p:spPr>
        <p:txBody>
          <a:bodyPr wrap="square" rtlCol="0">
            <a:spAutoFit/>
          </a:bodyPr>
          <a:lstStyle/>
          <a:p>
            <a:pPr algn="ctr"/>
            <a:r>
              <a:rPr lang="en-GB" sz="1400" b="1" dirty="0"/>
              <a:t>Car Rental Platforms</a:t>
            </a:r>
          </a:p>
          <a:p>
            <a:pPr algn="ctr"/>
            <a:r>
              <a:rPr lang="en-GB" sz="1100" i="1" dirty="0"/>
              <a:t>(e.g., </a:t>
            </a:r>
            <a:r>
              <a:rPr lang="en-GB" sz="1100" i="1" dirty="0" err="1"/>
              <a:t>Zoomcar</a:t>
            </a:r>
            <a:r>
              <a:rPr lang="en-GB" sz="1100" i="1" dirty="0"/>
              <a:t> and </a:t>
            </a:r>
            <a:r>
              <a:rPr lang="en-GB" sz="1100" i="1" dirty="0" err="1"/>
              <a:t>Droom</a:t>
            </a:r>
            <a:r>
              <a:rPr lang="en-GB" sz="1100" i="1" dirty="0"/>
              <a:t>)</a:t>
            </a:r>
            <a:endParaRPr lang="en-GB" sz="1400" i="1" dirty="0"/>
          </a:p>
        </p:txBody>
      </p:sp>
      <p:pic>
        <p:nvPicPr>
          <p:cNvPr id="1042" name="Picture 18" descr="Press kit, Logo &amp; Brand | Droom">
            <a:extLst>
              <a:ext uri="{FF2B5EF4-FFF2-40B4-BE49-F238E27FC236}">
                <a16:creationId xmlns:a16="http://schemas.microsoft.com/office/drawing/2014/main" id="{689B0AC6-4EA1-4E4B-9920-B77280DB9C5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6121" y="2154736"/>
            <a:ext cx="848903" cy="266277"/>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car seller Icon 2603636">
            <a:extLst>
              <a:ext uri="{FF2B5EF4-FFF2-40B4-BE49-F238E27FC236}">
                <a16:creationId xmlns:a16="http://schemas.microsoft.com/office/drawing/2014/main" id="{B90D2A4B-B077-42C8-9728-DDEFE699027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2213" y="3341136"/>
            <a:ext cx="470394" cy="470394"/>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B80AFB7-E4D4-423B-8378-0F640E525511}"/>
              </a:ext>
            </a:extLst>
          </p:cNvPr>
          <p:cNvSpPr txBox="1"/>
          <p:nvPr/>
        </p:nvSpPr>
        <p:spPr>
          <a:xfrm>
            <a:off x="3324053" y="3412704"/>
            <a:ext cx="2824219" cy="307777"/>
          </a:xfrm>
          <a:prstGeom prst="rect">
            <a:avLst/>
          </a:prstGeom>
          <a:noFill/>
        </p:spPr>
        <p:txBody>
          <a:bodyPr wrap="square" rtlCol="0">
            <a:spAutoFit/>
          </a:bodyPr>
          <a:lstStyle/>
          <a:p>
            <a:r>
              <a:rPr lang="en-GB" sz="1400" b="1" dirty="0"/>
              <a:t>Local Car Dealership Networks</a:t>
            </a:r>
          </a:p>
        </p:txBody>
      </p:sp>
      <p:pic>
        <p:nvPicPr>
          <p:cNvPr id="1046" name="Picture 22">
            <a:extLst>
              <a:ext uri="{FF2B5EF4-FFF2-40B4-BE49-F238E27FC236}">
                <a16:creationId xmlns:a16="http://schemas.microsoft.com/office/drawing/2014/main" id="{1C5DD9FF-4E0C-4D32-A5A7-556407D976CF}"/>
              </a:ext>
            </a:extLst>
          </p:cNvPr>
          <p:cNvPicPr>
            <a:picLocks noChangeAspect="1" noChangeArrowheads="1"/>
          </p:cNvPicPr>
          <p:nvPr/>
        </p:nvPicPr>
        <p:blipFill>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48477" y="4436087"/>
            <a:ext cx="539460" cy="53946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CFFFDB6C-7210-402B-AECA-9997771A301F}"/>
              </a:ext>
            </a:extLst>
          </p:cNvPr>
          <p:cNvPicPr>
            <a:picLocks noChangeAspect="1" noChangeArrowheads="1"/>
          </p:cNvPicPr>
          <p:nvPr/>
        </p:nvPicPr>
        <p:blipFill>
          <a:blip r:embed="rId18">
            <a:clrChange>
              <a:clrFrom>
                <a:srgbClr val="FDFFF5"/>
              </a:clrFrom>
              <a:clrTo>
                <a:srgbClr val="FDFFF5">
                  <a:alpha val="0"/>
                </a:srgbClr>
              </a:clrTo>
            </a:clrChange>
            <a:extLst>
              <a:ext uri="{28A0092B-C50C-407E-A947-70E740481C1C}">
                <a14:useLocalDpi xmlns:a14="http://schemas.microsoft.com/office/drawing/2010/main" val="0"/>
              </a:ext>
            </a:extLst>
          </a:blip>
          <a:srcRect/>
          <a:stretch>
            <a:fillRect/>
          </a:stretch>
        </p:blipFill>
        <p:spPr bwMode="auto">
          <a:xfrm>
            <a:off x="8553767" y="4470554"/>
            <a:ext cx="470526" cy="470526"/>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933FE516-B91C-4DAC-ADE4-8C79675F032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32672" y="4522272"/>
            <a:ext cx="471098" cy="36708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2B262003-ADE2-489A-AD4F-AC610C58CA8F}"/>
              </a:ext>
            </a:extLst>
          </p:cNvPr>
          <p:cNvSpPr txBox="1"/>
          <p:nvPr/>
        </p:nvSpPr>
        <p:spPr>
          <a:xfrm>
            <a:off x="6972683" y="5012816"/>
            <a:ext cx="2423014" cy="492443"/>
          </a:xfrm>
          <a:prstGeom prst="rect">
            <a:avLst/>
          </a:prstGeom>
          <a:noFill/>
        </p:spPr>
        <p:txBody>
          <a:bodyPr wrap="square" rtlCol="0">
            <a:spAutoFit/>
          </a:bodyPr>
          <a:lstStyle/>
          <a:p>
            <a:pPr algn="ctr"/>
            <a:r>
              <a:rPr lang="en-GB" sz="1400" b="1" dirty="0"/>
              <a:t>Insurance Providers</a:t>
            </a:r>
          </a:p>
          <a:p>
            <a:pPr algn="ctr"/>
            <a:r>
              <a:rPr lang="en-GB" sz="1100" i="1" dirty="0"/>
              <a:t>(e.g., HDFC Ergo and TATA AIG)</a:t>
            </a:r>
            <a:endParaRPr lang="en-GB" sz="1400" i="1" dirty="0"/>
          </a:p>
        </p:txBody>
      </p:sp>
      <p:pic>
        <p:nvPicPr>
          <p:cNvPr id="1052" name="Picture 28">
            <a:extLst>
              <a:ext uri="{FF2B5EF4-FFF2-40B4-BE49-F238E27FC236}">
                <a16:creationId xmlns:a16="http://schemas.microsoft.com/office/drawing/2014/main" id="{1A75BFE5-7C55-4A4F-AE87-9CD5A27D45BE}"/>
              </a:ext>
            </a:extLst>
          </p:cNvPr>
          <p:cNvPicPr>
            <a:picLocks noChangeAspect="1" noChangeArrowheads="1"/>
          </p:cNvPicPr>
          <p:nvPr/>
        </p:nvPicPr>
        <p:blipFill>
          <a:blip r:embed="rId20">
            <a:clrChange>
              <a:clrFrom>
                <a:srgbClr val="FCFCFC"/>
              </a:clrFrom>
              <a:clrTo>
                <a:srgbClr val="FCFCFC">
                  <a:alpha val="0"/>
                </a:srgbClr>
              </a:clrTo>
            </a:clrChange>
            <a:extLst>
              <a:ext uri="{28A0092B-C50C-407E-A947-70E740481C1C}">
                <a14:useLocalDpi xmlns:a14="http://schemas.microsoft.com/office/drawing/2010/main" val="0"/>
              </a:ext>
            </a:extLst>
          </a:blip>
          <a:srcRect/>
          <a:stretch>
            <a:fillRect/>
          </a:stretch>
        </p:blipFill>
        <p:spPr bwMode="auto">
          <a:xfrm>
            <a:off x="10563554" y="4460594"/>
            <a:ext cx="799461" cy="264722"/>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Image result for amazon pay">
            <a:extLst>
              <a:ext uri="{FF2B5EF4-FFF2-40B4-BE49-F238E27FC236}">
                <a16:creationId xmlns:a16="http://schemas.microsoft.com/office/drawing/2014/main" id="{CBAB4685-1E84-4849-A43E-E3784910F4B7}"/>
              </a:ext>
            </a:extLst>
          </p:cNvPr>
          <p:cNvPicPr>
            <a:picLocks noChangeAspect="1" noChangeArrowheads="1"/>
          </p:cNvPicPr>
          <p:nvPr/>
        </p:nvPicPr>
        <p:blipFill>
          <a:blip r:embed="rId21">
            <a:clrChange>
              <a:clrFrom>
                <a:srgbClr val="FEFEFE"/>
              </a:clrFrom>
              <a:clrTo>
                <a:srgbClr val="FEFEFE">
                  <a:alpha val="0"/>
                </a:srgbClr>
              </a:clrTo>
            </a:clrChange>
            <a:extLst>
              <a:ext uri="{BEBA8EAE-BF5A-486C-A8C5-ECC9F3942E4B}">
                <a14:imgProps xmlns:a14="http://schemas.microsoft.com/office/drawing/2010/main">
                  <a14:imgLayer r:embed="rId22">
                    <a14:imgEffect>
                      <a14:backgroundRemoval t="10000" b="90000" l="10000" r="90000">
                        <a14:foregroundMark x1="14516" y1="52151" x2="49462" y2="55376"/>
                        <a14:foregroundMark x1="18817" y1="60215" x2="37097" y2="60215"/>
                        <a14:foregroundMark x1="10753" y1="49462" x2="13978" y2="51075"/>
                        <a14:foregroundMark x1="17742" y1="49462" x2="46774" y2="48387"/>
                        <a14:foregroundMark x1="46774" y1="48387" x2="52688" y2="49462"/>
                      </a14:backgroundRemoval>
                    </a14:imgEffect>
                  </a14:imgLayer>
                </a14:imgProps>
              </a:ext>
              <a:ext uri="{28A0092B-C50C-407E-A947-70E740481C1C}">
                <a14:useLocalDpi xmlns:a14="http://schemas.microsoft.com/office/drawing/2010/main" val="0"/>
              </a:ext>
            </a:extLst>
          </a:blip>
          <a:srcRect/>
          <a:stretch>
            <a:fillRect/>
          </a:stretch>
        </p:blipFill>
        <p:spPr bwMode="auto">
          <a:xfrm>
            <a:off x="10558186" y="4462414"/>
            <a:ext cx="876051" cy="876051"/>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Image result for google pay">
            <a:extLst>
              <a:ext uri="{FF2B5EF4-FFF2-40B4-BE49-F238E27FC236}">
                <a16:creationId xmlns:a16="http://schemas.microsoft.com/office/drawing/2014/main" id="{85377F92-F03C-4CF3-B65D-7C63231E35FA}"/>
              </a:ext>
            </a:extLst>
          </p:cNvPr>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13945" y="4518399"/>
            <a:ext cx="495164" cy="495164"/>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EEB671AF-D3C1-4AE5-93C5-91B8BA096A01}"/>
              </a:ext>
            </a:extLst>
          </p:cNvPr>
          <p:cNvSpPr txBox="1"/>
          <p:nvPr/>
        </p:nvSpPr>
        <p:spPr>
          <a:xfrm>
            <a:off x="9440664" y="5023314"/>
            <a:ext cx="2423014" cy="492443"/>
          </a:xfrm>
          <a:prstGeom prst="rect">
            <a:avLst/>
          </a:prstGeom>
          <a:noFill/>
        </p:spPr>
        <p:txBody>
          <a:bodyPr wrap="square" rtlCol="0">
            <a:spAutoFit/>
          </a:bodyPr>
          <a:lstStyle/>
          <a:p>
            <a:pPr algn="ctr"/>
            <a:r>
              <a:rPr lang="en-GB" sz="1400" b="1" dirty="0"/>
              <a:t>Payment Platforms</a:t>
            </a:r>
          </a:p>
          <a:p>
            <a:pPr algn="ctr"/>
            <a:r>
              <a:rPr lang="en-GB" sz="1100" i="1" dirty="0"/>
              <a:t>(e.g., Google Pay, </a:t>
            </a:r>
            <a:r>
              <a:rPr lang="en-GB" sz="1100" i="1" dirty="0" err="1"/>
              <a:t>PayTM</a:t>
            </a:r>
            <a:r>
              <a:rPr lang="en-GB" sz="1100" i="1" dirty="0"/>
              <a:t> and Amazon)</a:t>
            </a:r>
            <a:endParaRPr lang="en-GB" sz="1400" i="1" dirty="0"/>
          </a:p>
        </p:txBody>
      </p:sp>
      <p:pic>
        <p:nvPicPr>
          <p:cNvPr id="1058" name="Picture 34" descr="nearbuy - Restaurant, Spa, Salon, Gift Card Deals - Apps on Google ...">
            <a:extLst>
              <a:ext uri="{FF2B5EF4-FFF2-40B4-BE49-F238E27FC236}">
                <a16:creationId xmlns:a16="http://schemas.microsoft.com/office/drawing/2014/main" id="{285A26A0-7F74-46C1-8B50-1E97DCED4DCB}"/>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29967" y="5857404"/>
            <a:ext cx="408403" cy="408403"/>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Best Deals &amp; Offers on Restaurants, Spa &amp; Salons, Fun Activities ...">
            <a:extLst>
              <a:ext uri="{FF2B5EF4-FFF2-40B4-BE49-F238E27FC236}">
                <a16:creationId xmlns:a16="http://schemas.microsoft.com/office/drawing/2014/main" id="{7A8DC9C7-DDA1-4D25-9A9A-D7B202A13B9D}"/>
              </a:ext>
            </a:extLst>
          </p:cNvPr>
          <p:cNvPicPr>
            <a:picLocks noChangeAspect="1" noChangeArrowheads="1"/>
          </p:cNvPicPr>
          <p:nvPr/>
        </p:nvPicPr>
        <p:blipFill>
          <a:blip r:embed="rId2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4827" y="5825858"/>
            <a:ext cx="370703" cy="477421"/>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38" descr="Inspiring Hotels | Book Online | Marriott Hotels">
            <a:extLst>
              <a:ext uri="{FF2B5EF4-FFF2-40B4-BE49-F238E27FC236}">
                <a16:creationId xmlns:a16="http://schemas.microsoft.com/office/drawing/2014/main" id="{D6934FC1-764D-4C57-A217-4019C85AF4FC}"/>
              </a:ext>
            </a:extLst>
          </p:cNvPr>
          <p:cNvPicPr>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6610" y="1918628"/>
            <a:ext cx="615833" cy="455386"/>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Taj Hotels | LinkedIn">
            <a:extLst>
              <a:ext uri="{FF2B5EF4-FFF2-40B4-BE49-F238E27FC236}">
                <a16:creationId xmlns:a16="http://schemas.microsoft.com/office/drawing/2014/main" id="{638801E4-F7A0-4FAF-950D-296FDB0DC1E3}"/>
              </a:ext>
            </a:extLst>
          </p:cNvPr>
          <p:cNvPicPr>
            <a:picLocks noChangeAspect="1" noChangeArrowheads="1"/>
          </p:cNvPicPr>
          <p:nvPr/>
        </p:nvPicPr>
        <p:blipFill>
          <a:blip r:embed="rId2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25659" y="1861540"/>
            <a:ext cx="526590" cy="526590"/>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Blue Dart, a Division of DHL Case Study">
            <a:extLst>
              <a:ext uri="{FF2B5EF4-FFF2-40B4-BE49-F238E27FC236}">
                <a16:creationId xmlns:a16="http://schemas.microsoft.com/office/drawing/2014/main" id="{969E3F36-20CE-4234-BFC6-FE052D5D2158}"/>
              </a:ext>
            </a:extLst>
          </p:cNvPr>
          <p:cNvPicPr>
            <a:picLocks noChangeAspect="1" noChangeArrowheads="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24656" y="1594069"/>
            <a:ext cx="1092976" cy="1092976"/>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Logistics Companies in India | Supply Chain Management | Cargo ...">
            <a:extLst>
              <a:ext uri="{FF2B5EF4-FFF2-40B4-BE49-F238E27FC236}">
                <a16:creationId xmlns:a16="http://schemas.microsoft.com/office/drawing/2014/main" id="{1E81A285-3FF9-4B4C-A8E9-633E6E70F46E}"/>
              </a:ext>
            </a:extLst>
          </p:cNvPr>
          <p:cNvPicPr>
            <a:picLocks noChangeAspect="1" noChangeArrowheads="1"/>
          </p:cNvPicPr>
          <p:nvPr/>
        </p:nvPicPr>
        <p:blipFill>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93913" y="1974886"/>
            <a:ext cx="915275" cy="446655"/>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Order Food Online from Nearby Restaurants that Deliver to You | Zomato">
            <a:extLst>
              <a:ext uri="{FF2B5EF4-FFF2-40B4-BE49-F238E27FC236}">
                <a16:creationId xmlns:a16="http://schemas.microsoft.com/office/drawing/2014/main" id="{D3E9ABA5-C886-4A86-BDFE-8EF8EBE71AD4}"/>
              </a:ext>
            </a:extLst>
          </p:cNvPr>
          <p:cNvPicPr>
            <a:picLocks noChangeAspect="1" noChangeArrowheads="1"/>
          </p:cNvPicPr>
          <p:nvPr/>
        </p:nvPicPr>
        <p:blipFill>
          <a:blip r:embed="rId3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2643" y="3014224"/>
            <a:ext cx="389606" cy="389606"/>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How Swiggy devoured competition in India - Digital Innovation and ...">
            <a:extLst>
              <a:ext uri="{FF2B5EF4-FFF2-40B4-BE49-F238E27FC236}">
                <a16:creationId xmlns:a16="http://schemas.microsoft.com/office/drawing/2014/main" id="{81BF4B57-EDE9-4532-9783-9EE14A7BD7C0}"/>
              </a:ext>
            </a:extLst>
          </p:cNvPr>
          <p:cNvPicPr>
            <a:picLocks noChangeAspect="1" noChangeArrowheads="1"/>
          </p:cNvPicPr>
          <p:nvPr/>
        </p:nvPicPr>
        <p:blipFill>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99336" y="3041314"/>
            <a:ext cx="468672" cy="311880"/>
          </a:xfrm>
          <a:prstGeom prst="rect">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02D02A25-8571-4C9D-ACC4-165828C78BE8}"/>
              </a:ext>
            </a:extLst>
          </p:cNvPr>
          <p:cNvSpPr txBox="1"/>
          <p:nvPr/>
        </p:nvSpPr>
        <p:spPr>
          <a:xfrm>
            <a:off x="6704050" y="2394936"/>
            <a:ext cx="2423014" cy="492443"/>
          </a:xfrm>
          <a:prstGeom prst="rect">
            <a:avLst/>
          </a:prstGeom>
          <a:noFill/>
        </p:spPr>
        <p:txBody>
          <a:bodyPr wrap="square" rtlCol="0">
            <a:spAutoFit/>
          </a:bodyPr>
          <a:lstStyle/>
          <a:p>
            <a:pPr algn="ctr"/>
            <a:r>
              <a:rPr lang="en-GB" sz="1400" b="1" dirty="0"/>
              <a:t>Luxury Hotel Chains</a:t>
            </a:r>
          </a:p>
          <a:p>
            <a:pPr algn="ctr"/>
            <a:r>
              <a:rPr lang="en-GB" sz="1100" i="1" dirty="0"/>
              <a:t>(e.g., Taj Hotels and </a:t>
            </a:r>
            <a:r>
              <a:rPr lang="en-GB" sz="1100" i="1" dirty="0" err="1"/>
              <a:t>Mariott</a:t>
            </a:r>
            <a:r>
              <a:rPr lang="en-GB" sz="1100" i="1" dirty="0"/>
              <a:t>)</a:t>
            </a:r>
            <a:endParaRPr lang="en-GB" sz="1400" i="1" dirty="0"/>
          </a:p>
        </p:txBody>
      </p:sp>
      <p:sp>
        <p:nvSpPr>
          <p:cNvPr id="68" name="TextBox 67">
            <a:extLst>
              <a:ext uri="{FF2B5EF4-FFF2-40B4-BE49-F238E27FC236}">
                <a16:creationId xmlns:a16="http://schemas.microsoft.com/office/drawing/2014/main" id="{D81643FF-853C-457E-B23D-562F68D82556}"/>
              </a:ext>
            </a:extLst>
          </p:cNvPr>
          <p:cNvSpPr txBox="1"/>
          <p:nvPr/>
        </p:nvSpPr>
        <p:spPr>
          <a:xfrm>
            <a:off x="9406125" y="2394936"/>
            <a:ext cx="2423014" cy="492443"/>
          </a:xfrm>
          <a:prstGeom prst="rect">
            <a:avLst/>
          </a:prstGeom>
          <a:noFill/>
        </p:spPr>
        <p:txBody>
          <a:bodyPr wrap="square" rtlCol="0">
            <a:spAutoFit/>
          </a:bodyPr>
          <a:lstStyle/>
          <a:p>
            <a:pPr algn="ctr"/>
            <a:r>
              <a:rPr lang="en-GB" sz="1400" b="1" dirty="0"/>
              <a:t>Delivery Services</a:t>
            </a:r>
          </a:p>
          <a:p>
            <a:pPr algn="ctr"/>
            <a:r>
              <a:rPr lang="en-GB" sz="1100" i="1" dirty="0"/>
              <a:t>(e.g., </a:t>
            </a:r>
            <a:r>
              <a:rPr lang="en-GB" sz="1100" i="1" dirty="0" err="1"/>
              <a:t>Bluedart</a:t>
            </a:r>
            <a:r>
              <a:rPr lang="en-GB" sz="1100" i="1" dirty="0"/>
              <a:t> and </a:t>
            </a:r>
            <a:r>
              <a:rPr lang="en-GB" sz="1100" i="1" dirty="0" err="1"/>
              <a:t>Safexpress</a:t>
            </a:r>
            <a:r>
              <a:rPr lang="en-GB" sz="1100" i="1" dirty="0"/>
              <a:t>)</a:t>
            </a:r>
            <a:endParaRPr lang="en-GB" sz="1400" i="1" dirty="0"/>
          </a:p>
        </p:txBody>
      </p:sp>
      <p:sp>
        <p:nvSpPr>
          <p:cNvPr id="69" name="TextBox 68">
            <a:extLst>
              <a:ext uri="{FF2B5EF4-FFF2-40B4-BE49-F238E27FC236}">
                <a16:creationId xmlns:a16="http://schemas.microsoft.com/office/drawing/2014/main" id="{6C1AF9AD-EF3D-4708-82DF-57BFDB0B749D}"/>
              </a:ext>
            </a:extLst>
          </p:cNvPr>
          <p:cNvSpPr txBox="1"/>
          <p:nvPr/>
        </p:nvSpPr>
        <p:spPr>
          <a:xfrm>
            <a:off x="6715103" y="3429869"/>
            <a:ext cx="2423014" cy="492443"/>
          </a:xfrm>
          <a:prstGeom prst="rect">
            <a:avLst/>
          </a:prstGeom>
          <a:noFill/>
        </p:spPr>
        <p:txBody>
          <a:bodyPr wrap="square" rtlCol="0">
            <a:spAutoFit/>
          </a:bodyPr>
          <a:lstStyle/>
          <a:p>
            <a:pPr algn="ctr"/>
            <a:r>
              <a:rPr lang="en-GB" sz="1400" b="1" dirty="0"/>
              <a:t>Food Delivery Platforms</a:t>
            </a:r>
          </a:p>
          <a:p>
            <a:pPr algn="ctr"/>
            <a:r>
              <a:rPr lang="en-GB" sz="1100" i="1" dirty="0"/>
              <a:t>(e.g., Zomato and </a:t>
            </a:r>
            <a:r>
              <a:rPr lang="en-GB" sz="1100" i="1" dirty="0" err="1"/>
              <a:t>Swiggy</a:t>
            </a:r>
            <a:r>
              <a:rPr lang="en-GB" sz="1100" i="1" dirty="0"/>
              <a:t>)</a:t>
            </a:r>
            <a:endParaRPr lang="en-GB" sz="1400" i="1" dirty="0"/>
          </a:p>
        </p:txBody>
      </p:sp>
      <p:sp>
        <p:nvSpPr>
          <p:cNvPr id="70" name="TextBox 69">
            <a:extLst>
              <a:ext uri="{FF2B5EF4-FFF2-40B4-BE49-F238E27FC236}">
                <a16:creationId xmlns:a16="http://schemas.microsoft.com/office/drawing/2014/main" id="{EA69B79E-1C65-4B51-826F-B73C6E46C920}"/>
              </a:ext>
            </a:extLst>
          </p:cNvPr>
          <p:cNvSpPr txBox="1"/>
          <p:nvPr/>
        </p:nvSpPr>
        <p:spPr>
          <a:xfrm>
            <a:off x="9346945" y="3406615"/>
            <a:ext cx="2423014" cy="477054"/>
          </a:xfrm>
          <a:prstGeom prst="rect">
            <a:avLst/>
          </a:prstGeom>
          <a:noFill/>
        </p:spPr>
        <p:txBody>
          <a:bodyPr wrap="square" rtlCol="0">
            <a:spAutoFit/>
          </a:bodyPr>
          <a:lstStyle/>
          <a:p>
            <a:pPr algn="ctr"/>
            <a:r>
              <a:rPr lang="en-GB" sz="1400" b="1" dirty="0"/>
              <a:t>Other Fleet Managers</a:t>
            </a:r>
          </a:p>
          <a:p>
            <a:pPr algn="ctr"/>
            <a:r>
              <a:rPr lang="en-GB" sz="1100" i="1" dirty="0"/>
              <a:t>(e.g., Corporate offices, Tour operators)</a:t>
            </a:r>
            <a:endParaRPr lang="en-GB" sz="1400" i="1" dirty="0"/>
          </a:p>
        </p:txBody>
      </p:sp>
      <p:sp>
        <p:nvSpPr>
          <p:cNvPr id="71" name="Oval 70">
            <a:extLst>
              <a:ext uri="{FF2B5EF4-FFF2-40B4-BE49-F238E27FC236}">
                <a16:creationId xmlns:a16="http://schemas.microsoft.com/office/drawing/2014/main" id="{54CD27F5-393D-4E80-86E8-DBC6AB30B4E4}"/>
              </a:ext>
            </a:extLst>
          </p:cNvPr>
          <p:cNvSpPr/>
          <p:nvPr/>
        </p:nvSpPr>
        <p:spPr>
          <a:xfrm>
            <a:off x="10110436" y="3018327"/>
            <a:ext cx="389607" cy="3896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71">
            <a:extLst>
              <a:ext uri="{FF2B5EF4-FFF2-40B4-BE49-F238E27FC236}">
                <a16:creationId xmlns:a16="http://schemas.microsoft.com/office/drawing/2014/main" id="{6AC5B20F-5EFA-4AA8-BF04-4974C921FC8B}"/>
              </a:ext>
            </a:extLst>
          </p:cNvPr>
          <p:cNvSpPr/>
          <p:nvPr/>
        </p:nvSpPr>
        <p:spPr>
          <a:xfrm>
            <a:off x="10750164" y="3015782"/>
            <a:ext cx="389607" cy="3896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76" name="Picture 52" descr="corporate Icon 2183339">
            <a:extLst>
              <a:ext uri="{FF2B5EF4-FFF2-40B4-BE49-F238E27FC236}">
                <a16:creationId xmlns:a16="http://schemas.microsoft.com/office/drawing/2014/main" id="{14180C21-DBA4-4410-B37D-F0706A58B272}"/>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185090" y="3090825"/>
            <a:ext cx="230912" cy="230912"/>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descr="tourism location Icon 3242305">
            <a:extLst>
              <a:ext uri="{FF2B5EF4-FFF2-40B4-BE49-F238E27FC236}">
                <a16:creationId xmlns:a16="http://schemas.microsoft.com/office/drawing/2014/main" id="{0EE0CA8F-B332-4653-9AC9-1045514D3064}"/>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816224" y="3070300"/>
            <a:ext cx="257486" cy="257486"/>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A32810CD-4ECE-493F-8DDB-54F64C9FF3DD}"/>
              </a:ext>
            </a:extLst>
          </p:cNvPr>
          <p:cNvSpPr txBox="1"/>
          <p:nvPr/>
        </p:nvSpPr>
        <p:spPr>
          <a:xfrm>
            <a:off x="8661494" y="5855302"/>
            <a:ext cx="2824219" cy="477054"/>
          </a:xfrm>
          <a:prstGeom prst="rect">
            <a:avLst/>
          </a:prstGeom>
          <a:noFill/>
        </p:spPr>
        <p:txBody>
          <a:bodyPr wrap="square" rtlCol="0">
            <a:spAutoFit/>
          </a:bodyPr>
          <a:lstStyle/>
          <a:p>
            <a:r>
              <a:rPr lang="en-GB" sz="1400" b="1" dirty="0"/>
              <a:t>Coupon Websites</a:t>
            </a:r>
          </a:p>
          <a:p>
            <a:r>
              <a:rPr lang="en-GB" sz="1100" i="1" dirty="0"/>
              <a:t>(e.g., </a:t>
            </a:r>
            <a:r>
              <a:rPr lang="en-GB" sz="1100" i="1" dirty="0" err="1"/>
              <a:t>Nearbuy</a:t>
            </a:r>
            <a:r>
              <a:rPr lang="en-GB" sz="1100" i="1" dirty="0"/>
              <a:t>, </a:t>
            </a:r>
            <a:r>
              <a:rPr lang="en-GB" sz="1100" i="1" dirty="0" err="1"/>
              <a:t>Littleapp</a:t>
            </a:r>
            <a:r>
              <a:rPr lang="en-GB" sz="1100" i="1" dirty="0"/>
              <a:t> and </a:t>
            </a:r>
            <a:r>
              <a:rPr lang="en-GB" sz="1100" i="1" dirty="0" err="1"/>
              <a:t>CouponDunia</a:t>
            </a:r>
            <a:r>
              <a:rPr lang="en-GB" sz="1100" i="1" dirty="0"/>
              <a:t>)</a:t>
            </a:r>
          </a:p>
        </p:txBody>
      </p:sp>
      <p:pic>
        <p:nvPicPr>
          <p:cNvPr id="1080" name="Picture 56">
            <a:extLst>
              <a:ext uri="{FF2B5EF4-FFF2-40B4-BE49-F238E27FC236}">
                <a16:creationId xmlns:a16="http://schemas.microsoft.com/office/drawing/2014/main" id="{C23D450D-D8DA-4E4F-AEB2-7D9101C13D70}"/>
              </a:ext>
            </a:extLst>
          </p:cNvPr>
          <p:cNvPicPr>
            <a:picLocks noChangeAspect="1" noChangeArrowheads="1"/>
          </p:cNvPicPr>
          <p:nvPr/>
        </p:nvPicPr>
        <p:blipFill>
          <a:blip r:embed="rId3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0649" y="4582419"/>
            <a:ext cx="673774" cy="445277"/>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58">
            <a:extLst>
              <a:ext uri="{FF2B5EF4-FFF2-40B4-BE49-F238E27FC236}">
                <a16:creationId xmlns:a16="http://schemas.microsoft.com/office/drawing/2014/main" id="{4020ECAD-68DE-43EC-A6AC-A9A0459A32EE}"/>
              </a:ext>
            </a:extLst>
          </p:cNvPr>
          <p:cNvPicPr>
            <a:picLocks noChangeAspect="1" noChangeArrowheads="1"/>
          </p:cNvPicPr>
          <p:nvPr/>
        </p:nvPicPr>
        <p:blipFill rotWithShape="1">
          <a:blip r:embed="rId35">
            <a:extLst>
              <a:ext uri="{28A0092B-C50C-407E-A947-70E740481C1C}">
                <a14:useLocalDpi xmlns:a14="http://schemas.microsoft.com/office/drawing/2010/main" val="0"/>
              </a:ext>
            </a:extLst>
          </a:blip>
          <a:srcRect l="37945" t="-6901" b="-1"/>
          <a:stretch/>
        </p:blipFill>
        <p:spPr bwMode="auto">
          <a:xfrm>
            <a:off x="2822796" y="4721340"/>
            <a:ext cx="945588" cy="161816"/>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a:extLst>
              <a:ext uri="{FF2B5EF4-FFF2-40B4-BE49-F238E27FC236}">
                <a16:creationId xmlns:a16="http://schemas.microsoft.com/office/drawing/2014/main" id="{B28919B9-9976-4D12-A940-6481398229A2}"/>
              </a:ext>
            </a:extLst>
          </p:cNvPr>
          <p:cNvPicPr>
            <a:picLocks noChangeAspect="1" noChangeArrowheads="1"/>
          </p:cNvPicPr>
          <p:nvPr/>
        </p:nvPicPr>
        <p:blipFill>
          <a:blip r:embed="rId3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36757" y="4617189"/>
            <a:ext cx="421094" cy="421094"/>
          </a:xfrm>
          <a:prstGeom prst="rect">
            <a:avLst/>
          </a:prstGeom>
          <a:noFill/>
          <a:extLst>
            <a:ext uri="{909E8E84-426E-40DD-AFC4-6F175D3DCCD1}">
              <a14:hiddenFill xmlns:a14="http://schemas.microsoft.com/office/drawing/2010/main">
                <a:solidFill>
                  <a:srgbClr val="FFFFFF"/>
                </a:solidFill>
              </a14:hiddenFill>
            </a:ext>
          </a:extLst>
        </p:spPr>
      </p:pic>
      <p:pic>
        <p:nvPicPr>
          <p:cNvPr id="1086" name="Picture 62">
            <a:extLst>
              <a:ext uri="{FF2B5EF4-FFF2-40B4-BE49-F238E27FC236}">
                <a16:creationId xmlns:a16="http://schemas.microsoft.com/office/drawing/2014/main" id="{DF852384-CD2B-4323-92A2-2A98FBEA50C2}"/>
              </a:ext>
            </a:extLst>
          </p:cNvPr>
          <p:cNvPicPr>
            <a:picLocks noChangeAspect="1" noChangeArrowheads="1"/>
          </p:cNvPicPr>
          <p:nvPr/>
        </p:nvPicPr>
        <p:blipFill>
          <a:blip r:embed="rId3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47057" y="4601565"/>
            <a:ext cx="725308" cy="182528"/>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64" descr="Working as an Engineer at Shell: Employee Reviews | Indeed.com">
            <a:extLst>
              <a:ext uri="{FF2B5EF4-FFF2-40B4-BE49-F238E27FC236}">
                <a16:creationId xmlns:a16="http://schemas.microsoft.com/office/drawing/2014/main" id="{FBA5AB56-AF2D-4CC1-92F3-0C117EBD2F8E}"/>
              </a:ext>
            </a:extLst>
          </p:cNvPr>
          <p:cNvPicPr>
            <a:picLocks noChangeAspect="1" noChangeArrowheads="1"/>
          </p:cNvPicPr>
          <p:nvPr/>
        </p:nvPicPr>
        <p:blipFill>
          <a:blip r:embed="rId38">
            <a:clrChange>
              <a:clrFrom>
                <a:srgbClr val="FFFFFF"/>
              </a:clrFrom>
              <a:clrTo>
                <a:srgbClr val="FFFFFF">
                  <a:alpha val="0"/>
                </a:srgbClr>
              </a:clrTo>
            </a:clrChange>
            <a:extLst>
              <a:ext uri="{28A0092B-C50C-407E-A947-70E740481C1C}">
                <a14:useLocalDpi xmlns:a14="http://schemas.microsoft.com/office/drawing/2010/main" val="0"/>
              </a:ext>
            </a:extLst>
          </a:blip>
          <a:srcRect t="36000" b="36000"/>
          <a:stretch>
            <a:fillRect/>
          </a:stretch>
        </p:blipFill>
        <p:spPr bwMode="auto">
          <a:xfrm>
            <a:off x="5641579" y="4872272"/>
            <a:ext cx="725308" cy="203086"/>
          </a:xfrm>
          <a:prstGeom prst="rect">
            <a:avLst/>
          </a:prstGeom>
          <a:noFill/>
          <a:extLst>
            <a:ext uri="{909E8E84-426E-40DD-AFC4-6F175D3DCCD1}">
              <a14:hiddenFill xmlns:a14="http://schemas.microsoft.com/office/drawing/2010/main">
                <a:solidFill>
                  <a:srgbClr val="FFFFFF"/>
                </a:solidFill>
              </a14:hiddenFill>
            </a:ext>
          </a:extLst>
        </p:spPr>
      </p:pic>
      <p:pic>
        <p:nvPicPr>
          <p:cNvPr id="1090" name="Picture 66" descr="Mobil India | Facebook">
            <a:extLst>
              <a:ext uri="{FF2B5EF4-FFF2-40B4-BE49-F238E27FC236}">
                <a16:creationId xmlns:a16="http://schemas.microsoft.com/office/drawing/2014/main" id="{0EAF75D4-3C04-44FE-845F-8FA8DEA96502}"/>
              </a:ext>
            </a:extLst>
          </p:cNvPr>
          <p:cNvPicPr>
            <a:picLocks noChangeAspect="1" noChangeArrowheads="1"/>
          </p:cNvPicPr>
          <p:nvPr/>
        </p:nvPicPr>
        <p:blipFill>
          <a:blip r:embed="rId39">
            <a:clrChange>
              <a:clrFrom>
                <a:srgbClr val="FFFFFF"/>
              </a:clrFrom>
              <a:clrTo>
                <a:srgbClr val="FFFFFF">
                  <a:alpha val="0"/>
                </a:srgbClr>
              </a:clrTo>
            </a:clrChange>
            <a:extLst>
              <a:ext uri="{28A0092B-C50C-407E-A947-70E740481C1C}">
                <a14:useLocalDpi xmlns:a14="http://schemas.microsoft.com/office/drawing/2010/main" val="0"/>
              </a:ext>
            </a:extLst>
          </a:blip>
          <a:srcRect l="12444" t="39556" r="12444" b="39556"/>
          <a:stretch>
            <a:fillRect/>
          </a:stretch>
        </p:blipFill>
        <p:spPr bwMode="auto">
          <a:xfrm>
            <a:off x="4811221" y="4746381"/>
            <a:ext cx="725308" cy="201710"/>
          </a:xfrm>
          <a:prstGeom prst="rect">
            <a:avLst/>
          </a:prstGeom>
          <a:noFill/>
          <a:extLst>
            <a:ext uri="{909E8E84-426E-40DD-AFC4-6F175D3DCCD1}">
              <a14:hiddenFill xmlns:a14="http://schemas.microsoft.com/office/drawing/2010/main">
                <a:solidFill>
                  <a:srgbClr val="FFFFFF"/>
                </a:solidFill>
              </a14:hiddenFill>
            </a:ext>
          </a:extLst>
        </p:spPr>
      </p:pic>
      <p:sp>
        <p:nvSpPr>
          <p:cNvPr id="84" name="TextBox 83">
            <a:extLst>
              <a:ext uri="{FF2B5EF4-FFF2-40B4-BE49-F238E27FC236}">
                <a16:creationId xmlns:a16="http://schemas.microsoft.com/office/drawing/2014/main" id="{CF9E8EFF-D962-484E-86EC-3F55E6AC83CD}"/>
              </a:ext>
            </a:extLst>
          </p:cNvPr>
          <p:cNvSpPr txBox="1"/>
          <p:nvPr/>
        </p:nvSpPr>
        <p:spPr>
          <a:xfrm>
            <a:off x="2052938" y="5063000"/>
            <a:ext cx="2423014" cy="477054"/>
          </a:xfrm>
          <a:prstGeom prst="rect">
            <a:avLst/>
          </a:prstGeom>
          <a:noFill/>
        </p:spPr>
        <p:txBody>
          <a:bodyPr wrap="square" rtlCol="0">
            <a:spAutoFit/>
          </a:bodyPr>
          <a:lstStyle/>
          <a:p>
            <a:pPr algn="ctr"/>
            <a:r>
              <a:rPr lang="en-GB" sz="1400" b="1" dirty="0"/>
              <a:t>Paints and Coatings</a:t>
            </a:r>
          </a:p>
          <a:p>
            <a:pPr algn="ctr"/>
            <a:r>
              <a:rPr lang="en-GB" sz="1100" i="1" dirty="0"/>
              <a:t>(e.g., Berger, </a:t>
            </a:r>
            <a:r>
              <a:rPr lang="en-GB" sz="1100" i="1" dirty="0" err="1"/>
              <a:t>Nerolac</a:t>
            </a:r>
            <a:r>
              <a:rPr lang="en-GB" sz="1100" i="1" dirty="0"/>
              <a:t> and Nippon)</a:t>
            </a:r>
            <a:endParaRPr lang="en-GB" sz="1400" i="1" dirty="0"/>
          </a:p>
        </p:txBody>
      </p:sp>
      <p:sp>
        <p:nvSpPr>
          <p:cNvPr id="88" name="TextBox 87">
            <a:extLst>
              <a:ext uri="{FF2B5EF4-FFF2-40B4-BE49-F238E27FC236}">
                <a16:creationId xmlns:a16="http://schemas.microsoft.com/office/drawing/2014/main" id="{79C94DC9-CCC3-4C19-B222-EBF3D9635994}"/>
              </a:ext>
            </a:extLst>
          </p:cNvPr>
          <p:cNvSpPr txBox="1"/>
          <p:nvPr/>
        </p:nvSpPr>
        <p:spPr>
          <a:xfrm>
            <a:off x="4332709" y="5063000"/>
            <a:ext cx="2423014" cy="477054"/>
          </a:xfrm>
          <a:prstGeom prst="rect">
            <a:avLst/>
          </a:prstGeom>
          <a:noFill/>
        </p:spPr>
        <p:txBody>
          <a:bodyPr wrap="square" rtlCol="0">
            <a:spAutoFit/>
          </a:bodyPr>
          <a:lstStyle/>
          <a:p>
            <a:pPr algn="ctr"/>
            <a:r>
              <a:rPr lang="en-GB" sz="1400" b="1" dirty="0"/>
              <a:t>Oils and Lubricants</a:t>
            </a:r>
          </a:p>
          <a:p>
            <a:pPr algn="ctr"/>
            <a:r>
              <a:rPr lang="en-GB" sz="1100" i="1" dirty="0"/>
              <a:t>(e.g., Shell, Castrol and Mobil)</a:t>
            </a:r>
            <a:endParaRPr lang="en-GB" sz="1400" i="1" dirty="0"/>
          </a:p>
        </p:txBody>
      </p:sp>
      <p:sp>
        <p:nvSpPr>
          <p:cNvPr id="89" name="Oval 88">
            <a:extLst>
              <a:ext uri="{FF2B5EF4-FFF2-40B4-BE49-F238E27FC236}">
                <a16:creationId xmlns:a16="http://schemas.microsoft.com/office/drawing/2014/main" id="{C899F391-9BEC-4DF0-8403-023618B7CDE8}"/>
              </a:ext>
            </a:extLst>
          </p:cNvPr>
          <p:cNvSpPr/>
          <p:nvPr/>
        </p:nvSpPr>
        <p:spPr>
          <a:xfrm>
            <a:off x="2427412" y="5706521"/>
            <a:ext cx="654021" cy="6540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92" name="Picture 68" descr="workshop Icon 2841635">
            <a:extLst>
              <a:ext uri="{FF2B5EF4-FFF2-40B4-BE49-F238E27FC236}">
                <a16:creationId xmlns:a16="http://schemas.microsoft.com/office/drawing/2014/main" id="{4260E1D5-8B7F-4610-A1C6-00EF0C178675}"/>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562803" y="5853966"/>
            <a:ext cx="383240" cy="383240"/>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BB23D29B-0D20-4E66-A3D9-B5F262F84EBC}"/>
              </a:ext>
            </a:extLst>
          </p:cNvPr>
          <p:cNvSpPr txBox="1"/>
          <p:nvPr/>
        </p:nvSpPr>
        <p:spPr>
          <a:xfrm>
            <a:off x="3324053" y="5868791"/>
            <a:ext cx="2824219" cy="307777"/>
          </a:xfrm>
          <a:prstGeom prst="rect">
            <a:avLst/>
          </a:prstGeom>
          <a:noFill/>
        </p:spPr>
        <p:txBody>
          <a:bodyPr wrap="square" rtlCol="0">
            <a:spAutoFit/>
          </a:bodyPr>
          <a:lstStyle/>
          <a:p>
            <a:r>
              <a:rPr lang="en-GB" sz="1400" b="1" dirty="0"/>
              <a:t>Spare Parts and Emergency Repair</a:t>
            </a:r>
          </a:p>
        </p:txBody>
      </p:sp>
      <p:sp>
        <p:nvSpPr>
          <p:cNvPr id="16" name="Rectangle: Top Corners Rounded 15">
            <a:extLst>
              <a:ext uri="{FF2B5EF4-FFF2-40B4-BE49-F238E27FC236}">
                <a16:creationId xmlns:a16="http://schemas.microsoft.com/office/drawing/2014/main" id="{F9E1AC5F-5E0F-4C2F-8226-2C9F4322C604}"/>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7" name="Rectangle: Top Corners Rounded 16">
            <a:extLst>
              <a:ext uri="{FF2B5EF4-FFF2-40B4-BE49-F238E27FC236}">
                <a16:creationId xmlns:a16="http://schemas.microsoft.com/office/drawing/2014/main" id="{C0AF914A-3E4C-49DB-8EF0-E857974AA58F}"/>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8" name="Rectangle: Top Corners Rounded 17">
            <a:extLst>
              <a:ext uri="{FF2B5EF4-FFF2-40B4-BE49-F238E27FC236}">
                <a16:creationId xmlns:a16="http://schemas.microsoft.com/office/drawing/2014/main" id="{3CF43830-C2A0-45D0-BA63-672A6377D802}"/>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9" name="Rectangle: Top Corners Rounded 18">
            <a:extLst>
              <a:ext uri="{FF2B5EF4-FFF2-40B4-BE49-F238E27FC236}">
                <a16:creationId xmlns:a16="http://schemas.microsoft.com/office/drawing/2014/main" id="{DB86BF0D-632E-40AA-BDBE-3E97EC36612D}"/>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20" name="Arrow: Chevron 19">
            <a:extLst>
              <a:ext uri="{FF2B5EF4-FFF2-40B4-BE49-F238E27FC236}">
                <a16:creationId xmlns:a16="http://schemas.microsoft.com/office/drawing/2014/main" id="{3A2AFC61-3EB4-4E8F-9A69-4134D86906C6}"/>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Arrow: Chevron 20">
            <a:extLst>
              <a:ext uri="{FF2B5EF4-FFF2-40B4-BE49-F238E27FC236}">
                <a16:creationId xmlns:a16="http://schemas.microsoft.com/office/drawing/2014/main" id="{337608D9-C76F-46BF-B738-E740A5948A5F}"/>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Arrow: Chevron 21">
            <a:extLst>
              <a:ext uri="{FF2B5EF4-FFF2-40B4-BE49-F238E27FC236}">
                <a16:creationId xmlns:a16="http://schemas.microsoft.com/office/drawing/2014/main" id="{6DF52636-2E3C-4AAB-A0C4-248A3BF08CAE}"/>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 name="Rectangle: Top Corners Rounded 22">
            <a:extLst>
              <a:ext uri="{FF2B5EF4-FFF2-40B4-BE49-F238E27FC236}">
                <a16:creationId xmlns:a16="http://schemas.microsoft.com/office/drawing/2014/main" id="{45C38A48-DB54-4A70-ACE1-2BD064D3E449}"/>
              </a:ext>
            </a:extLst>
          </p:cNvPr>
          <p:cNvSpPr/>
          <p:nvPr/>
        </p:nvSpPr>
        <p:spPr>
          <a:xfrm rot="5400000">
            <a:off x="5148033" y="-502360"/>
            <a:ext cx="194444" cy="1371600"/>
          </a:xfrm>
          <a:prstGeom prst="round2SameRect">
            <a:avLst>
              <a:gd name="adj1" fmla="val 5000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24" name="Rectangle: Top Corners Rounded 23">
            <a:extLst>
              <a:ext uri="{FF2B5EF4-FFF2-40B4-BE49-F238E27FC236}">
                <a16:creationId xmlns:a16="http://schemas.microsoft.com/office/drawing/2014/main" id="{34178322-AFD5-4079-89DC-E5C253E0025D}"/>
              </a:ext>
            </a:extLst>
          </p:cNvPr>
          <p:cNvSpPr/>
          <p:nvPr/>
        </p:nvSpPr>
        <p:spPr>
          <a:xfrm rot="5400000">
            <a:off x="3783504" y="-495289"/>
            <a:ext cx="180301"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25" name="Rectangle: Top Corners Rounded 24">
            <a:extLst>
              <a:ext uri="{FF2B5EF4-FFF2-40B4-BE49-F238E27FC236}">
                <a16:creationId xmlns:a16="http://schemas.microsoft.com/office/drawing/2014/main" id="{5CA3C3C9-3383-4B5D-8CE0-595931692F20}"/>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6" name="Rectangle: Top Corners Rounded 25">
            <a:extLst>
              <a:ext uri="{FF2B5EF4-FFF2-40B4-BE49-F238E27FC236}">
                <a16:creationId xmlns:a16="http://schemas.microsoft.com/office/drawing/2014/main" id="{B68B9ECA-C0C4-45FF-BA69-67A5E688CAC7}"/>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27" name="Arrow: Chevron 26">
            <a:extLst>
              <a:ext uri="{FF2B5EF4-FFF2-40B4-BE49-F238E27FC236}">
                <a16:creationId xmlns:a16="http://schemas.microsoft.com/office/drawing/2014/main" id="{ED9823C8-C85B-4D7A-B7D4-2D88FD79E232}"/>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 name="Arrow: Chevron 27">
            <a:extLst>
              <a:ext uri="{FF2B5EF4-FFF2-40B4-BE49-F238E27FC236}">
                <a16:creationId xmlns:a16="http://schemas.microsoft.com/office/drawing/2014/main" id="{110787C6-36D6-480A-831E-F7ABAB1EB4A7}"/>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9" name="Arrow: Chevron 28">
            <a:extLst>
              <a:ext uri="{FF2B5EF4-FFF2-40B4-BE49-F238E27FC236}">
                <a16:creationId xmlns:a16="http://schemas.microsoft.com/office/drawing/2014/main" id="{DD3C2A4D-2027-4692-83B0-F372C0D97E35}"/>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Rectangle: Top Corners Rounded 29">
            <a:extLst>
              <a:ext uri="{FF2B5EF4-FFF2-40B4-BE49-F238E27FC236}">
                <a16:creationId xmlns:a16="http://schemas.microsoft.com/office/drawing/2014/main" id="{398D88A1-8101-451C-8266-A4A5A9073E80}"/>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31" name="Arrow: Chevron 30">
            <a:extLst>
              <a:ext uri="{FF2B5EF4-FFF2-40B4-BE49-F238E27FC236}">
                <a16:creationId xmlns:a16="http://schemas.microsoft.com/office/drawing/2014/main" id="{47D74A55-DCCA-48FD-9BDD-003C5A41D15E}"/>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2" name="Arrow: Chevron 31">
            <a:extLst>
              <a:ext uri="{FF2B5EF4-FFF2-40B4-BE49-F238E27FC236}">
                <a16:creationId xmlns:a16="http://schemas.microsoft.com/office/drawing/2014/main" id="{C62B361E-FB23-48A5-884F-461F5F3FFD44}"/>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0" name="TextBox 89">
            <a:extLst>
              <a:ext uri="{FF2B5EF4-FFF2-40B4-BE49-F238E27FC236}">
                <a16:creationId xmlns:a16="http://schemas.microsoft.com/office/drawing/2014/main" id="{A40BD1FD-CA24-4D98-B8CE-2E83EC550BB7}"/>
              </a:ext>
            </a:extLst>
          </p:cNvPr>
          <p:cNvSpPr txBox="1"/>
          <p:nvPr/>
        </p:nvSpPr>
        <p:spPr>
          <a:xfrm>
            <a:off x="2" y="6519445"/>
            <a:ext cx="5734192" cy="338554"/>
          </a:xfrm>
          <a:prstGeom prst="rect">
            <a:avLst/>
          </a:prstGeom>
          <a:noFill/>
        </p:spPr>
        <p:txBody>
          <a:bodyPr wrap="square" rtlCol="0">
            <a:spAutoFit/>
          </a:bodyPr>
          <a:lstStyle/>
          <a:p>
            <a:endParaRPr lang="en-GB" sz="800" i="1" dirty="0"/>
          </a:p>
          <a:p>
            <a:r>
              <a:rPr lang="en-GB" sz="800" i="1" dirty="0"/>
              <a:t>Sources: CRISIL Research, </a:t>
            </a:r>
            <a:r>
              <a:rPr lang="en-GB" sz="800" i="1" dirty="0" err="1"/>
              <a:t>GoMechanic</a:t>
            </a:r>
            <a:r>
              <a:rPr lang="en-GB" sz="800" i="1" dirty="0"/>
              <a:t>, Pitstop, </a:t>
            </a:r>
            <a:r>
              <a:rPr lang="en-GB" sz="800" i="1" dirty="0" err="1"/>
              <a:t>Tracxn</a:t>
            </a:r>
            <a:r>
              <a:rPr lang="en-GB" sz="800" i="1" dirty="0"/>
              <a:t>, Wrench, Internal analysis</a:t>
            </a:r>
          </a:p>
        </p:txBody>
      </p:sp>
    </p:spTree>
    <p:extLst>
      <p:ext uri="{BB962C8B-B14F-4D97-AF65-F5344CB8AC3E}">
        <p14:creationId xmlns:p14="http://schemas.microsoft.com/office/powerpoint/2010/main" val="133970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54">
            <a:extLst>
              <a:ext uri="{FF2B5EF4-FFF2-40B4-BE49-F238E27FC236}">
                <a16:creationId xmlns:a16="http://schemas.microsoft.com/office/drawing/2014/main" id="{85C5F194-197C-45AE-B987-A6C5A535AB0A}"/>
              </a:ext>
            </a:extLst>
          </p:cNvPr>
          <p:cNvSpPr>
            <a:spLocks/>
          </p:cNvSpPr>
          <p:nvPr/>
        </p:nvSpPr>
        <p:spPr bwMode="auto">
          <a:xfrm>
            <a:off x="2902226" y="1495519"/>
            <a:ext cx="8571201" cy="4372028"/>
          </a:xfrm>
          <a:custGeom>
            <a:avLst/>
            <a:gdLst>
              <a:gd name="T0" fmla="*/ 0 w 1923"/>
              <a:gd name="T1" fmla="*/ 0 h 1434"/>
              <a:gd name="T2" fmla="*/ 7 w 1923"/>
              <a:gd name="T3" fmla="*/ 64 h 1434"/>
              <a:gd name="T4" fmla="*/ 10 w 1923"/>
              <a:gd name="T5" fmla="*/ 149 h 1434"/>
              <a:gd name="T6" fmla="*/ 14 w 1923"/>
              <a:gd name="T7" fmla="*/ 216 h 1434"/>
              <a:gd name="T8" fmla="*/ 17 w 1923"/>
              <a:gd name="T9" fmla="*/ 292 h 1434"/>
              <a:gd name="T10" fmla="*/ 27 w 1923"/>
              <a:gd name="T11" fmla="*/ 368 h 1434"/>
              <a:gd name="T12" fmla="*/ 40 w 1923"/>
              <a:gd name="T13" fmla="*/ 450 h 1434"/>
              <a:gd name="T14" fmla="*/ 57 w 1923"/>
              <a:gd name="T15" fmla="*/ 547 h 1434"/>
              <a:gd name="T16" fmla="*/ 83 w 1923"/>
              <a:gd name="T17" fmla="*/ 669 h 1434"/>
              <a:gd name="T18" fmla="*/ 116 w 1923"/>
              <a:gd name="T19" fmla="*/ 760 h 1434"/>
              <a:gd name="T20" fmla="*/ 156 w 1923"/>
              <a:gd name="T21" fmla="*/ 857 h 1434"/>
              <a:gd name="T22" fmla="*/ 213 w 1923"/>
              <a:gd name="T23" fmla="*/ 951 h 1434"/>
              <a:gd name="T24" fmla="*/ 272 w 1923"/>
              <a:gd name="T25" fmla="*/ 1027 h 1434"/>
              <a:gd name="T26" fmla="*/ 325 w 1923"/>
              <a:gd name="T27" fmla="*/ 1076 h 1434"/>
              <a:gd name="T28" fmla="*/ 388 w 1923"/>
              <a:gd name="T29" fmla="*/ 1131 h 1434"/>
              <a:gd name="T30" fmla="*/ 455 w 1923"/>
              <a:gd name="T31" fmla="*/ 1173 h 1434"/>
              <a:gd name="T32" fmla="*/ 527 w 1923"/>
              <a:gd name="T33" fmla="*/ 1210 h 1434"/>
              <a:gd name="T34" fmla="*/ 617 w 1923"/>
              <a:gd name="T35" fmla="*/ 1249 h 1434"/>
              <a:gd name="T36" fmla="*/ 696 w 1923"/>
              <a:gd name="T37" fmla="*/ 1273 h 1434"/>
              <a:gd name="T38" fmla="*/ 769 w 1923"/>
              <a:gd name="T39" fmla="*/ 1298 h 1434"/>
              <a:gd name="T40" fmla="*/ 849 w 1923"/>
              <a:gd name="T41" fmla="*/ 1316 h 1434"/>
              <a:gd name="T42" fmla="*/ 962 w 1923"/>
              <a:gd name="T43" fmla="*/ 1337 h 1434"/>
              <a:gd name="T44" fmla="*/ 1054 w 1923"/>
              <a:gd name="T45" fmla="*/ 1355 h 1434"/>
              <a:gd name="T46" fmla="*/ 1167 w 1923"/>
              <a:gd name="T47" fmla="*/ 1371 h 1434"/>
              <a:gd name="T48" fmla="*/ 1266 w 1923"/>
              <a:gd name="T49" fmla="*/ 1386 h 1434"/>
              <a:gd name="T50" fmla="*/ 1349 w 1923"/>
              <a:gd name="T51" fmla="*/ 1392 h 1434"/>
              <a:gd name="T52" fmla="*/ 1465 w 1923"/>
              <a:gd name="T53" fmla="*/ 1404 h 1434"/>
              <a:gd name="T54" fmla="*/ 1568 w 1923"/>
              <a:gd name="T55" fmla="*/ 1413 h 1434"/>
              <a:gd name="T56" fmla="*/ 1657 w 1923"/>
              <a:gd name="T57" fmla="*/ 1422 h 1434"/>
              <a:gd name="T58" fmla="*/ 1774 w 1923"/>
              <a:gd name="T59" fmla="*/ 1428 h 1434"/>
              <a:gd name="T60" fmla="*/ 1846 w 1923"/>
              <a:gd name="T61" fmla="*/ 1434 h 1434"/>
              <a:gd name="T62" fmla="*/ 1923 w 1923"/>
              <a:gd name="T63" fmla="*/ 1434 h 1434"/>
              <a:gd name="T64" fmla="*/ 1923 w 1923"/>
              <a:gd name="T65" fmla="*/ 3 h 1434"/>
              <a:gd name="T66" fmla="*/ 0 w 1923"/>
              <a:gd name="T67" fmla="*/ 0 h 14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23"/>
              <a:gd name="T103" fmla="*/ 0 h 1434"/>
              <a:gd name="T104" fmla="*/ 1923 w 1923"/>
              <a:gd name="T105" fmla="*/ 1434 h 143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23" h="1434">
                <a:moveTo>
                  <a:pt x="0" y="0"/>
                </a:moveTo>
                <a:lnTo>
                  <a:pt x="7" y="64"/>
                </a:lnTo>
                <a:lnTo>
                  <a:pt x="10" y="149"/>
                </a:lnTo>
                <a:lnTo>
                  <a:pt x="14" y="216"/>
                </a:lnTo>
                <a:lnTo>
                  <a:pt x="17" y="292"/>
                </a:lnTo>
                <a:lnTo>
                  <a:pt x="27" y="368"/>
                </a:lnTo>
                <a:lnTo>
                  <a:pt x="40" y="450"/>
                </a:lnTo>
                <a:lnTo>
                  <a:pt x="57" y="547"/>
                </a:lnTo>
                <a:lnTo>
                  <a:pt x="83" y="669"/>
                </a:lnTo>
                <a:lnTo>
                  <a:pt x="116" y="760"/>
                </a:lnTo>
                <a:lnTo>
                  <a:pt x="156" y="857"/>
                </a:lnTo>
                <a:lnTo>
                  <a:pt x="213" y="951"/>
                </a:lnTo>
                <a:lnTo>
                  <a:pt x="272" y="1027"/>
                </a:lnTo>
                <a:lnTo>
                  <a:pt x="325" y="1076"/>
                </a:lnTo>
                <a:lnTo>
                  <a:pt x="388" y="1131"/>
                </a:lnTo>
                <a:lnTo>
                  <a:pt x="455" y="1173"/>
                </a:lnTo>
                <a:lnTo>
                  <a:pt x="527" y="1210"/>
                </a:lnTo>
                <a:lnTo>
                  <a:pt x="617" y="1249"/>
                </a:lnTo>
                <a:lnTo>
                  <a:pt x="696" y="1273"/>
                </a:lnTo>
                <a:lnTo>
                  <a:pt x="769" y="1298"/>
                </a:lnTo>
                <a:lnTo>
                  <a:pt x="849" y="1316"/>
                </a:lnTo>
                <a:lnTo>
                  <a:pt x="962" y="1337"/>
                </a:lnTo>
                <a:lnTo>
                  <a:pt x="1054" y="1355"/>
                </a:lnTo>
                <a:lnTo>
                  <a:pt x="1167" y="1371"/>
                </a:lnTo>
                <a:lnTo>
                  <a:pt x="1266" y="1386"/>
                </a:lnTo>
                <a:lnTo>
                  <a:pt x="1349" y="1392"/>
                </a:lnTo>
                <a:lnTo>
                  <a:pt x="1465" y="1404"/>
                </a:lnTo>
                <a:lnTo>
                  <a:pt x="1568" y="1413"/>
                </a:lnTo>
                <a:lnTo>
                  <a:pt x="1657" y="1422"/>
                </a:lnTo>
                <a:lnTo>
                  <a:pt x="1774" y="1428"/>
                </a:lnTo>
                <a:lnTo>
                  <a:pt x="1846" y="1434"/>
                </a:lnTo>
                <a:lnTo>
                  <a:pt x="1923" y="1434"/>
                </a:lnTo>
                <a:lnTo>
                  <a:pt x="1923" y="3"/>
                </a:lnTo>
                <a:lnTo>
                  <a:pt x="0" y="0"/>
                </a:lnTo>
                <a:close/>
              </a:path>
            </a:pathLst>
          </a:custGeom>
          <a:solidFill>
            <a:schemeClr val="tx2">
              <a:lumMod val="20000"/>
              <a:lumOff val="80000"/>
            </a:schemeClr>
          </a:solidFill>
          <a:ln w="15875" cap="rnd">
            <a:noFill/>
            <a:round/>
            <a:headEnd/>
            <a:tailEnd/>
          </a:ln>
        </p:spPr>
        <p:txBody>
          <a:bodyPr anchor="ctr"/>
          <a:lstStyle/>
          <a:p>
            <a:pPr marL="93616" lvl="0" indent="-93616" algn="ctr" defTabSz="767181" fontAlgn="base">
              <a:spcBef>
                <a:spcPts val="200"/>
              </a:spcBef>
              <a:spcAft>
                <a:spcPts val="200"/>
              </a:spcAft>
              <a:defRPr/>
            </a:pPr>
            <a:endParaRPr lang="en-US" sz="1199" b="1" kern="0" dirty="0">
              <a:latin typeface="Tw Cen MT" panose="020B0602020104020603" pitchFamily="34" charset="0"/>
            </a:endParaRPr>
          </a:p>
        </p:txBody>
      </p:sp>
      <p:sp>
        <p:nvSpPr>
          <p:cNvPr id="35" name="Freeform 54">
            <a:extLst>
              <a:ext uri="{FF2B5EF4-FFF2-40B4-BE49-F238E27FC236}">
                <a16:creationId xmlns:a16="http://schemas.microsoft.com/office/drawing/2014/main" id="{170A7040-CB49-4DA8-B4D5-54AE6233F91B}"/>
              </a:ext>
            </a:extLst>
          </p:cNvPr>
          <p:cNvSpPr>
            <a:spLocks/>
          </p:cNvSpPr>
          <p:nvPr/>
        </p:nvSpPr>
        <p:spPr bwMode="auto">
          <a:xfrm>
            <a:off x="6843254" y="1495617"/>
            <a:ext cx="4630174" cy="2361775"/>
          </a:xfrm>
          <a:custGeom>
            <a:avLst/>
            <a:gdLst>
              <a:gd name="T0" fmla="*/ 0 w 1923"/>
              <a:gd name="T1" fmla="*/ 0 h 1434"/>
              <a:gd name="T2" fmla="*/ 7 w 1923"/>
              <a:gd name="T3" fmla="*/ 64 h 1434"/>
              <a:gd name="T4" fmla="*/ 10 w 1923"/>
              <a:gd name="T5" fmla="*/ 149 h 1434"/>
              <a:gd name="T6" fmla="*/ 14 w 1923"/>
              <a:gd name="T7" fmla="*/ 216 h 1434"/>
              <a:gd name="T8" fmla="*/ 17 w 1923"/>
              <a:gd name="T9" fmla="*/ 292 h 1434"/>
              <a:gd name="T10" fmla="*/ 27 w 1923"/>
              <a:gd name="T11" fmla="*/ 368 h 1434"/>
              <a:gd name="T12" fmla="*/ 40 w 1923"/>
              <a:gd name="T13" fmla="*/ 450 h 1434"/>
              <a:gd name="T14" fmla="*/ 57 w 1923"/>
              <a:gd name="T15" fmla="*/ 547 h 1434"/>
              <a:gd name="T16" fmla="*/ 83 w 1923"/>
              <a:gd name="T17" fmla="*/ 669 h 1434"/>
              <a:gd name="T18" fmla="*/ 116 w 1923"/>
              <a:gd name="T19" fmla="*/ 760 h 1434"/>
              <a:gd name="T20" fmla="*/ 156 w 1923"/>
              <a:gd name="T21" fmla="*/ 857 h 1434"/>
              <a:gd name="T22" fmla="*/ 213 w 1923"/>
              <a:gd name="T23" fmla="*/ 951 h 1434"/>
              <a:gd name="T24" fmla="*/ 272 w 1923"/>
              <a:gd name="T25" fmla="*/ 1027 h 1434"/>
              <a:gd name="T26" fmla="*/ 325 w 1923"/>
              <a:gd name="T27" fmla="*/ 1076 h 1434"/>
              <a:gd name="T28" fmla="*/ 388 w 1923"/>
              <a:gd name="T29" fmla="*/ 1131 h 1434"/>
              <a:gd name="T30" fmla="*/ 455 w 1923"/>
              <a:gd name="T31" fmla="*/ 1173 h 1434"/>
              <a:gd name="T32" fmla="*/ 527 w 1923"/>
              <a:gd name="T33" fmla="*/ 1210 h 1434"/>
              <a:gd name="T34" fmla="*/ 617 w 1923"/>
              <a:gd name="T35" fmla="*/ 1249 h 1434"/>
              <a:gd name="T36" fmla="*/ 696 w 1923"/>
              <a:gd name="T37" fmla="*/ 1273 h 1434"/>
              <a:gd name="T38" fmla="*/ 769 w 1923"/>
              <a:gd name="T39" fmla="*/ 1298 h 1434"/>
              <a:gd name="T40" fmla="*/ 849 w 1923"/>
              <a:gd name="T41" fmla="*/ 1316 h 1434"/>
              <a:gd name="T42" fmla="*/ 962 w 1923"/>
              <a:gd name="T43" fmla="*/ 1337 h 1434"/>
              <a:gd name="T44" fmla="*/ 1054 w 1923"/>
              <a:gd name="T45" fmla="*/ 1355 h 1434"/>
              <a:gd name="T46" fmla="*/ 1167 w 1923"/>
              <a:gd name="T47" fmla="*/ 1371 h 1434"/>
              <a:gd name="T48" fmla="*/ 1266 w 1923"/>
              <a:gd name="T49" fmla="*/ 1386 h 1434"/>
              <a:gd name="T50" fmla="*/ 1349 w 1923"/>
              <a:gd name="T51" fmla="*/ 1392 h 1434"/>
              <a:gd name="T52" fmla="*/ 1465 w 1923"/>
              <a:gd name="T53" fmla="*/ 1404 h 1434"/>
              <a:gd name="T54" fmla="*/ 1568 w 1923"/>
              <a:gd name="T55" fmla="*/ 1413 h 1434"/>
              <a:gd name="T56" fmla="*/ 1657 w 1923"/>
              <a:gd name="T57" fmla="*/ 1422 h 1434"/>
              <a:gd name="T58" fmla="*/ 1774 w 1923"/>
              <a:gd name="T59" fmla="*/ 1428 h 1434"/>
              <a:gd name="T60" fmla="*/ 1846 w 1923"/>
              <a:gd name="T61" fmla="*/ 1434 h 1434"/>
              <a:gd name="T62" fmla="*/ 1923 w 1923"/>
              <a:gd name="T63" fmla="*/ 1434 h 1434"/>
              <a:gd name="T64" fmla="*/ 1923 w 1923"/>
              <a:gd name="T65" fmla="*/ 3 h 1434"/>
              <a:gd name="T66" fmla="*/ 0 w 1923"/>
              <a:gd name="T67" fmla="*/ 0 h 14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23"/>
              <a:gd name="T103" fmla="*/ 0 h 1434"/>
              <a:gd name="T104" fmla="*/ 1923 w 1923"/>
              <a:gd name="T105" fmla="*/ 1434 h 143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23" h="1434">
                <a:moveTo>
                  <a:pt x="0" y="0"/>
                </a:moveTo>
                <a:lnTo>
                  <a:pt x="7" y="64"/>
                </a:lnTo>
                <a:lnTo>
                  <a:pt x="10" y="149"/>
                </a:lnTo>
                <a:lnTo>
                  <a:pt x="14" y="216"/>
                </a:lnTo>
                <a:lnTo>
                  <a:pt x="17" y="292"/>
                </a:lnTo>
                <a:lnTo>
                  <a:pt x="27" y="368"/>
                </a:lnTo>
                <a:lnTo>
                  <a:pt x="40" y="450"/>
                </a:lnTo>
                <a:lnTo>
                  <a:pt x="57" y="547"/>
                </a:lnTo>
                <a:lnTo>
                  <a:pt x="83" y="669"/>
                </a:lnTo>
                <a:lnTo>
                  <a:pt x="116" y="760"/>
                </a:lnTo>
                <a:lnTo>
                  <a:pt x="156" y="857"/>
                </a:lnTo>
                <a:lnTo>
                  <a:pt x="213" y="951"/>
                </a:lnTo>
                <a:lnTo>
                  <a:pt x="272" y="1027"/>
                </a:lnTo>
                <a:lnTo>
                  <a:pt x="325" y="1076"/>
                </a:lnTo>
                <a:lnTo>
                  <a:pt x="388" y="1131"/>
                </a:lnTo>
                <a:lnTo>
                  <a:pt x="455" y="1173"/>
                </a:lnTo>
                <a:lnTo>
                  <a:pt x="527" y="1210"/>
                </a:lnTo>
                <a:lnTo>
                  <a:pt x="617" y="1249"/>
                </a:lnTo>
                <a:lnTo>
                  <a:pt x="696" y="1273"/>
                </a:lnTo>
                <a:lnTo>
                  <a:pt x="769" y="1298"/>
                </a:lnTo>
                <a:lnTo>
                  <a:pt x="849" y="1316"/>
                </a:lnTo>
                <a:lnTo>
                  <a:pt x="962" y="1337"/>
                </a:lnTo>
                <a:lnTo>
                  <a:pt x="1054" y="1355"/>
                </a:lnTo>
                <a:lnTo>
                  <a:pt x="1167" y="1371"/>
                </a:lnTo>
                <a:lnTo>
                  <a:pt x="1266" y="1386"/>
                </a:lnTo>
                <a:lnTo>
                  <a:pt x="1349" y="1392"/>
                </a:lnTo>
                <a:lnTo>
                  <a:pt x="1465" y="1404"/>
                </a:lnTo>
                <a:lnTo>
                  <a:pt x="1568" y="1413"/>
                </a:lnTo>
                <a:lnTo>
                  <a:pt x="1657" y="1422"/>
                </a:lnTo>
                <a:lnTo>
                  <a:pt x="1774" y="1428"/>
                </a:lnTo>
                <a:lnTo>
                  <a:pt x="1846" y="1434"/>
                </a:lnTo>
                <a:lnTo>
                  <a:pt x="1923" y="1434"/>
                </a:lnTo>
                <a:lnTo>
                  <a:pt x="1923" y="3"/>
                </a:lnTo>
                <a:lnTo>
                  <a:pt x="0" y="0"/>
                </a:lnTo>
                <a:close/>
              </a:path>
            </a:pathLst>
          </a:custGeom>
          <a:solidFill>
            <a:schemeClr val="tx2">
              <a:lumMod val="40000"/>
              <a:lumOff val="60000"/>
            </a:schemeClr>
          </a:solidFill>
          <a:ln w="15875" cap="rnd">
            <a:noFill/>
            <a:round/>
            <a:headEnd/>
            <a:tailEnd/>
          </a:ln>
        </p:spPr>
        <p:txBody>
          <a:bodyPr anchor="ctr"/>
          <a:lstStyle/>
          <a:p>
            <a:pPr marL="93616" lvl="0" indent="-93616" algn="ctr" defTabSz="767181" fontAlgn="base">
              <a:spcBef>
                <a:spcPts val="200"/>
              </a:spcBef>
              <a:spcAft>
                <a:spcPts val="200"/>
              </a:spcAft>
              <a:defRPr/>
            </a:pPr>
            <a:endParaRPr lang="en-US" sz="1199" b="1" kern="0" dirty="0">
              <a:latin typeface="Tw Cen MT" panose="020B0602020104020603" pitchFamily="34" charset="0"/>
            </a:endParaRPr>
          </a:p>
        </p:txBody>
      </p:sp>
      <p:sp>
        <p:nvSpPr>
          <p:cNvPr id="5" name="Rectangle 4">
            <a:extLst>
              <a:ext uri="{FF2B5EF4-FFF2-40B4-BE49-F238E27FC236}">
                <a16:creationId xmlns:a16="http://schemas.microsoft.com/office/drawing/2014/main" id="{1933596D-EC11-4E8E-BD1F-392D430931F5}"/>
              </a:ext>
            </a:extLst>
          </p:cNvPr>
          <p:cNvSpPr/>
          <p:nvPr/>
        </p:nvSpPr>
        <p:spPr>
          <a:xfrm>
            <a:off x="9289774" y="2943693"/>
            <a:ext cx="528380" cy="41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B6DE6A48-4DF2-43B7-A800-1ADED11B493D}"/>
              </a:ext>
            </a:extLst>
          </p:cNvPr>
          <p:cNvSpPr/>
          <p:nvPr/>
        </p:nvSpPr>
        <p:spPr>
          <a:xfrm>
            <a:off x="9979354" y="2942645"/>
            <a:ext cx="594665" cy="41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B2B Execution Map</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A few partnerships are easy wins that come with low effort and high gains in future</a:t>
            </a:r>
          </a:p>
        </p:txBody>
      </p:sp>
      <p:sp>
        <p:nvSpPr>
          <p:cNvPr id="456" name="TextBox 455">
            <a:extLst>
              <a:ext uri="{FF2B5EF4-FFF2-40B4-BE49-F238E27FC236}">
                <a16:creationId xmlns:a16="http://schemas.microsoft.com/office/drawing/2014/main" id="{691E917E-968B-4CBC-B85A-FC81CAC3F43C}"/>
              </a:ext>
            </a:extLst>
          </p:cNvPr>
          <p:cNvSpPr txBox="1"/>
          <p:nvPr/>
        </p:nvSpPr>
        <p:spPr>
          <a:xfrm>
            <a:off x="11824981" y="6573307"/>
            <a:ext cx="300082" cy="230832"/>
          </a:xfrm>
          <a:prstGeom prst="rect">
            <a:avLst/>
          </a:prstGeom>
          <a:noFill/>
        </p:spPr>
        <p:txBody>
          <a:bodyPr wrap="none" rtlCol="0">
            <a:spAutoFit/>
          </a:bodyPr>
          <a:lstStyle/>
          <a:p>
            <a:r>
              <a:rPr lang="en-GB" sz="900" dirty="0"/>
              <a:t>12</a:t>
            </a:r>
            <a:endParaRPr lang="en-GB" dirty="0"/>
          </a:p>
        </p:txBody>
      </p:sp>
      <p:sp>
        <p:nvSpPr>
          <p:cNvPr id="457" name="Rectangle: Top Corners Rounded 456">
            <a:extLst>
              <a:ext uri="{FF2B5EF4-FFF2-40B4-BE49-F238E27FC236}">
                <a16:creationId xmlns:a16="http://schemas.microsoft.com/office/drawing/2014/main" id="{A952D042-5B97-45BE-A0C9-B94EC593DA87}"/>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458" name="Rectangle: Top Corners Rounded 457">
            <a:extLst>
              <a:ext uri="{FF2B5EF4-FFF2-40B4-BE49-F238E27FC236}">
                <a16:creationId xmlns:a16="http://schemas.microsoft.com/office/drawing/2014/main" id="{88C4C1C8-D4D9-453E-974D-1B8C185CC4AE}"/>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459" name="Rectangle: Top Corners Rounded 458">
            <a:extLst>
              <a:ext uri="{FF2B5EF4-FFF2-40B4-BE49-F238E27FC236}">
                <a16:creationId xmlns:a16="http://schemas.microsoft.com/office/drawing/2014/main" id="{49A80F66-B53A-451F-BD10-F2E1EA5561E3}"/>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grpSp>
        <p:nvGrpSpPr>
          <p:cNvPr id="460" name="Group 459">
            <a:extLst>
              <a:ext uri="{FF2B5EF4-FFF2-40B4-BE49-F238E27FC236}">
                <a16:creationId xmlns:a16="http://schemas.microsoft.com/office/drawing/2014/main" id="{C745554B-13D8-48F4-A587-59276185D854}"/>
              </a:ext>
            </a:extLst>
          </p:cNvPr>
          <p:cNvGrpSpPr/>
          <p:nvPr/>
        </p:nvGrpSpPr>
        <p:grpSpPr>
          <a:xfrm>
            <a:off x="65515" y="52817"/>
            <a:ext cx="307865" cy="238659"/>
            <a:chOff x="12605240" y="-37073"/>
            <a:chExt cx="6681054" cy="5179185"/>
          </a:xfrm>
          <a:solidFill>
            <a:srgbClr val="00162F"/>
          </a:solidFill>
        </p:grpSpPr>
        <p:sp>
          <p:nvSpPr>
            <p:cNvPr id="461" name="Rectangle 460">
              <a:extLst>
                <a:ext uri="{FF2B5EF4-FFF2-40B4-BE49-F238E27FC236}">
                  <a16:creationId xmlns:a16="http://schemas.microsoft.com/office/drawing/2014/main" id="{297F39F4-040A-4151-BE08-BF210C2FBF6E}"/>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2" name="Rectangle 461">
              <a:extLst>
                <a:ext uri="{FF2B5EF4-FFF2-40B4-BE49-F238E27FC236}">
                  <a16:creationId xmlns:a16="http://schemas.microsoft.com/office/drawing/2014/main" id="{01282ED2-9B09-48F0-9A4A-A332CEFDD11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3" name="Rectangle 462">
              <a:extLst>
                <a:ext uri="{FF2B5EF4-FFF2-40B4-BE49-F238E27FC236}">
                  <a16:creationId xmlns:a16="http://schemas.microsoft.com/office/drawing/2014/main" id="{1B7B7193-5F43-48A1-873B-194D9F961E78}"/>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4" name="Rectangle 463">
              <a:extLst>
                <a:ext uri="{FF2B5EF4-FFF2-40B4-BE49-F238E27FC236}">
                  <a16:creationId xmlns:a16="http://schemas.microsoft.com/office/drawing/2014/main" id="{A3F77342-23AA-4BAC-AD81-FE1483988548}"/>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5" name="Rectangle 464">
              <a:extLst>
                <a:ext uri="{FF2B5EF4-FFF2-40B4-BE49-F238E27FC236}">
                  <a16:creationId xmlns:a16="http://schemas.microsoft.com/office/drawing/2014/main" id="{9137F467-5F80-44C5-9BEC-367BDE3269E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6" name="Rectangle 465">
              <a:extLst>
                <a:ext uri="{FF2B5EF4-FFF2-40B4-BE49-F238E27FC236}">
                  <a16:creationId xmlns:a16="http://schemas.microsoft.com/office/drawing/2014/main" id="{E9B13CF5-299A-4F4D-84B7-98812B317882}"/>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7" name="Rectangle 466">
              <a:extLst>
                <a:ext uri="{FF2B5EF4-FFF2-40B4-BE49-F238E27FC236}">
                  <a16:creationId xmlns:a16="http://schemas.microsoft.com/office/drawing/2014/main" id="{13A35BEB-0086-4C47-838A-AC1B909853C5}"/>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8" name="Isosceles Triangle 467">
              <a:extLst>
                <a:ext uri="{FF2B5EF4-FFF2-40B4-BE49-F238E27FC236}">
                  <a16:creationId xmlns:a16="http://schemas.microsoft.com/office/drawing/2014/main" id="{47C20A3F-43BE-45EB-AB5B-73DFC938B230}"/>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469" name="Rectangle: Top Corners Rounded 468">
            <a:extLst>
              <a:ext uri="{FF2B5EF4-FFF2-40B4-BE49-F238E27FC236}">
                <a16:creationId xmlns:a16="http://schemas.microsoft.com/office/drawing/2014/main" id="{748E315D-C255-45A3-B68F-C82C988DE8D0}"/>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470" name="Arrow: Chevron 469">
            <a:extLst>
              <a:ext uri="{FF2B5EF4-FFF2-40B4-BE49-F238E27FC236}">
                <a16:creationId xmlns:a16="http://schemas.microsoft.com/office/drawing/2014/main" id="{5303B5D2-DCE7-48FC-A8CD-56A8EE705029}"/>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1" name="Arrow: Chevron 470">
            <a:extLst>
              <a:ext uri="{FF2B5EF4-FFF2-40B4-BE49-F238E27FC236}">
                <a16:creationId xmlns:a16="http://schemas.microsoft.com/office/drawing/2014/main" id="{6107C536-E0B2-4F3B-A292-747259EA0F00}"/>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2" name="Arrow: Chevron 471">
            <a:extLst>
              <a:ext uri="{FF2B5EF4-FFF2-40B4-BE49-F238E27FC236}">
                <a16:creationId xmlns:a16="http://schemas.microsoft.com/office/drawing/2014/main" id="{F3C2A4B9-8C35-4BF3-99D7-FE304E497827}"/>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23" name="Group 22">
            <a:extLst>
              <a:ext uri="{FF2B5EF4-FFF2-40B4-BE49-F238E27FC236}">
                <a16:creationId xmlns:a16="http://schemas.microsoft.com/office/drawing/2014/main" id="{3BCEC023-3B93-43B5-9073-24CBAACB4000}"/>
              </a:ext>
            </a:extLst>
          </p:cNvPr>
          <p:cNvGrpSpPr/>
          <p:nvPr/>
        </p:nvGrpSpPr>
        <p:grpSpPr>
          <a:xfrm>
            <a:off x="369923" y="1462204"/>
            <a:ext cx="301446" cy="4638845"/>
            <a:chOff x="706252" y="1138672"/>
            <a:chExt cx="264451" cy="5163364"/>
          </a:xfrm>
        </p:grpSpPr>
        <p:sp>
          <p:nvSpPr>
            <p:cNvPr id="24" name="Rectangle 23">
              <a:extLst>
                <a:ext uri="{FF2B5EF4-FFF2-40B4-BE49-F238E27FC236}">
                  <a16:creationId xmlns:a16="http://schemas.microsoft.com/office/drawing/2014/main" id="{45ACFF6E-69A6-4CFE-9D39-FF455F62714B}"/>
                </a:ext>
              </a:extLst>
            </p:cNvPr>
            <p:cNvSpPr/>
            <p:nvPr/>
          </p:nvSpPr>
          <p:spPr>
            <a:xfrm>
              <a:off x="710995" y="1138672"/>
              <a:ext cx="233022" cy="580247"/>
            </a:xfrm>
            <a:prstGeom prst="rect">
              <a:avLst/>
            </a:prstGeom>
            <a:noFill/>
            <a:ln w="28575" cap="flat" cmpd="sng" algn="ctr">
              <a:noFill/>
              <a:prstDash val="solid"/>
            </a:ln>
            <a:effectLst/>
          </p:spPr>
          <p:txBody>
            <a:bodyPr vert="vert27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effectLst/>
                  <a:uLnTx/>
                  <a:uFillTx/>
                  <a:ea typeface="+mn-ea"/>
                  <a:cs typeface="+mn-cs"/>
                </a:rPr>
                <a:t>High</a:t>
              </a:r>
              <a:endParaRPr kumimoji="0" lang="en-IN" sz="1199" b="1" i="0" u="none" strike="noStrike" kern="0" cap="none" spc="0" normalizeH="0" baseline="0" noProof="0">
                <a:ln>
                  <a:noFill/>
                </a:ln>
                <a:effectLst/>
                <a:uLnTx/>
                <a:uFillTx/>
                <a:ea typeface="+mn-ea"/>
                <a:cs typeface="+mn-cs"/>
              </a:endParaRPr>
            </a:p>
          </p:txBody>
        </p:sp>
        <p:sp>
          <p:nvSpPr>
            <p:cNvPr id="25" name="Rectangle 24">
              <a:extLst>
                <a:ext uri="{FF2B5EF4-FFF2-40B4-BE49-F238E27FC236}">
                  <a16:creationId xmlns:a16="http://schemas.microsoft.com/office/drawing/2014/main" id="{7BE121F3-C65E-4DA6-A811-1D78C062CFDD}"/>
                </a:ext>
              </a:extLst>
            </p:cNvPr>
            <p:cNvSpPr/>
            <p:nvPr/>
          </p:nvSpPr>
          <p:spPr>
            <a:xfrm>
              <a:off x="706252" y="5766942"/>
              <a:ext cx="264451" cy="535094"/>
            </a:xfrm>
            <a:prstGeom prst="rect">
              <a:avLst/>
            </a:prstGeom>
            <a:noFill/>
            <a:ln w="28575" cap="flat" cmpd="sng" algn="ctr">
              <a:noFill/>
              <a:prstDash val="solid"/>
            </a:ln>
            <a:effectLst/>
          </p:spPr>
          <p:txBody>
            <a:bodyPr vert="vert27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effectLst/>
                  <a:uLnTx/>
                  <a:uFillTx/>
                  <a:ea typeface="+mn-ea"/>
                  <a:cs typeface="+mn-cs"/>
                </a:rPr>
                <a:t>Low</a:t>
              </a:r>
              <a:endParaRPr kumimoji="0" lang="en-IN" sz="1199" b="1" i="0" u="none" strike="noStrike" kern="0" cap="none" spc="0" normalizeH="0" baseline="0" noProof="0">
                <a:ln>
                  <a:noFill/>
                </a:ln>
                <a:effectLst/>
                <a:uLnTx/>
                <a:uFillTx/>
                <a:ea typeface="+mn-ea"/>
                <a:cs typeface="+mn-cs"/>
              </a:endParaRPr>
            </a:p>
          </p:txBody>
        </p:sp>
      </p:grpSp>
      <p:sp>
        <p:nvSpPr>
          <p:cNvPr id="26" name="Text Box 59">
            <a:extLst>
              <a:ext uri="{FF2B5EF4-FFF2-40B4-BE49-F238E27FC236}">
                <a16:creationId xmlns:a16="http://schemas.microsoft.com/office/drawing/2014/main" id="{012149EA-E367-487C-987C-B18F0B610B7F}"/>
              </a:ext>
            </a:extLst>
          </p:cNvPr>
          <p:cNvSpPr txBox="1">
            <a:spLocks noChangeArrowheads="1"/>
          </p:cNvSpPr>
          <p:nvPr/>
        </p:nvSpPr>
        <p:spPr bwMode="auto">
          <a:xfrm>
            <a:off x="4683853" y="6124706"/>
            <a:ext cx="3270444" cy="307648"/>
          </a:xfrm>
          <a:prstGeom prst="rect">
            <a:avLst/>
          </a:prstGeom>
          <a:solidFill>
            <a:srgbClr val="00162F"/>
          </a:solidFill>
          <a:ln w="9525" algn="ctr">
            <a:noFill/>
            <a:miter lim="800000"/>
            <a:headEnd/>
            <a:tailEnd/>
          </a:ln>
          <a:effectLst/>
        </p:spPr>
        <p:txBody>
          <a:bodyPr wrap="square" anchor="ctr">
            <a:spAutoFit/>
          </a:bodyPr>
          <a:lstStyle/>
          <a:p>
            <a:pPr marL="0" marR="0" lvl="0" indent="0" algn="ctr" defTabSz="913746" eaLnBrk="1" fontAlgn="auto" latinLnBrk="0" hangingPunct="1">
              <a:lnSpc>
                <a:spcPct val="100000"/>
              </a:lnSpc>
              <a:spcBef>
                <a:spcPts val="0"/>
              </a:spcBef>
              <a:spcAft>
                <a:spcPts val="0"/>
              </a:spcAft>
              <a:buClrTx/>
              <a:buSzTx/>
              <a:buFontTx/>
              <a:buNone/>
              <a:tabLst/>
              <a:defRPr/>
            </a:pPr>
            <a:r>
              <a:rPr kumimoji="0" lang="en-US" sz="1399" b="1" i="0" u="none" strike="noStrike" kern="0" cap="none" spc="0" normalizeH="0" baseline="0" noProof="0" dirty="0">
                <a:ln>
                  <a:noFill/>
                </a:ln>
                <a:solidFill>
                  <a:schemeClr val="bg1"/>
                </a:solidFill>
                <a:effectLst/>
                <a:uLnTx/>
                <a:uFillTx/>
                <a:cs typeface="Segoe UI"/>
                <a:sym typeface="Segoe UI"/>
              </a:rPr>
              <a:t>Feasibility and Ease of Implementation</a:t>
            </a:r>
          </a:p>
        </p:txBody>
      </p:sp>
      <p:sp>
        <p:nvSpPr>
          <p:cNvPr id="27" name="Text Box 59">
            <a:extLst>
              <a:ext uri="{FF2B5EF4-FFF2-40B4-BE49-F238E27FC236}">
                <a16:creationId xmlns:a16="http://schemas.microsoft.com/office/drawing/2014/main" id="{8A7887B0-9605-4A17-B4B2-802F9E1C485A}"/>
              </a:ext>
            </a:extLst>
          </p:cNvPr>
          <p:cNvSpPr txBox="1">
            <a:spLocks noChangeArrowheads="1"/>
          </p:cNvSpPr>
          <p:nvPr/>
        </p:nvSpPr>
        <p:spPr bwMode="auto">
          <a:xfrm rot="16200000">
            <a:off x="-814814" y="3788744"/>
            <a:ext cx="2518459" cy="307647"/>
          </a:xfrm>
          <a:prstGeom prst="rect">
            <a:avLst/>
          </a:prstGeom>
          <a:solidFill>
            <a:srgbClr val="00162F"/>
          </a:solidFill>
          <a:ln w="9525" algn="ctr">
            <a:noFill/>
            <a:miter lim="800000"/>
            <a:headEnd/>
            <a:tailEnd/>
          </a:ln>
          <a:effectLst/>
        </p:spPr>
        <p:txBody>
          <a:bodyPr wrap="square" anchor="ctr">
            <a:spAutoFit/>
          </a:bodyPr>
          <a:lstStyle/>
          <a:p>
            <a:pPr marL="0" marR="0" lvl="0" indent="0" algn="ctr" defTabSz="913746" eaLnBrk="1" fontAlgn="auto" latinLnBrk="0" hangingPunct="1">
              <a:lnSpc>
                <a:spcPct val="100000"/>
              </a:lnSpc>
              <a:spcBef>
                <a:spcPts val="0"/>
              </a:spcBef>
              <a:spcAft>
                <a:spcPts val="0"/>
              </a:spcAft>
              <a:buClrTx/>
              <a:buSzTx/>
              <a:buFontTx/>
              <a:buNone/>
              <a:tabLst/>
              <a:defRPr/>
            </a:pPr>
            <a:r>
              <a:rPr kumimoji="0" lang="en-US" sz="1399" b="1" i="0" u="none" strike="noStrike" kern="0" cap="none" spc="0" normalizeH="0" baseline="0" noProof="0" dirty="0">
                <a:ln>
                  <a:noFill/>
                </a:ln>
                <a:solidFill>
                  <a:schemeClr val="bg1"/>
                </a:solidFill>
                <a:effectLst/>
                <a:uLnTx/>
                <a:uFillTx/>
                <a:cs typeface="Segoe UI"/>
                <a:sym typeface="Segoe UI"/>
              </a:rPr>
              <a:t>Impact of the Partnership</a:t>
            </a:r>
          </a:p>
        </p:txBody>
      </p:sp>
      <p:grpSp>
        <p:nvGrpSpPr>
          <p:cNvPr id="28" name="Group 27">
            <a:extLst>
              <a:ext uri="{FF2B5EF4-FFF2-40B4-BE49-F238E27FC236}">
                <a16:creationId xmlns:a16="http://schemas.microsoft.com/office/drawing/2014/main" id="{1D92516C-B158-4F24-881A-AE6DB306D951}"/>
              </a:ext>
            </a:extLst>
          </p:cNvPr>
          <p:cNvGrpSpPr/>
          <p:nvPr/>
        </p:nvGrpSpPr>
        <p:grpSpPr>
          <a:xfrm>
            <a:off x="715480" y="1514075"/>
            <a:ext cx="10757947" cy="4554631"/>
            <a:chOff x="834620" y="1523677"/>
            <a:chExt cx="8707737" cy="4037865"/>
          </a:xfrm>
        </p:grpSpPr>
        <p:cxnSp>
          <p:nvCxnSpPr>
            <p:cNvPr id="29" name="Straight Connector 28">
              <a:extLst>
                <a:ext uri="{FF2B5EF4-FFF2-40B4-BE49-F238E27FC236}">
                  <a16:creationId xmlns:a16="http://schemas.microsoft.com/office/drawing/2014/main" id="{FBCEBB21-4A3E-4162-B557-9C0D6EEFA0C4}"/>
                </a:ext>
              </a:extLst>
            </p:cNvPr>
            <p:cNvCxnSpPr>
              <a:cxnSpLocks/>
            </p:cNvCxnSpPr>
            <p:nvPr/>
          </p:nvCxnSpPr>
          <p:spPr>
            <a:xfrm flipV="1">
              <a:off x="834620" y="1523677"/>
              <a:ext cx="0" cy="4037865"/>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AAB505-9E4D-4664-A000-D033E702CEE4}"/>
                </a:ext>
              </a:extLst>
            </p:cNvPr>
            <p:cNvCxnSpPr>
              <a:cxnSpLocks/>
            </p:cNvCxnSpPr>
            <p:nvPr/>
          </p:nvCxnSpPr>
          <p:spPr>
            <a:xfrm flipV="1">
              <a:off x="834620" y="5561453"/>
              <a:ext cx="8707737" cy="1"/>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333A1F6B-F049-4E98-B90E-601529AC5331}"/>
              </a:ext>
            </a:extLst>
          </p:cNvPr>
          <p:cNvGrpSpPr/>
          <p:nvPr/>
        </p:nvGrpSpPr>
        <p:grpSpPr>
          <a:xfrm rot="5400000">
            <a:off x="5947748" y="789810"/>
            <a:ext cx="377331" cy="10910003"/>
            <a:chOff x="669520" y="1041822"/>
            <a:chExt cx="264451" cy="5742131"/>
          </a:xfrm>
        </p:grpSpPr>
        <p:sp>
          <p:nvSpPr>
            <p:cNvPr id="32" name="Rectangle 31">
              <a:extLst>
                <a:ext uri="{FF2B5EF4-FFF2-40B4-BE49-F238E27FC236}">
                  <a16:creationId xmlns:a16="http://schemas.microsoft.com/office/drawing/2014/main" id="{5EE25739-EE84-4DDA-B24D-AFCD0FC42DA6}"/>
                </a:ext>
              </a:extLst>
            </p:cNvPr>
            <p:cNvSpPr/>
            <p:nvPr/>
          </p:nvSpPr>
          <p:spPr>
            <a:xfrm>
              <a:off x="678323" y="1041822"/>
              <a:ext cx="254964" cy="521630"/>
            </a:xfrm>
            <a:prstGeom prst="rect">
              <a:avLst/>
            </a:prstGeom>
            <a:noFill/>
            <a:ln w="28575" cap="flat" cmpd="sng" algn="ctr">
              <a:noFill/>
              <a:prstDash val="solid"/>
            </a:ln>
            <a:effectLst/>
          </p:spPr>
          <p:txBody>
            <a:bodyPr vert="vert27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effectLst/>
                  <a:uLnTx/>
                  <a:uFillTx/>
                  <a:ea typeface="+mn-ea"/>
                  <a:cs typeface="+mn-cs"/>
                </a:rPr>
                <a:t>High</a:t>
              </a:r>
              <a:endParaRPr kumimoji="0" lang="en-IN" sz="1199" b="1" i="0" u="none" strike="noStrike" kern="0" cap="none" spc="0" normalizeH="0" baseline="0" noProof="0">
                <a:ln>
                  <a:noFill/>
                </a:ln>
                <a:effectLst/>
                <a:uLnTx/>
                <a:uFillTx/>
                <a:ea typeface="+mn-ea"/>
                <a:cs typeface="+mn-cs"/>
              </a:endParaRPr>
            </a:p>
          </p:txBody>
        </p:sp>
        <p:sp>
          <p:nvSpPr>
            <p:cNvPr id="33" name="Rectangle 32">
              <a:extLst>
                <a:ext uri="{FF2B5EF4-FFF2-40B4-BE49-F238E27FC236}">
                  <a16:creationId xmlns:a16="http://schemas.microsoft.com/office/drawing/2014/main" id="{F352C1F2-BB45-4B9E-955C-A4BC96E3CA17}"/>
                </a:ext>
              </a:extLst>
            </p:cNvPr>
            <p:cNvSpPr/>
            <p:nvPr/>
          </p:nvSpPr>
          <p:spPr>
            <a:xfrm>
              <a:off x="669520" y="6248859"/>
              <a:ext cx="264451" cy="535094"/>
            </a:xfrm>
            <a:prstGeom prst="rect">
              <a:avLst/>
            </a:prstGeom>
            <a:noFill/>
            <a:ln w="28575" cap="flat" cmpd="sng" algn="ctr">
              <a:noFill/>
              <a:prstDash val="solid"/>
            </a:ln>
            <a:effectLst/>
          </p:spPr>
          <p:txBody>
            <a:bodyPr vert="vert27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effectLst/>
                  <a:uLnTx/>
                  <a:uFillTx/>
                  <a:ea typeface="+mn-ea"/>
                  <a:cs typeface="+mn-cs"/>
                </a:rPr>
                <a:t>Low</a:t>
              </a:r>
              <a:endParaRPr kumimoji="0" lang="en-IN" sz="1199" b="1" i="0" u="none" strike="noStrike" kern="0" cap="none" spc="0" normalizeH="0" baseline="0" noProof="0">
                <a:ln>
                  <a:noFill/>
                </a:ln>
                <a:effectLst/>
                <a:uLnTx/>
                <a:uFillTx/>
                <a:ea typeface="+mn-ea"/>
                <a:cs typeface="+mn-cs"/>
              </a:endParaRPr>
            </a:p>
          </p:txBody>
        </p:sp>
      </p:grpSp>
      <p:pic>
        <p:nvPicPr>
          <p:cNvPr id="37" name="Picture 10" descr="Image result for ola logo">
            <a:extLst>
              <a:ext uri="{FF2B5EF4-FFF2-40B4-BE49-F238E27FC236}">
                <a16:creationId xmlns:a16="http://schemas.microsoft.com/office/drawing/2014/main" id="{7FAF45BC-3281-4D51-B0D7-01F365182BE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58340" y="1756956"/>
            <a:ext cx="646047" cy="64604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2" descr="Image result for uber logo">
            <a:extLst>
              <a:ext uri="{FF2B5EF4-FFF2-40B4-BE49-F238E27FC236}">
                <a16:creationId xmlns:a16="http://schemas.microsoft.com/office/drawing/2014/main" id="{D13A8DE9-08C8-4AD3-B217-49094B33D2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9549" y="1844194"/>
            <a:ext cx="781918" cy="47156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4" descr="Meru Cabs - Home | Facebook">
            <a:extLst>
              <a:ext uri="{FF2B5EF4-FFF2-40B4-BE49-F238E27FC236}">
                <a16:creationId xmlns:a16="http://schemas.microsoft.com/office/drawing/2014/main" id="{768E5607-2A4D-4BAD-AFF9-DE7FBA465A3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70433" y="1848513"/>
            <a:ext cx="518738" cy="51873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6" descr="ZoomCar | Crunchbase">
            <a:extLst>
              <a:ext uri="{FF2B5EF4-FFF2-40B4-BE49-F238E27FC236}">
                <a16:creationId xmlns:a16="http://schemas.microsoft.com/office/drawing/2014/main" id="{28E076B2-3A17-4D62-BDF8-16E103C5A1FD}"/>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5038" t="14787" r="12281" b="16040"/>
          <a:stretch>
            <a:fillRect/>
          </a:stretch>
        </p:blipFill>
        <p:spPr bwMode="auto">
          <a:xfrm>
            <a:off x="6980253" y="2961874"/>
            <a:ext cx="546990" cy="52058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8" descr="Press kit, Logo &amp; Brand | Droom">
            <a:extLst>
              <a:ext uri="{FF2B5EF4-FFF2-40B4-BE49-F238E27FC236}">
                <a16:creationId xmlns:a16="http://schemas.microsoft.com/office/drawing/2014/main" id="{55E95315-8D53-4557-B674-085FD0E525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0149" y="3091069"/>
            <a:ext cx="848903" cy="26627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2" descr="Blue Dart, a Division of DHL Case Study">
            <a:extLst>
              <a:ext uri="{FF2B5EF4-FFF2-40B4-BE49-F238E27FC236}">
                <a16:creationId xmlns:a16="http://schemas.microsoft.com/office/drawing/2014/main" id="{95440869-F2A2-4746-BBA6-0CABAE63F017}"/>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81228" y="2196017"/>
            <a:ext cx="1092976" cy="109297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Logistics Companies in India | Supply Chain Management | Cargo ...">
            <a:extLst>
              <a:ext uri="{FF2B5EF4-FFF2-40B4-BE49-F238E27FC236}">
                <a16:creationId xmlns:a16="http://schemas.microsoft.com/office/drawing/2014/main" id="{EBA368B3-A19C-4017-ABA3-27FC3DABBA14}"/>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36984" y="2982834"/>
            <a:ext cx="915275" cy="44665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6" descr="Order Food Online from Nearby Restaurants that Deliver to You | Zomato">
            <a:extLst>
              <a:ext uri="{FF2B5EF4-FFF2-40B4-BE49-F238E27FC236}">
                <a16:creationId xmlns:a16="http://schemas.microsoft.com/office/drawing/2014/main" id="{5198F98A-2173-43BC-B746-13324CECBB99}"/>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63023" y="2832464"/>
            <a:ext cx="637299" cy="63729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8" descr="How Swiggy devoured competition in India - Digital Innovation and ...">
            <a:extLst>
              <a:ext uri="{FF2B5EF4-FFF2-40B4-BE49-F238E27FC236}">
                <a16:creationId xmlns:a16="http://schemas.microsoft.com/office/drawing/2014/main" id="{D70CEEA2-9697-4B3A-8590-BF311088EF9F}"/>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28573" y="2896564"/>
            <a:ext cx="766631" cy="5101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6">
            <a:extLst>
              <a:ext uri="{FF2B5EF4-FFF2-40B4-BE49-F238E27FC236}">
                <a16:creationId xmlns:a16="http://schemas.microsoft.com/office/drawing/2014/main" id="{C3AA9E99-7F57-41EE-9D74-7E4C6B2C5180}"/>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53993" y="5066346"/>
            <a:ext cx="673774" cy="44527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8">
            <a:extLst>
              <a:ext uri="{FF2B5EF4-FFF2-40B4-BE49-F238E27FC236}">
                <a16:creationId xmlns:a16="http://schemas.microsoft.com/office/drawing/2014/main" id="{90429018-5AEA-4A42-BCCE-9BB71CBE167B}"/>
              </a:ext>
            </a:extLst>
          </p:cNvPr>
          <p:cNvPicPr>
            <a:picLocks noChangeAspect="1" noChangeArrowheads="1"/>
          </p:cNvPicPr>
          <p:nvPr/>
        </p:nvPicPr>
        <p:blipFill rotWithShape="1">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l="37945" t="-6901" b="-1"/>
          <a:stretch/>
        </p:blipFill>
        <p:spPr bwMode="auto">
          <a:xfrm>
            <a:off x="9496140" y="5205267"/>
            <a:ext cx="945588" cy="16181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0">
            <a:extLst>
              <a:ext uri="{FF2B5EF4-FFF2-40B4-BE49-F238E27FC236}">
                <a16:creationId xmlns:a16="http://schemas.microsoft.com/office/drawing/2014/main" id="{D573D28B-3BE0-4B95-82DC-E3788B718D29}"/>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510101" y="5101116"/>
            <a:ext cx="421094" cy="42109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62">
            <a:extLst>
              <a:ext uri="{FF2B5EF4-FFF2-40B4-BE49-F238E27FC236}">
                <a16:creationId xmlns:a16="http://schemas.microsoft.com/office/drawing/2014/main" id="{2DDBC276-706E-48BF-8074-6E1D94AB3211}"/>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28989" y="4950137"/>
            <a:ext cx="725308" cy="18252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64" descr="Working as an Engineer at Shell: Employee Reviews | Indeed.com">
            <a:extLst>
              <a:ext uri="{FF2B5EF4-FFF2-40B4-BE49-F238E27FC236}">
                <a16:creationId xmlns:a16="http://schemas.microsoft.com/office/drawing/2014/main" id="{D1B175A2-0149-4137-B4EA-71930553C6E1}"/>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t="36000" b="36000"/>
          <a:stretch>
            <a:fillRect/>
          </a:stretch>
        </p:blipFill>
        <p:spPr bwMode="auto">
          <a:xfrm>
            <a:off x="7223511" y="5220844"/>
            <a:ext cx="725308" cy="20308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6" descr="Mobil India | Facebook">
            <a:extLst>
              <a:ext uri="{FF2B5EF4-FFF2-40B4-BE49-F238E27FC236}">
                <a16:creationId xmlns:a16="http://schemas.microsoft.com/office/drawing/2014/main" id="{C9494BD6-1CBA-4ABB-99E3-67EBB99D8732}"/>
              </a:ext>
            </a:extLst>
          </p:cNvPr>
          <p:cNvPicPr>
            <a:picLocks noChangeAspect="1" noChangeArrowheads="1"/>
          </p:cNvPicPr>
          <p:nvPr/>
        </p:nvPicPr>
        <p:blipFill>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l="12444" t="39556" r="12444" b="39556"/>
          <a:stretch>
            <a:fillRect/>
          </a:stretch>
        </p:blipFill>
        <p:spPr bwMode="auto">
          <a:xfrm>
            <a:off x="6393153" y="5094953"/>
            <a:ext cx="725308" cy="20171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2">
            <a:extLst>
              <a:ext uri="{FF2B5EF4-FFF2-40B4-BE49-F238E27FC236}">
                <a16:creationId xmlns:a16="http://schemas.microsoft.com/office/drawing/2014/main" id="{16319548-F734-42F2-BD4D-68035FA6E04B}"/>
              </a:ext>
            </a:extLst>
          </p:cNvPr>
          <p:cNvPicPr>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5009" y="4957113"/>
            <a:ext cx="539460" cy="53946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4">
            <a:extLst>
              <a:ext uri="{FF2B5EF4-FFF2-40B4-BE49-F238E27FC236}">
                <a16:creationId xmlns:a16="http://schemas.microsoft.com/office/drawing/2014/main" id="{5BD49FBB-EAFB-4F3E-9607-F40B80EF14D7}"/>
              </a:ext>
            </a:extLst>
          </p:cNvPr>
          <p:cNvPicPr>
            <a:picLocks noChangeAspect="1" noChangeArrowheads="1"/>
          </p:cNvPicPr>
          <p:nvPr/>
        </p:nvPicPr>
        <p:blipFill>
          <a:blip r:embed="rId19">
            <a:clrChange>
              <a:clrFrom>
                <a:srgbClr val="FDFFF5"/>
              </a:clrFrom>
              <a:clrTo>
                <a:srgbClr val="FDFFF5">
                  <a:alpha val="0"/>
                </a:srgbClr>
              </a:clrTo>
            </a:clrChange>
            <a:extLst>
              <a:ext uri="{28A0092B-C50C-407E-A947-70E740481C1C}">
                <a14:useLocalDpi xmlns:a14="http://schemas.microsoft.com/office/drawing/2010/main" val="0"/>
              </a:ext>
            </a:extLst>
          </a:blip>
          <a:srcRect/>
          <a:stretch>
            <a:fillRect/>
          </a:stretch>
        </p:blipFill>
        <p:spPr bwMode="auto">
          <a:xfrm>
            <a:off x="2710299" y="4991580"/>
            <a:ext cx="470526" cy="470526"/>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6">
            <a:extLst>
              <a:ext uri="{FF2B5EF4-FFF2-40B4-BE49-F238E27FC236}">
                <a16:creationId xmlns:a16="http://schemas.microsoft.com/office/drawing/2014/main" id="{E59BFBDA-9440-43BC-AA05-3744403F9D0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89204" y="5043298"/>
            <a:ext cx="471098" cy="36708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8">
            <a:extLst>
              <a:ext uri="{FF2B5EF4-FFF2-40B4-BE49-F238E27FC236}">
                <a16:creationId xmlns:a16="http://schemas.microsoft.com/office/drawing/2014/main" id="{4DB254F8-71D4-4706-9F5B-DA2666CD50CA}"/>
              </a:ext>
            </a:extLst>
          </p:cNvPr>
          <p:cNvPicPr>
            <a:picLocks noChangeAspect="1" noChangeArrowheads="1"/>
          </p:cNvPicPr>
          <p:nvPr/>
        </p:nvPicPr>
        <p:blipFill>
          <a:blip r:embed="rId21">
            <a:clrChange>
              <a:clrFrom>
                <a:srgbClr val="FCFCFC"/>
              </a:clrFrom>
              <a:clrTo>
                <a:srgbClr val="FCFCFC">
                  <a:alpha val="0"/>
                </a:srgbClr>
              </a:clrTo>
            </a:clrChange>
            <a:extLst>
              <a:ext uri="{28A0092B-C50C-407E-A947-70E740481C1C}">
                <a14:useLocalDpi xmlns:a14="http://schemas.microsoft.com/office/drawing/2010/main" val="0"/>
              </a:ext>
            </a:extLst>
          </a:blip>
          <a:srcRect/>
          <a:stretch>
            <a:fillRect/>
          </a:stretch>
        </p:blipFill>
        <p:spPr bwMode="auto">
          <a:xfrm>
            <a:off x="9783674" y="4013358"/>
            <a:ext cx="799461" cy="264722"/>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30" descr="Image result for amazon pay">
            <a:extLst>
              <a:ext uri="{FF2B5EF4-FFF2-40B4-BE49-F238E27FC236}">
                <a16:creationId xmlns:a16="http://schemas.microsoft.com/office/drawing/2014/main" id="{683061EF-432A-464E-8CF4-67612DB30C4A}"/>
              </a:ext>
            </a:extLst>
          </p:cNvPr>
          <p:cNvPicPr>
            <a:picLocks noChangeAspect="1" noChangeArrowheads="1"/>
          </p:cNvPicPr>
          <p:nvPr/>
        </p:nvPicPr>
        <p:blipFill>
          <a:blip r:embed="rId22">
            <a:clrChange>
              <a:clrFrom>
                <a:srgbClr val="FEFEFE"/>
              </a:clrFrom>
              <a:clrTo>
                <a:srgbClr val="FEFEFE">
                  <a:alpha val="0"/>
                </a:srgbClr>
              </a:clrTo>
            </a:clrChange>
            <a:extLst>
              <a:ext uri="{BEBA8EAE-BF5A-486C-A8C5-ECC9F3942E4B}">
                <a14:imgProps xmlns:a14="http://schemas.microsoft.com/office/drawing/2010/main">
                  <a14:imgLayer r:embed="rId23">
                    <a14:imgEffect>
                      <a14:backgroundRemoval t="10000" b="90000" l="10000" r="90000">
                        <a14:foregroundMark x1="14516" y1="52151" x2="49462" y2="55376"/>
                        <a14:foregroundMark x1="18817" y1="60215" x2="37097" y2="60215"/>
                        <a14:foregroundMark x1="10753" y1="49462" x2="13978" y2="51075"/>
                        <a14:foregroundMark x1="17742" y1="49462" x2="46774" y2="48387"/>
                        <a14:foregroundMark x1="46774" y1="48387" x2="52688" y2="49462"/>
                      </a14:backgroundRemoval>
                    </a14:imgEffect>
                  </a14:imgLayer>
                </a14:imgProps>
              </a:ext>
              <a:ext uri="{28A0092B-C50C-407E-A947-70E740481C1C}">
                <a14:useLocalDpi xmlns:a14="http://schemas.microsoft.com/office/drawing/2010/main" val="0"/>
              </a:ext>
            </a:extLst>
          </a:blip>
          <a:srcRect/>
          <a:stretch>
            <a:fillRect/>
          </a:stretch>
        </p:blipFill>
        <p:spPr bwMode="auto">
          <a:xfrm>
            <a:off x="9778306" y="4015178"/>
            <a:ext cx="876051" cy="87605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32" descr="Image result for google pay">
            <a:extLst>
              <a:ext uri="{FF2B5EF4-FFF2-40B4-BE49-F238E27FC236}">
                <a16:creationId xmlns:a16="http://schemas.microsoft.com/office/drawing/2014/main" id="{15E64F49-2082-44CF-B1B1-625B5A71ECE8}"/>
              </a:ext>
            </a:extLst>
          </p:cNvPr>
          <p:cNvPicPr>
            <a:picLocks noChangeAspect="1" noChangeArrowheads="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34065" y="4071163"/>
            <a:ext cx="495164" cy="495164"/>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34" descr="nearbuy - Restaurant, Spa, Salon, Gift Card Deals - Apps on Google ...">
            <a:extLst>
              <a:ext uri="{FF2B5EF4-FFF2-40B4-BE49-F238E27FC236}">
                <a16:creationId xmlns:a16="http://schemas.microsoft.com/office/drawing/2014/main" id="{92D8BAFB-76FD-45EF-B3D5-4353E5339218}"/>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73992" y="4163908"/>
            <a:ext cx="408403" cy="40840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36" descr="Best Deals &amp; Offers on Restaurants, Spa &amp; Salons, Fun Activities ...">
            <a:extLst>
              <a:ext uri="{FF2B5EF4-FFF2-40B4-BE49-F238E27FC236}">
                <a16:creationId xmlns:a16="http://schemas.microsoft.com/office/drawing/2014/main" id="{D2538C41-7D21-41F4-9991-EFB6C30612A7}"/>
              </a:ext>
            </a:extLst>
          </p:cNvPr>
          <p:cNvPicPr>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8852" y="4132362"/>
            <a:ext cx="370703" cy="477421"/>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38" descr="Inspiring Hotels | Book Online | Marriott Hotels">
            <a:extLst>
              <a:ext uri="{FF2B5EF4-FFF2-40B4-BE49-F238E27FC236}">
                <a16:creationId xmlns:a16="http://schemas.microsoft.com/office/drawing/2014/main" id="{86516340-B240-4E3F-80A2-F6AE4FB53449}"/>
              </a:ext>
            </a:extLst>
          </p:cNvPr>
          <p:cNvPicPr>
            <a:picLocks noChangeAspect="1" noChangeArrowheads="1"/>
          </p:cNvPicPr>
          <p:nvPr/>
        </p:nvPicPr>
        <p:blipFill>
          <a:blip r:embed="rId2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46573" y="2144727"/>
            <a:ext cx="615833" cy="455386"/>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40" descr="Taj Hotels | LinkedIn">
            <a:extLst>
              <a:ext uri="{FF2B5EF4-FFF2-40B4-BE49-F238E27FC236}">
                <a16:creationId xmlns:a16="http://schemas.microsoft.com/office/drawing/2014/main" id="{D019FEA9-22F2-4C8C-8164-7DE99500347E}"/>
              </a:ext>
            </a:extLst>
          </p:cNvPr>
          <p:cNvPicPr>
            <a:picLocks noChangeAspect="1" noChangeArrowheads="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5622" y="2087639"/>
            <a:ext cx="526590" cy="5265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013EF13-6200-4AEB-8279-7FAC0BD38F1A}"/>
              </a:ext>
            </a:extLst>
          </p:cNvPr>
          <p:cNvSpPr txBox="1"/>
          <p:nvPr/>
        </p:nvSpPr>
        <p:spPr>
          <a:xfrm>
            <a:off x="1445622" y="2625291"/>
            <a:ext cx="1181798" cy="307777"/>
          </a:xfrm>
          <a:prstGeom prst="rect">
            <a:avLst/>
          </a:prstGeom>
          <a:noFill/>
        </p:spPr>
        <p:txBody>
          <a:bodyPr wrap="none" rtlCol="0">
            <a:spAutoFit/>
          </a:bodyPr>
          <a:lstStyle/>
          <a:p>
            <a:pPr algn="ctr"/>
            <a:r>
              <a:rPr lang="en-GB" sz="1400" b="1" dirty="0"/>
              <a:t>Luxury hotels</a:t>
            </a:r>
          </a:p>
        </p:txBody>
      </p:sp>
      <p:sp>
        <p:nvSpPr>
          <p:cNvPr id="68" name="TextBox 67">
            <a:extLst>
              <a:ext uri="{FF2B5EF4-FFF2-40B4-BE49-F238E27FC236}">
                <a16:creationId xmlns:a16="http://schemas.microsoft.com/office/drawing/2014/main" id="{BA74DB13-6B98-4049-BECD-DF9D6FCE0EF0}"/>
              </a:ext>
            </a:extLst>
          </p:cNvPr>
          <p:cNvSpPr txBox="1"/>
          <p:nvPr/>
        </p:nvSpPr>
        <p:spPr>
          <a:xfrm>
            <a:off x="1405009" y="5522210"/>
            <a:ext cx="1650581" cy="307777"/>
          </a:xfrm>
          <a:prstGeom prst="rect">
            <a:avLst/>
          </a:prstGeom>
          <a:noFill/>
        </p:spPr>
        <p:txBody>
          <a:bodyPr wrap="none" rtlCol="0">
            <a:spAutoFit/>
          </a:bodyPr>
          <a:lstStyle/>
          <a:p>
            <a:pPr algn="ctr"/>
            <a:r>
              <a:rPr lang="en-GB" sz="1400" b="1" dirty="0"/>
              <a:t>Insurance Providers</a:t>
            </a:r>
          </a:p>
        </p:txBody>
      </p:sp>
      <p:sp>
        <p:nvSpPr>
          <p:cNvPr id="69" name="TextBox 68">
            <a:extLst>
              <a:ext uri="{FF2B5EF4-FFF2-40B4-BE49-F238E27FC236}">
                <a16:creationId xmlns:a16="http://schemas.microsoft.com/office/drawing/2014/main" id="{F7086FA7-2C86-4993-BF29-525E1F1DD993}"/>
              </a:ext>
            </a:extLst>
          </p:cNvPr>
          <p:cNvSpPr txBox="1"/>
          <p:nvPr/>
        </p:nvSpPr>
        <p:spPr>
          <a:xfrm>
            <a:off x="3609160" y="3407309"/>
            <a:ext cx="1448538" cy="307777"/>
          </a:xfrm>
          <a:prstGeom prst="rect">
            <a:avLst/>
          </a:prstGeom>
          <a:noFill/>
        </p:spPr>
        <p:txBody>
          <a:bodyPr wrap="none" rtlCol="0">
            <a:spAutoFit/>
          </a:bodyPr>
          <a:lstStyle/>
          <a:p>
            <a:pPr algn="ctr"/>
            <a:r>
              <a:rPr lang="en-GB" sz="1400" b="1" dirty="0"/>
              <a:t>Delivery Services</a:t>
            </a:r>
          </a:p>
        </p:txBody>
      </p:sp>
      <p:sp>
        <p:nvSpPr>
          <p:cNvPr id="70" name="TextBox 69">
            <a:extLst>
              <a:ext uri="{FF2B5EF4-FFF2-40B4-BE49-F238E27FC236}">
                <a16:creationId xmlns:a16="http://schemas.microsoft.com/office/drawing/2014/main" id="{8BA351D8-05F5-4F2E-9D03-DF8D1BA22672}"/>
              </a:ext>
            </a:extLst>
          </p:cNvPr>
          <p:cNvSpPr txBox="1"/>
          <p:nvPr/>
        </p:nvSpPr>
        <p:spPr>
          <a:xfrm>
            <a:off x="3984052" y="4642642"/>
            <a:ext cx="1481624" cy="307777"/>
          </a:xfrm>
          <a:prstGeom prst="rect">
            <a:avLst/>
          </a:prstGeom>
          <a:noFill/>
        </p:spPr>
        <p:txBody>
          <a:bodyPr wrap="none" rtlCol="0">
            <a:spAutoFit/>
          </a:bodyPr>
          <a:lstStyle/>
          <a:p>
            <a:pPr algn="ctr"/>
            <a:r>
              <a:rPr lang="en-GB" sz="1400" b="1" dirty="0"/>
              <a:t>Coupon Websites</a:t>
            </a:r>
          </a:p>
        </p:txBody>
      </p:sp>
      <p:sp>
        <p:nvSpPr>
          <p:cNvPr id="71" name="TextBox 70">
            <a:extLst>
              <a:ext uri="{FF2B5EF4-FFF2-40B4-BE49-F238E27FC236}">
                <a16:creationId xmlns:a16="http://schemas.microsoft.com/office/drawing/2014/main" id="{BA99BB32-3FCE-4D9A-9717-B95E504407C5}"/>
              </a:ext>
            </a:extLst>
          </p:cNvPr>
          <p:cNvSpPr txBox="1"/>
          <p:nvPr/>
        </p:nvSpPr>
        <p:spPr>
          <a:xfrm>
            <a:off x="5987712" y="3556367"/>
            <a:ext cx="1595694" cy="307777"/>
          </a:xfrm>
          <a:prstGeom prst="rect">
            <a:avLst/>
          </a:prstGeom>
          <a:noFill/>
        </p:spPr>
        <p:txBody>
          <a:bodyPr wrap="none" rtlCol="0">
            <a:spAutoFit/>
          </a:bodyPr>
          <a:lstStyle/>
          <a:p>
            <a:pPr algn="ctr"/>
            <a:r>
              <a:rPr lang="en-GB" sz="1400" b="1" dirty="0"/>
              <a:t>Car Rental Services</a:t>
            </a:r>
          </a:p>
        </p:txBody>
      </p:sp>
      <p:sp>
        <p:nvSpPr>
          <p:cNvPr id="72" name="TextBox 71">
            <a:extLst>
              <a:ext uri="{FF2B5EF4-FFF2-40B4-BE49-F238E27FC236}">
                <a16:creationId xmlns:a16="http://schemas.microsoft.com/office/drawing/2014/main" id="{3B3024D2-4EE7-4C7A-8375-23A26E711687}"/>
              </a:ext>
            </a:extLst>
          </p:cNvPr>
          <p:cNvSpPr txBox="1"/>
          <p:nvPr/>
        </p:nvSpPr>
        <p:spPr>
          <a:xfrm>
            <a:off x="7865486" y="2439142"/>
            <a:ext cx="1833002" cy="307777"/>
          </a:xfrm>
          <a:prstGeom prst="rect">
            <a:avLst/>
          </a:prstGeom>
          <a:noFill/>
        </p:spPr>
        <p:txBody>
          <a:bodyPr wrap="none" rtlCol="0">
            <a:spAutoFit/>
          </a:bodyPr>
          <a:lstStyle/>
          <a:p>
            <a:pPr algn="ctr"/>
            <a:r>
              <a:rPr lang="en-GB" sz="1400" b="1" dirty="0"/>
              <a:t>Ride-hailing Platforms</a:t>
            </a:r>
          </a:p>
        </p:txBody>
      </p:sp>
      <p:sp>
        <p:nvSpPr>
          <p:cNvPr id="73" name="TextBox 72">
            <a:extLst>
              <a:ext uri="{FF2B5EF4-FFF2-40B4-BE49-F238E27FC236}">
                <a16:creationId xmlns:a16="http://schemas.microsoft.com/office/drawing/2014/main" id="{8152F1A3-7F1D-406B-9309-EDC11184B076}"/>
              </a:ext>
            </a:extLst>
          </p:cNvPr>
          <p:cNvSpPr txBox="1"/>
          <p:nvPr/>
        </p:nvSpPr>
        <p:spPr>
          <a:xfrm>
            <a:off x="8859192" y="3486472"/>
            <a:ext cx="1970989" cy="307777"/>
          </a:xfrm>
          <a:prstGeom prst="rect">
            <a:avLst/>
          </a:prstGeom>
          <a:noFill/>
        </p:spPr>
        <p:txBody>
          <a:bodyPr wrap="none" rtlCol="0">
            <a:spAutoFit/>
          </a:bodyPr>
          <a:lstStyle/>
          <a:p>
            <a:pPr algn="ctr"/>
            <a:r>
              <a:rPr lang="en-GB" sz="1400" b="1" dirty="0"/>
              <a:t>Food Delivery Platforms</a:t>
            </a:r>
          </a:p>
        </p:txBody>
      </p:sp>
      <p:sp>
        <p:nvSpPr>
          <p:cNvPr id="74" name="TextBox 73">
            <a:extLst>
              <a:ext uri="{FF2B5EF4-FFF2-40B4-BE49-F238E27FC236}">
                <a16:creationId xmlns:a16="http://schemas.microsoft.com/office/drawing/2014/main" id="{FD6D81B4-BEC8-4089-A4FE-17BC0CEBBEC1}"/>
              </a:ext>
            </a:extLst>
          </p:cNvPr>
          <p:cNvSpPr txBox="1"/>
          <p:nvPr/>
        </p:nvSpPr>
        <p:spPr>
          <a:xfrm>
            <a:off x="6491106" y="5529088"/>
            <a:ext cx="1525289" cy="307777"/>
          </a:xfrm>
          <a:prstGeom prst="rect">
            <a:avLst/>
          </a:prstGeom>
          <a:noFill/>
        </p:spPr>
        <p:txBody>
          <a:bodyPr wrap="none" rtlCol="0">
            <a:spAutoFit/>
          </a:bodyPr>
          <a:lstStyle/>
          <a:p>
            <a:pPr algn="ctr"/>
            <a:r>
              <a:rPr lang="en-GB" sz="1400" b="1" dirty="0"/>
              <a:t>Oil and Lubricants</a:t>
            </a:r>
          </a:p>
        </p:txBody>
      </p:sp>
      <p:sp>
        <p:nvSpPr>
          <p:cNvPr id="75" name="TextBox 74">
            <a:extLst>
              <a:ext uri="{FF2B5EF4-FFF2-40B4-BE49-F238E27FC236}">
                <a16:creationId xmlns:a16="http://schemas.microsoft.com/office/drawing/2014/main" id="{318829CE-0E82-48EC-B4B4-D5A3816CD2B4}"/>
              </a:ext>
            </a:extLst>
          </p:cNvPr>
          <p:cNvSpPr txBox="1"/>
          <p:nvPr/>
        </p:nvSpPr>
        <p:spPr>
          <a:xfrm>
            <a:off x="9129072" y="5559770"/>
            <a:ext cx="1638142" cy="307777"/>
          </a:xfrm>
          <a:prstGeom prst="rect">
            <a:avLst/>
          </a:prstGeom>
          <a:noFill/>
        </p:spPr>
        <p:txBody>
          <a:bodyPr wrap="none" rtlCol="0">
            <a:spAutoFit/>
          </a:bodyPr>
          <a:lstStyle/>
          <a:p>
            <a:pPr algn="ctr"/>
            <a:r>
              <a:rPr lang="en-GB" sz="1400" b="1" dirty="0"/>
              <a:t>Paints and Coatings</a:t>
            </a:r>
          </a:p>
        </p:txBody>
      </p:sp>
      <p:sp>
        <p:nvSpPr>
          <p:cNvPr id="76" name="TextBox 75">
            <a:extLst>
              <a:ext uri="{FF2B5EF4-FFF2-40B4-BE49-F238E27FC236}">
                <a16:creationId xmlns:a16="http://schemas.microsoft.com/office/drawing/2014/main" id="{3B8965B8-D0A8-4693-A834-FEFDED61525F}"/>
              </a:ext>
            </a:extLst>
          </p:cNvPr>
          <p:cNvSpPr txBox="1"/>
          <p:nvPr/>
        </p:nvSpPr>
        <p:spPr>
          <a:xfrm>
            <a:off x="9090880" y="4585107"/>
            <a:ext cx="1601721" cy="307777"/>
          </a:xfrm>
          <a:prstGeom prst="rect">
            <a:avLst/>
          </a:prstGeom>
          <a:noFill/>
        </p:spPr>
        <p:txBody>
          <a:bodyPr wrap="none" rtlCol="0">
            <a:spAutoFit/>
          </a:bodyPr>
          <a:lstStyle/>
          <a:p>
            <a:pPr algn="ctr"/>
            <a:r>
              <a:rPr lang="en-GB" sz="1400" b="1" dirty="0"/>
              <a:t>Payment platforms</a:t>
            </a:r>
          </a:p>
        </p:txBody>
      </p:sp>
      <p:sp>
        <p:nvSpPr>
          <p:cNvPr id="4" name="TextBox 3">
            <a:extLst>
              <a:ext uri="{FF2B5EF4-FFF2-40B4-BE49-F238E27FC236}">
                <a16:creationId xmlns:a16="http://schemas.microsoft.com/office/drawing/2014/main" id="{51A0D97D-AD14-4183-B2D3-7D405885FF21}"/>
              </a:ext>
            </a:extLst>
          </p:cNvPr>
          <p:cNvSpPr txBox="1"/>
          <p:nvPr/>
        </p:nvSpPr>
        <p:spPr>
          <a:xfrm>
            <a:off x="8728735" y="1195742"/>
            <a:ext cx="969753" cy="276999"/>
          </a:xfrm>
          <a:prstGeom prst="rect">
            <a:avLst/>
          </a:prstGeom>
          <a:solidFill>
            <a:schemeClr val="tx2"/>
          </a:solidFill>
        </p:spPr>
        <p:txBody>
          <a:bodyPr wrap="none" rtlCol="0">
            <a:spAutoFit/>
          </a:bodyPr>
          <a:lstStyle/>
          <a:p>
            <a:r>
              <a:rPr lang="en-GB" sz="1200" b="1" dirty="0">
                <a:solidFill>
                  <a:schemeClr val="bg1"/>
                </a:solidFill>
              </a:rPr>
              <a:t>First Priority</a:t>
            </a:r>
          </a:p>
        </p:txBody>
      </p:sp>
      <p:sp>
        <p:nvSpPr>
          <p:cNvPr id="78" name="TextBox 77">
            <a:extLst>
              <a:ext uri="{FF2B5EF4-FFF2-40B4-BE49-F238E27FC236}">
                <a16:creationId xmlns:a16="http://schemas.microsoft.com/office/drawing/2014/main" id="{6484E5F5-6DEF-4DD6-9063-EEA4F4C58A2F}"/>
              </a:ext>
            </a:extLst>
          </p:cNvPr>
          <p:cNvSpPr txBox="1"/>
          <p:nvPr/>
        </p:nvSpPr>
        <p:spPr>
          <a:xfrm>
            <a:off x="4682395" y="1206065"/>
            <a:ext cx="1158522" cy="276999"/>
          </a:xfrm>
          <a:prstGeom prst="rect">
            <a:avLst/>
          </a:prstGeom>
          <a:solidFill>
            <a:schemeClr val="tx2"/>
          </a:solidFill>
        </p:spPr>
        <p:txBody>
          <a:bodyPr wrap="none" rtlCol="0">
            <a:spAutoFit/>
          </a:bodyPr>
          <a:lstStyle/>
          <a:p>
            <a:r>
              <a:rPr lang="en-GB" sz="1200" b="1" dirty="0">
                <a:solidFill>
                  <a:schemeClr val="bg1"/>
                </a:solidFill>
              </a:rPr>
              <a:t>Second Priority</a:t>
            </a:r>
          </a:p>
        </p:txBody>
      </p:sp>
      <p:sp>
        <p:nvSpPr>
          <p:cNvPr id="79" name="TextBox 78">
            <a:extLst>
              <a:ext uri="{FF2B5EF4-FFF2-40B4-BE49-F238E27FC236}">
                <a16:creationId xmlns:a16="http://schemas.microsoft.com/office/drawing/2014/main" id="{FEEB6CFE-C3FE-4D05-8DFB-C39E14ADDB47}"/>
              </a:ext>
            </a:extLst>
          </p:cNvPr>
          <p:cNvSpPr txBox="1"/>
          <p:nvPr/>
        </p:nvSpPr>
        <p:spPr>
          <a:xfrm>
            <a:off x="1315933" y="1237076"/>
            <a:ext cx="1026115" cy="276999"/>
          </a:xfrm>
          <a:prstGeom prst="rect">
            <a:avLst/>
          </a:prstGeom>
          <a:solidFill>
            <a:schemeClr val="tx2"/>
          </a:solidFill>
        </p:spPr>
        <p:txBody>
          <a:bodyPr wrap="none" rtlCol="0">
            <a:spAutoFit/>
          </a:bodyPr>
          <a:lstStyle/>
          <a:p>
            <a:r>
              <a:rPr lang="en-GB" sz="1200" b="1" dirty="0">
                <a:solidFill>
                  <a:schemeClr val="bg1"/>
                </a:solidFill>
              </a:rPr>
              <a:t>Least Priority</a:t>
            </a:r>
          </a:p>
        </p:txBody>
      </p:sp>
      <p:sp>
        <p:nvSpPr>
          <p:cNvPr id="7" name="Rectangle: Top Corners Rounded 6">
            <a:extLst>
              <a:ext uri="{FF2B5EF4-FFF2-40B4-BE49-F238E27FC236}">
                <a16:creationId xmlns:a16="http://schemas.microsoft.com/office/drawing/2014/main" id="{674D4268-2A22-446F-ABF0-FEBF5A93D43A}"/>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8" name="Rectangle: Top Corners Rounded 7">
            <a:extLst>
              <a:ext uri="{FF2B5EF4-FFF2-40B4-BE49-F238E27FC236}">
                <a16:creationId xmlns:a16="http://schemas.microsoft.com/office/drawing/2014/main" id="{A38618A7-83DC-4B94-8B4B-F21FFC428147}"/>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9" name="Rectangle: Top Corners Rounded 8">
            <a:extLst>
              <a:ext uri="{FF2B5EF4-FFF2-40B4-BE49-F238E27FC236}">
                <a16:creationId xmlns:a16="http://schemas.microsoft.com/office/drawing/2014/main" id="{D6E5668F-245B-4BF7-985D-CA5F71F4CC0F}"/>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0" name="Rectangle: Top Corners Rounded 9">
            <a:extLst>
              <a:ext uri="{FF2B5EF4-FFF2-40B4-BE49-F238E27FC236}">
                <a16:creationId xmlns:a16="http://schemas.microsoft.com/office/drawing/2014/main" id="{0051B41C-95B1-433F-BCCD-867BE3B7E669}"/>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1" name="Arrow: Chevron 10">
            <a:extLst>
              <a:ext uri="{FF2B5EF4-FFF2-40B4-BE49-F238E27FC236}">
                <a16:creationId xmlns:a16="http://schemas.microsoft.com/office/drawing/2014/main" id="{6F3AB36A-AAF5-4709-9DD6-7B639EA8399D}"/>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Arrow: Chevron 11">
            <a:extLst>
              <a:ext uri="{FF2B5EF4-FFF2-40B4-BE49-F238E27FC236}">
                <a16:creationId xmlns:a16="http://schemas.microsoft.com/office/drawing/2014/main" id="{CD888820-8328-4352-859D-E5A8C5E5BA44}"/>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Arrow: Chevron 12">
            <a:extLst>
              <a:ext uri="{FF2B5EF4-FFF2-40B4-BE49-F238E27FC236}">
                <a16:creationId xmlns:a16="http://schemas.microsoft.com/office/drawing/2014/main" id="{AED26022-8392-4B64-911C-DB29835AB594}"/>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Top Corners Rounded 13">
            <a:extLst>
              <a:ext uri="{FF2B5EF4-FFF2-40B4-BE49-F238E27FC236}">
                <a16:creationId xmlns:a16="http://schemas.microsoft.com/office/drawing/2014/main" id="{12F98AC7-9297-4275-A1C6-B8043E47D442}"/>
              </a:ext>
            </a:extLst>
          </p:cNvPr>
          <p:cNvSpPr/>
          <p:nvPr/>
        </p:nvSpPr>
        <p:spPr>
          <a:xfrm rot="5400000">
            <a:off x="5148033" y="-502360"/>
            <a:ext cx="194444" cy="1371600"/>
          </a:xfrm>
          <a:prstGeom prst="round2SameRect">
            <a:avLst>
              <a:gd name="adj1" fmla="val 5000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15" name="Rectangle: Top Corners Rounded 14">
            <a:extLst>
              <a:ext uri="{FF2B5EF4-FFF2-40B4-BE49-F238E27FC236}">
                <a16:creationId xmlns:a16="http://schemas.microsoft.com/office/drawing/2014/main" id="{98F9D10D-0A8F-4315-8202-972EA0D5326E}"/>
              </a:ext>
            </a:extLst>
          </p:cNvPr>
          <p:cNvSpPr/>
          <p:nvPr/>
        </p:nvSpPr>
        <p:spPr>
          <a:xfrm rot="5400000">
            <a:off x="3783504" y="-495289"/>
            <a:ext cx="180301"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16" name="Rectangle: Top Corners Rounded 15">
            <a:extLst>
              <a:ext uri="{FF2B5EF4-FFF2-40B4-BE49-F238E27FC236}">
                <a16:creationId xmlns:a16="http://schemas.microsoft.com/office/drawing/2014/main" id="{E315A485-C112-4FB4-ADBC-28FE3C57A1CB}"/>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17" name="Rectangle: Top Corners Rounded 16">
            <a:extLst>
              <a:ext uri="{FF2B5EF4-FFF2-40B4-BE49-F238E27FC236}">
                <a16:creationId xmlns:a16="http://schemas.microsoft.com/office/drawing/2014/main" id="{FE8DDC66-D9E9-4C8E-811C-1D252DD0DF32}"/>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18" name="Arrow: Chevron 17">
            <a:extLst>
              <a:ext uri="{FF2B5EF4-FFF2-40B4-BE49-F238E27FC236}">
                <a16:creationId xmlns:a16="http://schemas.microsoft.com/office/drawing/2014/main" id="{2F9D9CA6-80EE-40EA-BCA4-BF78BAA012A2}"/>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Arrow: Chevron 18">
            <a:extLst>
              <a:ext uri="{FF2B5EF4-FFF2-40B4-BE49-F238E27FC236}">
                <a16:creationId xmlns:a16="http://schemas.microsoft.com/office/drawing/2014/main" id="{47D32C8A-8846-4574-AC4C-C12682878571}"/>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Arrow: Chevron 19">
            <a:extLst>
              <a:ext uri="{FF2B5EF4-FFF2-40B4-BE49-F238E27FC236}">
                <a16:creationId xmlns:a16="http://schemas.microsoft.com/office/drawing/2014/main" id="{64334BC0-4999-4DA6-B0F1-B71DBDE311AF}"/>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Rectangle: Top Corners Rounded 20">
            <a:extLst>
              <a:ext uri="{FF2B5EF4-FFF2-40B4-BE49-F238E27FC236}">
                <a16:creationId xmlns:a16="http://schemas.microsoft.com/office/drawing/2014/main" id="{93271E62-BBEC-4CAD-BAC9-849D0C3A9EB1}"/>
              </a:ext>
            </a:extLst>
          </p:cNvPr>
          <p:cNvSpPr/>
          <p:nvPr/>
        </p:nvSpPr>
        <p:spPr>
          <a:xfrm rot="5400000">
            <a:off x="6493396" y="-504889"/>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22" name="Arrow: Chevron 21">
            <a:extLst>
              <a:ext uri="{FF2B5EF4-FFF2-40B4-BE49-F238E27FC236}">
                <a16:creationId xmlns:a16="http://schemas.microsoft.com/office/drawing/2014/main" id="{3F070C07-3EEE-48CB-826F-1A3C7FC969B9}"/>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4" name="Arrow: Chevron 33">
            <a:extLst>
              <a:ext uri="{FF2B5EF4-FFF2-40B4-BE49-F238E27FC236}">
                <a16:creationId xmlns:a16="http://schemas.microsoft.com/office/drawing/2014/main" id="{EE3AECC8-6642-456B-A3E1-0A4F4B03756D}"/>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2" name="TextBox 91">
            <a:extLst>
              <a:ext uri="{FF2B5EF4-FFF2-40B4-BE49-F238E27FC236}">
                <a16:creationId xmlns:a16="http://schemas.microsoft.com/office/drawing/2014/main" id="{BA82BE7C-C487-46F2-A8EA-FDD4256A3916}"/>
              </a:ext>
            </a:extLst>
          </p:cNvPr>
          <p:cNvSpPr txBox="1"/>
          <p:nvPr/>
        </p:nvSpPr>
        <p:spPr>
          <a:xfrm>
            <a:off x="2" y="6519445"/>
            <a:ext cx="5734192" cy="338554"/>
          </a:xfrm>
          <a:prstGeom prst="rect">
            <a:avLst/>
          </a:prstGeom>
          <a:noFill/>
        </p:spPr>
        <p:txBody>
          <a:bodyPr wrap="square" rtlCol="0">
            <a:spAutoFit/>
          </a:bodyPr>
          <a:lstStyle/>
          <a:p>
            <a:endParaRPr lang="en-GB" sz="800" i="1" dirty="0"/>
          </a:p>
          <a:p>
            <a:r>
              <a:rPr lang="en-GB" sz="800" i="1" dirty="0"/>
              <a:t>Sources: CRISIL Research, </a:t>
            </a:r>
            <a:r>
              <a:rPr lang="en-GB" sz="800" i="1" dirty="0" err="1"/>
              <a:t>GoMechanic</a:t>
            </a:r>
            <a:r>
              <a:rPr lang="en-GB" sz="800" i="1" dirty="0"/>
              <a:t>, Pitstop, </a:t>
            </a:r>
            <a:r>
              <a:rPr lang="en-GB" sz="800" i="1" dirty="0" err="1"/>
              <a:t>Tracxn</a:t>
            </a:r>
            <a:r>
              <a:rPr lang="en-GB" sz="800" i="1" dirty="0"/>
              <a:t>, Wrench, Internal analysis</a:t>
            </a:r>
          </a:p>
        </p:txBody>
      </p:sp>
    </p:spTree>
    <p:extLst>
      <p:ext uri="{BB962C8B-B14F-4D97-AF65-F5344CB8AC3E}">
        <p14:creationId xmlns:p14="http://schemas.microsoft.com/office/powerpoint/2010/main" val="2290526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69" name="Freeform 83">
            <a:extLst>
              <a:ext uri="{FF2B5EF4-FFF2-40B4-BE49-F238E27FC236}">
                <a16:creationId xmlns:a16="http://schemas.microsoft.com/office/drawing/2014/main" id="{A3F125F7-B323-48EF-8764-1FD55D831830}"/>
              </a:ext>
            </a:extLst>
          </p:cNvPr>
          <p:cNvSpPr>
            <a:spLocks noEditPoints="1"/>
          </p:cNvSpPr>
          <p:nvPr/>
        </p:nvSpPr>
        <p:spPr bwMode="auto">
          <a:xfrm>
            <a:off x="747689" y="4226860"/>
            <a:ext cx="207066" cy="29145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rgbClr val="D61D1D"/>
          </a:solidFill>
          <a:ln w="127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 name="Freeform 83">
            <a:extLst>
              <a:ext uri="{FF2B5EF4-FFF2-40B4-BE49-F238E27FC236}">
                <a16:creationId xmlns:a16="http://schemas.microsoft.com/office/drawing/2014/main" id="{CA27561B-033D-4A73-BCA5-724475B67C00}"/>
              </a:ext>
            </a:extLst>
          </p:cNvPr>
          <p:cNvSpPr>
            <a:spLocks noEditPoints="1"/>
          </p:cNvSpPr>
          <p:nvPr/>
        </p:nvSpPr>
        <p:spPr bwMode="auto">
          <a:xfrm>
            <a:off x="950494" y="4509461"/>
            <a:ext cx="207066" cy="29145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accent3">
              <a:lumMod val="75000"/>
            </a:schemeClr>
          </a:solidFill>
          <a:ln w="127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7" name="Group 6">
            <a:extLst>
              <a:ext uri="{FF2B5EF4-FFF2-40B4-BE49-F238E27FC236}">
                <a16:creationId xmlns:a16="http://schemas.microsoft.com/office/drawing/2014/main" id="{42496124-C446-4B03-9955-8CBFE7BAEE76}"/>
              </a:ext>
            </a:extLst>
          </p:cNvPr>
          <p:cNvGrpSpPr/>
          <p:nvPr/>
        </p:nvGrpSpPr>
        <p:grpSpPr>
          <a:xfrm>
            <a:off x="0" y="1218315"/>
            <a:ext cx="4038675" cy="5464390"/>
            <a:chOff x="0" y="1218315"/>
            <a:chExt cx="4038675" cy="5464390"/>
          </a:xfrm>
        </p:grpSpPr>
        <p:pic>
          <p:nvPicPr>
            <p:cNvPr id="2050" name="Picture 2">
              <a:extLst>
                <a:ext uri="{FF2B5EF4-FFF2-40B4-BE49-F238E27FC236}">
                  <a16:creationId xmlns:a16="http://schemas.microsoft.com/office/drawing/2014/main" id="{F9E9F0FC-7DED-426F-B8EA-292A9CED12E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5152" b="95152" l="9961" r="89844">
                          <a14:foregroundMark x1="36523" y1="5152" x2="40039" y2="8788"/>
                          <a14:foregroundMark x1="39844" y1="95152" x2="41406" y2="89394"/>
                        </a14:backgroundRemoval>
                      </a14:imgEffect>
                    </a14:imgLayer>
                  </a14:imgProps>
                </a:ext>
                <a:ext uri="{28A0092B-C50C-407E-A947-70E740481C1C}">
                  <a14:useLocalDpi xmlns:a14="http://schemas.microsoft.com/office/drawing/2010/main" val="0"/>
                </a:ext>
              </a:extLst>
            </a:blip>
            <a:srcRect l="17390" r="19916"/>
            <a:stretch/>
          </p:blipFill>
          <p:spPr bwMode="auto">
            <a:xfrm>
              <a:off x="83009" y="3034624"/>
              <a:ext cx="3627317" cy="3648081"/>
            </a:xfrm>
            <a:prstGeom prst="rect">
              <a:avLst/>
            </a:prstGeom>
            <a:noFill/>
            <a:extLst>
              <a:ext uri="{909E8E84-426E-40DD-AFC4-6F175D3DCCD1}">
                <a14:hiddenFill xmlns:a14="http://schemas.microsoft.com/office/drawing/2010/main">
                  <a:solidFill>
                    <a:srgbClr val="FFFFFF"/>
                  </a:solidFill>
                </a14:hiddenFill>
              </a:ext>
            </a:extLst>
          </p:spPr>
        </p:pic>
        <p:sp>
          <p:nvSpPr>
            <p:cNvPr id="90" name="Rectangle 89">
              <a:extLst>
                <a:ext uri="{FF2B5EF4-FFF2-40B4-BE49-F238E27FC236}">
                  <a16:creationId xmlns:a16="http://schemas.microsoft.com/office/drawing/2014/main" id="{4F52A7C2-FC8B-40C7-9CA9-E1A445A4CE82}"/>
                </a:ext>
              </a:extLst>
            </p:cNvPr>
            <p:cNvSpPr/>
            <p:nvPr/>
          </p:nvSpPr>
          <p:spPr>
            <a:xfrm>
              <a:off x="278695" y="2071616"/>
              <a:ext cx="3431632" cy="8943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numCol="2" rtlCol="0" anchor="ctr"/>
            <a:lstStyle/>
            <a:p>
              <a:pPr marL="346075" indent="-285750">
                <a:buFont typeface="Arial" panose="020B0604020202020204" pitchFamily="34" charset="0"/>
                <a:buChar char="•"/>
              </a:pPr>
              <a:endParaRPr lang="en-GB" sz="1400" b="1" dirty="0">
                <a:solidFill>
                  <a:schemeClr val="tx1"/>
                </a:solidFill>
              </a:endParaRPr>
            </a:p>
            <a:p>
              <a:pPr marL="346075" indent="-285750">
                <a:buFont typeface="Arial" panose="020B0604020202020204" pitchFamily="34" charset="0"/>
                <a:buChar char="•"/>
              </a:pPr>
              <a:r>
                <a:rPr lang="en-GB" sz="1400" b="1" dirty="0">
                  <a:solidFill>
                    <a:srgbClr val="D61D1D"/>
                  </a:solidFill>
                </a:rPr>
                <a:t>Delhi-NCR</a:t>
              </a:r>
            </a:p>
            <a:p>
              <a:pPr marL="346075" indent="-285750">
                <a:buFont typeface="Arial" panose="020B0604020202020204" pitchFamily="34" charset="0"/>
                <a:buChar char="•"/>
              </a:pPr>
              <a:r>
                <a:rPr lang="en-GB" sz="1400" b="1" dirty="0">
                  <a:solidFill>
                    <a:srgbClr val="D61D1D"/>
                  </a:solidFill>
                </a:rPr>
                <a:t>Kolkata</a:t>
              </a:r>
            </a:p>
            <a:p>
              <a:pPr marL="346075" indent="-285750">
                <a:buFont typeface="Arial" panose="020B0604020202020204" pitchFamily="34" charset="0"/>
                <a:buChar char="•"/>
              </a:pPr>
              <a:endParaRPr lang="en-GB" sz="1400" b="1" dirty="0">
                <a:solidFill>
                  <a:srgbClr val="D61D1D"/>
                </a:solidFill>
              </a:endParaRPr>
            </a:p>
            <a:p>
              <a:pPr marL="346075" indent="-285750">
                <a:buFont typeface="Arial" panose="020B0604020202020204" pitchFamily="34" charset="0"/>
                <a:buChar char="•"/>
              </a:pPr>
              <a:endParaRPr lang="en-GB" sz="1400" b="1" dirty="0">
                <a:solidFill>
                  <a:srgbClr val="D61D1D"/>
                </a:solidFill>
              </a:endParaRPr>
            </a:p>
            <a:p>
              <a:pPr marL="346075" indent="-285750">
                <a:buFont typeface="Arial" panose="020B0604020202020204" pitchFamily="34" charset="0"/>
                <a:buChar char="•"/>
              </a:pPr>
              <a:r>
                <a:rPr lang="en-GB" sz="1400" b="1" dirty="0">
                  <a:solidFill>
                    <a:srgbClr val="D61D1D"/>
                  </a:solidFill>
                </a:rPr>
                <a:t>Indore</a:t>
              </a:r>
            </a:p>
            <a:p>
              <a:pPr marL="346075" indent="-285750">
                <a:buFont typeface="Arial" panose="020B0604020202020204" pitchFamily="34" charset="0"/>
                <a:buChar char="•"/>
              </a:pPr>
              <a:r>
                <a:rPr lang="en-GB" sz="1400" b="1" dirty="0">
                  <a:solidFill>
                    <a:srgbClr val="D61D1D"/>
                  </a:solidFill>
                </a:rPr>
                <a:t>Ahmedabad</a:t>
              </a:r>
            </a:p>
            <a:p>
              <a:pPr marL="60325"/>
              <a:endParaRPr lang="en-GB" sz="1400" b="1" dirty="0">
                <a:solidFill>
                  <a:schemeClr val="tx1"/>
                </a:solidFill>
              </a:endParaRPr>
            </a:p>
          </p:txBody>
        </p:sp>
        <p:grpSp>
          <p:nvGrpSpPr>
            <p:cNvPr id="109" name="Group 108">
              <a:extLst>
                <a:ext uri="{FF2B5EF4-FFF2-40B4-BE49-F238E27FC236}">
                  <a16:creationId xmlns:a16="http://schemas.microsoft.com/office/drawing/2014/main" id="{78196B7A-99DD-45A0-A631-5A55EA3D4503}"/>
                </a:ext>
              </a:extLst>
            </p:cNvPr>
            <p:cNvGrpSpPr/>
            <p:nvPr/>
          </p:nvGrpSpPr>
          <p:grpSpPr>
            <a:xfrm>
              <a:off x="0" y="1218315"/>
              <a:ext cx="4038675" cy="527345"/>
              <a:chOff x="7919374" y="1195839"/>
              <a:chExt cx="4038675" cy="527345"/>
            </a:xfrm>
          </p:grpSpPr>
          <p:sp>
            <p:nvSpPr>
              <p:cNvPr id="110" name="Rectangle 109">
                <a:extLst>
                  <a:ext uri="{FF2B5EF4-FFF2-40B4-BE49-F238E27FC236}">
                    <a16:creationId xmlns:a16="http://schemas.microsoft.com/office/drawing/2014/main" id="{92FF49D9-BA1A-4661-919D-7FCC44F7162D}"/>
                  </a:ext>
                </a:extLst>
              </p:cNvPr>
              <p:cNvSpPr/>
              <p:nvPr/>
            </p:nvSpPr>
            <p:spPr>
              <a:xfrm>
                <a:off x="8530982" y="1195839"/>
                <a:ext cx="2815458"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Locations</a:t>
                </a:r>
              </a:p>
            </p:txBody>
          </p:sp>
          <p:sp>
            <p:nvSpPr>
              <p:cNvPr id="111" name="Rectangle 41">
                <a:extLst>
                  <a:ext uri="{FF2B5EF4-FFF2-40B4-BE49-F238E27FC236}">
                    <a16:creationId xmlns:a16="http://schemas.microsoft.com/office/drawing/2014/main" id="{5BFC276C-7606-48DB-8704-41DC8369C1CF}"/>
                  </a:ext>
                </a:extLst>
              </p:cNvPr>
              <p:cNvSpPr/>
              <p:nvPr/>
            </p:nvSpPr>
            <p:spPr>
              <a:xfrm>
                <a:off x="7919374" y="1507740"/>
                <a:ext cx="4038675" cy="215444"/>
              </a:xfrm>
              <a:custGeom>
                <a:avLst/>
                <a:gdLst>
                  <a:gd name="connsiteX0" fmla="*/ 0 w 2136913"/>
                  <a:gd name="connsiteY0" fmla="*/ 0 h 218439"/>
                  <a:gd name="connsiteX1" fmla="*/ 2136913 w 2136913"/>
                  <a:gd name="connsiteY1" fmla="*/ 0 h 218439"/>
                  <a:gd name="connsiteX2" fmla="*/ 2136913 w 2136913"/>
                  <a:gd name="connsiteY2" fmla="*/ 218439 h 218439"/>
                  <a:gd name="connsiteX3" fmla="*/ 0 w 2136913"/>
                  <a:gd name="connsiteY3" fmla="*/ 218439 h 218439"/>
                  <a:gd name="connsiteX4" fmla="*/ 0 w 2136913"/>
                  <a:gd name="connsiteY4" fmla="*/ 0 h 218439"/>
                  <a:gd name="connsiteX0" fmla="*/ 1803400 w 3940313"/>
                  <a:gd name="connsiteY0" fmla="*/ 0 h 223519"/>
                  <a:gd name="connsiteX1" fmla="*/ 3940313 w 3940313"/>
                  <a:gd name="connsiteY1" fmla="*/ 0 h 223519"/>
                  <a:gd name="connsiteX2" fmla="*/ 3940313 w 3940313"/>
                  <a:gd name="connsiteY2" fmla="*/ 218439 h 223519"/>
                  <a:gd name="connsiteX3" fmla="*/ 0 w 3940313"/>
                  <a:gd name="connsiteY3" fmla="*/ 223519 h 223519"/>
                  <a:gd name="connsiteX4" fmla="*/ 1803400 w 3940313"/>
                  <a:gd name="connsiteY4" fmla="*/ 0 h 223519"/>
                  <a:gd name="connsiteX0" fmla="*/ 1803400 w 3940313"/>
                  <a:gd name="connsiteY0" fmla="*/ 0 h 223519"/>
                  <a:gd name="connsiteX1" fmla="*/ 3940313 w 3940313"/>
                  <a:gd name="connsiteY1" fmla="*/ 0 h 223519"/>
                  <a:gd name="connsiteX2" fmla="*/ 2787153 w 3940313"/>
                  <a:gd name="connsiteY2" fmla="*/ 218439 h 223519"/>
                  <a:gd name="connsiteX3" fmla="*/ 0 w 3940313"/>
                  <a:gd name="connsiteY3" fmla="*/ 223519 h 223519"/>
                  <a:gd name="connsiteX4" fmla="*/ 1803400 w 3940313"/>
                  <a:gd name="connsiteY4" fmla="*/ 0 h 223519"/>
                  <a:gd name="connsiteX0" fmla="*/ 1803400 w 5728473"/>
                  <a:gd name="connsiteY0" fmla="*/ 0 h 226059"/>
                  <a:gd name="connsiteX1" fmla="*/ 3940313 w 5728473"/>
                  <a:gd name="connsiteY1" fmla="*/ 0 h 226059"/>
                  <a:gd name="connsiteX2" fmla="*/ 5728473 w 5728473"/>
                  <a:gd name="connsiteY2" fmla="*/ 226059 h 226059"/>
                  <a:gd name="connsiteX3" fmla="*/ 0 w 5728473"/>
                  <a:gd name="connsiteY3" fmla="*/ 223519 h 226059"/>
                  <a:gd name="connsiteX4" fmla="*/ 1803400 w 5728473"/>
                  <a:gd name="connsiteY4" fmla="*/ 0 h 226059"/>
                  <a:gd name="connsiteX0" fmla="*/ 0 w 3925073"/>
                  <a:gd name="connsiteY0" fmla="*/ 0 h 226059"/>
                  <a:gd name="connsiteX1" fmla="*/ 2136913 w 3925073"/>
                  <a:gd name="connsiteY1" fmla="*/ 0 h 226059"/>
                  <a:gd name="connsiteX2" fmla="*/ 3925073 w 3925073"/>
                  <a:gd name="connsiteY2" fmla="*/ 226059 h 226059"/>
                  <a:gd name="connsiteX3" fmla="*/ 1137920 w 3925073"/>
                  <a:gd name="connsiteY3" fmla="*/ 223519 h 226059"/>
                  <a:gd name="connsiteX4" fmla="*/ 0 w 3925073"/>
                  <a:gd name="connsiteY4" fmla="*/ 0 h 226059"/>
                  <a:gd name="connsiteX0" fmla="*/ 1833880 w 5758953"/>
                  <a:gd name="connsiteY0" fmla="*/ 0 h 226059"/>
                  <a:gd name="connsiteX1" fmla="*/ 3970793 w 5758953"/>
                  <a:gd name="connsiteY1" fmla="*/ 0 h 226059"/>
                  <a:gd name="connsiteX2" fmla="*/ 5758953 w 5758953"/>
                  <a:gd name="connsiteY2" fmla="*/ 226059 h 226059"/>
                  <a:gd name="connsiteX3" fmla="*/ 0 w 5758953"/>
                  <a:gd name="connsiteY3" fmla="*/ 223519 h 226059"/>
                  <a:gd name="connsiteX4" fmla="*/ 1833880 w 5758953"/>
                  <a:gd name="connsiteY4" fmla="*/ 0 h 226059"/>
                  <a:gd name="connsiteX0" fmla="*/ 1388110 w 5758953"/>
                  <a:gd name="connsiteY0" fmla="*/ 0 h 237489"/>
                  <a:gd name="connsiteX1" fmla="*/ 3970793 w 5758953"/>
                  <a:gd name="connsiteY1" fmla="*/ 11430 h 237489"/>
                  <a:gd name="connsiteX2" fmla="*/ 5758953 w 5758953"/>
                  <a:gd name="connsiteY2" fmla="*/ 237489 h 237489"/>
                  <a:gd name="connsiteX3" fmla="*/ 0 w 5758953"/>
                  <a:gd name="connsiteY3" fmla="*/ 234949 h 237489"/>
                  <a:gd name="connsiteX4" fmla="*/ 1388110 w 5758953"/>
                  <a:gd name="connsiteY4" fmla="*/ 0 h 237489"/>
                  <a:gd name="connsiteX0" fmla="*/ 1388110 w 5758953"/>
                  <a:gd name="connsiteY0" fmla="*/ 3810 h 241299"/>
                  <a:gd name="connsiteX1" fmla="*/ 425654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381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635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6350 h 24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8953" h="241299">
                    <a:moveTo>
                      <a:pt x="1388110" y="6350"/>
                    </a:moveTo>
                    <a:lnTo>
                      <a:pt x="4203203" y="0"/>
                    </a:lnTo>
                    <a:lnTo>
                      <a:pt x="5758953" y="241299"/>
                    </a:lnTo>
                    <a:lnTo>
                      <a:pt x="0" y="238759"/>
                    </a:lnTo>
                    <a:lnTo>
                      <a:pt x="1388110" y="6350"/>
                    </a:lnTo>
                    <a:close/>
                  </a:path>
                </a:pathLst>
              </a:custGeom>
              <a:gradFill>
                <a:gsLst>
                  <a:gs pos="100000">
                    <a:schemeClr val="bg1">
                      <a:alpha val="0"/>
                    </a:schemeClr>
                  </a:gs>
                  <a:gs pos="0">
                    <a:srgbClr val="00162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2" name="Rectangle 111">
              <a:extLst>
                <a:ext uri="{FF2B5EF4-FFF2-40B4-BE49-F238E27FC236}">
                  <a16:creationId xmlns:a16="http://schemas.microsoft.com/office/drawing/2014/main" id="{A89A2DF5-E701-4D6F-B702-CA30872C5C36}"/>
                </a:ext>
              </a:extLst>
            </p:cNvPr>
            <p:cNvSpPr/>
            <p:nvPr/>
          </p:nvSpPr>
          <p:spPr>
            <a:xfrm>
              <a:off x="278695" y="1708892"/>
              <a:ext cx="3431632" cy="3813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numCol="1" rtlCol="0" anchor="ctr"/>
            <a:lstStyle/>
            <a:p>
              <a:pPr marL="60325" algn="ctr"/>
              <a:r>
                <a:rPr lang="en-GB" sz="1400" b="1" dirty="0">
                  <a:solidFill>
                    <a:schemeClr val="bg2">
                      <a:lumMod val="50000"/>
                    </a:schemeClr>
                  </a:solidFill>
                </a:rPr>
                <a:t>Mumbai | Pune | Hyderabad | Bangalore</a:t>
              </a:r>
            </a:p>
          </p:txBody>
        </p:sp>
      </p:grpSp>
      <p:grpSp>
        <p:nvGrpSpPr>
          <p:cNvPr id="106" name="Group 105">
            <a:extLst>
              <a:ext uri="{FF2B5EF4-FFF2-40B4-BE49-F238E27FC236}">
                <a16:creationId xmlns:a16="http://schemas.microsoft.com/office/drawing/2014/main" id="{22D1C005-35BF-4A43-8702-C63C05CA0BD9}"/>
              </a:ext>
            </a:extLst>
          </p:cNvPr>
          <p:cNvGrpSpPr/>
          <p:nvPr/>
        </p:nvGrpSpPr>
        <p:grpSpPr>
          <a:xfrm>
            <a:off x="3785622" y="1197706"/>
            <a:ext cx="4038675" cy="527345"/>
            <a:chOff x="7919374" y="1195839"/>
            <a:chExt cx="4038675" cy="527345"/>
          </a:xfrm>
        </p:grpSpPr>
        <p:sp>
          <p:nvSpPr>
            <p:cNvPr id="107" name="Rectangle 106">
              <a:extLst>
                <a:ext uri="{FF2B5EF4-FFF2-40B4-BE49-F238E27FC236}">
                  <a16:creationId xmlns:a16="http://schemas.microsoft.com/office/drawing/2014/main" id="{12B34D62-3BD1-4E34-AA62-EE4336F2B0DE}"/>
                </a:ext>
              </a:extLst>
            </p:cNvPr>
            <p:cNvSpPr/>
            <p:nvPr/>
          </p:nvSpPr>
          <p:spPr>
            <a:xfrm>
              <a:off x="8530982" y="1195839"/>
              <a:ext cx="2815458"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Services</a:t>
              </a:r>
            </a:p>
          </p:txBody>
        </p:sp>
        <p:sp>
          <p:nvSpPr>
            <p:cNvPr id="108" name="Rectangle 41">
              <a:extLst>
                <a:ext uri="{FF2B5EF4-FFF2-40B4-BE49-F238E27FC236}">
                  <a16:creationId xmlns:a16="http://schemas.microsoft.com/office/drawing/2014/main" id="{1E853433-2A08-4B57-9250-26F8018EBDB2}"/>
                </a:ext>
              </a:extLst>
            </p:cNvPr>
            <p:cNvSpPr/>
            <p:nvPr/>
          </p:nvSpPr>
          <p:spPr>
            <a:xfrm>
              <a:off x="7919374" y="1507740"/>
              <a:ext cx="4038675" cy="215444"/>
            </a:xfrm>
            <a:custGeom>
              <a:avLst/>
              <a:gdLst>
                <a:gd name="connsiteX0" fmla="*/ 0 w 2136913"/>
                <a:gd name="connsiteY0" fmla="*/ 0 h 218439"/>
                <a:gd name="connsiteX1" fmla="*/ 2136913 w 2136913"/>
                <a:gd name="connsiteY1" fmla="*/ 0 h 218439"/>
                <a:gd name="connsiteX2" fmla="*/ 2136913 w 2136913"/>
                <a:gd name="connsiteY2" fmla="*/ 218439 h 218439"/>
                <a:gd name="connsiteX3" fmla="*/ 0 w 2136913"/>
                <a:gd name="connsiteY3" fmla="*/ 218439 h 218439"/>
                <a:gd name="connsiteX4" fmla="*/ 0 w 2136913"/>
                <a:gd name="connsiteY4" fmla="*/ 0 h 218439"/>
                <a:gd name="connsiteX0" fmla="*/ 1803400 w 3940313"/>
                <a:gd name="connsiteY0" fmla="*/ 0 h 223519"/>
                <a:gd name="connsiteX1" fmla="*/ 3940313 w 3940313"/>
                <a:gd name="connsiteY1" fmla="*/ 0 h 223519"/>
                <a:gd name="connsiteX2" fmla="*/ 3940313 w 3940313"/>
                <a:gd name="connsiteY2" fmla="*/ 218439 h 223519"/>
                <a:gd name="connsiteX3" fmla="*/ 0 w 3940313"/>
                <a:gd name="connsiteY3" fmla="*/ 223519 h 223519"/>
                <a:gd name="connsiteX4" fmla="*/ 1803400 w 3940313"/>
                <a:gd name="connsiteY4" fmla="*/ 0 h 223519"/>
                <a:gd name="connsiteX0" fmla="*/ 1803400 w 3940313"/>
                <a:gd name="connsiteY0" fmla="*/ 0 h 223519"/>
                <a:gd name="connsiteX1" fmla="*/ 3940313 w 3940313"/>
                <a:gd name="connsiteY1" fmla="*/ 0 h 223519"/>
                <a:gd name="connsiteX2" fmla="*/ 2787153 w 3940313"/>
                <a:gd name="connsiteY2" fmla="*/ 218439 h 223519"/>
                <a:gd name="connsiteX3" fmla="*/ 0 w 3940313"/>
                <a:gd name="connsiteY3" fmla="*/ 223519 h 223519"/>
                <a:gd name="connsiteX4" fmla="*/ 1803400 w 3940313"/>
                <a:gd name="connsiteY4" fmla="*/ 0 h 223519"/>
                <a:gd name="connsiteX0" fmla="*/ 1803400 w 5728473"/>
                <a:gd name="connsiteY0" fmla="*/ 0 h 226059"/>
                <a:gd name="connsiteX1" fmla="*/ 3940313 w 5728473"/>
                <a:gd name="connsiteY1" fmla="*/ 0 h 226059"/>
                <a:gd name="connsiteX2" fmla="*/ 5728473 w 5728473"/>
                <a:gd name="connsiteY2" fmla="*/ 226059 h 226059"/>
                <a:gd name="connsiteX3" fmla="*/ 0 w 5728473"/>
                <a:gd name="connsiteY3" fmla="*/ 223519 h 226059"/>
                <a:gd name="connsiteX4" fmla="*/ 1803400 w 5728473"/>
                <a:gd name="connsiteY4" fmla="*/ 0 h 226059"/>
                <a:gd name="connsiteX0" fmla="*/ 0 w 3925073"/>
                <a:gd name="connsiteY0" fmla="*/ 0 h 226059"/>
                <a:gd name="connsiteX1" fmla="*/ 2136913 w 3925073"/>
                <a:gd name="connsiteY1" fmla="*/ 0 h 226059"/>
                <a:gd name="connsiteX2" fmla="*/ 3925073 w 3925073"/>
                <a:gd name="connsiteY2" fmla="*/ 226059 h 226059"/>
                <a:gd name="connsiteX3" fmla="*/ 1137920 w 3925073"/>
                <a:gd name="connsiteY3" fmla="*/ 223519 h 226059"/>
                <a:gd name="connsiteX4" fmla="*/ 0 w 3925073"/>
                <a:gd name="connsiteY4" fmla="*/ 0 h 226059"/>
                <a:gd name="connsiteX0" fmla="*/ 1833880 w 5758953"/>
                <a:gd name="connsiteY0" fmla="*/ 0 h 226059"/>
                <a:gd name="connsiteX1" fmla="*/ 3970793 w 5758953"/>
                <a:gd name="connsiteY1" fmla="*/ 0 h 226059"/>
                <a:gd name="connsiteX2" fmla="*/ 5758953 w 5758953"/>
                <a:gd name="connsiteY2" fmla="*/ 226059 h 226059"/>
                <a:gd name="connsiteX3" fmla="*/ 0 w 5758953"/>
                <a:gd name="connsiteY3" fmla="*/ 223519 h 226059"/>
                <a:gd name="connsiteX4" fmla="*/ 1833880 w 5758953"/>
                <a:gd name="connsiteY4" fmla="*/ 0 h 226059"/>
                <a:gd name="connsiteX0" fmla="*/ 1388110 w 5758953"/>
                <a:gd name="connsiteY0" fmla="*/ 0 h 237489"/>
                <a:gd name="connsiteX1" fmla="*/ 3970793 w 5758953"/>
                <a:gd name="connsiteY1" fmla="*/ 11430 h 237489"/>
                <a:gd name="connsiteX2" fmla="*/ 5758953 w 5758953"/>
                <a:gd name="connsiteY2" fmla="*/ 237489 h 237489"/>
                <a:gd name="connsiteX3" fmla="*/ 0 w 5758953"/>
                <a:gd name="connsiteY3" fmla="*/ 234949 h 237489"/>
                <a:gd name="connsiteX4" fmla="*/ 1388110 w 5758953"/>
                <a:gd name="connsiteY4" fmla="*/ 0 h 237489"/>
                <a:gd name="connsiteX0" fmla="*/ 1388110 w 5758953"/>
                <a:gd name="connsiteY0" fmla="*/ 3810 h 241299"/>
                <a:gd name="connsiteX1" fmla="*/ 425654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381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635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6350 h 24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8953" h="241299">
                  <a:moveTo>
                    <a:pt x="1388110" y="6350"/>
                  </a:moveTo>
                  <a:lnTo>
                    <a:pt x="4203203" y="0"/>
                  </a:lnTo>
                  <a:lnTo>
                    <a:pt x="5758953" y="241299"/>
                  </a:lnTo>
                  <a:lnTo>
                    <a:pt x="0" y="238759"/>
                  </a:lnTo>
                  <a:lnTo>
                    <a:pt x="1388110" y="6350"/>
                  </a:lnTo>
                  <a:close/>
                </a:path>
              </a:pathLst>
            </a:custGeom>
            <a:gradFill>
              <a:gsLst>
                <a:gs pos="100000">
                  <a:schemeClr val="bg1">
                    <a:alpha val="0"/>
                  </a:schemeClr>
                </a:gs>
                <a:gs pos="0">
                  <a:srgbClr val="00162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118EB13C-8F94-477F-A949-53F7BD6A5B46}"/>
              </a:ext>
            </a:extLst>
          </p:cNvPr>
          <p:cNvGrpSpPr/>
          <p:nvPr/>
        </p:nvGrpSpPr>
        <p:grpSpPr>
          <a:xfrm>
            <a:off x="3805403" y="1697856"/>
            <a:ext cx="4018894" cy="4829916"/>
            <a:chOff x="3805403" y="1697856"/>
            <a:chExt cx="4018894" cy="4829916"/>
          </a:xfrm>
        </p:grpSpPr>
        <p:sp>
          <p:nvSpPr>
            <p:cNvPr id="113" name="Rectangle 112">
              <a:extLst>
                <a:ext uri="{FF2B5EF4-FFF2-40B4-BE49-F238E27FC236}">
                  <a16:creationId xmlns:a16="http://schemas.microsoft.com/office/drawing/2014/main" id="{0E6C986A-8C14-42DA-AA44-7B5DFA39A6B9}"/>
                </a:ext>
              </a:extLst>
            </p:cNvPr>
            <p:cNvSpPr/>
            <p:nvPr/>
          </p:nvSpPr>
          <p:spPr>
            <a:xfrm>
              <a:off x="3805403" y="1697856"/>
              <a:ext cx="4018893" cy="8385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numCol="2" rtlCol="0" anchor="ctr"/>
            <a:lstStyle/>
            <a:p>
              <a:pPr marL="346075" indent="-285750">
                <a:buFont typeface="Arial" panose="020B0604020202020204" pitchFamily="34" charset="0"/>
                <a:buChar char="•"/>
              </a:pPr>
              <a:r>
                <a:rPr lang="en-IN" sz="1400" b="1" dirty="0">
                  <a:solidFill>
                    <a:schemeClr val="bg2">
                      <a:lumMod val="50000"/>
                    </a:schemeClr>
                  </a:solidFill>
                </a:rPr>
                <a:t>Periodic car service</a:t>
              </a:r>
            </a:p>
            <a:p>
              <a:pPr marL="346075" indent="-285750">
                <a:buFont typeface="Arial" panose="020B0604020202020204" pitchFamily="34" charset="0"/>
                <a:buChar char="•"/>
              </a:pPr>
              <a:r>
                <a:rPr lang="en-IN" sz="1400" b="1" dirty="0">
                  <a:solidFill>
                    <a:schemeClr val="bg2">
                      <a:lumMod val="50000"/>
                    </a:schemeClr>
                  </a:solidFill>
                </a:rPr>
                <a:t>Car cleaning &amp; detailing</a:t>
              </a:r>
            </a:p>
            <a:p>
              <a:pPr marL="346075" indent="-285750">
                <a:buFont typeface="Arial" panose="020B0604020202020204" pitchFamily="34" charset="0"/>
                <a:buChar char="•"/>
              </a:pPr>
              <a:r>
                <a:rPr lang="en-IN" sz="1400" b="1" dirty="0">
                  <a:solidFill>
                    <a:schemeClr val="bg2">
                      <a:lumMod val="50000"/>
                    </a:schemeClr>
                  </a:solidFill>
                </a:rPr>
                <a:t>Wheel &amp; rim care</a:t>
              </a:r>
            </a:p>
            <a:p>
              <a:pPr marL="346075" indent="-285750">
                <a:buFont typeface="Arial" panose="020B0604020202020204" pitchFamily="34" charset="0"/>
                <a:buChar char="•"/>
              </a:pPr>
              <a:r>
                <a:rPr lang="en-IN" sz="1400" b="1" dirty="0">
                  <a:solidFill>
                    <a:schemeClr val="bg2">
                      <a:lumMod val="50000"/>
                    </a:schemeClr>
                  </a:solidFill>
                </a:rPr>
                <a:t>Denting &amp; painting services</a:t>
              </a:r>
            </a:p>
          </p:txBody>
        </p:sp>
        <p:sp>
          <p:nvSpPr>
            <p:cNvPr id="105" name="Rectangle 104">
              <a:extLst>
                <a:ext uri="{FF2B5EF4-FFF2-40B4-BE49-F238E27FC236}">
                  <a16:creationId xmlns:a16="http://schemas.microsoft.com/office/drawing/2014/main" id="{D80D0BD3-7D76-4F11-B1F7-562558937A45}"/>
                </a:ext>
              </a:extLst>
            </p:cNvPr>
            <p:cNvSpPr/>
            <p:nvPr/>
          </p:nvSpPr>
          <p:spPr>
            <a:xfrm>
              <a:off x="3805404" y="2536406"/>
              <a:ext cx="4018893" cy="39913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marL="403225" indent="-342900" algn="ctr">
                <a:buAutoNum type="arabicPeriod"/>
              </a:pPr>
              <a:endParaRPr lang="en-GB" sz="1400" b="1" dirty="0">
                <a:solidFill>
                  <a:schemeClr val="tx1"/>
                </a:solidFill>
              </a:endParaRPr>
            </a:p>
          </p:txBody>
        </p:sp>
      </p:grpSp>
      <p:grpSp>
        <p:nvGrpSpPr>
          <p:cNvPr id="11" name="Group 10">
            <a:extLst>
              <a:ext uri="{FF2B5EF4-FFF2-40B4-BE49-F238E27FC236}">
                <a16:creationId xmlns:a16="http://schemas.microsoft.com/office/drawing/2014/main" id="{0E65407E-A624-4DC2-BE2F-B999B146818C}"/>
              </a:ext>
            </a:extLst>
          </p:cNvPr>
          <p:cNvGrpSpPr/>
          <p:nvPr/>
        </p:nvGrpSpPr>
        <p:grpSpPr>
          <a:xfrm>
            <a:off x="3805399" y="2666262"/>
            <a:ext cx="4018893" cy="638344"/>
            <a:chOff x="3805403" y="2609519"/>
            <a:chExt cx="4018893" cy="638344"/>
          </a:xfrm>
        </p:grpSpPr>
        <p:sp>
          <p:nvSpPr>
            <p:cNvPr id="140" name="Rectangle 139">
              <a:extLst>
                <a:ext uri="{FF2B5EF4-FFF2-40B4-BE49-F238E27FC236}">
                  <a16:creationId xmlns:a16="http://schemas.microsoft.com/office/drawing/2014/main" id="{7CC546DE-74D8-40AD-9AC8-36B3BD390643}"/>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Emergency response for car services like car towing, jumpstart, </a:t>
              </a:r>
              <a:r>
                <a:rPr lang="en-IN" sz="1200">
                  <a:solidFill>
                    <a:schemeClr val="tx1"/>
                  </a:solidFill>
                </a:rPr>
                <a:t>battery replacement etc.</a:t>
              </a:r>
              <a:endParaRPr lang="en-IN" sz="1200" dirty="0">
                <a:solidFill>
                  <a:schemeClr val="tx1"/>
                </a:solidFill>
              </a:endParaRPr>
            </a:p>
          </p:txBody>
        </p:sp>
        <p:sp>
          <p:nvSpPr>
            <p:cNvPr id="141" name="Rectangle 140">
              <a:extLst>
                <a:ext uri="{FF2B5EF4-FFF2-40B4-BE49-F238E27FC236}">
                  <a16:creationId xmlns:a16="http://schemas.microsoft.com/office/drawing/2014/main" id="{FF5F1018-B3DF-40A1-A174-A54565C69B68}"/>
                </a:ext>
              </a:extLst>
            </p:cNvPr>
            <p:cNvSpPr/>
            <p:nvPr/>
          </p:nvSpPr>
          <p:spPr>
            <a:xfrm>
              <a:off x="4696600" y="2634314"/>
              <a:ext cx="3010538" cy="155888"/>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Roadside assistance</a:t>
              </a:r>
              <a:endParaRPr lang="en-IN" sz="1200" b="1" dirty="0">
                <a:solidFill>
                  <a:srgbClr val="D61D1D"/>
                </a:solidFill>
              </a:endParaRPr>
            </a:p>
          </p:txBody>
        </p:sp>
      </p:grpSp>
      <p:grpSp>
        <p:nvGrpSpPr>
          <p:cNvPr id="6" name="Group 5">
            <a:extLst>
              <a:ext uri="{FF2B5EF4-FFF2-40B4-BE49-F238E27FC236}">
                <a16:creationId xmlns:a16="http://schemas.microsoft.com/office/drawing/2014/main" id="{19DF7FFB-8C61-423C-B7A0-9AC3C088FC51}"/>
              </a:ext>
            </a:extLst>
          </p:cNvPr>
          <p:cNvGrpSpPr/>
          <p:nvPr/>
        </p:nvGrpSpPr>
        <p:grpSpPr>
          <a:xfrm>
            <a:off x="7919374" y="1195840"/>
            <a:ext cx="4038675" cy="5319153"/>
            <a:chOff x="7919374" y="1195839"/>
            <a:chExt cx="4038675" cy="5319153"/>
          </a:xfrm>
        </p:grpSpPr>
        <p:sp>
          <p:nvSpPr>
            <p:cNvPr id="87" name="Rectangle 86">
              <a:extLst>
                <a:ext uri="{FF2B5EF4-FFF2-40B4-BE49-F238E27FC236}">
                  <a16:creationId xmlns:a16="http://schemas.microsoft.com/office/drawing/2014/main" id="{79A550F4-D108-4020-A826-EC62F784929C}"/>
                </a:ext>
              </a:extLst>
            </p:cNvPr>
            <p:cNvSpPr/>
            <p:nvPr/>
          </p:nvSpPr>
          <p:spPr>
            <a:xfrm>
              <a:off x="7919374" y="3080964"/>
              <a:ext cx="4038674" cy="34340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60325" algn="ctr"/>
              <a:endParaRPr lang="en-GB" sz="1400" dirty="0">
                <a:solidFill>
                  <a:schemeClr val="tx1"/>
                </a:solidFill>
              </a:endParaRPr>
            </a:p>
          </p:txBody>
        </p:sp>
        <p:grpSp>
          <p:nvGrpSpPr>
            <p:cNvPr id="4" name="Group 3">
              <a:extLst>
                <a:ext uri="{FF2B5EF4-FFF2-40B4-BE49-F238E27FC236}">
                  <a16:creationId xmlns:a16="http://schemas.microsoft.com/office/drawing/2014/main" id="{9D10EE89-11C0-44DB-8E85-10B99DEB096A}"/>
                </a:ext>
              </a:extLst>
            </p:cNvPr>
            <p:cNvGrpSpPr/>
            <p:nvPr/>
          </p:nvGrpSpPr>
          <p:grpSpPr>
            <a:xfrm>
              <a:off x="7919374" y="1195839"/>
              <a:ext cx="4038675" cy="527345"/>
              <a:chOff x="7919374" y="1195839"/>
              <a:chExt cx="4038675" cy="527345"/>
            </a:xfrm>
          </p:grpSpPr>
          <p:sp>
            <p:nvSpPr>
              <p:cNvPr id="115" name="Rectangle 114">
                <a:extLst>
                  <a:ext uri="{FF2B5EF4-FFF2-40B4-BE49-F238E27FC236}">
                    <a16:creationId xmlns:a16="http://schemas.microsoft.com/office/drawing/2014/main" id="{91B289B0-FD81-4641-A29A-E2088B95CD0F}"/>
                  </a:ext>
                </a:extLst>
              </p:cNvPr>
              <p:cNvSpPr/>
              <p:nvPr/>
            </p:nvSpPr>
            <p:spPr>
              <a:xfrm>
                <a:off x="8530982" y="1195839"/>
                <a:ext cx="2815458" cy="291459"/>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1" dirty="0"/>
                  <a:t>Service Offerings</a:t>
                </a:r>
              </a:p>
            </p:txBody>
          </p:sp>
          <p:sp>
            <p:nvSpPr>
              <p:cNvPr id="137" name="Rectangle 41">
                <a:extLst>
                  <a:ext uri="{FF2B5EF4-FFF2-40B4-BE49-F238E27FC236}">
                    <a16:creationId xmlns:a16="http://schemas.microsoft.com/office/drawing/2014/main" id="{78BFB6DD-C14C-47B8-933D-A9856E34EBFA}"/>
                  </a:ext>
                </a:extLst>
              </p:cNvPr>
              <p:cNvSpPr/>
              <p:nvPr/>
            </p:nvSpPr>
            <p:spPr>
              <a:xfrm>
                <a:off x="7919374" y="1507740"/>
                <a:ext cx="4038675" cy="215444"/>
              </a:xfrm>
              <a:custGeom>
                <a:avLst/>
                <a:gdLst>
                  <a:gd name="connsiteX0" fmla="*/ 0 w 2136913"/>
                  <a:gd name="connsiteY0" fmla="*/ 0 h 218439"/>
                  <a:gd name="connsiteX1" fmla="*/ 2136913 w 2136913"/>
                  <a:gd name="connsiteY1" fmla="*/ 0 h 218439"/>
                  <a:gd name="connsiteX2" fmla="*/ 2136913 w 2136913"/>
                  <a:gd name="connsiteY2" fmla="*/ 218439 h 218439"/>
                  <a:gd name="connsiteX3" fmla="*/ 0 w 2136913"/>
                  <a:gd name="connsiteY3" fmla="*/ 218439 h 218439"/>
                  <a:gd name="connsiteX4" fmla="*/ 0 w 2136913"/>
                  <a:gd name="connsiteY4" fmla="*/ 0 h 218439"/>
                  <a:gd name="connsiteX0" fmla="*/ 1803400 w 3940313"/>
                  <a:gd name="connsiteY0" fmla="*/ 0 h 223519"/>
                  <a:gd name="connsiteX1" fmla="*/ 3940313 w 3940313"/>
                  <a:gd name="connsiteY1" fmla="*/ 0 h 223519"/>
                  <a:gd name="connsiteX2" fmla="*/ 3940313 w 3940313"/>
                  <a:gd name="connsiteY2" fmla="*/ 218439 h 223519"/>
                  <a:gd name="connsiteX3" fmla="*/ 0 w 3940313"/>
                  <a:gd name="connsiteY3" fmla="*/ 223519 h 223519"/>
                  <a:gd name="connsiteX4" fmla="*/ 1803400 w 3940313"/>
                  <a:gd name="connsiteY4" fmla="*/ 0 h 223519"/>
                  <a:gd name="connsiteX0" fmla="*/ 1803400 w 3940313"/>
                  <a:gd name="connsiteY0" fmla="*/ 0 h 223519"/>
                  <a:gd name="connsiteX1" fmla="*/ 3940313 w 3940313"/>
                  <a:gd name="connsiteY1" fmla="*/ 0 h 223519"/>
                  <a:gd name="connsiteX2" fmla="*/ 2787153 w 3940313"/>
                  <a:gd name="connsiteY2" fmla="*/ 218439 h 223519"/>
                  <a:gd name="connsiteX3" fmla="*/ 0 w 3940313"/>
                  <a:gd name="connsiteY3" fmla="*/ 223519 h 223519"/>
                  <a:gd name="connsiteX4" fmla="*/ 1803400 w 3940313"/>
                  <a:gd name="connsiteY4" fmla="*/ 0 h 223519"/>
                  <a:gd name="connsiteX0" fmla="*/ 1803400 w 5728473"/>
                  <a:gd name="connsiteY0" fmla="*/ 0 h 226059"/>
                  <a:gd name="connsiteX1" fmla="*/ 3940313 w 5728473"/>
                  <a:gd name="connsiteY1" fmla="*/ 0 h 226059"/>
                  <a:gd name="connsiteX2" fmla="*/ 5728473 w 5728473"/>
                  <a:gd name="connsiteY2" fmla="*/ 226059 h 226059"/>
                  <a:gd name="connsiteX3" fmla="*/ 0 w 5728473"/>
                  <a:gd name="connsiteY3" fmla="*/ 223519 h 226059"/>
                  <a:gd name="connsiteX4" fmla="*/ 1803400 w 5728473"/>
                  <a:gd name="connsiteY4" fmla="*/ 0 h 226059"/>
                  <a:gd name="connsiteX0" fmla="*/ 0 w 3925073"/>
                  <a:gd name="connsiteY0" fmla="*/ 0 h 226059"/>
                  <a:gd name="connsiteX1" fmla="*/ 2136913 w 3925073"/>
                  <a:gd name="connsiteY1" fmla="*/ 0 h 226059"/>
                  <a:gd name="connsiteX2" fmla="*/ 3925073 w 3925073"/>
                  <a:gd name="connsiteY2" fmla="*/ 226059 h 226059"/>
                  <a:gd name="connsiteX3" fmla="*/ 1137920 w 3925073"/>
                  <a:gd name="connsiteY3" fmla="*/ 223519 h 226059"/>
                  <a:gd name="connsiteX4" fmla="*/ 0 w 3925073"/>
                  <a:gd name="connsiteY4" fmla="*/ 0 h 226059"/>
                  <a:gd name="connsiteX0" fmla="*/ 1833880 w 5758953"/>
                  <a:gd name="connsiteY0" fmla="*/ 0 h 226059"/>
                  <a:gd name="connsiteX1" fmla="*/ 3970793 w 5758953"/>
                  <a:gd name="connsiteY1" fmla="*/ 0 h 226059"/>
                  <a:gd name="connsiteX2" fmla="*/ 5758953 w 5758953"/>
                  <a:gd name="connsiteY2" fmla="*/ 226059 h 226059"/>
                  <a:gd name="connsiteX3" fmla="*/ 0 w 5758953"/>
                  <a:gd name="connsiteY3" fmla="*/ 223519 h 226059"/>
                  <a:gd name="connsiteX4" fmla="*/ 1833880 w 5758953"/>
                  <a:gd name="connsiteY4" fmla="*/ 0 h 226059"/>
                  <a:gd name="connsiteX0" fmla="*/ 1388110 w 5758953"/>
                  <a:gd name="connsiteY0" fmla="*/ 0 h 237489"/>
                  <a:gd name="connsiteX1" fmla="*/ 3970793 w 5758953"/>
                  <a:gd name="connsiteY1" fmla="*/ 11430 h 237489"/>
                  <a:gd name="connsiteX2" fmla="*/ 5758953 w 5758953"/>
                  <a:gd name="connsiteY2" fmla="*/ 237489 h 237489"/>
                  <a:gd name="connsiteX3" fmla="*/ 0 w 5758953"/>
                  <a:gd name="connsiteY3" fmla="*/ 234949 h 237489"/>
                  <a:gd name="connsiteX4" fmla="*/ 1388110 w 5758953"/>
                  <a:gd name="connsiteY4" fmla="*/ 0 h 237489"/>
                  <a:gd name="connsiteX0" fmla="*/ 1388110 w 5758953"/>
                  <a:gd name="connsiteY0" fmla="*/ 3810 h 241299"/>
                  <a:gd name="connsiteX1" fmla="*/ 425654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381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3810 h 241299"/>
                  <a:gd name="connsiteX0" fmla="*/ 1388110 w 5758953"/>
                  <a:gd name="connsiteY0" fmla="*/ 6350 h 241299"/>
                  <a:gd name="connsiteX1" fmla="*/ 4203203 w 5758953"/>
                  <a:gd name="connsiteY1" fmla="*/ 0 h 241299"/>
                  <a:gd name="connsiteX2" fmla="*/ 5758953 w 5758953"/>
                  <a:gd name="connsiteY2" fmla="*/ 241299 h 241299"/>
                  <a:gd name="connsiteX3" fmla="*/ 0 w 5758953"/>
                  <a:gd name="connsiteY3" fmla="*/ 238759 h 241299"/>
                  <a:gd name="connsiteX4" fmla="*/ 1388110 w 5758953"/>
                  <a:gd name="connsiteY4" fmla="*/ 6350 h 24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8953" h="241299">
                    <a:moveTo>
                      <a:pt x="1388110" y="6350"/>
                    </a:moveTo>
                    <a:lnTo>
                      <a:pt x="4203203" y="0"/>
                    </a:lnTo>
                    <a:lnTo>
                      <a:pt x="5758953" y="241299"/>
                    </a:lnTo>
                    <a:lnTo>
                      <a:pt x="0" y="238759"/>
                    </a:lnTo>
                    <a:lnTo>
                      <a:pt x="1388110" y="6350"/>
                    </a:lnTo>
                    <a:close/>
                  </a:path>
                </a:pathLst>
              </a:custGeom>
              <a:gradFill>
                <a:gsLst>
                  <a:gs pos="100000">
                    <a:schemeClr val="bg1">
                      <a:alpha val="0"/>
                    </a:schemeClr>
                  </a:gs>
                  <a:gs pos="0">
                    <a:srgbClr val="00162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4" name="Rectangle 113">
              <a:extLst>
                <a:ext uri="{FF2B5EF4-FFF2-40B4-BE49-F238E27FC236}">
                  <a16:creationId xmlns:a16="http://schemas.microsoft.com/office/drawing/2014/main" id="{70AA9051-7719-4D6C-9224-0DD41500CC31}"/>
                </a:ext>
              </a:extLst>
            </p:cNvPr>
            <p:cNvSpPr/>
            <p:nvPr/>
          </p:nvSpPr>
          <p:spPr>
            <a:xfrm>
              <a:off x="7939155" y="1697855"/>
              <a:ext cx="4018893" cy="13831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numCol="2" rtlCol="0" anchor="ctr"/>
            <a:lstStyle/>
            <a:p>
              <a:pPr marL="346075" indent="-285750">
                <a:buFont typeface="Arial" panose="020B0604020202020204" pitchFamily="34" charset="0"/>
                <a:buChar char="•"/>
              </a:pPr>
              <a:endParaRPr lang="en-IN" sz="1400" b="1" dirty="0">
                <a:solidFill>
                  <a:schemeClr val="bg2">
                    <a:lumMod val="50000"/>
                  </a:schemeClr>
                </a:solidFill>
              </a:endParaRPr>
            </a:p>
            <a:p>
              <a:pPr marL="346075" indent="-285750">
                <a:buFont typeface="Arial" panose="020B0604020202020204" pitchFamily="34" charset="0"/>
                <a:buChar char="•"/>
              </a:pPr>
              <a:r>
                <a:rPr lang="en-IN" sz="1400" b="1" dirty="0">
                  <a:solidFill>
                    <a:schemeClr val="bg2">
                      <a:lumMod val="50000"/>
                    </a:schemeClr>
                  </a:solidFill>
                </a:rPr>
                <a:t>Service warranty</a:t>
              </a:r>
            </a:p>
            <a:p>
              <a:pPr marL="346075" indent="-285750">
                <a:buFont typeface="Arial" panose="020B0604020202020204" pitchFamily="34" charset="0"/>
                <a:buChar char="•"/>
              </a:pPr>
              <a:r>
                <a:rPr lang="en-IN" sz="1400" b="1" dirty="0">
                  <a:solidFill>
                    <a:schemeClr val="bg2">
                      <a:lumMod val="50000"/>
                    </a:schemeClr>
                  </a:solidFill>
                </a:rPr>
                <a:t>Best services @ best prices</a:t>
              </a:r>
            </a:p>
            <a:p>
              <a:pPr marL="346075" indent="-285750">
                <a:buFont typeface="Arial" panose="020B0604020202020204" pitchFamily="34" charset="0"/>
                <a:buChar char="•"/>
              </a:pPr>
              <a:r>
                <a:rPr lang="en-IN" sz="1400" b="1" dirty="0">
                  <a:solidFill>
                    <a:schemeClr val="bg2">
                      <a:lumMod val="50000"/>
                    </a:schemeClr>
                  </a:solidFill>
                </a:rPr>
                <a:t>Convenient car care</a:t>
              </a:r>
            </a:p>
            <a:p>
              <a:pPr marL="346075" indent="-285750">
                <a:buFont typeface="Arial" panose="020B0604020202020204" pitchFamily="34" charset="0"/>
                <a:buChar char="•"/>
              </a:pPr>
              <a:endParaRPr lang="en-IN" sz="1400" b="1" dirty="0">
                <a:solidFill>
                  <a:schemeClr val="bg2">
                    <a:lumMod val="50000"/>
                  </a:schemeClr>
                </a:solidFill>
              </a:endParaRPr>
            </a:p>
            <a:p>
              <a:pPr marL="346075" indent="-285750">
                <a:buFont typeface="Arial" panose="020B0604020202020204" pitchFamily="34" charset="0"/>
                <a:buChar char="•"/>
              </a:pPr>
              <a:endParaRPr lang="en-IN" sz="1400" b="1" dirty="0">
                <a:solidFill>
                  <a:schemeClr val="bg2">
                    <a:lumMod val="50000"/>
                  </a:schemeClr>
                </a:solidFill>
              </a:endParaRPr>
            </a:p>
            <a:p>
              <a:pPr marL="346075" indent="-285750">
                <a:buFont typeface="Arial" panose="020B0604020202020204" pitchFamily="34" charset="0"/>
                <a:buChar char="•"/>
              </a:pPr>
              <a:r>
                <a:rPr lang="en-IN" sz="1400" b="1" dirty="0">
                  <a:solidFill>
                    <a:schemeClr val="bg2">
                      <a:lumMod val="50000"/>
                    </a:schemeClr>
                  </a:solidFill>
                </a:rPr>
                <a:t>Comprehensive 90 points checks</a:t>
              </a:r>
            </a:p>
            <a:p>
              <a:pPr marL="346075" indent="-285750">
                <a:buFont typeface="Arial" panose="020B0604020202020204" pitchFamily="34" charset="0"/>
                <a:buChar char="•"/>
              </a:pPr>
              <a:r>
                <a:rPr lang="en-IN" sz="1400" b="1" dirty="0">
                  <a:solidFill>
                    <a:schemeClr val="bg2">
                      <a:lumMod val="50000"/>
                    </a:schemeClr>
                  </a:solidFill>
                </a:rPr>
                <a:t>Genuine spares</a:t>
              </a:r>
            </a:p>
            <a:p>
              <a:pPr marL="346075" indent="-285750">
                <a:buFont typeface="Arial" panose="020B0604020202020204" pitchFamily="34" charset="0"/>
                <a:buChar char="•"/>
              </a:pPr>
              <a:r>
                <a:rPr lang="en-IN" sz="1400" b="1" dirty="0">
                  <a:solidFill>
                    <a:schemeClr val="bg2">
                      <a:lumMod val="50000"/>
                    </a:schemeClr>
                  </a:solidFill>
                </a:rPr>
                <a:t>Free pickup &amp; drop</a:t>
              </a:r>
            </a:p>
          </p:txBody>
        </p:sp>
      </p:grpSp>
      <p:pic>
        <p:nvPicPr>
          <p:cNvPr id="9" name="Graphic 8" descr="Marker">
            <a:extLst>
              <a:ext uri="{FF2B5EF4-FFF2-40B4-BE49-F238E27FC236}">
                <a16:creationId xmlns:a16="http://schemas.microsoft.com/office/drawing/2014/main" id="{5542EB3B-5E01-4C42-BA4A-2605ED7AE41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134" y="4801665"/>
            <a:ext cx="360000" cy="360000"/>
          </a:xfrm>
          <a:prstGeom prst="rect">
            <a:avLst/>
          </a:prstGeom>
        </p:spPr>
      </p:pic>
      <p:pic>
        <p:nvPicPr>
          <p:cNvPr id="116" name="Graphic 115" descr="Marker">
            <a:extLst>
              <a:ext uri="{FF2B5EF4-FFF2-40B4-BE49-F238E27FC236}">
                <a16:creationId xmlns:a16="http://schemas.microsoft.com/office/drawing/2014/main" id="{3C25364A-F80F-4388-8530-4CD354E212B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13665" y="3952552"/>
            <a:ext cx="360000" cy="360000"/>
          </a:xfrm>
          <a:prstGeom prst="rect">
            <a:avLst/>
          </a:prstGeom>
        </p:spPr>
      </p:pic>
      <p:pic>
        <p:nvPicPr>
          <p:cNvPr id="117" name="Graphic 116" descr="Marker">
            <a:extLst>
              <a:ext uri="{FF2B5EF4-FFF2-40B4-BE49-F238E27FC236}">
                <a16:creationId xmlns:a16="http://schemas.microsoft.com/office/drawing/2014/main" id="{2CE7671C-02E3-49E2-B225-D54FBD6992A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2968" y="4982348"/>
            <a:ext cx="360000" cy="360000"/>
          </a:xfrm>
          <a:prstGeom prst="rect">
            <a:avLst/>
          </a:prstGeom>
        </p:spPr>
      </p:pic>
      <p:pic>
        <p:nvPicPr>
          <p:cNvPr id="118" name="Graphic 117" descr="Marker">
            <a:extLst>
              <a:ext uri="{FF2B5EF4-FFF2-40B4-BE49-F238E27FC236}">
                <a16:creationId xmlns:a16="http://schemas.microsoft.com/office/drawing/2014/main" id="{BB57F31D-5BB9-405F-B23F-FEB9229BBCB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47949" y="4978882"/>
            <a:ext cx="360000" cy="360000"/>
          </a:xfrm>
          <a:prstGeom prst="rect">
            <a:avLst/>
          </a:prstGeom>
        </p:spPr>
      </p:pic>
      <p:pic>
        <p:nvPicPr>
          <p:cNvPr id="120" name="Graphic 119" descr="Marker">
            <a:extLst>
              <a:ext uri="{FF2B5EF4-FFF2-40B4-BE49-F238E27FC236}">
                <a16:creationId xmlns:a16="http://schemas.microsoft.com/office/drawing/2014/main" id="{A98669E9-3988-4E7D-A682-E0B2BC61C1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7949" y="5418239"/>
            <a:ext cx="360000" cy="360000"/>
          </a:xfrm>
          <a:prstGeom prst="rect">
            <a:avLst/>
          </a:prstGeom>
        </p:spPr>
      </p:pic>
      <p:pic>
        <p:nvPicPr>
          <p:cNvPr id="121" name="Graphic 120" descr="Marker">
            <a:extLst>
              <a:ext uri="{FF2B5EF4-FFF2-40B4-BE49-F238E27FC236}">
                <a16:creationId xmlns:a16="http://schemas.microsoft.com/office/drawing/2014/main" id="{C5FB6307-5705-45C7-B5D9-5DA83AD868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0494" y="4479619"/>
            <a:ext cx="360000" cy="360000"/>
          </a:xfrm>
          <a:prstGeom prst="rect">
            <a:avLst/>
          </a:prstGeom>
        </p:spPr>
      </p:pic>
      <p:pic>
        <p:nvPicPr>
          <p:cNvPr id="139" name="Graphic 138" descr="Marker">
            <a:extLst>
              <a:ext uri="{FF2B5EF4-FFF2-40B4-BE49-F238E27FC236}">
                <a16:creationId xmlns:a16="http://schemas.microsoft.com/office/drawing/2014/main" id="{262A6730-B604-40B2-B21B-A5769AEF295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53943" y="4400747"/>
            <a:ext cx="360000" cy="360000"/>
          </a:xfrm>
          <a:prstGeom prst="rect">
            <a:avLst/>
          </a:prstGeom>
        </p:spPr>
      </p:pic>
      <p:pic>
        <p:nvPicPr>
          <p:cNvPr id="15" name="Graphic 14" descr="Car Mechanic">
            <a:extLst>
              <a:ext uri="{FF2B5EF4-FFF2-40B4-BE49-F238E27FC236}">
                <a16:creationId xmlns:a16="http://schemas.microsoft.com/office/drawing/2014/main" id="{739E78BC-C6AF-4A30-AF1D-E6673C2A73A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1524" y="2677289"/>
            <a:ext cx="630000" cy="630000"/>
          </a:xfrm>
          <a:prstGeom prst="rect">
            <a:avLst/>
          </a:prstGeom>
        </p:spPr>
      </p:pic>
      <p:grpSp>
        <p:nvGrpSpPr>
          <p:cNvPr id="148" name="Group 147">
            <a:extLst>
              <a:ext uri="{FF2B5EF4-FFF2-40B4-BE49-F238E27FC236}">
                <a16:creationId xmlns:a16="http://schemas.microsoft.com/office/drawing/2014/main" id="{CC3813D5-5CE6-4A6B-B270-798A16D12FFF}"/>
              </a:ext>
            </a:extLst>
          </p:cNvPr>
          <p:cNvGrpSpPr/>
          <p:nvPr/>
        </p:nvGrpSpPr>
        <p:grpSpPr>
          <a:xfrm>
            <a:off x="3805399" y="3313371"/>
            <a:ext cx="4018893" cy="638344"/>
            <a:chOff x="3805403" y="2609519"/>
            <a:chExt cx="4018893" cy="638344"/>
          </a:xfrm>
        </p:grpSpPr>
        <p:sp>
          <p:nvSpPr>
            <p:cNvPr id="149" name="Rectangle 148">
              <a:extLst>
                <a:ext uri="{FF2B5EF4-FFF2-40B4-BE49-F238E27FC236}">
                  <a16:creationId xmlns:a16="http://schemas.microsoft.com/office/drawing/2014/main" id="{EE1A7C51-36FF-4C7C-909E-CE5B89EBFFF5}"/>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Brakes, suspension, clutch, engine repair and custom packages as </a:t>
              </a:r>
              <a:r>
                <a:rPr lang="en-IN" sz="1200">
                  <a:solidFill>
                    <a:schemeClr val="tx1"/>
                  </a:solidFill>
                </a:rPr>
                <a:t>per requirement</a:t>
              </a:r>
              <a:endParaRPr lang="en-IN" sz="1200" dirty="0">
                <a:solidFill>
                  <a:schemeClr val="tx1"/>
                </a:solidFill>
              </a:endParaRPr>
            </a:p>
          </p:txBody>
        </p:sp>
        <p:sp>
          <p:nvSpPr>
            <p:cNvPr id="150" name="Rectangle 149">
              <a:extLst>
                <a:ext uri="{FF2B5EF4-FFF2-40B4-BE49-F238E27FC236}">
                  <a16:creationId xmlns:a16="http://schemas.microsoft.com/office/drawing/2014/main" id="{1E91812E-EBD6-4083-A048-3AFA54E9BD51}"/>
                </a:ext>
              </a:extLst>
            </p:cNvPr>
            <p:cNvSpPr/>
            <p:nvPr/>
          </p:nvSpPr>
          <p:spPr>
            <a:xfrm>
              <a:off x="4696600" y="2634313"/>
              <a:ext cx="3010538" cy="21187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Custom repairs</a:t>
              </a:r>
              <a:endParaRPr lang="en-IN" sz="1200" b="1" dirty="0">
                <a:solidFill>
                  <a:srgbClr val="D61D1D"/>
                </a:solidFill>
              </a:endParaRPr>
            </a:p>
          </p:txBody>
        </p:sp>
      </p:grpSp>
      <p:grpSp>
        <p:nvGrpSpPr>
          <p:cNvPr id="181" name="Group 180">
            <a:extLst>
              <a:ext uri="{FF2B5EF4-FFF2-40B4-BE49-F238E27FC236}">
                <a16:creationId xmlns:a16="http://schemas.microsoft.com/office/drawing/2014/main" id="{19335527-AAE0-4F55-87C0-0A2F3BAA0AE9}"/>
              </a:ext>
            </a:extLst>
          </p:cNvPr>
          <p:cNvGrpSpPr/>
          <p:nvPr/>
        </p:nvGrpSpPr>
        <p:grpSpPr>
          <a:xfrm>
            <a:off x="3805399" y="3947275"/>
            <a:ext cx="4018893" cy="638344"/>
            <a:chOff x="3805403" y="2609519"/>
            <a:chExt cx="4018893" cy="638344"/>
          </a:xfrm>
        </p:grpSpPr>
        <p:sp>
          <p:nvSpPr>
            <p:cNvPr id="182" name="Rectangle 181">
              <a:extLst>
                <a:ext uri="{FF2B5EF4-FFF2-40B4-BE49-F238E27FC236}">
                  <a16:creationId xmlns:a16="http://schemas.microsoft.com/office/drawing/2014/main" id="{C1F15657-2E73-412E-9A81-3C766C7DD873}"/>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Hassle-free denting painting &amp; car repairs through cashless &amp; zero dep insurance claims</a:t>
              </a:r>
            </a:p>
          </p:txBody>
        </p:sp>
        <p:sp>
          <p:nvSpPr>
            <p:cNvPr id="183" name="Rectangle 182">
              <a:extLst>
                <a:ext uri="{FF2B5EF4-FFF2-40B4-BE49-F238E27FC236}">
                  <a16:creationId xmlns:a16="http://schemas.microsoft.com/office/drawing/2014/main" id="{FAB41221-CE52-4812-B92B-3F62442779AD}"/>
                </a:ext>
              </a:extLst>
            </p:cNvPr>
            <p:cNvSpPr/>
            <p:nvPr/>
          </p:nvSpPr>
          <p:spPr>
            <a:xfrm>
              <a:off x="4696600" y="2634314"/>
              <a:ext cx="3010538" cy="143892"/>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Cashless insurance claims</a:t>
              </a:r>
              <a:endParaRPr lang="en-IN" sz="1200" b="1" dirty="0">
                <a:solidFill>
                  <a:srgbClr val="D61D1D"/>
                </a:solidFill>
              </a:endParaRPr>
            </a:p>
          </p:txBody>
        </p:sp>
      </p:grpSp>
      <p:grpSp>
        <p:nvGrpSpPr>
          <p:cNvPr id="184" name="Group 183">
            <a:extLst>
              <a:ext uri="{FF2B5EF4-FFF2-40B4-BE49-F238E27FC236}">
                <a16:creationId xmlns:a16="http://schemas.microsoft.com/office/drawing/2014/main" id="{F89F96B0-FFC5-47CF-9182-ECFCF0969FDB}"/>
              </a:ext>
            </a:extLst>
          </p:cNvPr>
          <p:cNvGrpSpPr/>
          <p:nvPr/>
        </p:nvGrpSpPr>
        <p:grpSpPr>
          <a:xfrm>
            <a:off x="3805399" y="4574786"/>
            <a:ext cx="4018893" cy="638344"/>
            <a:chOff x="3805403" y="2609519"/>
            <a:chExt cx="4018893" cy="638344"/>
          </a:xfrm>
        </p:grpSpPr>
        <p:sp>
          <p:nvSpPr>
            <p:cNvPr id="185" name="Rectangle 184">
              <a:extLst>
                <a:ext uri="{FF2B5EF4-FFF2-40B4-BE49-F238E27FC236}">
                  <a16:creationId xmlns:a16="http://schemas.microsoft.com/office/drawing/2014/main" id="{B8AF8095-863B-45BA-9804-8ADE797DF8B1}"/>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Standard/High performance AC repairs</a:t>
              </a:r>
            </a:p>
            <a:p>
              <a:pPr marL="60325"/>
              <a:r>
                <a:rPr lang="en-IN" sz="1200" dirty="0">
                  <a:solidFill>
                    <a:schemeClr val="tx1"/>
                  </a:solidFill>
                </a:rPr>
                <a:t>Top-up, filter cleaning, part replacement etc. </a:t>
              </a:r>
            </a:p>
          </p:txBody>
        </p:sp>
        <p:sp>
          <p:nvSpPr>
            <p:cNvPr id="186" name="Rectangle 185">
              <a:extLst>
                <a:ext uri="{FF2B5EF4-FFF2-40B4-BE49-F238E27FC236}">
                  <a16:creationId xmlns:a16="http://schemas.microsoft.com/office/drawing/2014/main" id="{11472166-2FDA-4FAC-BE99-F17FA66BFE49}"/>
                </a:ext>
              </a:extLst>
            </p:cNvPr>
            <p:cNvSpPr/>
            <p:nvPr/>
          </p:nvSpPr>
          <p:spPr>
            <a:xfrm>
              <a:off x="4696600" y="2634314"/>
              <a:ext cx="3010538" cy="16541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Car AC services</a:t>
              </a:r>
              <a:endParaRPr lang="en-IN" sz="1200" b="1" dirty="0">
                <a:solidFill>
                  <a:srgbClr val="D61D1D"/>
                </a:solidFill>
              </a:endParaRPr>
            </a:p>
          </p:txBody>
        </p:sp>
      </p:grpSp>
      <p:grpSp>
        <p:nvGrpSpPr>
          <p:cNvPr id="187" name="Group 186">
            <a:extLst>
              <a:ext uri="{FF2B5EF4-FFF2-40B4-BE49-F238E27FC236}">
                <a16:creationId xmlns:a16="http://schemas.microsoft.com/office/drawing/2014/main" id="{F70E9841-A434-43CC-8329-95BC6D99A880}"/>
              </a:ext>
            </a:extLst>
          </p:cNvPr>
          <p:cNvGrpSpPr/>
          <p:nvPr/>
        </p:nvGrpSpPr>
        <p:grpSpPr>
          <a:xfrm>
            <a:off x="3805399" y="5197857"/>
            <a:ext cx="4018893" cy="638344"/>
            <a:chOff x="3805403" y="2609519"/>
            <a:chExt cx="4018893" cy="638344"/>
          </a:xfrm>
        </p:grpSpPr>
        <p:sp>
          <p:nvSpPr>
            <p:cNvPr id="188" name="Rectangle 187">
              <a:extLst>
                <a:ext uri="{FF2B5EF4-FFF2-40B4-BE49-F238E27FC236}">
                  <a16:creationId xmlns:a16="http://schemas.microsoft.com/office/drawing/2014/main" id="{E86DC052-5224-4022-9F87-40BBAD150791}"/>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Electric vehicle charging infrastructure</a:t>
              </a:r>
            </a:p>
            <a:p>
              <a:pPr marL="60325"/>
              <a:r>
                <a:rPr lang="en-IN" sz="1200" dirty="0">
                  <a:solidFill>
                    <a:schemeClr val="tx1"/>
                  </a:solidFill>
                </a:rPr>
                <a:t>Wide range of batteries as per vehicle types</a:t>
              </a:r>
            </a:p>
          </p:txBody>
        </p:sp>
        <p:sp>
          <p:nvSpPr>
            <p:cNvPr id="189" name="Rectangle 188">
              <a:extLst>
                <a:ext uri="{FF2B5EF4-FFF2-40B4-BE49-F238E27FC236}">
                  <a16:creationId xmlns:a16="http://schemas.microsoft.com/office/drawing/2014/main" id="{2086E190-B0D1-4603-A74E-F5030049931B}"/>
                </a:ext>
              </a:extLst>
            </p:cNvPr>
            <p:cNvSpPr/>
            <p:nvPr/>
          </p:nvSpPr>
          <p:spPr>
            <a:xfrm>
              <a:off x="4696600" y="2634313"/>
              <a:ext cx="3010538" cy="199626"/>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Battery charging / replacement</a:t>
              </a:r>
              <a:endParaRPr lang="en-IN" sz="1200" b="1" dirty="0">
                <a:solidFill>
                  <a:srgbClr val="D61D1D"/>
                </a:solidFill>
              </a:endParaRPr>
            </a:p>
          </p:txBody>
        </p:sp>
      </p:grpSp>
      <p:pic>
        <p:nvPicPr>
          <p:cNvPr id="17" name="Graphic 16" descr="Electric car">
            <a:extLst>
              <a:ext uri="{FF2B5EF4-FFF2-40B4-BE49-F238E27FC236}">
                <a16:creationId xmlns:a16="http://schemas.microsoft.com/office/drawing/2014/main" id="{E113A949-5009-4657-9099-B03F8248E6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963959" y="5206283"/>
            <a:ext cx="630000" cy="630000"/>
          </a:xfrm>
          <a:prstGeom prst="rect">
            <a:avLst/>
          </a:prstGeom>
        </p:spPr>
      </p:pic>
      <p:pic>
        <p:nvPicPr>
          <p:cNvPr id="13" name="Graphic 12" descr="Car Mechanic">
            <a:extLst>
              <a:ext uri="{FF2B5EF4-FFF2-40B4-BE49-F238E27FC236}">
                <a16:creationId xmlns:a16="http://schemas.microsoft.com/office/drawing/2014/main" id="{28A84F7B-9CED-48EF-86C4-FD314D1957C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971524" y="3314704"/>
            <a:ext cx="630000" cy="630000"/>
          </a:xfrm>
          <a:prstGeom prst="rect">
            <a:avLst/>
          </a:prstGeom>
        </p:spPr>
      </p:pic>
      <p:sp>
        <p:nvSpPr>
          <p:cNvPr id="191" name="Rectangle 190">
            <a:extLst>
              <a:ext uri="{FF2B5EF4-FFF2-40B4-BE49-F238E27FC236}">
                <a16:creationId xmlns:a16="http://schemas.microsoft.com/office/drawing/2014/main" id="{3F0C5C54-AD3C-45ED-81FB-66E412E07D67}"/>
              </a:ext>
            </a:extLst>
          </p:cNvPr>
          <p:cNvSpPr/>
          <p:nvPr/>
        </p:nvSpPr>
        <p:spPr>
          <a:xfrm>
            <a:off x="7990411" y="3191101"/>
            <a:ext cx="1937961" cy="1483216"/>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lgn="ctr"/>
            <a:endParaRPr lang="en-IN" sz="1050" b="1" dirty="0">
              <a:solidFill>
                <a:srgbClr val="D61D1D"/>
              </a:solidFill>
            </a:endParaRPr>
          </a:p>
          <a:p>
            <a:pPr marL="60325" algn="ctr"/>
            <a:r>
              <a:rPr lang="en-IN" sz="1600" b="1" dirty="0">
                <a:solidFill>
                  <a:srgbClr val="D61D1D"/>
                </a:solidFill>
              </a:rPr>
              <a:t>Morning-ready</a:t>
            </a:r>
            <a:endParaRPr lang="en-IN" sz="800" b="1" dirty="0">
              <a:solidFill>
                <a:srgbClr val="D61D1D"/>
              </a:solidFill>
            </a:endParaRPr>
          </a:p>
        </p:txBody>
      </p:sp>
      <p:sp>
        <p:nvSpPr>
          <p:cNvPr id="195" name="Rectangle 194">
            <a:extLst>
              <a:ext uri="{FF2B5EF4-FFF2-40B4-BE49-F238E27FC236}">
                <a16:creationId xmlns:a16="http://schemas.microsoft.com/office/drawing/2014/main" id="{E773224B-1AD4-4794-9B8B-E20ECA76EDCC}"/>
              </a:ext>
            </a:extLst>
          </p:cNvPr>
          <p:cNvSpPr/>
          <p:nvPr/>
        </p:nvSpPr>
        <p:spPr>
          <a:xfrm>
            <a:off x="9948601" y="3197638"/>
            <a:ext cx="1937961" cy="1483216"/>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lgn="ctr"/>
            <a:endParaRPr lang="en-IN" sz="1050" b="1" dirty="0">
              <a:solidFill>
                <a:srgbClr val="D61D1D"/>
              </a:solidFill>
            </a:endParaRPr>
          </a:p>
          <a:p>
            <a:pPr marL="60325" algn="ctr"/>
            <a:r>
              <a:rPr lang="en-IN" sz="1600" b="1" dirty="0">
                <a:solidFill>
                  <a:srgbClr val="D61D1D"/>
                </a:solidFill>
              </a:rPr>
              <a:t>Emergency support</a:t>
            </a:r>
            <a:endParaRPr lang="en-IN" sz="800" b="1" dirty="0">
              <a:solidFill>
                <a:srgbClr val="D61D1D"/>
              </a:solidFill>
            </a:endParaRPr>
          </a:p>
        </p:txBody>
      </p:sp>
      <p:sp>
        <p:nvSpPr>
          <p:cNvPr id="196" name="Rectangle 195">
            <a:extLst>
              <a:ext uri="{FF2B5EF4-FFF2-40B4-BE49-F238E27FC236}">
                <a16:creationId xmlns:a16="http://schemas.microsoft.com/office/drawing/2014/main" id="{1E6A49A9-AA9F-4F1E-A5C6-DB28BFAF3FFD}"/>
              </a:ext>
            </a:extLst>
          </p:cNvPr>
          <p:cNvSpPr/>
          <p:nvPr/>
        </p:nvSpPr>
        <p:spPr>
          <a:xfrm>
            <a:off x="7990411" y="4695601"/>
            <a:ext cx="1937961" cy="1483216"/>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lgn="ctr"/>
            <a:endParaRPr lang="en-IN" sz="1050" b="1" dirty="0">
              <a:solidFill>
                <a:srgbClr val="D61D1D"/>
              </a:solidFill>
            </a:endParaRPr>
          </a:p>
          <a:p>
            <a:pPr marL="60325" algn="ctr"/>
            <a:r>
              <a:rPr lang="en-IN" sz="1600" b="1" dirty="0">
                <a:solidFill>
                  <a:srgbClr val="D61D1D"/>
                </a:solidFill>
              </a:rPr>
              <a:t>Rating mechanism</a:t>
            </a:r>
          </a:p>
          <a:p>
            <a:pPr marL="60325" algn="ctr"/>
            <a:endParaRPr lang="en-IN" sz="1600" b="1" dirty="0">
              <a:solidFill>
                <a:srgbClr val="D61D1D"/>
              </a:solidFill>
            </a:endParaRPr>
          </a:p>
        </p:txBody>
      </p:sp>
      <p:sp>
        <p:nvSpPr>
          <p:cNvPr id="197" name="Rectangle 196">
            <a:extLst>
              <a:ext uri="{FF2B5EF4-FFF2-40B4-BE49-F238E27FC236}">
                <a16:creationId xmlns:a16="http://schemas.microsoft.com/office/drawing/2014/main" id="{2FE4E0E7-EA4C-453E-9117-E6A973EA98CB}"/>
              </a:ext>
            </a:extLst>
          </p:cNvPr>
          <p:cNvSpPr/>
          <p:nvPr/>
        </p:nvSpPr>
        <p:spPr>
          <a:xfrm>
            <a:off x="9948601" y="4702138"/>
            <a:ext cx="1937961" cy="1483216"/>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lgn="ctr"/>
            <a:endParaRPr lang="en-IN" sz="1050" b="1" dirty="0">
              <a:solidFill>
                <a:srgbClr val="D61D1D"/>
              </a:solidFill>
            </a:endParaRPr>
          </a:p>
          <a:p>
            <a:pPr marL="60325" algn="ctr"/>
            <a:r>
              <a:rPr lang="en-IN" sz="1600" b="1" dirty="0">
                <a:solidFill>
                  <a:srgbClr val="D61D1D"/>
                </a:solidFill>
              </a:rPr>
              <a:t>Live service tracker</a:t>
            </a:r>
            <a:endParaRPr lang="en-IN" sz="800" b="1" dirty="0">
              <a:solidFill>
                <a:srgbClr val="D61D1D"/>
              </a:solidFill>
            </a:endParaRPr>
          </a:p>
        </p:txBody>
      </p:sp>
      <p:grpSp>
        <p:nvGrpSpPr>
          <p:cNvPr id="72" name="Group 71">
            <a:extLst>
              <a:ext uri="{FF2B5EF4-FFF2-40B4-BE49-F238E27FC236}">
                <a16:creationId xmlns:a16="http://schemas.microsoft.com/office/drawing/2014/main" id="{6B1489C2-2DAE-4C41-8233-B02A47A29980}"/>
              </a:ext>
            </a:extLst>
          </p:cNvPr>
          <p:cNvGrpSpPr/>
          <p:nvPr/>
        </p:nvGrpSpPr>
        <p:grpSpPr>
          <a:xfrm>
            <a:off x="3805399" y="5832578"/>
            <a:ext cx="4018893" cy="638344"/>
            <a:chOff x="3805403" y="2609519"/>
            <a:chExt cx="4018893" cy="638344"/>
          </a:xfrm>
        </p:grpSpPr>
        <p:sp>
          <p:nvSpPr>
            <p:cNvPr id="73" name="Rectangle 72">
              <a:extLst>
                <a:ext uri="{FF2B5EF4-FFF2-40B4-BE49-F238E27FC236}">
                  <a16:creationId xmlns:a16="http://schemas.microsoft.com/office/drawing/2014/main" id="{83944A04-6216-4E76-9BAC-F3709409885C}"/>
                </a:ext>
              </a:extLst>
            </p:cNvPr>
            <p:cNvSpPr/>
            <p:nvPr/>
          </p:nvSpPr>
          <p:spPr>
            <a:xfrm>
              <a:off x="3805403" y="2609519"/>
              <a:ext cx="4018893" cy="638344"/>
            </a:xfrm>
            <a:prstGeom prst="rect">
              <a:avLst/>
            </a:prstGeom>
            <a:solidFill>
              <a:schemeClr val="accent3">
                <a:lumMod val="20000"/>
                <a:lumOff val="80000"/>
              </a:schemeClr>
            </a:solid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90000" rIns="91440" rtlCol="0" anchor="t"/>
            <a:lstStyle/>
            <a:p>
              <a:pPr marL="60325"/>
              <a:endParaRPr lang="en-IN" sz="1200" dirty="0">
                <a:solidFill>
                  <a:schemeClr val="tx1"/>
                </a:solidFill>
              </a:endParaRPr>
            </a:p>
            <a:p>
              <a:pPr marL="60325"/>
              <a:r>
                <a:rPr lang="en-IN" sz="1200" dirty="0">
                  <a:solidFill>
                    <a:schemeClr val="tx1"/>
                  </a:solidFill>
                </a:rPr>
                <a:t>On-call fuel delivery in emergency cases</a:t>
              </a:r>
            </a:p>
            <a:p>
              <a:pPr marL="60325"/>
              <a:r>
                <a:rPr lang="en-IN" sz="1200" dirty="0">
                  <a:solidFill>
                    <a:schemeClr val="tx1"/>
                  </a:solidFill>
                </a:rPr>
                <a:t>Refuelling options while servicing</a:t>
              </a:r>
            </a:p>
          </p:txBody>
        </p:sp>
        <p:sp>
          <p:nvSpPr>
            <p:cNvPr id="74" name="Rectangle 73">
              <a:extLst>
                <a:ext uri="{FF2B5EF4-FFF2-40B4-BE49-F238E27FC236}">
                  <a16:creationId xmlns:a16="http://schemas.microsoft.com/office/drawing/2014/main" id="{82A64AE0-3E95-402C-B2E9-45D12F7885E1}"/>
                </a:ext>
              </a:extLst>
            </p:cNvPr>
            <p:cNvSpPr/>
            <p:nvPr/>
          </p:nvSpPr>
          <p:spPr>
            <a:xfrm>
              <a:off x="4696600" y="2634313"/>
              <a:ext cx="3010538" cy="16385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0000" tIns="0" rIns="91440" rtlCol="0" anchor="t"/>
            <a:lstStyle/>
            <a:p>
              <a:pPr marL="60325"/>
              <a:r>
                <a:rPr lang="en-IN" sz="1400" b="1" dirty="0">
                  <a:solidFill>
                    <a:srgbClr val="D61D1D"/>
                  </a:solidFill>
                </a:rPr>
                <a:t>Fuel delivery</a:t>
              </a:r>
              <a:endParaRPr lang="en-IN" sz="1200" b="1" dirty="0">
                <a:solidFill>
                  <a:srgbClr val="D61D1D"/>
                </a:solidFill>
              </a:endParaRPr>
            </a:p>
          </p:txBody>
        </p:sp>
      </p:grpSp>
      <p:pic>
        <p:nvPicPr>
          <p:cNvPr id="1026" name="Picture 2">
            <a:extLst>
              <a:ext uri="{FF2B5EF4-FFF2-40B4-BE49-F238E27FC236}">
                <a16:creationId xmlns:a16="http://schemas.microsoft.com/office/drawing/2014/main" id="{93AC34C8-ABD6-4744-8248-E9216DF13715}"/>
              </a:ext>
            </a:extLst>
          </p:cNvPr>
          <p:cNvPicPr>
            <a:picLocks noChangeAspect="1" noChangeArrowheads="1"/>
          </p:cNvPicPr>
          <p:nvPr/>
        </p:nvPicPr>
        <p:blipFill rotWithShape="1">
          <a:blip r:embed="rId15">
            <a:extLst>
              <a:ext uri="{BEBA8EAE-BF5A-486C-A8C5-ECC9F3942E4B}">
                <a14:imgProps xmlns:a14="http://schemas.microsoft.com/office/drawing/2010/main">
                  <a14:imgLayer r:embed="rId16">
                    <a14:imgEffect>
                      <a14:brightnessContrast bright="-40000" contrast="-40000"/>
                    </a14:imgEffect>
                  </a14:imgLayer>
                </a14:imgProps>
              </a:ext>
              <a:ext uri="{28A0092B-C50C-407E-A947-70E740481C1C}">
                <a14:useLocalDpi xmlns:a14="http://schemas.microsoft.com/office/drawing/2010/main" val="0"/>
              </a:ext>
            </a:extLst>
          </a:blip>
          <a:srcRect l="6916" t="7527" r="6465" b="7908"/>
          <a:stretch/>
        </p:blipFill>
        <p:spPr bwMode="auto">
          <a:xfrm>
            <a:off x="8459395" y="3617315"/>
            <a:ext cx="1032499" cy="100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69C44F6-0738-45EC-907F-296CF0C53B74}"/>
              </a:ext>
            </a:extLst>
          </p:cNvPr>
          <p:cNvPicPr>
            <a:picLocks noChangeAspect="1" noChangeArrowheads="1"/>
          </p:cNvPicPr>
          <p:nvPr/>
        </p:nvPicPr>
        <p:blipFill>
          <a:blip r:embed="rId17">
            <a:duotone>
              <a:prstClr val="black"/>
              <a:schemeClr val="accent5">
                <a:tint val="45000"/>
                <a:satMod val="400000"/>
              </a:schemeClr>
            </a:duotone>
            <a:extLst>
              <a:ext uri="{BEBA8EAE-BF5A-486C-A8C5-ECC9F3942E4B}">
                <a14:imgProps xmlns:a14="http://schemas.microsoft.com/office/drawing/2010/main">
                  <a14:imgLayer r:embed="rId18">
                    <a14:imgEffect>
                      <a14:backgroundRemoval t="3667" b="95833" l="10000" r="90000">
                        <a14:foregroundMark x1="23556" y1="60000" x2="32556" y2="81000"/>
                        <a14:foregroundMark x1="44111" y1="4167" x2="54444" y2="3833"/>
                        <a14:foregroundMark x1="37444" y1="92167" x2="54000" y2="95833"/>
                        <a14:foregroundMark x1="58556" y1="60667" x2="44333" y2="62833"/>
                        <a14:foregroundMark x1="48556" y1="50500" x2="48556" y2="50500"/>
                      </a14:backgroundRemoval>
                    </a14:imgEffect>
                    <a14:imgEffect>
                      <a14:colorTemperature colorTemp="3773"/>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204163" y="3618318"/>
            <a:ext cx="1512000" cy="1008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342B25E-8F58-45EC-84AE-30FDAAB7BC67}"/>
              </a:ext>
            </a:extLst>
          </p:cNvPr>
          <p:cNvPicPr>
            <a:picLocks noChangeAspect="1" noChangeArrowheads="1"/>
          </p:cNvPicPr>
          <p:nvPr/>
        </p:nvPicPr>
        <p:blipFill>
          <a:blip r:embed="rId19">
            <a:extLst>
              <a:ext uri="{BEBA8EAE-BF5A-486C-A8C5-ECC9F3942E4B}">
                <a14:imgProps xmlns:a14="http://schemas.microsoft.com/office/drawing/2010/main">
                  <a14:imgLayer r:embed="rId20">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454919" y="5090910"/>
            <a:ext cx="1008000" cy="1008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CB9BE9D-60AF-4B6A-B0A7-2DFC14352687}"/>
              </a:ext>
            </a:extLst>
          </p:cNvPr>
          <p:cNvPicPr>
            <a:picLocks noChangeAspect="1" noChangeArrowheads="1"/>
          </p:cNvPicPr>
          <p:nvPr/>
        </p:nvPicPr>
        <p:blipFill>
          <a:blip r:embed="rId21">
            <a:duotone>
              <a:prstClr val="black"/>
              <a:schemeClr val="accent5">
                <a:tint val="45000"/>
                <a:satMod val="400000"/>
              </a:schemeClr>
            </a:duotone>
            <a:extLst>
              <a:ext uri="{BEBA8EAE-BF5A-486C-A8C5-ECC9F3942E4B}">
                <a14:imgProps xmlns:a14="http://schemas.microsoft.com/office/drawing/2010/main">
                  <a14:imgLayer r:embed="rId22">
                    <a14:imgEffect>
                      <a14:backgroundRemoval t="9537" b="96049" l="4756" r="93780">
                        <a14:foregroundMark x1="39512" y1="36512" x2="48537" y2="46594"/>
                        <a14:foregroundMark x1="42927" y1="11717" x2="59634" y2="9537"/>
                        <a14:foregroundMark x1="10854" y1="89510" x2="10854" y2="89510"/>
                        <a14:foregroundMark x1="7927" y1="92371" x2="7927" y2="92371"/>
                        <a14:foregroundMark x1="31951" y1="87602" x2="31951" y2="87602"/>
                        <a14:foregroundMark x1="52805" y1="91417" x2="52805" y2="91417"/>
                        <a14:foregroundMark x1="71707" y1="91417" x2="71707" y2="91417"/>
                        <a14:foregroundMark x1="88902" y1="89237" x2="88902" y2="89237"/>
                        <a14:foregroundMark x1="94024" y1="88283" x2="94024" y2="88283"/>
                        <a14:foregroundMark x1="4878" y1="87330" x2="4878" y2="87330"/>
                        <a14:foregroundMark x1="64634" y1="24251" x2="64634" y2="24251"/>
                        <a14:foregroundMark x1="72317" y1="18665" x2="62927" y2="32153"/>
                        <a14:foregroundMark x1="7927" y1="92643" x2="5976" y2="96049"/>
                      </a14:backgroundRemoval>
                    </a14:imgEffect>
                  </a14:imgLayer>
                </a14:imgProps>
              </a:ext>
              <a:ext uri="{28A0092B-C50C-407E-A947-70E740481C1C}">
                <a14:useLocalDpi xmlns:a14="http://schemas.microsoft.com/office/drawing/2010/main" val="0"/>
              </a:ext>
            </a:extLst>
          </a:blip>
          <a:srcRect/>
          <a:stretch>
            <a:fillRect/>
          </a:stretch>
        </p:blipFill>
        <p:spPr bwMode="auto">
          <a:xfrm>
            <a:off x="8412610" y="5094239"/>
            <a:ext cx="1126067" cy="10080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8F6A9328-BCCE-4C18-99D2-943BE22BEB9A}"/>
              </a:ext>
            </a:extLst>
          </p:cNvPr>
          <p:cNvPicPr>
            <a:picLocks noChangeAspect="1" noChangeArrowheads="1"/>
          </p:cNvPicPr>
          <p:nvPr/>
        </p:nvPicPr>
        <p:blipFill>
          <a:blip r:embed="rId23">
            <a:extLst>
              <a:ext uri="{BEBA8EAE-BF5A-486C-A8C5-ECC9F3942E4B}">
                <a14:imgProps xmlns:a14="http://schemas.microsoft.com/office/drawing/2010/main">
                  <a14:imgLayer r:embed="rId24">
                    <a14:imgEffect>
                      <a14:backgroundRemoval t="10000" b="90000" l="10000" r="90000">
                        <a14:foregroundMark x1="28794" y1="43713" x2="29167" y2="44635"/>
                        <a14:foregroundMark x1="25000" y1="34335" x2="26098" y2="37050"/>
                        <a14:foregroundMark x1="41667" y1="36481" x2="46908" y2="33704"/>
                        <a14:foregroundMark x1="35185" y1="66094" x2="37037" y2="70386"/>
                        <a14:foregroundMark x1="70833" y1="68240" x2="68519" y2="71674"/>
                        <a14:foregroundMark x1="26852" y1="42489" x2="27778" y2="43777"/>
                        <a14:foregroundMark x1="25926" y1="41631" x2="28704" y2="43777"/>
                        <a14:foregroundMark x1="48148" y1="41202" x2="50926" y2="37768"/>
                        <a14:foregroundMark x1="50000" y1="35622" x2="50000" y2="37339"/>
                        <a14:foregroundMark x1="50000" y1="33047" x2="50000" y2="35622"/>
                        <a14:foregroundMark x1="46296" y1="43348" x2="49074" y2="39914"/>
                        <a14:backgroundMark x1="50000" y1="31330" x2="52411" y2="31330"/>
                        <a14:backgroundMark x1="49075" y1="33047" x2="50000" y2="32189"/>
                        <a14:backgroundMark x1="27315" y1="36910" x2="27752" y2="40148"/>
                      </a14:backgroundRemoval>
                    </a14:imgEffect>
                  </a14:imgLayer>
                </a14:imgProps>
              </a:ext>
              <a:ext uri="{28A0092B-C50C-407E-A947-70E740481C1C}">
                <a14:useLocalDpi xmlns:a14="http://schemas.microsoft.com/office/drawing/2010/main" val="0"/>
              </a:ext>
            </a:extLst>
          </a:blip>
          <a:srcRect/>
          <a:stretch>
            <a:fillRect/>
          </a:stretch>
        </p:blipFill>
        <p:spPr bwMode="auto">
          <a:xfrm>
            <a:off x="3848686" y="3793101"/>
            <a:ext cx="928449" cy="100152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a:extLst>
              <a:ext uri="{FF2B5EF4-FFF2-40B4-BE49-F238E27FC236}">
                <a16:creationId xmlns:a16="http://schemas.microsoft.com/office/drawing/2014/main" id="{12230F1D-ABA8-4B0B-B4EB-B547A42C50A9}"/>
              </a:ext>
            </a:extLst>
          </p:cNvPr>
          <p:cNvPicPr>
            <a:picLocks noChangeAspect="1" noChangeArrowheads="1"/>
          </p:cNvPicPr>
          <p:nvPr/>
        </p:nvPicPr>
        <p:blipFill>
          <a:blip r:embed="rId25">
            <a:extLst>
              <a:ext uri="{BEBA8EAE-BF5A-486C-A8C5-ECC9F3942E4B}">
                <a14:imgProps xmlns:a14="http://schemas.microsoft.com/office/drawing/2010/main">
                  <a14:imgLayer r:embed="rId2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971517" y="5825368"/>
            <a:ext cx="630001" cy="63000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5247A79E-078B-40F1-A3CD-C55A318C8FBB}"/>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94314" y="4411834"/>
            <a:ext cx="838550" cy="838550"/>
          </a:xfrm>
          <a:prstGeom prst="rect">
            <a:avLst/>
          </a:prstGeom>
          <a:noFill/>
          <a:extLst>
            <a:ext uri="{909E8E84-426E-40DD-AFC4-6F175D3DCCD1}">
              <a14:hiddenFill xmlns:a14="http://schemas.microsoft.com/office/drawing/2010/main">
                <a:solidFill>
                  <a:srgbClr val="FFFFFF"/>
                </a:solidFill>
              </a14:hiddenFill>
            </a:ext>
          </a:extLst>
        </p:spPr>
      </p:pic>
      <p:pic>
        <p:nvPicPr>
          <p:cNvPr id="89" name="Graphic 88" descr="Marker">
            <a:extLst>
              <a:ext uri="{FF2B5EF4-FFF2-40B4-BE49-F238E27FC236}">
                <a16:creationId xmlns:a16="http://schemas.microsoft.com/office/drawing/2014/main" id="{FA72596B-471A-4854-90B1-8983ED33716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5801" y="4229752"/>
            <a:ext cx="360000" cy="360000"/>
          </a:xfrm>
          <a:prstGeom prst="rect">
            <a:avLst/>
          </a:prstGeom>
        </p:spPr>
      </p:pic>
      <p:sp>
        <p:nvSpPr>
          <p:cNvPr id="5" name="Rectangle: Top Corners Rounded 4">
            <a:extLst>
              <a:ext uri="{FF2B5EF4-FFF2-40B4-BE49-F238E27FC236}">
                <a16:creationId xmlns:a16="http://schemas.microsoft.com/office/drawing/2014/main" id="{72FD3849-45D9-40DE-8830-7CF33583ECD9}"/>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8" name="Rectangle: Top Corners Rounded 7">
            <a:extLst>
              <a:ext uri="{FF2B5EF4-FFF2-40B4-BE49-F238E27FC236}">
                <a16:creationId xmlns:a16="http://schemas.microsoft.com/office/drawing/2014/main" id="{4BF7C486-6AA8-49D1-B519-9BDF3D75D4C4}"/>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2" name="Rectangle: Top Corners Rounded 11">
            <a:extLst>
              <a:ext uri="{FF2B5EF4-FFF2-40B4-BE49-F238E27FC236}">
                <a16:creationId xmlns:a16="http://schemas.microsoft.com/office/drawing/2014/main" id="{5EDC712A-9D18-4BC5-946E-AF871BCD8B50}"/>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4" name="Rectangle: Top Corners Rounded 13">
            <a:extLst>
              <a:ext uri="{FF2B5EF4-FFF2-40B4-BE49-F238E27FC236}">
                <a16:creationId xmlns:a16="http://schemas.microsoft.com/office/drawing/2014/main" id="{F6CAA217-E5C6-4921-9021-490C1406D0C7}"/>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6" name="Arrow: Chevron 15">
            <a:extLst>
              <a:ext uri="{FF2B5EF4-FFF2-40B4-BE49-F238E27FC236}">
                <a16:creationId xmlns:a16="http://schemas.microsoft.com/office/drawing/2014/main" id="{E4568E9B-FE2F-4402-9FC8-C1D7C9DF0D1E}"/>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Arrow: Chevron 17">
            <a:extLst>
              <a:ext uri="{FF2B5EF4-FFF2-40B4-BE49-F238E27FC236}">
                <a16:creationId xmlns:a16="http://schemas.microsoft.com/office/drawing/2014/main" id="{88136C22-36CB-42FE-9F34-DAA5CAE2B83A}"/>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Arrow: Chevron 18">
            <a:extLst>
              <a:ext uri="{FF2B5EF4-FFF2-40B4-BE49-F238E27FC236}">
                <a16:creationId xmlns:a16="http://schemas.microsoft.com/office/drawing/2014/main" id="{7297FEF1-7D7E-42FB-B135-77CB67C5E305}"/>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Rectangle: Top Corners Rounded 19">
            <a:extLst>
              <a:ext uri="{FF2B5EF4-FFF2-40B4-BE49-F238E27FC236}">
                <a16:creationId xmlns:a16="http://schemas.microsoft.com/office/drawing/2014/main" id="{4688DD60-8116-47D3-8947-ECF9DC07664B}"/>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21" name="Rectangle: Top Corners Rounded 20">
            <a:extLst>
              <a:ext uri="{FF2B5EF4-FFF2-40B4-BE49-F238E27FC236}">
                <a16:creationId xmlns:a16="http://schemas.microsoft.com/office/drawing/2014/main" id="{2A44F4FF-92FC-4BE0-9A56-C3106F6E9DAB}"/>
              </a:ext>
            </a:extLst>
          </p:cNvPr>
          <p:cNvSpPr/>
          <p:nvPr/>
        </p:nvSpPr>
        <p:spPr>
          <a:xfrm rot="5400000">
            <a:off x="3783504" y="-495289"/>
            <a:ext cx="180301"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22" name="Rectangle: Top Corners Rounded 21">
            <a:extLst>
              <a:ext uri="{FF2B5EF4-FFF2-40B4-BE49-F238E27FC236}">
                <a16:creationId xmlns:a16="http://schemas.microsoft.com/office/drawing/2014/main" id="{C41D26AB-C93B-4F58-874E-623BE1A7A1D0}"/>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3" name="Rectangle: Top Corners Rounded 22">
            <a:extLst>
              <a:ext uri="{FF2B5EF4-FFF2-40B4-BE49-F238E27FC236}">
                <a16:creationId xmlns:a16="http://schemas.microsoft.com/office/drawing/2014/main" id="{21099EA7-CE22-4C2D-A04E-BA0D2521A8F3}"/>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24" name="Arrow: Chevron 23">
            <a:extLst>
              <a:ext uri="{FF2B5EF4-FFF2-40B4-BE49-F238E27FC236}">
                <a16:creationId xmlns:a16="http://schemas.microsoft.com/office/drawing/2014/main" id="{216093B8-3320-4765-8FD9-3D006526D42D}"/>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5" name="Arrow: Chevron 24">
            <a:extLst>
              <a:ext uri="{FF2B5EF4-FFF2-40B4-BE49-F238E27FC236}">
                <a16:creationId xmlns:a16="http://schemas.microsoft.com/office/drawing/2014/main" id="{B710D5A6-00F7-4BBA-921B-45FA322EB982}"/>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6" name="Arrow: Chevron 25">
            <a:extLst>
              <a:ext uri="{FF2B5EF4-FFF2-40B4-BE49-F238E27FC236}">
                <a16:creationId xmlns:a16="http://schemas.microsoft.com/office/drawing/2014/main" id="{54319EA1-E57D-4926-A6DF-36D12DF89667}"/>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Rectangle: Top Corners Rounded 26">
            <a:extLst>
              <a:ext uri="{FF2B5EF4-FFF2-40B4-BE49-F238E27FC236}">
                <a16:creationId xmlns:a16="http://schemas.microsoft.com/office/drawing/2014/main" id="{B2D95787-8993-4BDA-9222-77E9067655DD}"/>
              </a:ext>
            </a:extLst>
          </p:cNvPr>
          <p:cNvSpPr/>
          <p:nvPr/>
        </p:nvSpPr>
        <p:spPr>
          <a:xfrm rot="5400000">
            <a:off x="6493396" y="-504889"/>
            <a:ext cx="194444" cy="1371600"/>
          </a:xfrm>
          <a:prstGeom prst="round2SameRect">
            <a:avLst>
              <a:gd name="adj1" fmla="val 5000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28" name="Arrow: Chevron 27">
            <a:extLst>
              <a:ext uri="{FF2B5EF4-FFF2-40B4-BE49-F238E27FC236}">
                <a16:creationId xmlns:a16="http://schemas.microsoft.com/office/drawing/2014/main" id="{552D6256-096F-4F06-8FAA-6329FB7CB7C8}"/>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6" name="Arrow: Chevron 125">
            <a:extLst>
              <a:ext uri="{FF2B5EF4-FFF2-40B4-BE49-F238E27FC236}">
                <a16:creationId xmlns:a16="http://schemas.microsoft.com/office/drawing/2014/main" id="{C7048F15-C65D-48F3-B9E2-DEFE3B66DCA8}"/>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3" name="TextBox 92">
            <a:extLst>
              <a:ext uri="{FF2B5EF4-FFF2-40B4-BE49-F238E27FC236}">
                <a16:creationId xmlns:a16="http://schemas.microsoft.com/office/drawing/2014/main" id="{229FDF16-8A21-49E6-AD05-651E1EE119F8}"/>
              </a:ext>
            </a:extLst>
          </p:cNvPr>
          <p:cNvSpPr txBox="1"/>
          <p:nvPr/>
        </p:nvSpPr>
        <p:spPr>
          <a:xfrm>
            <a:off x="11824981" y="6573307"/>
            <a:ext cx="300082" cy="230832"/>
          </a:xfrm>
          <a:prstGeom prst="rect">
            <a:avLst/>
          </a:prstGeom>
          <a:noFill/>
        </p:spPr>
        <p:txBody>
          <a:bodyPr wrap="none" rtlCol="0">
            <a:spAutoFit/>
          </a:bodyPr>
          <a:lstStyle/>
          <a:p>
            <a:r>
              <a:rPr lang="en-GB" sz="900" dirty="0"/>
              <a:t>13</a:t>
            </a:r>
            <a:endParaRPr lang="en-GB" dirty="0"/>
          </a:p>
        </p:txBody>
      </p:sp>
      <p:sp>
        <p:nvSpPr>
          <p:cNvPr id="92" name="TextBox 91">
            <a:extLst>
              <a:ext uri="{FF2B5EF4-FFF2-40B4-BE49-F238E27FC236}">
                <a16:creationId xmlns:a16="http://schemas.microsoft.com/office/drawing/2014/main" id="{3EB8AD4A-4EAC-4C1B-8436-6ED46CA456E1}"/>
              </a:ext>
            </a:extLst>
          </p:cNvPr>
          <p:cNvSpPr txBox="1"/>
          <p:nvPr/>
        </p:nvSpPr>
        <p:spPr>
          <a:xfrm>
            <a:off x="2" y="6519445"/>
            <a:ext cx="5734192" cy="338554"/>
          </a:xfrm>
          <a:prstGeom prst="rect">
            <a:avLst/>
          </a:prstGeom>
          <a:noFill/>
        </p:spPr>
        <p:txBody>
          <a:bodyPr wrap="square" rtlCol="0">
            <a:spAutoFit/>
          </a:bodyPr>
          <a:lstStyle/>
          <a:p>
            <a:endParaRPr lang="en-GB" sz="800" i="1" dirty="0"/>
          </a:p>
          <a:p>
            <a:r>
              <a:rPr lang="en-GB" sz="800" i="1" dirty="0"/>
              <a:t>Sources: MICA Market Intelligence, Internal analysis</a:t>
            </a:r>
          </a:p>
        </p:txBody>
      </p:sp>
      <p:sp>
        <p:nvSpPr>
          <p:cNvPr id="96" name="TextBox 95">
            <a:extLst>
              <a:ext uri="{FF2B5EF4-FFF2-40B4-BE49-F238E27FC236}">
                <a16:creationId xmlns:a16="http://schemas.microsoft.com/office/drawing/2014/main" id="{52059897-D5E9-4B8E-9847-D300F13B1D19}"/>
              </a:ext>
            </a:extLst>
          </p:cNvPr>
          <p:cNvSpPr txBox="1"/>
          <p:nvPr/>
        </p:nvSpPr>
        <p:spPr>
          <a:xfrm>
            <a:off x="85105" y="817880"/>
            <a:ext cx="4516413" cy="338554"/>
          </a:xfrm>
          <a:prstGeom prst="rect">
            <a:avLst/>
          </a:prstGeom>
          <a:noFill/>
        </p:spPr>
        <p:txBody>
          <a:bodyPr wrap="square" rtlCol="0">
            <a:spAutoFit/>
          </a:bodyPr>
          <a:lstStyle/>
          <a:p>
            <a:r>
              <a:rPr lang="en-GB" sz="1600" b="1" dirty="0"/>
              <a:t>Ramp-up plan and Alternate sources of revenue</a:t>
            </a:r>
          </a:p>
        </p:txBody>
      </p:sp>
      <p:sp>
        <p:nvSpPr>
          <p:cNvPr id="98" name="Rectangle 97">
            <a:extLst>
              <a:ext uri="{FF2B5EF4-FFF2-40B4-BE49-F238E27FC236}">
                <a16:creationId xmlns:a16="http://schemas.microsoft.com/office/drawing/2014/main" id="{D738330E-03FB-41A9-83C0-1229EE8243A2}"/>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Scaling up opportunities are huge in India, with alternate offerings necessary due to booming competition</a:t>
            </a:r>
          </a:p>
        </p:txBody>
      </p:sp>
    </p:spTree>
    <p:extLst>
      <p:ext uri="{BB962C8B-B14F-4D97-AF65-F5344CB8AC3E}">
        <p14:creationId xmlns:p14="http://schemas.microsoft.com/office/powerpoint/2010/main" val="2168808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oup 80">
            <a:extLst>
              <a:ext uri="{FF2B5EF4-FFF2-40B4-BE49-F238E27FC236}">
                <a16:creationId xmlns:a16="http://schemas.microsoft.com/office/drawing/2014/main" id="{908D5CA0-1AD1-4926-82E2-26779593BB7B}"/>
              </a:ext>
            </a:extLst>
          </p:cNvPr>
          <p:cNvGrpSpPr/>
          <p:nvPr/>
        </p:nvGrpSpPr>
        <p:grpSpPr>
          <a:xfrm>
            <a:off x="65515" y="52817"/>
            <a:ext cx="307865" cy="238659"/>
            <a:chOff x="12605240" y="-37073"/>
            <a:chExt cx="6681054" cy="5179185"/>
          </a:xfrm>
          <a:solidFill>
            <a:srgbClr val="00162F"/>
          </a:solidFill>
        </p:grpSpPr>
        <p:sp>
          <p:nvSpPr>
            <p:cNvPr id="82" name="Rectangle 81">
              <a:extLst>
                <a:ext uri="{FF2B5EF4-FFF2-40B4-BE49-F238E27FC236}">
                  <a16:creationId xmlns:a16="http://schemas.microsoft.com/office/drawing/2014/main" id="{CA677C91-84C0-4B24-B8D4-6B1F0CEA900B}"/>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3" name="Rectangle 82">
              <a:extLst>
                <a:ext uri="{FF2B5EF4-FFF2-40B4-BE49-F238E27FC236}">
                  <a16:creationId xmlns:a16="http://schemas.microsoft.com/office/drawing/2014/main" id="{BF18B171-20E6-4AD7-9FCA-5AC4EEEA8C3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4" name="Rectangle 83">
              <a:extLst>
                <a:ext uri="{FF2B5EF4-FFF2-40B4-BE49-F238E27FC236}">
                  <a16:creationId xmlns:a16="http://schemas.microsoft.com/office/drawing/2014/main" id="{AB03435E-1733-4FF8-AE8A-F35321450A72}"/>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5" name="Rectangle 84">
              <a:extLst>
                <a:ext uri="{FF2B5EF4-FFF2-40B4-BE49-F238E27FC236}">
                  <a16:creationId xmlns:a16="http://schemas.microsoft.com/office/drawing/2014/main" id="{C4540C3A-6A1D-4640-B7AD-B8BB21875B2E}"/>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86" name="Rectangle 85">
              <a:extLst>
                <a:ext uri="{FF2B5EF4-FFF2-40B4-BE49-F238E27FC236}">
                  <a16:creationId xmlns:a16="http://schemas.microsoft.com/office/drawing/2014/main" id="{D2B171B4-11EA-4127-AF6A-1E2BB2C3882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7" name="Rectangle 126">
              <a:extLst>
                <a:ext uri="{FF2B5EF4-FFF2-40B4-BE49-F238E27FC236}">
                  <a16:creationId xmlns:a16="http://schemas.microsoft.com/office/drawing/2014/main" id="{A629DE1D-0C43-40A1-982A-74521EB62C4C}"/>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29" name="Rectangle 128">
              <a:extLst>
                <a:ext uri="{FF2B5EF4-FFF2-40B4-BE49-F238E27FC236}">
                  <a16:creationId xmlns:a16="http://schemas.microsoft.com/office/drawing/2014/main" id="{A2DE618F-E5DD-4ADC-84C2-0C486480B48E}"/>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130" name="Isosceles Triangle 129">
              <a:extLst>
                <a:ext uri="{FF2B5EF4-FFF2-40B4-BE49-F238E27FC236}">
                  <a16:creationId xmlns:a16="http://schemas.microsoft.com/office/drawing/2014/main" id="{79A7E8E0-75A1-4C0E-A2C6-4BFFC2D2AF9F}"/>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5" name="Rectangle: Top Corners Rounded 4">
            <a:extLst>
              <a:ext uri="{FF2B5EF4-FFF2-40B4-BE49-F238E27FC236}">
                <a16:creationId xmlns:a16="http://schemas.microsoft.com/office/drawing/2014/main" id="{72FD3849-45D9-40DE-8830-7CF33583ECD9}"/>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8" name="Rectangle: Top Corners Rounded 7">
            <a:extLst>
              <a:ext uri="{FF2B5EF4-FFF2-40B4-BE49-F238E27FC236}">
                <a16:creationId xmlns:a16="http://schemas.microsoft.com/office/drawing/2014/main" id="{4BF7C486-6AA8-49D1-B519-9BDF3D75D4C4}"/>
              </a:ext>
            </a:extLst>
          </p:cNvPr>
          <p:cNvSpPr/>
          <p:nvPr/>
        </p:nvSpPr>
        <p:spPr>
          <a:xfrm rot="5400000">
            <a:off x="37764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2" name="Rectangle: Top Corners Rounded 11">
            <a:extLst>
              <a:ext uri="{FF2B5EF4-FFF2-40B4-BE49-F238E27FC236}">
                <a16:creationId xmlns:a16="http://schemas.microsoft.com/office/drawing/2014/main" id="{5EDC712A-9D18-4BC5-946E-AF871BCD8B50}"/>
              </a:ext>
            </a:extLst>
          </p:cNvPr>
          <p:cNvSpPr/>
          <p:nvPr/>
        </p:nvSpPr>
        <p:spPr>
          <a:xfrm rot="5400000">
            <a:off x="2404833" y="-502360"/>
            <a:ext cx="194444" cy="1371600"/>
          </a:xfrm>
          <a:prstGeom prst="round2SameRect">
            <a:avLst>
              <a:gd name="adj1" fmla="val 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4" name="Rectangle: Top Corners Rounded 13">
            <a:extLst>
              <a:ext uri="{FF2B5EF4-FFF2-40B4-BE49-F238E27FC236}">
                <a16:creationId xmlns:a16="http://schemas.microsoft.com/office/drawing/2014/main" id="{F6CAA217-E5C6-4921-9021-490C1406D0C7}"/>
              </a:ext>
            </a:extLst>
          </p:cNvPr>
          <p:cNvSpPr/>
          <p:nvPr/>
        </p:nvSpPr>
        <p:spPr>
          <a:xfrm rot="5400000">
            <a:off x="1033233" y="-502360"/>
            <a:ext cx="194444" cy="1371600"/>
          </a:xfrm>
          <a:prstGeom prst="round2SameRect">
            <a:avLst>
              <a:gd name="adj1" fmla="val 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xx</a:t>
            </a:r>
          </a:p>
        </p:txBody>
      </p:sp>
      <p:sp>
        <p:nvSpPr>
          <p:cNvPr id="16" name="Arrow: Chevron 15">
            <a:extLst>
              <a:ext uri="{FF2B5EF4-FFF2-40B4-BE49-F238E27FC236}">
                <a16:creationId xmlns:a16="http://schemas.microsoft.com/office/drawing/2014/main" id="{E4568E9B-FE2F-4402-9FC8-C1D7C9DF0D1E}"/>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Arrow: Chevron 17">
            <a:extLst>
              <a:ext uri="{FF2B5EF4-FFF2-40B4-BE49-F238E27FC236}">
                <a16:creationId xmlns:a16="http://schemas.microsoft.com/office/drawing/2014/main" id="{88136C22-36CB-42FE-9F34-DAA5CAE2B83A}"/>
              </a:ext>
            </a:extLst>
          </p:cNvPr>
          <p:cNvSpPr/>
          <p:nvPr/>
        </p:nvSpPr>
        <p:spPr>
          <a:xfrm>
            <a:off x="3131873" y="90285"/>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Arrow: Chevron 18">
            <a:extLst>
              <a:ext uri="{FF2B5EF4-FFF2-40B4-BE49-F238E27FC236}">
                <a16:creationId xmlns:a16="http://schemas.microsoft.com/office/drawing/2014/main" id="{7297FEF1-7D7E-42FB-B135-77CB67C5E305}"/>
              </a:ext>
            </a:extLst>
          </p:cNvPr>
          <p:cNvSpPr/>
          <p:nvPr/>
        </p:nvSpPr>
        <p:spPr>
          <a:xfrm>
            <a:off x="4489451" y="91426"/>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Rectangle: Top Corners Rounded 19">
            <a:extLst>
              <a:ext uri="{FF2B5EF4-FFF2-40B4-BE49-F238E27FC236}">
                <a16:creationId xmlns:a16="http://schemas.microsoft.com/office/drawing/2014/main" id="{4688DD60-8116-47D3-8947-ECF9DC07664B}"/>
              </a:ext>
            </a:extLst>
          </p:cNvPr>
          <p:cNvSpPr/>
          <p:nvPr/>
        </p:nvSpPr>
        <p:spPr>
          <a:xfrm rot="5400000">
            <a:off x="5148033" y="-502360"/>
            <a:ext cx="194444" cy="1371600"/>
          </a:xfrm>
          <a:prstGeom prst="round2SameRect">
            <a:avLst>
              <a:gd name="adj1" fmla="val 50000"/>
              <a:gd name="adj2" fmla="val 0"/>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Partnerships</a:t>
            </a:r>
          </a:p>
        </p:txBody>
      </p:sp>
      <p:sp>
        <p:nvSpPr>
          <p:cNvPr id="21" name="Rectangle: Top Corners Rounded 20">
            <a:extLst>
              <a:ext uri="{FF2B5EF4-FFF2-40B4-BE49-F238E27FC236}">
                <a16:creationId xmlns:a16="http://schemas.microsoft.com/office/drawing/2014/main" id="{2A44F4FF-92FC-4BE0-9A56-C3106F6E9DAB}"/>
              </a:ext>
            </a:extLst>
          </p:cNvPr>
          <p:cNvSpPr/>
          <p:nvPr/>
        </p:nvSpPr>
        <p:spPr>
          <a:xfrm rot="5400000">
            <a:off x="3783504" y="-495289"/>
            <a:ext cx="180301"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Branding strategy</a:t>
            </a:r>
          </a:p>
        </p:txBody>
      </p:sp>
      <p:sp>
        <p:nvSpPr>
          <p:cNvPr id="22" name="Rectangle: Top Corners Rounded 21">
            <a:extLst>
              <a:ext uri="{FF2B5EF4-FFF2-40B4-BE49-F238E27FC236}">
                <a16:creationId xmlns:a16="http://schemas.microsoft.com/office/drawing/2014/main" id="{C41D26AB-C93B-4F58-874E-623BE1A7A1D0}"/>
              </a:ext>
            </a:extLst>
          </p:cNvPr>
          <p:cNvSpPr/>
          <p:nvPr/>
        </p:nvSpPr>
        <p:spPr>
          <a:xfrm rot="5400000">
            <a:off x="24048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App strategy</a:t>
            </a:r>
          </a:p>
        </p:txBody>
      </p:sp>
      <p:sp>
        <p:nvSpPr>
          <p:cNvPr id="23" name="Rectangle: Top Corners Rounded 22">
            <a:extLst>
              <a:ext uri="{FF2B5EF4-FFF2-40B4-BE49-F238E27FC236}">
                <a16:creationId xmlns:a16="http://schemas.microsoft.com/office/drawing/2014/main" id="{21099EA7-CE22-4C2D-A04E-BA0D2521A8F3}"/>
              </a:ext>
            </a:extLst>
          </p:cNvPr>
          <p:cNvSpPr/>
          <p:nvPr/>
        </p:nvSpPr>
        <p:spPr>
          <a:xfrm rot="5400000">
            <a:off x="1033233" y="-502360"/>
            <a:ext cx="194444" cy="1371600"/>
          </a:xfrm>
          <a:prstGeom prst="round2SameRect">
            <a:avLst>
              <a:gd name="adj1" fmla="val 0"/>
              <a:gd name="adj2" fmla="val 0"/>
            </a:avLst>
          </a:prstGeom>
          <a:solidFill>
            <a:srgbClr val="BFBFB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Market analysis</a:t>
            </a:r>
          </a:p>
        </p:txBody>
      </p:sp>
      <p:sp>
        <p:nvSpPr>
          <p:cNvPr id="24" name="Arrow: Chevron 23">
            <a:extLst>
              <a:ext uri="{FF2B5EF4-FFF2-40B4-BE49-F238E27FC236}">
                <a16:creationId xmlns:a16="http://schemas.microsoft.com/office/drawing/2014/main" id="{216093B8-3320-4765-8FD9-3D006526D42D}"/>
              </a:ext>
            </a:extLst>
          </p:cNvPr>
          <p:cNvSpPr/>
          <p:nvPr/>
        </p:nvSpPr>
        <p:spPr>
          <a:xfrm>
            <a:off x="1747949" y="89080"/>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5" name="Arrow: Chevron 24">
            <a:extLst>
              <a:ext uri="{FF2B5EF4-FFF2-40B4-BE49-F238E27FC236}">
                <a16:creationId xmlns:a16="http://schemas.microsoft.com/office/drawing/2014/main" id="{B710D5A6-00F7-4BBA-921B-45FA322EB982}"/>
              </a:ext>
            </a:extLst>
          </p:cNvPr>
          <p:cNvSpPr/>
          <p:nvPr/>
        </p:nvSpPr>
        <p:spPr>
          <a:xfrm>
            <a:off x="3133572" y="9342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6" name="Arrow: Chevron 25">
            <a:extLst>
              <a:ext uri="{FF2B5EF4-FFF2-40B4-BE49-F238E27FC236}">
                <a16:creationId xmlns:a16="http://schemas.microsoft.com/office/drawing/2014/main" id="{54319EA1-E57D-4926-A6DF-36D12DF89667}"/>
              </a:ext>
            </a:extLst>
          </p:cNvPr>
          <p:cNvSpPr/>
          <p:nvPr/>
        </p:nvSpPr>
        <p:spPr>
          <a:xfrm>
            <a:off x="4519195" y="97778"/>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Rectangle: Top Corners Rounded 26">
            <a:extLst>
              <a:ext uri="{FF2B5EF4-FFF2-40B4-BE49-F238E27FC236}">
                <a16:creationId xmlns:a16="http://schemas.microsoft.com/office/drawing/2014/main" id="{B2D95787-8993-4BDA-9222-77E9067655DD}"/>
              </a:ext>
            </a:extLst>
          </p:cNvPr>
          <p:cNvSpPr/>
          <p:nvPr/>
        </p:nvSpPr>
        <p:spPr>
          <a:xfrm rot="5400000">
            <a:off x="6493396" y="-504889"/>
            <a:ext cx="194444" cy="1371600"/>
          </a:xfrm>
          <a:prstGeom prst="round2SameRect">
            <a:avLst>
              <a:gd name="adj1" fmla="val 50000"/>
              <a:gd name="adj2" fmla="val 0"/>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900" b="1" dirty="0"/>
              <a:t>Future plans</a:t>
            </a:r>
          </a:p>
        </p:txBody>
      </p:sp>
      <p:sp>
        <p:nvSpPr>
          <p:cNvPr id="28" name="Arrow: Chevron 27">
            <a:extLst>
              <a:ext uri="{FF2B5EF4-FFF2-40B4-BE49-F238E27FC236}">
                <a16:creationId xmlns:a16="http://schemas.microsoft.com/office/drawing/2014/main" id="{552D6256-096F-4F06-8FAA-6329FB7CB7C8}"/>
              </a:ext>
            </a:extLst>
          </p:cNvPr>
          <p:cNvSpPr/>
          <p:nvPr/>
        </p:nvSpPr>
        <p:spPr>
          <a:xfrm>
            <a:off x="5864558" y="95249"/>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6" name="Arrow: Chevron 125">
            <a:extLst>
              <a:ext uri="{FF2B5EF4-FFF2-40B4-BE49-F238E27FC236}">
                <a16:creationId xmlns:a16="http://schemas.microsoft.com/office/drawing/2014/main" id="{C7048F15-C65D-48F3-B9E2-DEFE3B66DCA8}"/>
              </a:ext>
            </a:extLst>
          </p:cNvPr>
          <p:cNvSpPr/>
          <p:nvPr/>
        </p:nvSpPr>
        <p:spPr>
          <a:xfrm>
            <a:off x="7178368" y="87821"/>
            <a:ext cx="164658" cy="191582"/>
          </a:xfrm>
          <a:prstGeom prst="chevron">
            <a:avLst>
              <a:gd name="adj" fmla="val 284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4" name="Trapezoid 33">
            <a:extLst>
              <a:ext uri="{FF2B5EF4-FFF2-40B4-BE49-F238E27FC236}">
                <a16:creationId xmlns:a16="http://schemas.microsoft.com/office/drawing/2014/main" id="{4CA23545-35C0-4B03-A86C-0D20EB77150F}"/>
              </a:ext>
            </a:extLst>
          </p:cNvPr>
          <p:cNvSpPr/>
          <p:nvPr/>
        </p:nvSpPr>
        <p:spPr>
          <a:xfrm rot="5400000">
            <a:off x="7799430" y="5046555"/>
            <a:ext cx="1291887" cy="429040"/>
          </a:xfrm>
          <a:prstGeom prst="trapezoid">
            <a:avLst>
              <a:gd name="adj" fmla="val 10772"/>
            </a:avLst>
          </a:prstGeom>
          <a:gradFill flip="none" rotWithShape="1">
            <a:gsLst>
              <a:gs pos="100000">
                <a:schemeClr val="bg1"/>
              </a:gs>
              <a:gs pos="0">
                <a:schemeClr val="bg1"/>
              </a:gs>
              <a:gs pos="0">
                <a:schemeClr val="accent1">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35" name="Trapezoid 34">
            <a:extLst>
              <a:ext uri="{FF2B5EF4-FFF2-40B4-BE49-F238E27FC236}">
                <a16:creationId xmlns:a16="http://schemas.microsoft.com/office/drawing/2014/main" id="{AA86A4B0-DC17-4081-919A-F6B705413E4B}"/>
              </a:ext>
            </a:extLst>
          </p:cNvPr>
          <p:cNvSpPr/>
          <p:nvPr/>
        </p:nvSpPr>
        <p:spPr>
          <a:xfrm rot="5400000">
            <a:off x="7928194" y="1183912"/>
            <a:ext cx="843683" cy="429040"/>
          </a:xfrm>
          <a:prstGeom prst="trapezoid">
            <a:avLst>
              <a:gd name="adj" fmla="val 10772"/>
            </a:avLst>
          </a:prstGeom>
          <a:gradFill flip="none" rotWithShape="1">
            <a:gsLst>
              <a:gs pos="100000">
                <a:schemeClr val="bg1"/>
              </a:gs>
              <a:gs pos="0">
                <a:schemeClr val="bg1"/>
              </a:gs>
              <a:gs pos="0">
                <a:schemeClr val="accent1">
                  <a:lumMod val="60000"/>
                  <a:lumOff val="4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36" name="Trapezoid 35">
            <a:extLst>
              <a:ext uri="{FF2B5EF4-FFF2-40B4-BE49-F238E27FC236}">
                <a16:creationId xmlns:a16="http://schemas.microsoft.com/office/drawing/2014/main" id="{FFC1D408-63AA-4D27-BA07-315C51543DD5}"/>
              </a:ext>
            </a:extLst>
          </p:cNvPr>
          <p:cNvSpPr/>
          <p:nvPr/>
        </p:nvSpPr>
        <p:spPr>
          <a:xfrm rot="16200000">
            <a:off x="8574254" y="1166471"/>
            <a:ext cx="843681" cy="429040"/>
          </a:xfrm>
          <a:prstGeom prst="trapezoid">
            <a:avLst>
              <a:gd name="adj" fmla="val 10772"/>
            </a:avLst>
          </a:pr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37" name="Trapezoid 36">
            <a:extLst>
              <a:ext uri="{FF2B5EF4-FFF2-40B4-BE49-F238E27FC236}">
                <a16:creationId xmlns:a16="http://schemas.microsoft.com/office/drawing/2014/main" id="{6D381457-F104-4EC6-A77A-AFBF238E7CCF}"/>
              </a:ext>
            </a:extLst>
          </p:cNvPr>
          <p:cNvSpPr/>
          <p:nvPr/>
        </p:nvSpPr>
        <p:spPr>
          <a:xfrm rot="16200000">
            <a:off x="8558222" y="5095037"/>
            <a:ext cx="1406101" cy="429040"/>
          </a:xfrm>
          <a:prstGeom prst="trapezoid">
            <a:avLst>
              <a:gd name="adj" fmla="val 10772"/>
            </a:avLst>
          </a:pr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38" name="Trapezoid 37">
            <a:extLst>
              <a:ext uri="{FF2B5EF4-FFF2-40B4-BE49-F238E27FC236}">
                <a16:creationId xmlns:a16="http://schemas.microsoft.com/office/drawing/2014/main" id="{BC238E8B-8B4A-4B9C-8556-C37074809209}"/>
              </a:ext>
            </a:extLst>
          </p:cNvPr>
          <p:cNvSpPr/>
          <p:nvPr/>
        </p:nvSpPr>
        <p:spPr>
          <a:xfrm rot="5400000">
            <a:off x="8059108" y="2043793"/>
            <a:ext cx="777567" cy="429142"/>
          </a:xfrm>
          <a:prstGeom prst="trapezoid">
            <a:avLst>
              <a:gd name="adj" fmla="val 138634"/>
            </a:avLst>
          </a:prstGeom>
          <a:gradFill flip="none" rotWithShape="1">
            <a:gsLst>
              <a:gs pos="100000">
                <a:schemeClr val="bg1"/>
              </a:gs>
              <a:gs pos="0">
                <a:schemeClr val="bg1"/>
              </a:gs>
              <a:gs pos="0">
                <a:schemeClr val="accent1">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39" name="Trapezoid 38">
            <a:extLst>
              <a:ext uri="{FF2B5EF4-FFF2-40B4-BE49-F238E27FC236}">
                <a16:creationId xmlns:a16="http://schemas.microsoft.com/office/drawing/2014/main" id="{7640EE5C-C254-467E-B804-4AADDBE7A343}"/>
              </a:ext>
            </a:extLst>
          </p:cNvPr>
          <p:cNvSpPr/>
          <p:nvPr/>
        </p:nvSpPr>
        <p:spPr>
          <a:xfrm rot="16200000">
            <a:off x="8775975" y="2079809"/>
            <a:ext cx="927714" cy="381614"/>
          </a:xfrm>
          <a:prstGeom prst="trapezoid">
            <a:avLst>
              <a:gd name="adj" fmla="val 138634"/>
            </a:avLst>
          </a:pr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40" name="Rectangle 39">
            <a:extLst>
              <a:ext uri="{FF2B5EF4-FFF2-40B4-BE49-F238E27FC236}">
                <a16:creationId xmlns:a16="http://schemas.microsoft.com/office/drawing/2014/main" id="{45B36A7B-B5E8-4228-8E48-421C0847A5F3}"/>
              </a:ext>
            </a:extLst>
          </p:cNvPr>
          <p:cNvSpPr/>
          <p:nvPr/>
        </p:nvSpPr>
        <p:spPr>
          <a:xfrm>
            <a:off x="6932517" y="2662922"/>
            <a:ext cx="1309453" cy="915698"/>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tx1"/>
                </a:solidFill>
              </a:rPr>
              <a:t>Partnering with B2B partners for long term contractual agreement</a:t>
            </a:r>
          </a:p>
        </p:txBody>
      </p:sp>
      <p:sp>
        <p:nvSpPr>
          <p:cNvPr id="41" name="Rectangle 40">
            <a:extLst>
              <a:ext uri="{FF2B5EF4-FFF2-40B4-BE49-F238E27FC236}">
                <a16:creationId xmlns:a16="http://schemas.microsoft.com/office/drawing/2014/main" id="{B232173F-51E9-467B-8105-10F8DB139001}"/>
              </a:ext>
            </a:extLst>
          </p:cNvPr>
          <p:cNvSpPr/>
          <p:nvPr/>
        </p:nvSpPr>
        <p:spPr>
          <a:xfrm>
            <a:off x="5803048" y="976590"/>
            <a:ext cx="2331661" cy="843682"/>
          </a:xfrm>
          <a:prstGeom prst="rect">
            <a:avLst/>
          </a:prstGeom>
          <a:solidFill>
            <a:srgbClr val="00162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b="1" dirty="0">
                <a:solidFill>
                  <a:schemeClr val="bg1"/>
                </a:solidFill>
              </a:rPr>
              <a:t>Sources of Funds</a:t>
            </a:r>
          </a:p>
        </p:txBody>
      </p:sp>
      <p:grpSp>
        <p:nvGrpSpPr>
          <p:cNvPr id="42" name="Group 41">
            <a:extLst>
              <a:ext uri="{FF2B5EF4-FFF2-40B4-BE49-F238E27FC236}">
                <a16:creationId xmlns:a16="http://schemas.microsoft.com/office/drawing/2014/main" id="{FF04003C-0AA8-4547-805C-5AEBCA2FA2A3}"/>
              </a:ext>
            </a:extLst>
          </p:cNvPr>
          <p:cNvGrpSpPr/>
          <p:nvPr/>
        </p:nvGrpSpPr>
        <p:grpSpPr>
          <a:xfrm>
            <a:off x="8241970" y="967858"/>
            <a:ext cx="858273" cy="843698"/>
            <a:chOff x="3739551" y="2280920"/>
            <a:chExt cx="1664897" cy="1636624"/>
          </a:xfrm>
        </p:grpSpPr>
        <p:sp>
          <p:nvSpPr>
            <p:cNvPr id="43" name="Isosceles Triangle 42">
              <a:extLst>
                <a:ext uri="{FF2B5EF4-FFF2-40B4-BE49-F238E27FC236}">
                  <a16:creationId xmlns:a16="http://schemas.microsoft.com/office/drawing/2014/main" id="{9E319727-72CB-4775-8302-E81F8E507991}"/>
                </a:ext>
              </a:extLst>
            </p:cNvPr>
            <p:cNvSpPr/>
            <p:nvPr/>
          </p:nvSpPr>
          <p:spPr>
            <a:xfrm rot="16200000">
              <a:off x="3337463" y="2683008"/>
              <a:ext cx="1636624" cy="832448"/>
            </a:xfrm>
            <a:prstGeom prst="triangle">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44" name="Isosceles Triangle 43">
              <a:extLst>
                <a:ext uri="{FF2B5EF4-FFF2-40B4-BE49-F238E27FC236}">
                  <a16:creationId xmlns:a16="http://schemas.microsoft.com/office/drawing/2014/main" id="{DE8C26A9-7E2A-4D4B-8568-75B01702DC47}"/>
                </a:ext>
              </a:extLst>
            </p:cNvPr>
            <p:cNvSpPr/>
            <p:nvPr/>
          </p:nvSpPr>
          <p:spPr>
            <a:xfrm rot="5400000">
              <a:off x="4169912" y="2683008"/>
              <a:ext cx="1636624" cy="832448"/>
            </a:xfrm>
            <a:prstGeom prst="triangle">
              <a:avLst/>
            </a:pr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45" name="Rectangle 44">
              <a:extLst>
                <a:ext uri="{FF2B5EF4-FFF2-40B4-BE49-F238E27FC236}">
                  <a16:creationId xmlns:a16="http://schemas.microsoft.com/office/drawing/2014/main" id="{AADF9B76-9FA1-43AA-9223-1F4845B138F8}"/>
                </a:ext>
              </a:extLst>
            </p:cNvPr>
            <p:cNvSpPr/>
            <p:nvPr/>
          </p:nvSpPr>
          <p:spPr>
            <a:xfrm rot="2700000">
              <a:off x="4115879" y="2649751"/>
              <a:ext cx="914400" cy="9144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grpSp>
      <p:sp>
        <p:nvSpPr>
          <p:cNvPr id="47" name="Rectangle 46">
            <a:extLst>
              <a:ext uri="{FF2B5EF4-FFF2-40B4-BE49-F238E27FC236}">
                <a16:creationId xmlns:a16="http://schemas.microsoft.com/office/drawing/2014/main" id="{E1770CE6-C102-4024-BBED-FCE5E0CDDC8A}"/>
              </a:ext>
            </a:extLst>
          </p:cNvPr>
          <p:cNvSpPr/>
          <p:nvPr/>
        </p:nvSpPr>
        <p:spPr>
          <a:xfrm>
            <a:off x="9211421" y="976590"/>
            <a:ext cx="2331661" cy="843690"/>
          </a:xfrm>
          <a:prstGeom prst="rect">
            <a:avLst/>
          </a:prstGeom>
          <a:solidFill>
            <a:srgbClr val="D6DCE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b="1" dirty="0">
                <a:solidFill>
                  <a:schemeClr val="tx1"/>
                </a:solidFill>
              </a:rPr>
              <a:t>Costs Associated</a:t>
            </a:r>
          </a:p>
        </p:txBody>
      </p:sp>
      <p:sp>
        <p:nvSpPr>
          <p:cNvPr id="48" name="Rectangle 47">
            <a:extLst>
              <a:ext uri="{FF2B5EF4-FFF2-40B4-BE49-F238E27FC236}">
                <a16:creationId xmlns:a16="http://schemas.microsoft.com/office/drawing/2014/main" id="{5F2A5A3E-44E6-4B14-A88C-6019D9D9B223}"/>
              </a:ext>
            </a:extLst>
          </p:cNvPr>
          <p:cNvSpPr/>
          <p:nvPr/>
        </p:nvSpPr>
        <p:spPr>
          <a:xfrm>
            <a:off x="6946955" y="4615131"/>
            <a:ext cx="1293437" cy="1291887"/>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tx1"/>
                </a:solidFill>
              </a:rPr>
              <a:t>Increased reach through new marketing channels and decreased cost due to optimized supply side</a:t>
            </a:r>
          </a:p>
        </p:txBody>
      </p:sp>
      <p:grpSp>
        <p:nvGrpSpPr>
          <p:cNvPr id="49" name="Group 48">
            <a:extLst>
              <a:ext uri="{FF2B5EF4-FFF2-40B4-BE49-F238E27FC236}">
                <a16:creationId xmlns:a16="http://schemas.microsoft.com/office/drawing/2014/main" id="{83213820-C39F-4DF3-8D31-4CF106153C4C}"/>
              </a:ext>
            </a:extLst>
          </p:cNvPr>
          <p:cNvGrpSpPr/>
          <p:nvPr/>
        </p:nvGrpSpPr>
        <p:grpSpPr>
          <a:xfrm>
            <a:off x="8381559" y="4887219"/>
            <a:ext cx="858273" cy="843698"/>
            <a:chOff x="3739551" y="2280920"/>
            <a:chExt cx="1664897" cy="1636624"/>
          </a:xfrm>
        </p:grpSpPr>
        <p:sp>
          <p:nvSpPr>
            <p:cNvPr id="50" name="Isosceles Triangle 49">
              <a:extLst>
                <a:ext uri="{FF2B5EF4-FFF2-40B4-BE49-F238E27FC236}">
                  <a16:creationId xmlns:a16="http://schemas.microsoft.com/office/drawing/2014/main" id="{46EB7A1C-0126-47A0-8728-3C7D04A903F9}"/>
                </a:ext>
              </a:extLst>
            </p:cNvPr>
            <p:cNvSpPr/>
            <p:nvPr/>
          </p:nvSpPr>
          <p:spPr>
            <a:xfrm rot="16200000">
              <a:off x="3337463" y="2683008"/>
              <a:ext cx="1636624" cy="832448"/>
            </a:xfrm>
            <a:prstGeom prst="triangle">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51" name="Isosceles Triangle 50">
              <a:extLst>
                <a:ext uri="{FF2B5EF4-FFF2-40B4-BE49-F238E27FC236}">
                  <a16:creationId xmlns:a16="http://schemas.microsoft.com/office/drawing/2014/main" id="{C71F33C2-DE7A-4580-B459-B5CDBA24C69A}"/>
                </a:ext>
              </a:extLst>
            </p:cNvPr>
            <p:cNvSpPr/>
            <p:nvPr/>
          </p:nvSpPr>
          <p:spPr>
            <a:xfrm rot="5400000">
              <a:off x="4169912" y="2683008"/>
              <a:ext cx="1636624" cy="832448"/>
            </a:xfrm>
            <a:prstGeom prst="triangle">
              <a:avLst/>
            </a:pr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52" name="Rectangle 51">
              <a:extLst>
                <a:ext uri="{FF2B5EF4-FFF2-40B4-BE49-F238E27FC236}">
                  <a16:creationId xmlns:a16="http://schemas.microsoft.com/office/drawing/2014/main" id="{38CB25CD-DF6E-4931-AF18-F71505645C72}"/>
                </a:ext>
              </a:extLst>
            </p:cNvPr>
            <p:cNvSpPr/>
            <p:nvPr/>
          </p:nvSpPr>
          <p:spPr>
            <a:xfrm rot="2700000">
              <a:off x="4115879" y="2649751"/>
              <a:ext cx="914400" cy="9144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grpSp>
      <p:sp>
        <p:nvSpPr>
          <p:cNvPr id="53" name="Rectangle 52">
            <a:extLst>
              <a:ext uri="{FF2B5EF4-FFF2-40B4-BE49-F238E27FC236}">
                <a16:creationId xmlns:a16="http://schemas.microsoft.com/office/drawing/2014/main" id="{5123C142-3918-4F47-9482-767BD5A5E6E8}"/>
              </a:ext>
            </a:extLst>
          </p:cNvPr>
          <p:cNvSpPr/>
          <p:nvPr/>
        </p:nvSpPr>
        <p:spPr>
          <a:xfrm>
            <a:off x="9414781" y="4604663"/>
            <a:ext cx="2027636" cy="1397824"/>
          </a:xfrm>
          <a:prstGeom prst="rect">
            <a:avLst/>
          </a:prstGeom>
          <a:solidFill>
            <a:schemeClr val="accent5">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tx1"/>
                </a:solidFill>
              </a:rPr>
              <a:t>Considerable spend on digital marketing and other channels to promote the service. Promo discounts to attract first time users</a:t>
            </a:r>
          </a:p>
        </p:txBody>
      </p:sp>
      <p:sp>
        <p:nvSpPr>
          <p:cNvPr id="54" name="Rectangle 53">
            <a:extLst>
              <a:ext uri="{FF2B5EF4-FFF2-40B4-BE49-F238E27FC236}">
                <a16:creationId xmlns:a16="http://schemas.microsoft.com/office/drawing/2014/main" id="{FA983EE2-5178-4FC1-9C33-F73BEFFF1C9C}"/>
              </a:ext>
            </a:extLst>
          </p:cNvPr>
          <p:cNvSpPr/>
          <p:nvPr/>
        </p:nvSpPr>
        <p:spPr>
          <a:xfrm>
            <a:off x="5822349" y="4577666"/>
            <a:ext cx="1148599" cy="1331429"/>
          </a:xfrm>
          <a:prstGeom prst="rect">
            <a:avLst/>
          </a:prstGeom>
          <a:solidFill>
            <a:srgbClr val="00162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GB" sz="1400" i="1" dirty="0">
                <a:solidFill>
                  <a:schemeClr val="bg1"/>
                </a:solidFill>
              </a:rPr>
              <a:t>Incremental Revenue</a:t>
            </a:r>
          </a:p>
        </p:txBody>
      </p:sp>
      <p:sp>
        <p:nvSpPr>
          <p:cNvPr id="55" name="Rectangle 54">
            <a:extLst>
              <a:ext uri="{FF2B5EF4-FFF2-40B4-BE49-F238E27FC236}">
                <a16:creationId xmlns:a16="http://schemas.microsoft.com/office/drawing/2014/main" id="{89BD6E4B-1DD3-457F-8966-0AD75B49B1E3}"/>
              </a:ext>
            </a:extLst>
          </p:cNvPr>
          <p:cNvSpPr/>
          <p:nvPr/>
        </p:nvSpPr>
        <p:spPr>
          <a:xfrm>
            <a:off x="9408397" y="3706972"/>
            <a:ext cx="2086406" cy="867451"/>
          </a:xfrm>
          <a:prstGeom prst="rect">
            <a:avLst/>
          </a:prstGeom>
          <a:solidFill>
            <a:schemeClr val="accent5">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dirty="0">
                <a:solidFill>
                  <a:schemeClr val="tx1"/>
                </a:solidFill>
              </a:rPr>
              <a:t>Effort to partner with insurance companies and delivering the message to the consumers</a:t>
            </a:r>
          </a:p>
        </p:txBody>
      </p:sp>
      <p:grpSp>
        <p:nvGrpSpPr>
          <p:cNvPr id="56" name="Group 55">
            <a:extLst>
              <a:ext uri="{FF2B5EF4-FFF2-40B4-BE49-F238E27FC236}">
                <a16:creationId xmlns:a16="http://schemas.microsoft.com/office/drawing/2014/main" id="{89349912-9AD8-452F-A39F-8818B7AA130C}"/>
              </a:ext>
            </a:extLst>
          </p:cNvPr>
          <p:cNvGrpSpPr/>
          <p:nvPr/>
        </p:nvGrpSpPr>
        <p:grpSpPr>
          <a:xfrm>
            <a:off x="8338344" y="2671545"/>
            <a:ext cx="858273" cy="843698"/>
            <a:chOff x="3739551" y="2280920"/>
            <a:chExt cx="1664897" cy="1636624"/>
          </a:xfrm>
        </p:grpSpPr>
        <p:sp>
          <p:nvSpPr>
            <p:cNvPr id="57" name="Isosceles Triangle 56">
              <a:extLst>
                <a:ext uri="{FF2B5EF4-FFF2-40B4-BE49-F238E27FC236}">
                  <a16:creationId xmlns:a16="http://schemas.microsoft.com/office/drawing/2014/main" id="{88DBE5BE-3B3F-4711-881B-BEBBF0E00DB4}"/>
                </a:ext>
              </a:extLst>
            </p:cNvPr>
            <p:cNvSpPr/>
            <p:nvPr/>
          </p:nvSpPr>
          <p:spPr>
            <a:xfrm rot="16200000">
              <a:off x="3337463" y="2683008"/>
              <a:ext cx="1636624" cy="832448"/>
            </a:xfrm>
            <a:prstGeom prst="triangle">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58" name="Isosceles Triangle 57">
              <a:extLst>
                <a:ext uri="{FF2B5EF4-FFF2-40B4-BE49-F238E27FC236}">
                  <a16:creationId xmlns:a16="http://schemas.microsoft.com/office/drawing/2014/main" id="{786E53AB-A9B4-497F-8567-D02C60144866}"/>
                </a:ext>
              </a:extLst>
            </p:cNvPr>
            <p:cNvSpPr/>
            <p:nvPr/>
          </p:nvSpPr>
          <p:spPr>
            <a:xfrm rot="5400000">
              <a:off x="4169912" y="2683008"/>
              <a:ext cx="1636624" cy="832448"/>
            </a:xfrm>
            <a:prstGeom prst="triangle">
              <a:avLst/>
            </a:pr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sp>
          <p:nvSpPr>
            <p:cNvPr id="59" name="Rectangle 58">
              <a:extLst>
                <a:ext uri="{FF2B5EF4-FFF2-40B4-BE49-F238E27FC236}">
                  <a16:creationId xmlns:a16="http://schemas.microsoft.com/office/drawing/2014/main" id="{42E54A28-FBF4-4E76-A9D2-A5EA354F7E39}"/>
                </a:ext>
              </a:extLst>
            </p:cNvPr>
            <p:cNvSpPr/>
            <p:nvPr/>
          </p:nvSpPr>
          <p:spPr>
            <a:xfrm rot="2700000">
              <a:off x="4115879" y="2649751"/>
              <a:ext cx="914400" cy="9144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err="1">
                <a:solidFill>
                  <a:schemeClr val="tx1"/>
                </a:solidFill>
              </a:endParaRPr>
            </a:p>
          </p:txBody>
        </p:sp>
      </p:grpSp>
      <p:sp>
        <p:nvSpPr>
          <p:cNvPr id="60" name="Rectangle 59">
            <a:extLst>
              <a:ext uri="{FF2B5EF4-FFF2-40B4-BE49-F238E27FC236}">
                <a16:creationId xmlns:a16="http://schemas.microsoft.com/office/drawing/2014/main" id="{2A2072A4-4431-4BBB-A0E6-C2BCB691037D}"/>
              </a:ext>
            </a:extLst>
          </p:cNvPr>
          <p:cNvSpPr/>
          <p:nvPr/>
        </p:nvSpPr>
        <p:spPr>
          <a:xfrm>
            <a:off x="5802168" y="1865741"/>
            <a:ext cx="1165226" cy="2688660"/>
          </a:xfrm>
          <a:prstGeom prst="rect">
            <a:avLst/>
          </a:prstGeom>
          <a:solidFill>
            <a:srgbClr val="00162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GB" sz="1400" i="1" dirty="0">
                <a:solidFill>
                  <a:schemeClr val="bg1"/>
                </a:solidFill>
              </a:rPr>
              <a:t>Alternative Sources</a:t>
            </a:r>
          </a:p>
          <a:p>
            <a:pPr algn="ctr"/>
            <a:r>
              <a:rPr lang="en-GB" sz="1400" i="1" dirty="0">
                <a:solidFill>
                  <a:schemeClr val="bg1"/>
                </a:solidFill>
              </a:rPr>
              <a:t>Of Revenue</a:t>
            </a:r>
          </a:p>
        </p:txBody>
      </p:sp>
      <p:sp>
        <p:nvSpPr>
          <p:cNvPr id="61" name="Rectangle 60">
            <a:extLst>
              <a:ext uri="{FF2B5EF4-FFF2-40B4-BE49-F238E27FC236}">
                <a16:creationId xmlns:a16="http://schemas.microsoft.com/office/drawing/2014/main" id="{8065BA1B-3D60-4ED8-AF10-B666273371F0}"/>
              </a:ext>
            </a:extLst>
          </p:cNvPr>
          <p:cNvSpPr/>
          <p:nvPr/>
        </p:nvSpPr>
        <p:spPr>
          <a:xfrm>
            <a:off x="6972555" y="3638703"/>
            <a:ext cx="1267838" cy="915698"/>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tx1"/>
                </a:solidFill>
              </a:rPr>
              <a:t>Partnering with insurance companies for a new proposed offering</a:t>
            </a:r>
          </a:p>
        </p:txBody>
      </p:sp>
      <p:sp>
        <p:nvSpPr>
          <p:cNvPr id="62" name="Rectangle 61">
            <a:extLst>
              <a:ext uri="{FF2B5EF4-FFF2-40B4-BE49-F238E27FC236}">
                <a16:creationId xmlns:a16="http://schemas.microsoft.com/office/drawing/2014/main" id="{5A621EB7-810B-4D49-B21F-A8BD8BB5E96F}"/>
              </a:ext>
            </a:extLst>
          </p:cNvPr>
          <p:cNvSpPr/>
          <p:nvPr/>
        </p:nvSpPr>
        <p:spPr>
          <a:xfrm>
            <a:off x="9400373" y="2752820"/>
            <a:ext cx="2094430" cy="919303"/>
          </a:xfrm>
          <a:prstGeom prst="rect">
            <a:avLst/>
          </a:prstGeom>
          <a:solidFill>
            <a:schemeClr val="accent5">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200" dirty="0">
                <a:solidFill>
                  <a:schemeClr val="tx1"/>
                </a:solidFill>
              </a:rPr>
              <a:t>Setting up a new division to manage the partners. Offering at lower prices based on bulk deals</a:t>
            </a:r>
          </a:p>
        </p:txBody>
      </p:sp>
      <p:sp>
        <p:nvSpPr>
          <p:cNvPr id="63" name="Rectangle 62">
            <a:extLst>
              <a:ext uri="{FF2B5EF4-FFF2-40B4-BE49-F238E27FC236}">
                <a16:creationId xmlns:a16="http://schemas.microsoft.com/office/drawing/2014/main" id="{EFEF9BBA-3E8E-45AD-BB86-C54990B8C4AC}"/>
              </a:ext>
            </a:extLst>
          </p:cNvPr>
          <p:cNvSpPr/>
          <p:nvPr/>
        </p:nvSpPr>
        <p:spPr>
          <a:xfrm>
            <a:off x="9417379" y="1844125"/>
            <a:ext cx="2094430" cy="869081"/>
          </a:xfrm>
          <a:prstGeom prst="rect">
            <a:avLst/>
          </a:prstGeom>
          <a:solidFill>
            <a:schemeClr val="accent5">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dirty="0">
                <a:solidFill>
                  <a:schemeClr val="tx1"/>
                </a:solidFill>
              </a:rPr>
              <a:t> Expertise to set up a new vertical would require new partnerships with garages</a:t>
            </a:r>
          </a:p>
        </p:txBody>
      </p:sp>
      <p:sp>
        <p:nvSpPr>
          <p:cNvPr id="64" name="Rectangle 63">
            <a:extLst>
              <a:ext uri="{FF2B5EF4-FFF2-40B4-BE49-F238E27FC236}">
                <a16:creationId xmlns:a16="http://schemas.microsoft.com/office/drawing/2014/main" id="{696B6671-3030-4015-BAB2-255A9F10DB79}"/>
              </a:ext>
            </a:extLst>
          </p:cNvPr>
          <p:cNvSpPr/>
          <p:nvPr/>
        </p:nvSpPr>
        <p:spPr>
          <a:xfrm>
            <a:off x="6967394" y="1881356"/>
            <a:ext cx="1274576" cy="765791"/>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tx1"/>
                </a:solidFill>
              </a:rPr>
              <a:t>Expansion to services like bike servicing and others</a:t>
            </a:r>
          </a:p>
        </p:txBody>
      </p:sp>
      <p:sp>
        <p:nvSpPr>
          <p:cNvPr id="6" name="TextBox 5">
            <a:extLst>
              <a:ext uri="{FF2B5EF4-FFF2-40B4-BE49-F238E27FC236}">
                <a16:creationId xmlns:a16="http://schemas.microsoft.com/office/drawing/2014/main" id="{C864D685-7C27-4923-9FBF-302CCEDB6F48}"/>
              </a:ext>
            </a:extLst>
          </p:cNvPr>
          <p:cNvSpPr txBox="1"/>
          <p:nvPr/>
        </p:nvSpPr>
        <p:spPr>
          <a:xfrm>
            <a:off x="0" y="405145"/>
            <a:ext cx="12576086" cy="369332"/>
          </a:xfrm>
          <a:prstGeom prst="rect">
            <a:avLst/>
          </a:prstGeom>
          <a:noFill/>
        </p:spPr>
        <p:txBody>
          <a:bodyPr wrap="square" rtlCol="0">
            <a:spAutoFit/>
          </a:bodyPr>
          <a:lstStyle/>
          <a:p>
            <a:r>
              <a:rPr lang="en-US" dirty="0"/>
              <a:t>While the recommended changes bring a host of benefits, a significant amount of cost needs to be incurred for implementing it</a:t>
            </a:r>
            <a:endParaRPr lang="en-IN" dirty="0"/>
          </a:p>
        </p:txBody>
      </p:sp>
      <p:sp>
        <p:nvSpPr>
          <p:cNvPr id="96" name="Slide Number Placeholder 95">
            <a:extLst>
              <a:ext uri="{FF2B5EF4-FFF2-40B4-BE49-F238E27FC236}">
                <a16:creationId xmlns:a16="http://schemas.microsoft.com/office/drawing/2014/main" id="{C36A5326-9800-40DA-9438-4DE8A6616996}"/>
              </a:ext>
            </a:extLst>
          </p:cNvPr>
          <p:cNvSpPr txBox="1">
            <a:spLocks noGrp="1"/>
          </p:cNvSpPr>
          <p:nvPr>
            <p:ph type="sldNum" sz="quarter" idx="12"/>
          </p:nvPr>
        </p:nvSpPr>
        <p:spPr>
          <a:xfrm>
            <a:off x="13019507" y="6555553"/>
            <a:ext cx="300083" cy="230832"/>
          </a:xfrm>
          <a:prstGeom prst="rect">
            <a:avLst/>
          </a:prstGeom>
          <a:noFill/>
        </p:spPr>
        <p:txBody>
          <a:bodyPr wrap="none" rtlCol="0">
            <a:spAutoFit/>
          </a:bodyPr>
          <a:lstStyle/>
          <a:p>
            <a:r>
              <a:rPr lang="en-GB" sz="900" dirty="0"/>
              <a:t>14</a:t>
            </a:r>
            <a:endParaRPr lang="en-GB" dirty="0"/>
          </a:p>
        </p:txBody>
      </p:sp>
      <p:pic>
        <p:nvPicPr>
          <p:cNvPr id="2050" name="Picture 2" descr="Crowdfunding, fund, funds, growth, invest, investment, mutual icon">
            <a:extLst>
              <a:ext uri="{FF2B5EF4-FFF2-40B4-BE49-F238E27FC236}">
                <a16:creationId xmlns:a16="http://schemas.microsoft.com/office/drawing/2014/main" id="{FDC79791-5E29-41E4-836D-F46F8351E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9657" y="1218908"/>
            <a:ext cx="331099" cy="3310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greement, deal, handshake, partnership icon">
            <a:extLst>
              <a:ext uri="{FF2B5EF4-FFF2-40B4-BE49-F238E27FC236}">
                <a16:creationId xmlns:a16="http://schemas.microsoft.com/office/drawing/2014/main" id="{F65CAA0B-3CE4-4696-BA2A-6E52E8B67D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342" y="2951870"/>
            <a:ext cx="319215" cy="31921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ow SOAR helped a software company develop $35 million in ...">
            <a:extLst>
              <a:ext uri="{FF2B5EF4-FFF2-40B4-BE49-F238E27FC236}">
                <a16:creationId xmlns:a16="http://schemas.microsoft.com/office/drawing/2014/main" id="{A3C77DB6-EC12-48B2-9157-BB852EA6DB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57849" y="5152375"/>
            <a:ext cx="325776" cy="325776"/>
          </a:xfrm>
          <a:prstGeom prst="rect">
            <a:avLst/>
          </a:prstGeom>
          <a:noFill/>
          <a:extLst>
            <a:ext uri="{909E8E84-426E-40DD-AFC4-6F175D3DCCD1}">
              <a14:hiddenFill xmlns:a14="http://schemas.microsoft.com/office/drawing/2010/main">
                <a:solidFill>
                  <a:srgbClr val="FFFFFF"/>
                </a:solidFill>
              </a14:hiddenFill>
            </a:ext>
          </a:extLst>
        </p:spPr>
      </p:pic>
      <p:sp>
        <p:nvSpPr>
          <p:cNvPr id="3" name="Arrow: Up 2">
            <a:extLst>
              <a:ext uri="{FF2B5EF4-FFF2-40B4-BE49-F238E27FC236}">
                <a16:creationId xmlns:a16="http://schemas.microsoft.com/office/drawing/2014/main" id="{5C9BF083-DF92-4D59-A0EB-0336023B9457}"/>
              </a:ext>
            </a:extLst>
          </p:cNvPr>
          <p:cNvSpPr/>
          <p:nvPr/>
        </p:nvSpPr>
        <p:spPr>
          <a:xfrm>
            <a:off x="5324741" y="1719433"/>
            <a:ext cx="209725" cy="3801619"/>
          </a:xfrm>
          <a:prstGeom prst="upArrow">
            <a:avLst>
              <a:gd name="adj1" fmla="val 50000"/>
              <a:gd name="adj2" fmla="val 1340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Arrow: Up 93">
            <a:extLst>
              <a:ext uri="{FF2B5EF4-FFF2-40B4-BE49-F238E27FC236}">
                <a16:creationId xmlns:a16="http://schemas.microsoft.com/office/drawing/2014/main" id="{BA6CABCA-8637-4664-A530-D0ACC6B31420}"/>
              </a:ext>
            </a:extLst>
          </p:cNvPr>
          <p:cNvSpPr/>
          <p:nvPr/>
        </p:nvSpPr>
        <p:spPr>
          <a:xfrm rot="10800000">
            <a:off x="11867367" y="1675445"/>
            <a:ext cx="209725" cy="3801619"/>
          </a:xfrm>
          <a:prstGeom prst="upArrow">
            <a:avLst>
              <a:gd name="adj1" fmla="val 50000"/>
              <a:gd name="adj2" fmla="val 1340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D28E738A-EE4D-4EF0-ABFA-62316A6EE66C}"/>
              </a:ext>
            </a:extLst>
          </p:cNvPr>
          <p:cNvGraphicFramePr>
            <a:graphicFrameLocks noGrp="1"/>
          </p:cNvGraphicFramePr>
          <p:nvPr>
            <p:extLst>
              <p:ext uri="{D42A27DB-BD31-4B8C-83A1-F6EECF244321}">
                <p14:modId xmlns:p14="http://schemas.microsoft.com/office/powerpoint/2010/main" val="267116912"/>
              </p:ext>
            </p:extLst>
          </p:nvPr>
        </p:nvGraphicFramePr>
        <p:xfrm>
          <a:off x="658799" y="1301746"/>
          <a:ext cx="3636579" cy="4549015"/>
        </p:xfrm>
        <a:graphic>
          <a:graphicData uri="http://schemas.openxmlformats.org/drawingml/2006/table">
            <a:tbl>
              <a:tblPr/>
              <a:tblGrid>
                <a:gridCol w="2060028">
                  <a:extLst>
                    <a:ext uri="{9D8B030D-6E8A-4147-A177-3AD203B41FA5}">
                      <a16:colId xmlns:a16="http://schemas.microsoft.com/office/drawing/2014/main" val="1380086934"/>
                    </a:ext>
                  </a:extLst>
                </a:gridCol>
                <a:gridCol w="704193">
                  <a:extLst>
                    <a:ext uri="{9D8B030D-6E8A-4147-A177-3AD203B41FA5}">
                      <a16:colId xmlns:a16="http://schemas.microsoft.com/office/drawing/2014/main" val="265964725"/>
                    </a:ext>
                  </a:extLst>
                </a:gridCol>
                <a:gridCol w="872358">
                  <a:extLst>
                    <a:ext uri="{9D8B030D-6E8A-4147-A177-3AD203B41FA5}">
                      <a16:colId xmlns:a16="http://schemas.microsoft.com/office/drawing/2014/main" val="4215638804"/>
                    </a:ext>
                  </a:extLst>
                </a:gridCol>
              </a:tblGrid>
              <a:tr h="342141">
                <a:tc>
                  <a:txBody>
                    <a:bodyPr/>
                    <a:lstStyle/>
                    <a:p>
                      <a:pPr algn="l" rtl="0" fontAlgn="b"/>
                      <a:r>
                        <a:rPr lang="en-IN" sz="1000" b="1" i="0" u="none" strike="noStrike" dirty="0">
                          <a:solidFill>
                            <a:srgbClr val="FFFFFF"/>
                          </a:solidFill>
                          <a:effectLst/>
                          <a:latin typeface="Arial" panose="020B0604020202020204" pitchFamily="34" charset="0"/>
                        </a:rPr>
                        <a:t>Particulars</a:t>
                      </a:r>
                    </a:p>
                  </a:txBody>
                  <a:tcPr marL="9525" marR="9525" marT="9525" marB="0" anchor="ctr">
                    <a:lnL>
                      <a:noFill/>
                    </a:lnL>
                    <a:lnR>
                      <a:noFill/>
                    </a:lnR>
                    <a:lnT>
                      <a:noFill/>
                    </a:lnT>
                    <a:lnB>
                      <a:noFill/>
                    </a:lnB>
                    <a:solidFill>
                      <a:srgbClr val="00162F"/>
                    </a:solidFill>
                  </a:tcPr>
                </a:tc>
                <a:tc>
                  <a:txBody>
                    <a:bodyPr/>
                    <a:lstStyle/>
                    <a:p>
                      <a:pPr algn="ctr" rtl="0" fontAlgn="b"/>
                      <a:r>
                        <a:rPr lang="en-US" sz="1050" b="1" i="0" u="none" strike="noStrike" dirty="0">
                          <a:solidFill>
                            <a:srgbClr val="FFFFFF"/>
                          </a:solidFill>
                          <a:effectLst/>
                          <a:latin typeface="Arial" panose="020B0604020202020204" pitchFamily="34" charset="0"/>
                        </a:rPr>
                        <a:t>Yearly </a:t>
                      </a:r>
                      <a:endParaRPr lang="en-IN" sz="1050" b="1" i="0" u="none" strike="noStrike" dirty="0">
                        <a:solidFill>
                          <a:srgbClr val="FFFFFF"/>
                        </a:solidFill>
                        <a:effectLst/>
                        <a:latin typeface="Arial" panose="020B0604020202020204" pitchFamily="34" charset="0"/>
                      </a:endParaRPr>
                    </a:p>
                  </a:txBody>
                  <a:tcPr marL="9525" marR="9525" marT="9525" marB="0" anchor="ctr">
                    <a:lnL>
                      <a:noFill/>
                    </a:lnL>
                    <a:lnR>
                      <a:noFill/>
                    </a:lnR>
                    <a:lnT>
                      <a:noFill/>
                    </a:lnT>
                    <a:lnB>
                      <a:noFill/>
                    </a:lnB>
                    <a:solidFill>
                      <a:srgbClr val="00162F"/>
                    </a:solidFill>
                  </a:tcPr>
                </a:tc>
                <a:tc>
                  <a:txBody>
                    <a:bodyPr/>
                    <a:lstStyle/>
                    <a:p>
                      <a:pPr algn="ctr" rtl="0" fontAlgn="b"/>
                      <a:endParaRPr lang="en-IN" sz="1050" b="1" i="0" u="none" strike="noStrike" dirty="0">
                        <a:solidFill>
                          <a:srgbClr val="FFFFFF"/>
                        </a:solidFill>
                        <a:effectLst/>
                        <a:latin typeface="Arial" panose="020B0604020202020204" pitchFamily="34" charset="0"/>
                      </a:endParaRPr>
                    </a:p>
                  </a:txBody>
                  <a:tcPr marL="9525" marR="9525" marT="9525" marB="0" anchor="ctr">
                    <a:lnL>
                      <a:noFill/>
                    </a:lnL>
                    <a:lnR>
                      <a:noFill/>
                    </a:lnR>
                    <a:lnT>
                      <a:noFill/>
                    </a:lnT>
                    <a:lnB>
                      <a:noFill/>
                    </a:lnB>
                    <a:solidFill>
                      <a:srgbClr val="00162F"/>
                    </a:solidFill>
                  </a:tcPr>
                </a:tc>
                <a:extLst>
                  <a:ext uri="{0D108BD9-81ED-4DB2-BD59-A6C34878D82A}">
                    <a16:rowId xmlns:a16="http://schemas.microsoft.com/office/drawing/2014/main" val="2212714623"/>
                  </a:ext>
                </a:extLst>
              </a:tr>
              <a:tr h="294677">
                <a:tc>
                  <a:txBody>
                    <a:bodyPr/>
                    <a:lstStyle/>
                    <a:p>
                      <a:pPr algn="l" rtl="0" fontAlgn="b"/>
                      <a:r>
                        <a:rPr lang="en-US" sz="1000" b="0" i="0" u="none" strike="noStrike" dirty="0">
                          <a:solidFill>
                            <a:srgbClr val="000000"/>
                          </a:solidFill>
                          <a:effectLst/>
                          <a:latin typeface="Arial" panose="020B0604020202020204" pitchFamily="34" charset="0"/>
                        </a:rPr>
                        <a:t>N</a:t>
                      </a:r>
                      <a:r>
                        <a:rPr lang="en-IN" sz="1000" b="0" i="0" u="none" strike="noStrike" dirty="0">
                          <a:solidFill>
                            <a:srgbClr val="000000"/>
                          </a:solidFill>
                          <a:effectLst/>
                          <a:latin typeface="Arial" panose="020B0604020202020204" pitchFamily="34" charset="0"/>
                        </a:rPr>
                        <a:t>umber of cars</a:t>
                      </a:r>
                    </a:p>
                  </a:txBody>
                  <a:tcPr marL="9525" marR="9525" marT="9525" marB="0" anchor="ctr">
                    <a:lnL>
                      <a:noFill/>
                    </a:lnL>
                    <a:lnR>
                      <a:noFill/>
                    </a:lnR>
                    <a:lnT>
                      <a:noFill/>
                    </a:lnT>
                    <a:lnB>
                      <a:noFill/>
                    </a:lnB>
                  </a:tcPr>
                </a:tc>
                <a:tc>
                  <a:txBody>
                    <a:bodyPr/>
                    <a:lstStyle/>
                    <a:p>
                      <a:pPr algn="r" rtl="0" fontAlgn="b"/>
                      <a:r>
                        <a:rPr lang="en-US" sz="1000" b="0" i="0" u="none" strike="noStrike" dirty="0">
                          <a:solidFill>
                            <a:srgbClr val="000000"/>
                          </a:solidFill>
                          <a:effectLst/>
                          <a:latin typeface="Arial" panose="020B0604020202020204" pitchFamily="34" charset="0"/>
                        </a:rPr>
                        <a:t>4</a:t>
                      </a:r>
                      <a:r>
                        <a:rPr lang="en-IN" sz="1000" b="0" i="0" u="none" strike="noStrike" dirty="0">
                          <a:solidFill>
                            <a:srgbClr val="000000"/>
                          </a:solidFill>
                          <a:effectLst/>
                          <a:latin typeface="Arial" panose="020B0604020202020204" pitchFamily="34" charset="0"/>
                        </a:rPr>
                        <a:t>0,000</a:t>
                      </a:r>
                    </a:p>
                  </a:txBody>
                  <a:tcPr marL="9525" marR="9525" marT="9525" marB="0" anchor="ctr">
                    <a:lnL>
                      <a:noFill/>
                    </a:lnL>
                    <a:lnR>
                      <a:noFill/>
                    </a:lnR>
                    <a:lnT>
                      <a:noFill/>
                    </a:lnT>
                    <a:lnB>
                      <a:noFill/>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801964900"/>
                  </a:ext>
                </a:extLst>
              </a:tr>
              <a:tr h="294677">
                <a:tc>
                  <a:txBody>
                    <a:bodyPr/>
                    <a:lstStyle/>
                    <a:p>
                      <a:pPr algn="l" rtl="0" fontAlgn="b"/>
                      <a:r>
                        <a:rPr lang="en-US" sz="1000" b="0" i="0" u="none" strike="noStrike" dirty="0">
                          <a:solidFill>
                            <a:srgbClr val="000000"/>
                          </a:solidFill>
                          <a:effectLst/>
                          <a:latin typeface="Arial" panose="020B0604020202020204" pitchFamily="34" charset="0"/>
                        </a:rPr>
                        <a:t>Average Service Charge</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r>
                        <a:rPr lang="en-US" sz="1000" b="0" i="0" u="none" strike="noStrike" dirty="0">
                          <a:solidFill>
                            <a:srgbClr val="000000"/>
                          </a:solidFill>
                          <a:effectLst/>
                          <a:latin typeface="Arial" panose="020B0604020202020204" pitchFamily="34" charset="0"/>
                        </a:rPr>
                        <a:t>4000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904196779"/>
                  </a:ext>
                </a:extLst>
              </a:tr>
              <a:tr h="294677">
                <a:tc>
                  <a:txBody>
                    <a:bodyPr/>
                    <a:lstStyle/>
                    <a:p>
                      <a:pPr algn="l" rtl="0" fontAlgn="b"/>
                      <a:r>
                        <a:rPr lang="en-US" sz="1000" b="0" i="0" u="none" strike="noStrike" dirty="0">
                          <a:solidFill>
                            <a:srgbClr val="000000"/>
                          </a:solidFill>
                          <a:effectLst/>
                          <a:latin typeface="Arial" panose="020B0604020202020204" pitchFamily="34" charset="0"/>
                        </a:rPr>
                        <a:t>Commission</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r>
                        <a:rPr lang="en-US" sz="1000" b="0" i="0" u="none" strike="noStrike" dirty="0">
                          <a:solidFill>
                            <a:srgbClr val="000000"/>
                          </a:solidFill>
                          <a:effectLst/>
                          <a:latin typeface="Arial" panose="020B0604020202020204" pitchFamily="34" charset="0"/>
                        </a:rPr>
                        <a:t>20%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1209558578"/>
                  </a:ext>
                </a:extLst>
              </a:tr>
              <a:tr h="294677">
                <a:tc>
                  <a:txBody>
                    <a:bodyPr/>
                    <a:lstStyle/>
                    <a:p>
                      <a:pPr algn="l" rtl="0" fontAlgn="b"/>
                      <a:r>
                        <a:rPr lang="en-US" sz="1000" b="0" i="0" u="none" strike="noStrike" dirty="0">
                          <a:solidFill>
                            <a:srgbClr val="000000"/>
                          </a:solidFill>
                          <a:effectLst/>
                          <a:latin typeface="Arial" panose="020B0604020202020204" pitchFamily="34" charset="0"/>
                        </a:rPr>
                        <a:t>Revenue (Commission) </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r>
                        <a:rPr lang="en-US" sz="1000" b="0" i="0" u="none" strike="noStrike" dirty="0">
                          <a:solidFill>
                            <a:srgbClr val="000000"/>
                          </a:solidFill>
                          <a:effectLst/>
                          <a:latin typeface="Arial" panose="020B0604020202020204" pitchFamily="34" charset="0"/>
                        </a:rPr>
                        <a:t>32,000,000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607078832"/>
                  </a:ext>
                </a:extLst>
              </a:tr>
              <a:tr h="294677">
                <a:tc>
                  <a:txBody>
                    <a:bodyPr/>
                    <a:lstStyle/>
                    <a:p>
                      <a:pPr algn="l" rtl="0" fontAlgn="b"/>
                      <a:r>
                        <a:rPr lang="en-US" sz="1000" b="0" i="0" u="none" strike="noStrike" dirty="0">
                          <a:solidFill>
                            <a:srgbClr val="000000"/>
                          </a:solidFill>
                          <a:effectLst/>
                          <a:latin typeface="Arial" panose="020B0604020202020204" pitchFamily="34" charset="0"/>
                        </a:rPr>
                        <a:t>Cars requiring parts replacement </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r>
                        <a:rPr lang="en-US" sz="1000" b="0" i="0" u="none" strike="noStrike" dirty="0">
                          <a:solidFill>
                            <a:srgbClr val="000000"/>
                          </a:solidFill>
                          <a:effectLst/>
                          <a:latin typeface="Arial" panose="020B0604020202020204" pitchFamily="34" charset="0"/>
                        </a:rPr>
                        <a:t>30% </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757826963"/>
                  </a:ext>
                </a:extLst>
              </a:tr>
              <a:tr h="205690">
                <a:tc>
                  <a:txBody>
                    <a:bodyPr/>
                    <a:lstStyle/>
                    <a:p>
                      <a:pPr algn="l" rtl="0" fontAlgn="b"/>
                      <a:r>
                        <a:rPr lang="en-US" sz="1000" b="0" i="0" u="none" strike="noStrike" dirty="0">
                          <a:solidFill>
                            <a:srgbClr val="000000"/>
                          </a:solidFill>
                          <a:effectLst/>
                          <a:latin typeface="Arial" panose="020B0604020202020204" pitchFamily="34" charset="0"/>
                        </a:rPr>
                        <a:t>Average sale of OEMs</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r" rtl="0" fontAlgn="b"/>
                      <a:r>
                        <a:rPr lang="en-US" sz="1000" b="0" i="0" u="none" strike="noStrike" dirty="0">
                          <a:solidFill>
                            <a:srgbClr val="000000"/>
                          </a:solidFill>
                          <a:effectLst/>
                          <a:latin typeface="Arial" panose="020B0604020202020204" pitchFamily="34" charset="0"/>
                        </a:rPr>
                        <a:t>4,000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tcPr>
                </a:tc>
                <a:extLst>
                  <a:ext uri="{0D108BD9-81ED-4DB2-BD59-A6C34878D82A}">
                    <a16:rowId xmlns:a16="http://schemas.microsoft.com/office/drawing/2014/main" val="1680077692"/>
                  </a:ext>
                </a:extLst>
              </a:tr>
              <a:tr h="205690">
                <a:tc>
                  <a:txBody>
                    <a:bodyPr/>
                    <a:lstStyle/>
                    <a:p>
                      <a:pPr algn="l" rtl="0" fontAlgn="b"/>
                      <a:r>
                        <a:rPr lang="en-US" sz="1000" b="0" i="0" u="none" strike="noStrike" dirty="0">
                          <a:solidFill>
                            <a:srgbClr val="000000"/>
                          </a:solidFill>
                          <a:effectLst/>
                          <a:latin typeface="Arial" panose="020B0604020202020204" pitchFamily="34" charset="0"/>
                        </a:rPr>
                        <a:t>Revenue (Sales of parts)</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algn="r" rtl="0" fontAlgn="b"/>
                      <a:r>
                        <a:rPr lang="en-US" sz="1000" b="0" i="0" u="none" strike="noStrike" dirty="0">
                          <a:solidFill>
                            <a:srgbClr val="000000"/>
                          </a:solidFill>
                          <a:effectLst/>
                          <a:latin typeface="Arial" panose="020B0604020202020204" pitchFamily="34" charset="0"/>
                        </a:rPr>
                        <a:t>48,000,000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solidFill>
                        <a:srgbClr val="1A936F"/>
                      </a:solidFill>
                      <a:prstDash val="solid"/>
                      <a:round/>
                      <a:headEnd type="none" w="med" len="med"/>
                      <a:tailEnd type="none" w="med" len="med"/>
                    </a:lnB>
                  </a:tcPr>
                </a:tc>
                <a:extLst>
                  <a:ext uri="{0D108BD9-81ED-4DB2-BD59-A6C34878D82A}">
                    <a16:rowId xmlns:a16="http://schemas.microsoft.com/office/drawing/2014/main" val="2696331156"/>
                  </a:ext>
                </a:extLst>
              </a:tr>
              <a:tr h="282926">
                <a:tc>
                  <a:txBody>
                    <a:bodyPr/>
                    <a:lstStyle/>
                    <a:p>
                      <a:pPr algn="l" rtl="0" fontAlgn="b"/>
                      <a:r>
                        <a:rPr lang="en-US" sz="1000" b="1" i="0" u="none" strike="noStrike" dirty="0">
                          <a:solidFill>
                            <a:srgbClr val="000000"/>
                          </a:solidFill>
                          <a:effectLst/>
                          <a:latin typeface="Arial" panose="020B0604020202020204" pitchFamily="34" charset="0"/>
                        </a:rPr>
                        <a:t>Total Revenue</a:t>
                      </a:r>
                      <a:endParaRPr lang="en-IN" sz="1000" b="1"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i="0" u="none" strike="noStrike" dirty="0">
                          <a:solidFill>
                            <a:srgbClr val="000000"/>
                          </a:solidFill>
                          <a:effectLst/>
                          <a:latin typeface="Arial" panose="020B0604020202020204" pitchFamily="34" charset="0"/>
                        </a:rPr>
                        <a:t>80,000,000</a:t>
                      </a:r>
                      <a:endParaRPr lang="en-IN" sz="1000" b="1" i="0" u="none" strike="noStrike" dirty="0">
                        <a:solidFill>
                          <a:srgbClr val="000000"/>
                        </a:solidFill>
                        <a:effectLst/>
                        <a:latin typeface="Arial" panose="020B0604020202020204" pitchFamily="34" charset="0"/>
                      </a:endParaRPr>
                    </a:p>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extLst>
                  <a:ext uri="{0D108BD9-81ED-4DB2-BD59-A6C34878D82A}">
                    <a16:rowId xmlns:a16="http://schemas.microsoft.com/office/drawing/2014/main" val="2995405569"/>
                  </a:ext>
                </a:extLst>
              </a:tr>
              <a:tr h="250973">
                <a:tc>
                  <a:txBody>
                    <a:bodyPr/>
                    <a:lstStyle/>
                    <a:p>
                      <a:pPr algn="l" fontAlgn="b"/>
                      <a:r>
                        <a:rPr lang="en-US" sz="1100" b="0" i="0" u="none" strike="noStrike" dirty="0">
                          <a:solidFill>
                            <a:srgbClr val="000000"/>
                          </a:solidFill>
                          <a:effectLst/>
                          <a:latin typeface="Calibri" panose="020F0502020204030204" pitchFamily="34" charset="0"/>
                        </a:rPr>
                        <a:t>Employee Cost</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tcPr>
                </a:tc>
                <a:tc>
                  <a:txBody>
                    <a:bodyPr/>
                    <a:lstStyle/>
                    <a:p>
                      <a:pPr algn="r" fontAlgn="b"/>
                      <a:r>
                        <a:rPr lang="en-US" sz="1100" b="0" i="0" u="none" strike="noStrike" dirty="0">
                          <a:solidFill>
                            <a:srgbClr val="000000"/>
                          </a:solidFill>
                          <a:effectLst/>
                          <a:latin typeface="Calibri" panose="020F0502020204030204" pitchFamily="34" charset="0"/>
                        </a:rPr>
                        <a:t>30,000,000</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tcPr>
                </a:tc>
                <a:tc>
                  <a:txBody>
                    <a:bodyPr/>
                    <a:lstStyle/>
                    <a:p>
                      <a:pPr algn="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tcPr>
                </a:tc>
                <a:extLst>
                  <a:ext uri="{0D108BD9-81ED-4DB2-BD59-A6C34878D82A}">
                    <a16:rowId xmlns:a16="http://schemas.microsoft.com/office/drawing/2014/main" val="3043101743"/>
                  </a:ext>
                </a:extLst>
              </a:tr>
              <a:tr h="250973">
                <a:tc>
                  <a:txBody>
                    <a:bodyPr/>
                    <a:lstStyle/>
                    <a:p>
                      <a:pPr algn="l" fontAlgn="b"/>
                      <a:r>
                        <a:rPr lang="en-US" sz="1100" b="0" i="0" u="none" strike="noStrike" dirty="0">
                          <a:solidFill>
                            <a:srgbClr val="000000"/>
                          </a:solidFill>
                          <a:effectLst/>
                          <a:latin typeface="Calibri" panose="020F0502020204030204" pitchFamily="34" charset="0"/>
                        </a:rPr>
                        <a:t>W</a:t>
                      </a:r>
                      <a:r>
                        <a:rPr lang="en-IN" sz="1100" b="0" i="0" u="none" strike="noStrike" dirty="0" err="1">
                          <a:solidFill>
                            <a:srgbClr val="000000"/>
                          </a:solidFill>
                          <a:effectLst/>
                          <a:latin typeface="Calibri" panose="020F0502020204030204" pitchFamily="34" charset="0"/>
                        </a:rPr>
                        <a:t>ebsite</a:t>
                      </a:r>
                      <a:r>
                        <a:rPr lang="en-IN" sz="1100" b="0" i="0" u="none" strike="noStrike" dirty="0">
                          <a:solidFill>
                            <a:srgbClr val="000000"/>
                          </a:solidFill>
                          <a:effectLst/>
                          <a:latin typeface="Calibri" panose="020F0502020204030204" pitchFamily="34" charset="0"/>
                        </a:rPr>
                        <a:t>/App</a:t>
                      </a:r>
                    </a:p>
                  </a:txBody>
                  <a:tcPr marL="9525" marR="9525" marT="9525" marB="0" anchor="ctr">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500,000</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1531883092"/>
                  </a:ext>
                </a:extLst>
              </a:tr>
              <a:tr h="250973">
                <a:tc>
                  <a:txBody>
                    <a:bodyPr/>
                    <a:lstStyle/>
                    <a:p>
                      <a:pPr algn="l" fontAlgn="b"/>
                      <a:r>
                        <a:rPr lang="en-US" sz="1100" b="0" i="0" u="none" strike="noStrike" dirty="0">
                          <a:solidFill>
                            <a:srgbClr val="000000"/>
                          </a:solidFill>
                          <a:effectLst/>
                          <a:latin typeface="Calibri" panose="020F0502020204030204" pitchFamily="34" charset="0"/>
                        </a:rPr>
                        <a:t>Social Media Marketing</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10,000,000</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917653958"/>
                  </a:ext>
                </a:extLst>
              </a:tr>
              <a:tr h="250973">
                <a:tc>
                  <a:txBody>
                    <a:bodyPr/>
                    <a:lstStyle/>
                    <a:p>
                      <a:pPr algn="l" fontAlgn="b"/>
                      <a:r>
                        <a:rPr lang="en-US" sz="1100" b="0" i="0" u="none" strike="noStrike" dirty="0">
                          <a:solidFill>
                            <a:srgbClr val="000000"/>
                          </a:solidFill>
                          <a:effectLst/>
                          <a:latin typeface="Calibri" panose="020F0502020204030204" pitchFamily="34" charset="0"/>
                        </a:rPr>
                        <a:t>Traditional Marketing</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5,000,000</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1681703151"/>
                  </a:ext>
                </a:extLst>
              </a:tr>
              <a:tr h="250973">
                <a:tc>
                  <a:txBody>
                    <a:bodyPr/>
                    <a:lstStyle/>
                    <a:p>
                      <a:pPr algn="l" fontAlgn="b"/>
                      <a:r>
                        <a:rPr lang="en-US" sz="1100" b="0" i="0" u="none" strike="noStrike" dirty="0">
                          <a:solidFill>
                            <a:srgbClr val="000000"/>
                          </a:solidFill>
                          <a:effectLst/>
                          <a:latin typeface="Calibri" panose="020F0502020204030204" pitchFamily="34" charset="0"/>
                        </a:rPr>
                        <a:t>Miscellaneous </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5,000,000</a:t>
                      </a:r>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2299671709"/>
                  </a:ext>
                </a:extLst>
              </a:tr>
              <a:tr h="250973">
                <a:tc>
                  <a:txBody>
                    <a:bodyPr/>
                    <a:lstStyle/>
                    <a:p>
                      <a:pPr algn="l" rtl="0" fontAlgn="b"/>
                      <a:r>
                        <a:rPr lang="en-US" sz="1000" b="0" i="0" u="none" strike="noStrike" dirty="0">
                          <a:solidFill>
                            <a:srgbClr val="000000"/>
                          </a:solidFill>
                          <a:effectLst/>
                          <a:latin typeface="Arial" panose="020B0604020202020204" pitchFamily="34" charset="0"/>
                        </a:rPr>
                        <a:t>Raw material Cost</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w="6350" cap="flat" cmpd="sng" algn="ctr">
                      <a:solidFill>
                        <a:srgbClr val="1A936F"/>
                      </a:solidFill>
                      <a:prstDash val="solid"/>
                      <a:round/>
                      <a:headEnd type="none" w="med" len="med"/>
                      <a:tailEnd type="none" w="med" len="med"/>
                    </a:lnB>
                  </a:tcPr>
                </a:tc>
                <a:tc>
                  <a:txBody>
                    <a:bodyPr/>
                    <a:lstStyle/>
                    <a:p>
                      <a:pPr algn="r" rtl="0" fontAlgn="b"/>
                      <a:r>
                        <a:rPr lang="en-US" sz="1000" b="0" i="0" u="none" strike="noStrike" dirty="0">
                          <a:solidFill>
                            <a:srgbClr val="000000"/>
                          </a:solidFill>
                          <a:effectLst/>
                          <a:latin typeface="Arial" panose="020B0604020202020204" pitchFamily="34" charset="0"/>
                        </a:rPr>
                        <a:t>20,000,000</a:t>
                      </a:r>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w="6350" cap="flat" cmpd="sng" algn="ctr">
                      <a:solidFill>
                        <a:srgbClr val="1A936F"/>
                      </a:solidFill>
                      <a:prstDash val="solid"/>
                      <a:round/>
                      <a:headEnd type="none" w="med" len="med"/>
                      <a:tailEnd type="none" w="med" len="med"/>
                    </a:lnB>
                  </a:tcPr>
                </a:tc>
                <a:tc>
                  <a:txBody>
                    <a:bodyPr/>
                    <a:lstStyle/>
                    <a:p>
                      <a:pPr algn="r" rtl="0" fontAlgn="b"/>
                      <a:endParaRPr lang="en-IN" sz="1000" b="0" i="0" u="none" strike="noStrike" dirty="0">
                        <a:solidFill>
                          <a:srgbClr val="000000"/>
                        </a:solidFill>
                        <a:effectLst/>
                        <a:latin typeface="Arial" panose="020B0604020202020204" pitchFamily="34" charset="0"/>
                      </a:endParaRPr>
                    </a:p>
                  </a:txBody>
                  <a:tcPr marL="9525" marR="9525" marT="9525" marB="0" anchor="ctr">
                    <a:lnL>
                      <a:noFill/>
                    </a:lnL>
                    <a:lnR>
                      <a:noFill/>
                    </a:lnR>
                    <a:lnT>
                      <a:noFill/>
                    </a:lnT>
                    <a:lnB w="6350" cap="flat" cmpd="sng" algn="ctr">
                      <a:solidFill>
                        <a:srgbClr val="1A936F"/>
                      </a:solidFill>
                      <a:prstDash val="solid"/>
                      <a:round/>
                      <a:headEnd type="none" w="med" len="med"/>
                      <a:tailEnd type="none" w="med" len="med"/>
                    </a:lnB>
                  </a:tcPr>
                </a:tc>
                <a:extLst>
                  <a:ext uri="{0D108BD9-81ED-4DB2-BD59-A6C34878D82A}">
                    <a16:rowId xmlns:a16="http://schemas.microsoft.com/office/drawing/2014/main" val="3674374112"/>
                  </a:ext>
                </a:extLst>
              </a:tr>
              <a:tr h="250973">
                <a:tc>
                  <a:txBody>
                    <a:bodyPr/>
                    <a:lstStyle/>
                    <a:p>
                      <a:pPr algn="l" rtl="0" fontAlgn="b"/>
                      <a:r>
                        <a:rPr lang="en-US" sz="1000" b="1" i="0" u="none" strike="noStrike" dirty="0">
                          <a:solidFill>
                            <a:srgbClr val="000000"/>
                          </a:solidFill>
                          <a:effectLst/>
                          <a:latin typeface="Arial" panose="020B0604020202020204" pitchFamily="34" charset="0"/>
                        </a:rPr>
                        <a:t>Total Cost</a:t>
                      </a:r>
                      <a:endParaRPr lang="en-IN" sz="1000" b="1"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algn="l" rtl="0" fontAlgn="b"/>
                      <a:r>
                        <a:rPr lang="en-IN" sz="1000" b="1"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tc>
                  <a:txBody>
                    <a:bodyPr/>
                    <a:lstStyle/>
                    <a:p>
                      <a:pPr algn="ctr" rtl="0" fontAlgn="b"/>
                      <a:r>
                        <a:rPr lang="en-IN" sz="1000" b="1" i="0" u="none" strike="noStrike" dirty="0">
                          <a:solidFill>
                            <a:srgbClr val="000000"/>
                          </a:solidFill>
                          <a:effectLst/>
                          <a:latin typeface="Arial" panose="020B0604020202020204" pitchFamily="34" charset="0"/>
                        </a:rPr>
                        <a:t>70,500,000</a:t>
                      </a:r>
                    </a:p>
                  </a:txBody>
                  <a:tcPr marL="9525" marR="9525" marT="9525" marB="0" anchor="ctr">
                    <a:lnL>
                      <a:noFill/>
                    </a:lnL>
                    <a:lnR>
                      <a:noFill/>
                    </a:lnR>
                    <a:lnT w="6350" cap="flat" cmpd="sng" algn="ctr">
                      <a:solidFill>
                        <a:srgbClr val="1A936F"/>
                      </a:solidFill>
                      <a:prstDash val="solid"/>
                      <a:round/>
                      <a:headEnd type="none" w="med" len="med"/>
                      <a:tailEnd type="none" w="med" len="med"/>
                    </a:lnT>
                    <a:lnB w="6350" cap="flat" cmpd="sng" algn="ctr">
                      <a:solidFill>
                        <a:srgbClr val="1A936F"/>
                      </a:solidFill>
                      <a:prstDash val="solid"/>
                      <a:round/>
                      <a:headEnd type="none" w="med" len="med"/>
                      <a:tailEnd type="none" w="med" len="med"/>
                    </a:lnB>
                  </a:tcPr>
                </a:tc>
                <a:extLst>
                  <a:ext uri="{0D108BD9-81ED-4DB2-BD59-A6C34878D82A}">
                    <a16:rowId xmlns:a16="http://schemas.microsoft.com/office/drawing/2014/main" val="793872548"/>
                  </a:ext>
                </a:extLst>
              </a:tr>
              <a:tr h="250973">
                <a:tc>
                  <a:txBody>
                    <a:bodyPr/>
                    <a:lstStyle/>
                    <a:p>
                      <a:pPr algn="l" rtl="0" fontAlgn="b"/>
                      <a:r>
                        <a:rPr lang="en-US" sz="1000" b="1" i="0" u="none" strike="noStrike" dirty="0">
                          <a:solidFill>
                            <a:srgbClr val="000000"/>
                          </a:solidFill>
                          <a:effectLst/>
                          <a:latin typeface="Arial" panose="020B0604020202020204" pitchFamily="34" charset="0"/>
                        </a:rPr>
                        <a:t>Net Profit</a:t>
                      </a:r>
                      <a:endParaRPr lang="en-IN" sz="1000" b="1"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solidFill>
                      <a:srgbClr val="D6DCE4"/>
                    </a:solidFill>
                  </a:tcPr>
                </a:tc>
                <a:tc>
                  <a:txBody>
                    <a:bodyPr/>
                    <a:lstStyle/>
                    <a:p>
                      <a:pPr algn="r" rtl="0" fontAlgn="b"/>
                      <a:endParaRPr lang="en-IN" sz="1000" b="1"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solidFill>
                      <a:srgbClr val="D6DCE4"/>
                    </a:solidFill>
                  </a:tcPr>
                </a:tc>
                <a:tc>
                  <a:txBody>
                    <a:bodyPr/>
                    <a:lstStyle/>
                    <a:p>
                      <a:pPr algn="ctr" rtl="0" fontAlgn="b"/>
                      <a:r>
                        <a:rPr lang="en-US" sz="1000" b="1" i="0" u="none" strike="noStrike" dirty="0">
                          <a:solidFill>
                            <a:srgbClr val="000000"/>
                          </a:solidFill>
                          <a:effectLst/>
                          <a:latin typeface="Arial" panose="020B0604020202020204" pitchFamily="34" charset="0"/>
                        </a:rPr>
                        <a:t>9,500,000</a:t>
                      </a:r>
                      <a:endParaRPr lang="en-IN" sz="1000" b="1" i="0" u="none" strike="noStrike" dirty="0">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1A936F"/>
                      </a:solidFill>
                      <a:prstDash val="solid"/>
                      <a:round/>
                      <a:headEnd type="none" w="med" len="med"/>
                      <a:tailEnd type="none" w="med" len="med"/>
                    </a:lnT>
                    <a:lnB>
                      <a:noFill/>
                    </a:lnB>
                    <a:solidFill>
                      <a:srgbClr val="D6DCE4"/>
                    </a:solidFill>
                  </a:tcPr>
                </a:tc>
                <a:extLst>
                  <a:ext uri="{0D108BD9-81ED-4DB2-BD59-A6C34878D82A}">
                    <a16:rowId xmlns:a16="http://schemas.microsoft.com/office/drawing/2014/main" val="3664565896"/>
                  </a:ext>
                </a:extLst>
              </a:tr>
            </a:tbl>
          </a:graphicData>
        </a:graphic>
      </p:graphicFrame>
      <p:sp>
        <p:nvSpPr>
          <p:cNvPr id="70" name="Rectangle 69">
            <a:extLst>
              <a:ext uri="{FF2B5EF4-FFF2-40B4-BE49-F238E27FC236}">
                <a16:creationId xmlns:a16="http://schemas.microsoft.com/office/drawing/2014/main" id="{534D50C7-FB55-4A56-8DB8-76E782CAAAD9}"/>
              </a:ext>
            </a:extLst>
          </p:cNvPr>
          <p:cNvSpPr/>
          <p:nvPr/>
        </p:nvSpPr>
        <p:spPr>
          <a:xfrm>
            <a:off x="342930" y="5952738"/>
            <a:ext cx="4691905" cy="804902"/>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1"/>
                </a:solidFill>
              </a:rPr>
              <a:t>Assumptions:</a:t>
            </a:r>
          </a:p>
          <a:p>
            <a:pPr marL="171450" indent="-171450">
              <a:buFont typeface="Arial" panose="020B0604020202020204" pitchFamily="34" charset="0"/>
              <a:buChar char="•"/>
            </a:pPr>
            <a:r>
              <a:rPr lang="en-US" sz="1200" dirty="0">
                <a:solidFill>
                  <a:schemeClr val="tx1"/>
                </a:solidFill>
              </a:rPr>
              <a:t>Average Service Size is Rs 4,000 ( Competitor benchmarking)</a:t>
            </a:r>
          </a:p>
          <a:p>
            <a:pPr marL="171450" indent="-171450">
              <a:buFont typeface="Arial" panose="020B0604020202020204" pitchFamily="34" charset="0"/>
              <a:buChar char="•"/>
            </a:pPr>
            <a:r>
              <a:rPr lang="en-US" sz="1200" dirty="0">
                <a:solidFill>
                  <a:schemeClr val="tx1"/>
                </a:solidFill>
              </a:rPr>
              <a:t>Commission sharing at 80-20 in favor of garages</a:t>
            </a:r>
          </a:p>
          <a:p>
            <a:pPr marL="171450" indent="-171450">
              <a:buFont typeface="Arial" panose="020B0604020202020204" pitchFamily="34" charset="0"/>
              <a:buChar char="•"/>
            </a:pPr>
            <a:r>
              <a:rPr lang="en-US" sz="1200" dirty="0">
                <a:solidFill>
                  <a:schemeClr val="tx1"/>
                </a:solidFill>
              </a:rPr>
              <a:t>Raw Material Cost to be approximately 40% of Sales of part revenue</a:t>
            </a:r>
          </a:p>
        </p:txBody>
      </p:sp>
      <p:sp>
        <p:nvSpPr>
          <p:cNvPr id="71" name="Isosceles Triangle 12">
            <a:extLst>
              <a:ext uri="{FF2B5EF4-FFF2-40B4-BE49-F238E27FC236}">
                <a16:creationId xmlns:a16="http://schemas.microsoft.com/office/drawing/2014/main" id="{4D0B34B4-2F61-47B9-8F10-F820A781D984}"/>
              </a:ext>
            </a:extLst>
          </p:cNvPr>
          <p:cNvSpPr/>
          <p:nvPr/>
        </p:nvSpPr>
        <p:spPr>
          <a:xfrm rot="5400000">
            <a:off x="4600344" y="3752741"/>
            <a:ext cx="1109679" cy="146367"/>
          </a:xfrm>
          <a:prstGeom prst="triangle">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2" name="TextBox 71">
            <a:extLst>
              <a:ext uri="{FF2B5EF4-FFF2-40B4-BE49-F238E27FC236}">
                <a16:creationId xmlns:a16="http://schemas.microsoft.com/office/drawing/2014/main" id="{1B12DD64-5082-49C9-9A53-087847C98325}"/>
              </a:ext>
            </a:extLst>
          </p:cNvPr>
          <p:cNvSpPr txBox="1"/>
          <p:nvPr/>
        </p:nvSpPr>
        <p:spPr>
          <a:xfrm>
            <a:off x="85105" y="817880"/>
            <a:ext cx="4516413" cy="338554"/>
          </a:xfrm>
          <a:prstGeom prst="rect">
            <a:avLst/>
          </a:prstGeom>
          <a:noFill/>
        </p:spPr>
        <p:txBody>
          <a:bodyPr wrap="square" rtlCol="0">
            <a:spAutoFit/>
          </a:bodyPr>
          <a:lstStyle/>
          <a:p>
            <a:r>
              <a:rPr lang="en-GB" sz="1600" b="1" dirty="0"/>
              <a:t>Cost Benefit Analysis</a:t>
            </a:r>
          </a:p>
        </p:txBody>
      </p:sp>
    </p:spTree>
    <p:extLst>
      <p:ext uri="{BB962C8B-B14F-4D97-AF65-F5344CB8AC3E}">
        <p14:creationId xmlns:p14="http://schemas.microsoft.com/office/powerpoint/2010/main" val="1471389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Rounded Corners 97">
            <a:extLst>
              <a:ext uri="{FF2B5EF4-FFF2-40B4-BE49-F238E27FC236}">
                <a16:creationId xmlns:a16="http://schemas.microsoft.com/office/drawing/2014/main" id="{45DA3713-ABD2-4C6E-B481-DD834D26B8EB}"/>
              </a:ext>
            </a:extLst>
          </p:cNvPr>
          <p:cNvSpPr/>
          <p:nvPr/>
        </p:nvSpPr>
        <p:spPr>
          <a:xfrm>
            <a:off x="667102" y="5486076"/>
            <a:ext cx="4932940" cy="8834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r>
              <a:rPr lang="en-GB" sz="1200" b="1" dirty="0"/>
              <a:t>Continuous Initiatives </a:t>
            </a:r>
            <a:r>
              <a:rPr lang="en-GB" sz="1200" i="1" dirty="0"/>
              <a:t>(i.e., not dependent on timelines)</a:t>
            </a:r>
          </a:p>
          <a:p>
            <a:pPr marL="171450" indent="-171450">
              <a:buFont typeface="Arial" panose="020B0604020202020204" pitchFamily="34" charset="0"/>
              <a:buChar char="•"/>
            </a:pPr>
            <a:r>
              <a:rPr lang="en-GB" sz="1200" dirty="0"/>
              <a:t>Launch customer service hotline</a:t>
            </a:r>
          </a:p>
          <a:p>
            <a:pPr marL="171450" indent="-171450">
              <a:buFont typeface="Arial" panose="020B0604020202020204" pitchFamily="34" charset="0"/>
              <a:buChar char="•"/>
            </a:pPr>
            <a:r>
              <a:rPr lang="en-GB" sz="1200" dirty="0"/>
              <a:t>Online marketing campaigns and guerrilla marketing</a:t>
            </a:r>
          </a:p>
          <a:p>
            <a:pPr marL="171450" indent="-171450">
              <a:buFont typeface="Arial" panose="020B0604020202020204" pitchFamily="34" charset="0"/>
              <a:buChar char="•"/>
            </a:pPr>
            <a:r>
              <a:rPr lang="en-GB" sz="1200" dirty="0"/>
              <a:t>B2B partnerships</a:t>
            </a:r>
          </a:p>
        </p:txBody>
      </p:sp>
      <p:sp>
        <p:nvSpPr>
          <p:cNvPr id="2" name="Rectangle 1">
            <a:extLst>
              <a:ext uri="{FF2B5EF4-FFF2-40B4-BE49-F238E27FC236}">
                <a16:creationId xmlns:a16="http://schemas.microsoft.com/office/drawing/2014/main" id="{E2625373-A988-4A10-8B32-C0D5714EE8CA}"/>
              </a:ext>
            </a:extLst>
          </p:cNvPr>
          <p:cNvSpPr/>
          <p:nvPr/>
        </p:nvSpPr>
        <p:spPr>
          <a:xfrm>
            <a:off x="0" y="772160"/>
            <a:ext cx="12192000" cy="45720"/>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552625-5C7F-44B6-B5A6-EA919A12E7CF}"/>
              </a:ext>
            </a:extLst>
          </p:cNvPr>
          <p:cNvSpPr txBox="1"/>
          <p:nvPr/>
        </p:nvSpPr>
        <p:spPr>
          <a:xfrm>
            <a:off x="85105" y="817880"/>
            <a:ext cx="2817121" cy="338554"/>
          </a:xfrm>
          <a:prstGeom prst="rect">
            <a:avLst/>
          </a:prstGeom>
          <a:noFill/>
        </p:spPr>
        <p:txBody>
          <a:bodyPr wrap="square" rtlCol="0">
            <a:spAutoFit/>
          </a:bodyPr>
          <a:lstStyle/>
          <a:p>
            <a:r>
              <a:rPr lang="en-GB" sz="1600" b="1" dirty="0"/>
              <a:t>Three Month Execution Plan</a:t>
            </a:r>
          </a:p>
        </p:txBody>
      </p:sp>
      <p:sp>
        <p:nvSpPr>
          <p:cNvPr id="77" name="Rectangle 76">
            <a:extLst>
              <a:ext uri="{FF2B5EF4-FFF2-40B4-BE49-F238E27FC236}">
                <a16:creationId xmlns:a16="http://schemas.microsoft.com/office/drawing/2014/main" id="{F259AF36-51F3-4678-8C20-B8B4ECB73A20}"/>
              </a:ext>
            </a:extLst>
          </p:cNvPr>
          <p:cNvSpPr/>
          <p:nvPr/>
        </p:nvSpPr>
        <p:spPr>
          <a:xfrm>
            <a:off x="65515" y="343007"/>
            <a:ext cx="12001840" cy="400110"/>
          </a:xfrm>
          <a:prstGeom prst="rect">
            <a:avLst/>
          </a:prstGeom>
        </p:spPr>
        <p:txBody>
          <a:bodyPr wrap="square">
            <a:spAutoFit/>
          </a:bodyPr>
          <a:lstStyle/>
          <a:p>
            <a:r>
              <a:rPr lang="en-IN" sz="2000" b="1" dirty="0">
                <a:latin typeface="Calibri" panose="020F0502020204030204" pitchFamily="34" charset="0"/>
              </a:rPr>
              <a:t>A crisp 3 months plan will improve the current positioning to capture competitor’s market share</a:t>
            </a:r>
          </a:p>
        </p:txBody>
      </p:sp>
      <p:sp>
        <p:nvSpPr>
          <p:cNvPr id="456" name="TextBox 455">
            <a:extLst>
              <a:ext uri="{FF2B5EF4-FFF2-40B4-BE49-F238E27FC236}">
                <a16:creationId xmlns:a16="http://schemas.microsoft.com/office/drawing/2014/main" id="{691E917E-968B-4CBC-B85A-FC81CAC3F43C}"/>
              </a:ext>
            </a:extLst>
          </p:cNvPr>
          <p:cNvSpPr txBox="1"/>
          <p:nvPr/>
        </p:nvSpPr>
        <p:spPr>
          <a:xfrm>
            <a:off x="11824981" y="6573307"/>
            <a:ext cx="300082" cy="230832"/>
          </a:xfrm>
          <a:prstGeom prst="rect">
            <a:avLst/>
          </a:prstGeom>
          <a:noFill/>
        </p:spPr>
        <p:txBody>
          <a:bodyPr wrap="none" rtlCol="0">
            <a:spAutoFit/>
          </a:bodyPr>
          <a:lstStyle/>
          <a:p>
            <a:r>
              <a:rPr lang="en-GB" sz="900" dirty="0"/>
              <a:t>15</a:t>
            </a:r>
            <a:endParaRPr lang="en-GB" dirty="0"/>
          </a:p>
        </p:txBody>
      </p:sp>
      <p:grpSp>
        <p:nvGrpSpPr>
          <p:cNvPr id="460" name="Group 459">
            <a:extLst>
              <a:ext uri="{FF2B5EF4-FFF2-40B4-BE49-F238E27FC236}">
                <a16:creationId xmlns:a16="http://schemas.microsoft.com/office/drawing/2014/main" id="{C745554B-13D8-48F4-A587-59276185D854}"/>
              </a:ext>
            </a:extLst>
          </p:cNvPr>
          <p:cNvGrpSpPr/>
          <p:nvPr/>
        </p:nvGrpSpPr>
        <p:grpSpPr>
          <a:xfrm>
            <a:off x="65515" y="52817"/>
            <a:ext cx="307865" cy="238659"/>
            <a:chOff x="12605240" y="-37073"/>
            <a:chExt cx="6681054" cy="5179185"/>
          </a:xfrm>
          <a:solidFill>
            <a:srgbClr val="00162F"/>
          </a:solidFill>
        </p:grpSpPr>
        <p:sp>
          <p:nvSpPr>
            <p:cNvPr id="461" name="Rectangle 460">
              <a:extLst>
                <a:ext uri="{FF2B5EF4-FFF2-40B4-BE49-F238E27FC236}">
                  <a16:creationId xmlns:a16="http://schemas.microsoft.com/office/drawing/2014/main" id="{297F39F4-040A-4151-BE08-BF210C2FBF6E}"/>
                </a:ext>
              </a:extLst>
            </p:cNvPr>
            <p:cNvSpPr/>
            <p:nvPr/>
          </p:nvSpPr>
          <p:spPr>
            <a:xfrm>
              <a:off x="12605240" y="3416024"/>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2" name="Rectangle 461">
              <a:extLst>
                <a:ext uri="{FF2B5EF4-FFF2-40B4-BE49-F238E27FC236}">
                  <a16:creationId xmlns:a16="http://schemas.microsoft.com/office/drawing/2014/main" id="{01282ED2-9B09-48F0-9A4A-A332CEFDD114}"/>
                </a:ext>
              </a:extLst>
            </p:cNvPr>
            <p:cNvSpPr/>
            <p:nvPr/>
          </p:nvSpPr>
          <p:spPr>
            <a:xfrm>
              <a:off x="12605240" y="3868713"/>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3" name="Rectangle 462">
              <a:extLst>
                <a:ext uri="{FF2B5EF4-FFF2-40B4-BE49-F238E27FC236}">
                  <a16:creationId xmlns:a16="http://schemas.microsoft.com/office/drawing/2014/main" id="{1B7B7193-5F43-48A1-873B-194D9F961E78}"/>
                </a:ext>
              </a:extLst>
            </p:cNvPr>
            <p:cNvSpPr/>
            <p:nvPr/>
          </p:nvSpPr>
          <p:spPr>
            <a:xfrm>
              <a:off x="12605240" y="4321402"/>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4" name="Rectangle 463">
              <a:extLst>
                <a:ext uri="{FF2B5EF4-FFF2-40B4-BE49-F238E27FC236}">
                  <a16:creationId xmlns:a16="http://schemas.microsoft.com/office/drawing/2014/main" id="{A3F77342-23AA-4BAC-AD81-FE1483988548}"/>
                </a:ext>
              </a:extLst>
            </p:cNvPr>
            <p:cNvSpPr/>
            <p:nvPr/>
          </p:nvSpPr>
          <p:spPr>
            <a:xfrm>
              <a:off x="12605240" y="4774090"/>
              <a:ext cx="6681054" cy="3680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GB" sz="2400" b="1" dirty="0"/>
            </a:p>
          </p:txBody>
        </p:sp>
        <p:sp>
          <p:nvSpPr>
            <p:cNvPr id="465" name="Rectangle 464">
              <a:extLst>
                <a:ext uri="{FF2B5EF4-FFF2-40B4-BE49-F238E27FC236}">
                  <a16:creationId xmlns:a16="http://schemas.microsoft.com/office/drawing/2014/main" id="{9137F467-5F80-44C5-9BEC-367BDE3269EA}"/>
                </a:ext>
              </a:extLst>
            </p:cNvPr>
            <p:cNvSpPr/>
            <p:nvPr/>
          </p:nvSpPr>
          <p:spPr>
            <a:xfrm>
              <a:off x="17231516" y="868698"/>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6" name="Rectangle 465">
              <a:extLst>
                <a:ext uri="{FF2B5EF4-FFF2-40B4-BE49-F238E27FC236}">
                  <a16:creationId xmlns:a16="http://schemas.microsoft.com/office/drawing/2014/main" id="{E9B13CF5-299A-4F4D-84B7-98812B317882}"/>
                </a:ext>
              </a:extLst>
            </p:cNvPr>
            <p:cNvSpPr/>
            <p:nvPr/>
          </p:nvSpPr>
          <p:spPr>
            <a:xfrm>
              <a:off x="15130935" y="875831"/>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7" name="Rectangle 466">
              <a:extLst>
                <a:ext uri="{FF2B5EF4-FFF2-40B4-BE49-F238E27FC236}">
                  <a16:creationId xmlns:a16="http://schemas.microsoft.com/office/drawing/2014/main" id="{13A35BEB-0086-4C47-838A-AC1B909853C5}"/>
                </a:ext>
              </a:extLst>
            </p:cNvPr>
            <p:cNvSpPr/>
            <p:nvPr/>
          </p:nvSpPr>
          <p:spPr>
            <a:xfrm>
              <a:off x="13030357" y="882964"/>
              <a:ext cx="1629665" cy="244839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p>
          </p:txBody>
        </p:sp>
        <p:sp>
          <p:nvSpPr>
            <p:cNvPr id="468" name="Isosceles Triangle 467">
              <a:extLst>
                <a:ext uri="{FF2B5EF4-FFF2-40B4-BE49-F238E27FC236}">
                  <a16:creationId xmlns:a16="http://schemas.microsoft.com/office/drawing/2014/main" id="{47C20A3F-43BE-45EB-AB5B-73DFC938B230}"/>
                </a:ext>
              </a:extLst>
            </p:cNvPr>
            <p:cNvSpPr/>
            <p:nvPr/>
          </p:nvSpPr>
          <p:spPr>
            <a:xfrm>
              <a:off x="12605240" y="-37073"/>
              <a:ext cx="6681054" cy="78695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a:endParaRPr lang="en-GB" sz="2400" b="1" dirty="0"/>
            </a:p>
          </p:txBody>
        </p:sp>
      </p:grpSp>
      <p:sp>
        <p:nvSpPr>
          <p:cNvPr id="23" name="Rectangle 22">
            <a:extLst>
              <a:ext uri="{FF2B5EF4-FFF2-40B4-BE49-F238E27FC236}">
                <a16:creationId xmlns:a16="http://schemas.microsoft.com/office/drawing/2014/main" id="{00449C4F-31D8-4041-B278-C0E46EA08861}"/>
              </a:ext>
            </a:extLst>
          </p:cNvPr>
          <p:cNvSpPr/>
          <p:nvPr/>
        </p:nvSpPr>
        <p:spPr>
          <a:xfrm>
            <a:off x="227895" y="3714340"/>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Start Night Time Services</a:t>
            </a:r>
          </a:p>
        </p:txBody>
      </p:sp>
      <p:sp>
        <p:nvSpPr>
          <p:cNvPr id="112" name="Rectangle 111">
            <a:extLst>
              <a:ext uri="{FF2B5EF4-FFF2-40B4-BE49-F238E27FC236}">
                <a16:creationId xmlns:a16="http://schemas.microsoft.com/office/drawing/2014/main" id="{B3C497A1-BB8E-42CA-B7AD-6FDFD37738FC}"/>
              </a:ext>
            </a:extLst>
          </p:cNvPr>
          <p:cNvSpPr/>
          <p:nvPr/>
        </p:nvSpPr>
        <p:spPr>
          <a:xfrm>
            <a:off x="227895" y="4224533"/>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Execute “Away” Services</a:t>
            </a:r>
          </a:p>
        </p:txBody>
      </p:sp>
      <p:sp>
        <p:nvSpPr>
          <p:cNvPr id="113" name="Rectangle 112">
            <a:extLst>
              <a:ext uri="{FF2B5EF4-FFF2-40B4-BE49-F238E27FC236}">
                <a16:creationId xmlns:a16="http://schemas.microsoft.com/office/drawing/2014/main" id="{404DA9E4-3F7B-4ECB-9F3A-DA88691863F9}"/>
              </a:ext>
            </a:extLst>
          </p:cNvPr>
          <p:cNvSpPr/>
          <p:nvPr/>
        </p:nvSpPr>
        <p:spPr>
          <a:xfrm>
            <a:off x="227895" y="3204147"/>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Revamp app(s) interface</a:t>
            </a:r>
          </a:p>
        </p:txBody>
      </p:sp>
      <p:sp>
        <p:nvSpPr>
          <p:cNvPr id="114" name="Rectangle 113">
            <a:extLst>
              <a:ext uri="{FF2B5EF4-FFF2-40B4-BE49-F238E27FC236}">
                <a16:creationId xmlns:a16="http://schemas.microsoft.com/office/drawing/2014/main" id="{4611F973-F640-4315-B6C9-7CB0F323A3D7}"/>
              </a:ext>
            </a:extLst>
          </p:cNvPr>
          <p:cNvSpPr/>
          <p:nvPr/>
        </p:nvSpPr>
        <p:spPr>
          <a:xfrm>
            <a:off x="227895" y="2183761"/>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Launch customer hotline</a:t>
            </a:r>
          </a:p>
        </p:txBody>
      </p:sp>
      <p:sp>
        <p:nvSpPr>
          <p:cNvPr id="115" name="Rectangle 114">
            <a:extLst>
              <a:ext uri="{FF2B5EF4-FFF2-40B4-BE49-F238E27FC236}">
                <a16:creationId xmlns:a16="http://schemas.microsoft.com/office/drawing/2014/main" id="{8C0142F2-8C1C-4850-85E7-06E6F750A731}"/>
              </a:ext>
            </a:extLst>
          </p:cNvPr>
          <p:cNvSpPr/>
          <p:nvPr/>
        </p:nvSpPr>
        <p:spPr>
          <a:xfrm>
            <a:off x="227895" y="1673568"/>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Align on brand/ agenda</a:t>
            </a:r>
          </a:p>
        </p:txBody>
      </p:sp>
      <p:sp>
        <p:nvSpPr>
          <p:cNvPr id="116" name="Rectangle 115">
            <a:extLst>
              <a:ext uri="{FF2B5EF4-FFF2-40B4-BE49-F238E27FC236}">
                <a16:creationId xmlns:a16="http://schemas.microsoft.com/office/drawing/2014/main" id="{F13DA4B8-5C32-4E13-817C-0DB53CE81382}"/>
              </a:ext>
            </a:extLst>
          </p:cNvPr>
          <p:cNvSpPr/>
          <p:nvPr/>
        </p:nvSpPr>
        <p:spPr>
          <a:xfrm>
            <a:off x="227895" y="4734725"/>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Start with new offerings</a:t>
            </a:r>
          </a:p>
        </p:txBody>
      </p:sp>
      <p:sp>
        <p:nvSpPr>
          <p:cNvPr id="117" name="Rectangle 116">
            <a:extLst>
              <a:ext uri="{FF2B5EF4-FFF2-40B4-BE49-F238E27FC236}">
                <a16:creationId xmlns:a16="http://schemas.microsoft.com/office/drawing/2014/main" id="{C230C969-7358-4897-9935-946FC94A5F7F}"/>
              </a:ext>
            </a:extLst>
          </p:cNvPr>
          <p:cNvSpPr/>
          <p:nvPr/>
        </p:nvSpPr>
        <p:spPr>
          <a:xfrm>
            <a:off x="227895" y="2693954"/>
            <a:ext cx="2454345" cy="449707"/>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Commence partner branding/ city meetups</a:t>
            </a:r>
          </a:p>
        </p:txBody>
      </p:sp>
      <p:sp>
        <p:nvSpPr>
          <p:cNvPr id="97" name="Oval 96">
            <a:extLst>
              <a:ext uri="{FF2B5EF4-FFF2-40B4-BE49-F238E27FC236}">
                <a16:creationId xmlns:a16="http://schemas.microsoft.com/office/drawing/2014/main" id="{29CC3658-6084-4387-9072-ACEB46A17FB0}"/>
              </a:ext>
            </a:extLst>
          </p:cNvPr>
          <p:cNvSpPr/>
          <p:nvPr/>
        </p:nvSpPr>
        <p:spPr>
          <a:xfrm>
            <a:off x="278695" y="5437074"/>
            <a:ext cx="981434" cy="981434"/>
          </a:xfrm>
          <a:prstGeom prst="ellipse">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Rectangle: Rounded Corners 172">
            <a:extLst>
              <a:ext uri="{FF2B5EF4-FFF2-40B4-BE49-F238E27FC236}">
                <a16:creationId xmlns:a16="http://schemas.microsoft.com/office/drawing/2014/main" id="{8EE20E04-F27A-41D0-A46B-1103312D8E4B}"/>
              </a:ext>
            </a:extLst>
          </p:cNvPr>
          <p:cNvSpPr/>
          <p:nvPr/>
        </p:nvSpPr>
        <p:spPr>
          <a:xfrm>
            <a:off x="6892041" y="5486076"/>
            <a:ext cx="4932940" cy="8834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r>
              <a:rPr lang="en-GB" sz="1200" b="1" dirty="0"/>
              <a:t>COVID Initiatives </a:t>
            </a:r>
            <a:r>
              <a:rPr lang="en-GB" sz="1200" i="1" dirty="0"/>
              <a:t>(i.e., continued till foreseeable future)</a:t>
            </a:r>
          </a:p>
          <a:p>
            <a:pPr marL="171450" indent="-171450">
              <a:buFont typeface="Arial" panose="020B0604020202020204" pitchFamily="34" charset="0"/>
              <a:buChar char="•"/>
            </a:pPr>
            <a:r>
              <a:rPr lang="en-GB" sz="1200" dirty="0"/>
              <a:t>Emergency family support</a:t>
            </a:r>
          </a:p>
          <a:p>
            <a:pPr marL="171450" indent="-171450">
              <a:buFont typeface="Arial" panose="020B0604020202020204" pitchFamily="34" charset="0"/>
              <a:buChar char="•"/>
            </a:pPr>
            <a:r>
              <a:rPr lang="en-GB" sz="1200" dirty="0"/>
              <a:t>Minimum basic monetary support</a:t>
            </a:r>
          </a:p>
          <a:p>
            <a:pPr marL="171450" indent="-171450">
              <a:buFont typeface="Arial" panose="020B0604020202020204" pitchFamily="34" charset="0"/>
              <a:buChar char="•"/>
            </a:pPr>
            <a:r>
              <a:rPr lang="en-GB" sz="1200" dirty="0"/>
              <a:t>Ensure continuity of service in line with regulations</a:t>
            </a:r>
          </a:p>
        </p:txBody>
      </p:sp>
      <p:sp>
        <p:nvSpPr>
          <p:cNvPr id="174" name="Oval 173">
            <a:extLst>
              <a:ext uri="{FF2B5EF4-FFF2-40B4-BE49-F238E27FC236}">
                <a16:creationId xmlns:a16="http://schemas.microsoft.com/office/drawing/2014/main" id="{6E8D360A-E4F6-4213-9B91-B4EF8FA05EFD}"/>
              </a:ext>
            </a:extLst>
          </p:cNvPr>
          <p:cNvSpPr/>
          <p:nvPr/>
        </p:nvSpPr>
        <p:spPr>
          <a:xfrm>
            <a:off x="6503634" y="5437074"/>
            <a:ext cx="981434" cy="981434"/>
          </a:xfrm>
          <a:prstGeom prst="ellipse">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Rectangle 176">
            <a:extLst>
              <a:ext uri="{FF2B5EF4-FFF2-40B4-BE49-F238E27FC236}">
                <a16:creationId xmlns:a16="http://schemas.microsoft.com/office/drawing/2014/main" id="{B029C722-F177-4223-9E8E-3FFAB85FEC57}"/>
              </a:ext>
            </a:extLst>
          </p:cNvPr>
          <p:cNvSpPr/>
          <p:nvPr/>
        </p:nvSpPr>
        <p:spPr>
          <a:xfrm>
            <a:off x="2780778"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1</a:t>
            </a:r>
          </a:p>
        </p:txBody>
      </p:sp>
      <p:sp>
        <p:nvSpPr>
          <p:cNvPr id="178" name="Rectangle 177">
            <a:extLst>
              <a:ext uri="{FF2B5EF4-FFF2-40B4-BE49-F238E27FC236}">
                <a16:creationId xmlns:a16="http://schemas.microsoft.com/office/drawing/2014/main" id="{670C9BD1-F198-4937-9744-7C2111D93562}"/>
              </a:ext>
            </a:extLst>
          </p:cNvPr>
          <p:cNvSpPr/>
          <p:nvPr/>
        </p:nvSpPr>
        <p:spPr>
          <a:xfrm>
            <a:off x="3541805"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2</a:t>
            </a:r>
          </a:p>
        </p:txBody>
      </p:sp>
      <p:sp>
        <p:nvSpPr>
          <p:cNvPr id="179" name="Rectangle 178">
            <a:extLst>
              <a:ext uri="{FF2B5EF4-FFF2-40B4-BE49-F238E27FC236}">
                <a16:creationId xmlns:a16="http://schemas.microsoft.com/office/drawing/2014/main" id="{707466E5-5790-4083-A5A7-28B07ECE28B0}"/>
              </a:ext>
            </a:extLst>
          </p:cNvPr>
          <p:cNvSpPr/>
          <p:nvPr/>
        </p:nvSpPr>
        <p:spPr>
          <a:xfrm>
            <a:off x="4302832"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3</a:t>
            </a:r>
          </a:p>
        </p:txBody>
      </p:sp>
      <p:sp>
        <p:nvSpPr>
          <p:cNvPr id="180" name="Rectangle 179">
            <a:extLst>
              <a:ext uri="{FF2B5EF4-FFF2-40B4-BE49-F238E27FC236}">
                <a16:creationId xmlns:a16="http://schemas.microsoft.com/office/drawing/2014/main" id="{AA775B7D-EC63-4EE9-8CFF-208DB0BF48F2}"/>
              </a:ext>
            </a:extLst>
          </p:cNvPr>
          <p:cNvSpPr/>
          <p:nvPr/>
        </p:nvSpPr>
        <p:spPr>
          <a:xfrm>
            <a:off x="5063859"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4</a:t>
            </a:r>
          </a:p>
        </p:txBody>
      </p:sp>
      <p:sp>
        <p:nvSpPr>
          <p:cNvPr id="181" name="Rectangle 180">
            <a:extLst>
              <a:ext uri="{FF2B5EF4-FFF2-40B4-BE49-F238E27FC236}">
                <a16:creationId xmlns:a16="http://schemas.microsoft.com/office/drawing/2014/main" id="{7CF99B2B-13B1-4287-969C-FE258A9CD0FA}"/>
              </a:ext>
            </a:extLst>
          </p:cNvPr>
          <p:cNvSpPr/>
          <p:nvPr/>
        </p:nvSpPr>
        <p:spPr>
          <a:xfrm>
            <a:off x="5824886"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5</a:t>
            </a:r>
          </a:p>
        </p:txBody>
      </p:sp>
      <p:sp>
        <p:nvSpPr>
          <p:cNvPr id="182" name="Rectangle 181">
            <a:extLst>
              <a:ext uri="{FF2B5EF4-FFF2-40B4-BE49-F238E27FC236}">
                <a16:creationId xmlns:a16="http://schemas.microsoft.com/office/drawing/2014/main" id="{1C16175E-476B-4751-A86F-6A836F850967}"/>
              </a:ext>
            </a:extLst>
          </p:cNvPr>
          <p:cNvSpPr/>
          <p:nvPr/>
        </p:nvSpPr>
        <p:spPr>
          <a:xfrm>
            <a:off x="6585913"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6</a:t>
            </a:r>
          </a:p>
        </p:txBody>
      </p:sp>
      <p:sp>
        <p:nvSpPr>
          <p:cNvPr id="183" name="Rectangle 182">
            <a:extLst>
              <a:ext uri="{FF2B5EF4-FFF2-40B4-BE49-F238E27FC236}">
                <a16:creationId xmlns:a16="http://schemas.microsoft.com/office/drawing/2014/main" id="{178FC08D-5ABE-4A27-87B5-D43FD20B916E}"/>
              </a:ext>
            </a:extLst>
          </p:cNvPr>
          <p:cNvSpPr/>
          <p:nvPr/>
        </p:nvSpPr>
        <p:spPr>
          <a:xfrm>
            <a:off x="7346940"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7</a:t>
            </a:r>
          </a:p>
        </p:txBody>
      </p:sp>
      <p:sp>
        <p:nvSpPr>
          <p:cNvPr id="184" name="Rectangle 183">
            <a:extLst>
              <a:ext uri="{FF2B5EF4-FFF2-40B4-BE49-F238E27FC236}">
                <a16:creationId xmlns:a16="http://schemas.microsoft.com/office/drawing/2014/main" id="{54630578-3014-491D-AF17-5D5D295DDB13}"/>
              </a:ext>
            </a:extLst>
          </p:cNvPr>
          <p:cNvSpPr/>
          <p:nvPr/>
        </p:nvSpPr>
        <p:spPr>
          <a:xfrm>
            <a:off x="8107967"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8</a:t>
            </a:r>
          </a:p>
        </p:txBody>
      </p:sp>
      <p:sp>
        <p:nvSpPr>
          <p:cNvPr id="185" name="Rectangle 184">
            <a:extLst>
              <a:ext uri="{FF2B5EF4-FFF2-40B4-BE49-F238E27FC236}">
                <a16:creationId xmlns:a16="http://schemas.microsoft.com/office/drawing/2014/main" id="{4B334687-53FA-4154-B4A5-AE4C37616B9F}"/>
              </a:ext>
            </a:extLst>
          </p:cNvPr>
          <p:cNvSpPr/>
          <p:nvPr/>
        </p:nvSpPr>
        <p:spPr>
          <a:xfrm>
            <a:off x="8868994"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9</a:t>
            </a:r>
          </a:p>
        </p:txBody>
      </p:sp>
      <p:sp>
        <p:nvSpPr>
          <p:cNvPr id="186" name="Rectangle 185">
            <a:extLst>
              <a:ext uri="{FF2B5EF4-FFF2-40B4-BE49-F238E27FC236}">
                <a16:creationId xmlns:a16="http://schemas.microsoft.com/office/drawing/2014/main" id="{8A3DE449-4FF0-417E-A037-B353CCE15058}"/>
              </a:ext>
            </a:extLst>
          </p:cNvPr>
          <p:cNvSpPr/>
          <p:nvPr/>
        </p:nvSpPr>
        <p:spPr>
          <a:xfrm>
            <a:off x="9630021"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10</a:t>
            </a:r>
          </a:p>
        </p:txBody>
      </p:sp>
      <p:sp>
        <p:nvSpPr>
          <p:cNvPr id="187" name="Rectangle 186">
            <a:extLst>
              <a:ext uri="{FF2B5EF4-FFF2-40B4-BE49-F238E27FC236}">
                <a16:creationId xmlns:a16="http://schemas.microsoft.com/office/drawing/2014/main" id="{0A3F536C-098F-41E7-AF5C-4550E734F089}"/>
              </a:ext>
            </a:extLst>
          </p:cNvPr>
          <p:cNvSpPr/>
          <p:nvPr/>
        </p:nvSpPr>
        <p:spPr>
          <a:xfrm>
            <a:off x="10391048"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11</a:t>
            </a:r>
          </a:p>
        </p:txBody>
      </p:sp>
      <p:sp>
        <p:nvSpPr>
          <p:cNvPr id="188" name="Rectangle 187">
            <a:extLst>
              <a:ext uri="{FF2B5EF4-FFF2-40B4-BE49-F238E27FC236}">
                <a16:creationId xmlns:a16="http://schemas.microsoft.com/office/drawing/2014/main" id="{554F600B-3C0F-4DEF-B0B9-1027E9C1FE00}"/>
              </a:ext>
            </a:extLst>
          </p:cNvPr>
          <p:cNvSpPr/>
          <p:nvPr/>
        </p:nvSpPr>
        <p:spPr>
          <a:xfrm>
            <a:off x="11152080" y="1196578"/>
            <a:ext cx="691755" cy="379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dirty="0">
                <a:solidFill>
                  <a:schemeClr val="tx1"/>
                </a:solidFill>
              </a:rPr>
              <a:t>Week 12</a:t>
            </a:r>
          </a:p>
        </p:txBody>
      </p:sp>
      <p:sp>
        <p:nvSpPr>
          <p:cNvPr id="190" name="Rectangle 189">
            <a:extLst>
              <a:ext uri="{FF2B5EF4-FFF2-40B4-BE49-F238E27FC236}">
                <a16:creationId xmlns:a16="http://schemas.microsoft.com/office/drawing/2014/main" id="{7D086E65-A0A1-4BAA-AA49-AD5F462EF551}"/>
              </a:ext>
            </a:extLst>
          </p:cNvPr>
          <p:cNvSpPr/>
          <p:nvPr/>
        </p:nvSpPr>
        <p:spPr>
          <a:xfrm>
            <a:off x="2780777" y="1782292"/>
            <a:ext cx="1452783" cy="23049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1" name="Rectangle 190">
            <a:extLst>
              <a:ext uri="{FF2B5EF4-FFF2-40B4-BE49-F238E27FC236}">
                <a16:creationId xmlns:a16="http://schemas.microsoft.com/office/drawing/2014/main" id="{0DF95BE0-363B-43DC-8664-8F1F6EF94A3F}"/>
              </a:ext>
            </a:extLst>
          </p:cNvPr>
          <p:cNvSpPr/>
          <p:nvPr/>
        </p:nvSpPr>
        <p:spPr>
          <a:xfrm>
            <a:off x="2780776" y="2292677"/>
            <a:ext cx="2974838" cy="23049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4" name="Rectangle 193">
            <a:extLst>
              <a:ext uri="{FF2B5EF4-FFF2-40B4-BE49-F238E27FC236}">
                <a16:creationId xmlns:a16="http://schemas.microsoft.com/office/drawing/2014/main" id="{274F26B5-832B-48E9-B766-2208085F0F36}"/>
              </a:ext>
            </a:extLst>
          </p:cNvPr>
          <p:cNvSpPr/>
          <p:nvPr/>
        </p:nvSpPr>
        <p:spPr>
          <a:xfrm>
            <a:off x="7346940" y="3823832"/>
            <a:ext cx="4496895"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5" name="Rectangle 194">
            <a:extLst>
              <a:ext uri="{FF2B5EF4-FFF2-40B4-BE49-F238E27FC236}">
                <a16:creationId xmlns:a16="http://schemas.microsoft.com/office/drawing/2014/main" id="{E67612A4-E942-4A72-9D28-16EE80051A8F}"/>
              </a:ext>
            </a:extLst>
          </p:cNvPr>
          <p:cNvSpPr/>
          <p:nvPr/>
        </p:nvSpPr>
        <p:spPr>
          <a:xfrm>
            <a:off x="9630020" y="4334217"/>
            <a:ext cx="2213813"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6" name="Rectangle 195">
            <a:extLst>
              <a:ext uri="{FF2B5EF4-FFF2-40B4-BE49-F238E27FC236}">
                <a16:creationId xmlns:a16="http://schemas.microsoft.com/office/drawing/2014/main" id="{9852FAEA-0DF0-4A7E-8E07-E9542FDDB114}"/>
              </a:ext>
            </a:extLst>
          </p:cNvPr>
          <p:cNvSpPr/>
          <p:nvPr/>
        </p:nvSpPr>
        <p:spPr>
          <a:xfrm>
            <a:off x="10743184" y="4844600"/>
            <a:ext cx="1100649"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7" name="Rectangle 196">
            <a:extLst>
              <a:ext uri="{FF2B5EF4-FFF2-40B4-BE49-F238E27FC236}">
                <a16:creationId xmlns:a16="http://schemas.microsoft.com/office/drawing/2014/main" id="{E9417FD2-9F62-4567-A2DF-913EBD0B0924}"/>
              </a:ext>
            </a:extLst>
          </p:cNvPr>
          <p:cNvSpPr/>
          <p:nvPr/>
        </p:nvSpPr>
        <p:spPr>
          <a:xfrm>
            <a:off x="2780784" y="1782292"/>
            <a:ext cx="1452783"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8" name="Rectangle 197">
            <a:extLst>
              <a:ext uri="{FF2B5EF4-FFF2-40B4-BE49-F238E27FC236}">
                <a16:creationId xmlns:a16="http://schemas.microsoft.com/office/drawing/2014/main" id="{C66F78B8-065D-440A-B3A8-2BC26384C985}"/>
              </a:ext>
            </a:extLst>
          </p:cNvPr>
          <p:cNvSpPr/>
          <p:nvPr/>
        </p:nvSpPr>
        <p:spPr>
          <a:xfrm>
            <a:off x="2780783" y="2292677"/>
            <a:ext cx="2974838"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99" name="Rectangle 198">
            <a:extLst>
              <a:ext uri="{FF2B5EF4-FFF2-40B4-BE49-F238E27FC236}">
                <a16:creationId xmlns:a16="http://schemas.microsoft.com/office/drawing/2014/main" id="{24BEAD60-9B1F-402A-BA1D-3E0C8571AC49}"/>
              </a:ext>
            </a:extLst>
          </p:cNvPr>
          <p:cNvSpPr/>
          <p:nvPr/>
        </p:nvSpPr>
        <p:spPr>
          <a:xfrm>
            <a:off x="4302831" y="2803062"/>
            <a:ext cx="6018945"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200" name="Rectangle 199">
            <a:extLst>
              <a:ext uri="{FF2B5EF4-FFF2-40B4-BE49-F238E27FC236}">
                <a16:creationId xmlns:a16="http://schemas.microsoft.com/office/drawing/2014/main" id="{107C3803-A9B1-4110-AE6A-8D644EF2DFB2}"/>
              </a:ext>
            </a:extLst>
          </p:cNvPr>
          <p:cNvSpPr/>
          <p:nvPr/>
        </p:nvSpPr>
        <p:spPr>
          <a:xfrm>
            <a:off x="4295675" y="3313447"/>
            <a:ext cx="7548160"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1200" dirty="0">
              <a:solidFill>
                <a:schemeClr val="tx1"/>
              </a:solidFill>
            </a:endParaRPr>
          </a:p>
        </p:txBody>
      </p:sp>
      <p:sp>
        <p:nvSpPr>
          <p:cNvPr id="100" name="Arrow: Chevron 99">
            <a:extLst>
              <a:ext uri="{FF2B5EF4-FFF2-40B4-BE49-F238E27FC236}">
                <a16:creationId xmlns:a16="http://schemas.microsoft.com/office/drawing/2014/main" id="{ACA73F66-7EC1-4A45-B55B-C082B8F38BF9}"/>
              </a:ext>
            </a:extLst>
          </p:cNvPr>
          <p:cNvSpPr/>
          <p:nvPr/>
        </p:nvSpPr>
        <p:spPr>
          <a:xfrm>
            <a:off x="4128111" y="1785943"/>
            <a:ext cx="207824" cy="226844"/>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5" name="Star: 4 Points 204">
            <a:extLst>
              <a:ext uri="{FF2B5EF4-FFF2-40B4-BE49-F238E27FC236}">
                <a16:creationId xmlns:a16="http://schemas.microsoft.com/office/drawing/2014/main" id="{1B146C8D-418C-425F-B623-2B6BE7CB0042}"/>
              </a:ext>
            </a:extLst>
          </p:cNvPr>
          <p:cNvSpPr/>
          <p:nvPr/>
        </p:nvSpPr>
        <p:spPr>
          <a:xfrm>
            <a:off x="5651702" y="2290083"/>
            <a:ext cx="207824" cy="226844"/>
          </a:xfrm>
          <a:prstGeom prst="star4">
            <a:avLst>
              <a:gd name="adj" fmla="val 2593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6" name="Star: 4 Points 205">
            <a:extLst>
              <a:ext uri="{FF2B5EF4-FFF2-40B4-BE49-F238E27FC236}">
                <a16:creationId xmlns:a16="http://schemas.microsoft.com/office/drawing/2014/main" id="{131338ED-EB36-4840-90EE-09B4DF266788}"/>
              </a:ext>
            </a:extLst>
          </p:cNvPr>
          <p:cNvSpPr/>
          <p:nvPr/>
        </p:nvSpPr>
        <p:spPr>
          <a:xfrm>
            <a:off x="10217864" y="2789510"/>
            <a:ext cx="207824" cy="226844"/>
          </a:xfrm>
          <a:prstGeom prst="star4">
            <a:avLst>
              <a:gd name="adj" fmla="val 2593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7" name="Arrow: Chevron 206">
            <a:extLst>
              <a:ext uri="{FF2B5EF4-FFF2-40B4-BE49-F238E27FC236}">
                <a16:creationId xmlns:a16="http://schemas.microsoft.com/office/drawing/2014/main" id="{750B8E62-1B21-49F5-AC7A-E854429B1953}"/>
              </a:ext>
            </a:extLst>
          </p:cNvPr>
          <p:cNvSpPr/>
          <p:nvPr/>
        </p:nvSpPr>
        <p:spPr>
          <a:xfrm>
            <a:off x="11722675" y="3317098"/>
            <a:ext cx="207824" cy="226844"/>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8" name="Arrow: Chevron 207">
            <a:extLst>
              <a:ext uri="{FF2B5EF4-FFF2-40B4-BE49-F238E27FC236}">
                <a16:creationId xmlns:a16="http://schemas.microsoft.com/office/drawing/2014/main" id="{F53455E1-606D-44DF-B70B-5659D75217F9}"/>
              </a:ext>
            </a:extLst>
          </p:cNvPr>
          <p:cNvSpPr/>
          <p:nvPr/>
        </p:nvSpPr>
        <p:spPr>
          <a:xfrm>
            <a:off x="11722648" y="4337868"/>
            <a:ext cx="207824" cy="226844"/>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9" name="Arrow: Chevron 208">
            <a:extLst>
              <a:ext uri="{FF2B5EF4-FFF2-40B4-BE49-F238E27FC236}">
                <a16:creationId xmlns:a16="http://schemas.microsoft.com/office/drawing/2014/main" id="{4BF4DFC8-99BF-4B27-BC31-391BED868A2D}"/>
              </a:ext>
            </a:extLst>
          </p:cNvPr>
          <p:cNvSpPr/>
          <p:nvPr/>
        </p:nvSpPr>
        <p:spPr>
          <a:xfrm>
            <a:off x="11733799" y="4848251"/>
            <a:ext cx="207824" cy="226844"/>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0" name="Star: 4 Points 209">
            <a:extLst>
              <a:ext uri="{FF2B5EF4-FFF2-40B4-BE49-F238E27FC236}">
                <a16:creationId xmlns:a16="http://schemas.microsoft.com/office/drawing/2014/main" id="{0CEC7C3C-F78F-4FBC-9B38-2DE0125C533B}"/>
              </a:ext>
            </a:extLst>
          </p:cNvPr>
          <p:cNvSpPr/>
          <p:nvPr/>
        </p:nvSpPr>
        <p:spPr>
          <a:xfrm>
            <a:off x="11739921" y="3831134"/>
            <a:ext cx="207824" cy="226844"/>
          </a:xfrm>
          <a:prstGeom prst="star4">
            <a:avLst>
              <a:gd name="adj" fmla="val 2593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01" name="Group 100">
            <a:extLst>
              <a:ext uri="{FF2B5EF4-FFF2-40B4-BE49-F238E27FC236}">
                <a16:creationId xmlns:a16="http://schemas.microsoft.com/office/drawing/2014/main" id="{F58D99BA-3061-4B09-8A1E-D9889614D224}"/>
              </a:ext>
            </a:extLst>
          </p:cNvPr>
          <p:cNvGrpSpPr/>
          <p:nvPr/>
        </p:nvGrpSpPr>
        <p:grpSpPr>
          <a:xfrm>
            <a:off x="658486" y="6635260"/>
            <a:ext cx="1593162" cy="127873"/>
            <a:chOff x="11411" y="6538425"/>
            <a:chExt cx="2871733" cy="230495"/>
          </a:xfrm>
        </p:grpSpPr>
        <p:sp>
          <p:nvSpPr>
            <p:cNvPr id="211" name="Rectangle 210">
              <a:extLst>
                <a:ext uri="{FF2B5EF4-FFF2-40B4-BE49-F238E27FC236}">
                  <a16:creationId xmlns:a16="http://schemas.microsoft.com/office/drawing/2014/main" id="{CF0426B1-58F7-4919-8A4C-0561556AA805}"/>
                </a:ext>
              </a:extLst>
            </p:cNvPr>
            <p:cNvSpPr/>
            <p:nvPr/>
          </p:nvSpPr>
          <p:spPr>
            <a:xfrm>
              <a:off x="11411" y="6538425"/>
              <a:ext cx="2769365" cy="23049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dirty="0">
                  <a:solidFill>
                    <a:schemeClr val="tx1"/>
                  </a:solidFill>
                </a:rPr>
                <a:t>Periodic Process</a:t>
              </a:r>
            </a:p>
          </p:txBody>
        </p:sp>
        <p:sp>
          <p:nvSpPr>
            <p:cNvPr id="212" name="Arrow: Chevron 211">
              <a:extLst>
                <a:ext uri="{FF2B5EF4-FFF2-40B4-BE49-F238E27FC236}">
                  <a16:creationId xmlns:a16="http://schemas.microsoft.com/office/drawing/2014/main" id="{D37F1550-21DE-430E-8F8B-46F355CD7F4C}"/>
                </a:ext>
              </a:extLst>
            </p:cNvPr>
            <p:cNvSpPr/>
            <p:nvPr/>
          </p:nvSpPr>
          <p:spPr>
            <a:xfrm>
              <a:off x="2675320" y="6542076"/>
              <a:ext cx="207824" cy="226844"/>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215" name="Rectangle 214">
            <a:extLst>
              <a:ext uri="{FF2B5EF4-FFF2-40B4-BE49-F238E27FC236}">
                <a16:creationId xmlns:a16="http://schemas.microsoft.com/office/drawing/2014/main" id="{09AE9B5D-C996-4B0D-8F84-E64CAB6D38E6}"/>
              </a:ext>
            </a:extLst>
          </p:cNvPr>
          <p:cNvSpPr/>
          <p:nvPr/>
        </p:nvSpPr>
        <p:spPr>
          <a:xfrm>
            <a:off x="2282190" y="6635260"/>
            <a:ext cx="2444613" cy="1278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dirty="0">
                <a:solidFill>
                  <a:schemeClr val="tx1"/>
                </a:solidFill>
              </a:rPr>
              <a:t>Permanent addition to service catalogue</a:t>
            </a:r>
          </a:p>
        </p:txBody>
      </p:sp>
      <p:sp>
        <p:nvSpPr>
          <p:cNvPr id="217" name="Star: 4 Points 216">
            <a:extLst>
              <a:ext uri="{FF2B5EF4-FFF2-40B4-BE49-F238E27FC236}">
                <a16:creationId xmlns:a16="http://schemas.microsoft.com/office/drawing/2014/main" id="{77C0513D-7546-4E99-A7B7-714B4370952F}"/>
              </a:ext>
            </a:extLst>
          </p:cNvPr>
          <p:cNvSpPr/>
          <p:nvPr/>
        </p:nvSpPr>
        <p:spPr>
          <a:xfrm>
            <a:off x="4662712" y="6635260"/>
            <a:ext cx="120743" cy="127873"/>
          </a:xfrm>
          <a:prstGeom prst="star4">
            <a:avLst>
              <a:gd name="adj" fmla="val 2593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3" name="TextBox 102">
            <a:extLst>
              <a:ext uri="{FF2B5EF4-FFF2-40B4-BE49-F238E27FC236}">
                <a16:creationId xmlns:a16="http://schemas.microsoft.com/office/drawing/2014/main" id="{1D746E2D-221F-4748-B5B7-ACC300A200C8}"/>
              </a:ext>
            </a:extLst>
          </p:cNvPr>
          <p:cNvSpPr txBox="1"/>
          <p:nvPr/>
        </p:nvSpPr>
        <p:spPr>
          <a:xfrm>
            <a:off x="11012" y="6559997"/>
            <a:ext cx="598241" cy="261610"/>
          </a:xfrm>
          <a:prstGeom prst="rect">
            <a:avLst/>
          </a:prstGeom>
          <a:noFill/>
        </p:spPr>
        <p:txBody>
          <a:bodyPr wrap="none" rtlCol="0">
            <a:spAutoFit/>
          </a:bodyPr>
          <a:lstStyle/>
          <a:p>
            <a:r>
              <a:rPr lang="en-GB" sz="1050" b="1" i="1" dirty="0"/>
              <a:t>Legend</a:t>
            </a:r>
          </a:p>
        </p:txBody>
      </p:sp>
      <p:cxnSp>
        <p:nvCxnSpPr>
          <p:cNvPr id="105" name="Straight Connector 104">
            <a:extLst>
              <a:ext uri="{FF2B5EF4-FFF2-40B4-BE49-F238E27FC236}">
                <a16:creationId xmlns:a16="http://schemas.microsoft.com/office/drawing/2014/main" id="{38BCA597-04EB-47BF-8F71-B7E36882DCC8}"/>
              </a:ext>
            </a:extLst>
          </p:cNvPr>
          <p:cNvCxnSpPr>
            <a:cxnSpLocks/>
          </p:cNvCxnSpPr>
          <p:nvPr/>
        </p:nvCxnSpPr>
        <p:spPr>
          <a:xfrm>
            <a:off x="256995" y="5309255"/>
            <a:ext cx="11615938" cy="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9814CFA9-F944-41C1-A667-5164AE0E9CBB}"/>
              </a:ext>
            </a:extLst>
          </p:cNvPr>
          <p:cNvCxnSpPr>
            <a:cxnSpLocks/>
          </p:cNvCxnSpPr>
          <p:nvPr/>
        </p:nvCxnSpPr>
        <p:spPr>
          <a:xfrm>
            <a:off x="6096000" y="5486076"/>
            <a:ext cx="0" cy="932432"/>
          </a:xfrm>
          <a:prstGeom prst="line">
            <a:avLst/>
          </a:prstGeom>
          <a:ln w="19050">
            <a:solidFill>
              <a:schemeClr val="tx2"/>
            </a:solidFill>
            <a:prstDash val="sysDot"/>
          </a:ln>
        </p:spPr>
        <p:style>
          <a:lnRef idx="1">
            <a:schemeClr val="accent1"/>
          </a:lnRef>
          <a:fillRef idx="0">
            <a:schemeClr val="accent1"/>
          </a:fillRef>
          <a:effectRef idx="0">
            <a:schemeClr val="accent1"/>
          </a:effectRef>
          <a:fontRef idx="minor">
            <a:schemeClr val="tx1"/>
          </a:fontRef>
        </p:style>
      </p:cxnSp>
      <p:pic>
        <p:nvPicPr>
          <p:cNvPr id="109" name="Graphic 108">
            <a:extLst>
              <a:ext uri="{FF2B5EF4-FFF2-40B4-BE49-F238E27FC236}">
                <a16:creationId xmlns:a16="http://schemas.microsoft.com/office/drawing/2014/main" id="{AB1FD350-CA28-41F0-BA0F-48C333676E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4655" y="5614041"/>
            <a:ext cx="623972" cy="779965"/>
          </a:xfrm>
          <a:prstGeom prst="rect">
            <a:avLst/>
          </a:prstGeom>
        </p:spPr>
      </p:pic>
      <p:pic>
        <p:nvPicPr>
          <p:cNvPr id="111" name="Graphic 110">
            <a:extLst>
              <a:ext uri="{FF2B5EF4-FFF2-40B4-BE49-F238E27FC236}">
                <a16:creationId xmlns:a16="http://schemas.microsoft.com/office/drawing/2014/main" id="{619D2A77-9697-48B7-A2C9-5C1EB154F7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26948" y="5661422"/>
            <a:ext cx="545289" cy="545289"/>
          </a:xfrm>
          <a:prstGeom prst="rect">
            <a:avLst/>
          </a:prstGeom>
        </p:spPr>
      </p:pic>
    </p:spTree>
    <p:extLst>
      <p:ext uri="{BB962C8B-B14F-4D97-AF65-F5344CB8AC3E}">
        <p14:creationId xmlns:p14="http://schemas.microsoft.com/office/powerpoint/2010/main" val="1659317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Light Trails on City Street at Night">
            <a:extLst>
              <a:ext uri="{FF2B5EF4-FFF2-40B4-BE49-F238E27FC236}">
                <a16:creationId xmlns:a16="http://schemas.microsoft.com/office/drawing/2014/main" id="{260A0CEA-A3A1-4A74-8824-2F789C411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33A365D-9D11-48C1-BCC5-7638DA8808AC}"/>
              </a:ext>
            </a:extLst>
          </p:cNvPr>
          <p:cNvSpPr/>
          <p:nvPr/>
        </p:nvSpPr>
        <p:spPr>
          <a:xfrm>
            <a:off x="0" y="0"/>
            <a:ext cx="12192000" cy="6858000"/>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DE35181B-8A76-466F-9B03-C3D06DA931C0}"/>
              </a:ext>
            </a:extLst>
          </p:cNvPr>
          <p:cNvSpPr/>
          <p:nvPr/>
        </p:nvSpPr>
        <p:spPr>
          <a:xfrm>
            <a:off x="8903" y="2844478"/>
            <a:ext cx="12174194" cy="1169043"/>
          </a:xfrm>
          <a:prstGeom prst="rect">
            <a:avLst/>
          </a:prstGeom>
          <a:solidFill>
            <a:srgbClr val="001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TextBox 12">
            <a:extLst>
              <a:ext uri="{FF2B5EF4-FFF2-40B4-BE49-F238E27FC236}">
                <a16:creationId xmlns:a16="http://schemas.microsoft.com/office/drawing/2014/main" id="{9E58A7F1-8BC1-4494-AE4B-77EB79BCA7EF}"/>
              </a:ext>
            </a:extLst>
          </p:cNvPr>
          <p:cNvSpPr txBox="1"/>
          <p:nvPr/>
        </p:nvSpPr>
        <p:spPr>
          <a:xfrm>
            <a:off x="4269698" y="3075056"/>
            <a:ext cx="3652603" cy="707886"/>
          </a:xfrm>
          <a:prstGeom prst="rect">
            <a:avLst/>
          </a:prstGeom>
          <a:noFill/>
        </p:spPr>
        <p:txBody>
          <a:bodyPr wrap="none" rtlCol="0">
            <a:spAutoFit/>
          </a:bodyPr>
          <a:lstStyle/>
          <a:p>
            <a:pPr algn="ctr"/>
            <a:r>
              <a:rPr lang="en-GB" sz="4000" b="1" dirty="0">
                <a:solidFill>
                  <a:schemeClr val="bg1"/>
                </a:solidFill>
                <a:latin typeface="Trajanus Roman" panose="02020500000000000000" pitchFamily="18" charset="0"/>
              </a:rPr>
              <a:t>THANK</a:t>
            </a:r>
            <a:r>
              <a:rPr lang="en-GB" b="1" dirty="0">
                <a:solidFill>
                  <a:schemeClr val="bg1"/>
                </a:solidFill>
                <a:latin typeface="Trajanus Roman" panose="02020500000000000000" pitchFamily="18" charset="0"/>
              </a:rPr>
              <a:t> </a:t>
            </a:r>
            <a:r>
              <a:rPr lang="en-GB" sz="4000" b="1" dirty="0">
                <a:solidFill>
                  <a:schemeClr val="bg1"/>
                </a:solidFill>
                <a:latin typeface="Trajanus Roman" panose="02020500000000000000" pitchFamily="18" charset="0"/>
              </a:rPr>
              <a:t>YOU</a:t>
            </a:r>
          </a:p>
        </p:txBody>
      </p:sp>
    </p:spTree>
    <p:extLst>
      <p:ext uri="{BB962C8B-B14F-4D97-AF65-F5344CB8AC3E}">
        <p14:creationId xmlns:p14="http://schemas.microsoft.com/office/powerpoint/2010/main" val="16329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AD7B08361F2F5428CD898F8021321AA" ma:contentTypeVersion="5" ma:contentTypeDescription="Create a new document." ma:contentTypeScope="" ma:versionID="57bfdb329f7a096919a7650b43138d79">
  <xsd:schema xmlns:xsd="http://www.w3.org/2001/XMLSchema" xmlns:xs="http://www.w3.org/2001/XMLSchema" xmlns:p="http://schemas.microsoft.com/office/2006/metadata/properties" xmlns:ns3="5e085f01-71c1-4ad1-8594-8472d2d6ada2" xmlns:ns4="a30e4aa9-a173-4969-a0f3-5f92ab7c0b46" targetNamespace="http://schemas.microsoft.com/office/2006/metadata/properties" ma:root="true" ma:fieldsID="13d5efe3f59012f6b6d1fe78de3fe649" ns3:_="" ns4:_="">
    <xsd:import namespace="5e085f01-71c1-4ad1-8594-8472d2d6ada2"/>
    <xsd:import namespace="a30e4aa9-a173-4969-a0f3-5f92ab7c0b4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085f01-71c1-4ad1-8594-8472d2d6ada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0e4aa9-a173-4969-a0f3-5f92ab7c0b4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FEB4E8-5F9B-4380-A593-EAE6275E9C78}">
  <ds:schemaRefs>
    <ds:schemaRef ds:uri="http://schemas.microsoft.com/office/infopath/2007/PartnerControls"/>
    <ds:schemaRef ds:uri="http://schemas.openxmlformats.org/package/2006/metadata/core-properties"/>
    <ds:schemaRef ds:uri="a30e4aa9-a173-4969-a0f3-5f92ab7c0b46"/>
    <ds:schemaRef ds:uri="http://schemas.microsoft.com/office/2006/documentManagement/types"/>
    <ds:schemaRef ds:uri="5e085f01-71c1-4ad1-8594-8472d2d6ada2"/>
    <ds:schemaRef ds:uri="http://purl.org/dc/dcmitype/"/>
    <ds:schemaRef ds:uri="http://purl.org/dc/elements/1.1/"/>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2E0743F8-2F25-4571-A3A8-356664F1EA41}">
  <ds:schemaRefs>
    <ds:schemaRef ds:uri="http://schemas.microsoft.com/sharepoint/v3/contenttype/forms"/>
  </ds:schemaRefs>
</ds:datastoreItem>
</file>

<file path=customXml/itemProps3.xml><?xml version="1.0" encoding="utf-8"?>
<ds:datastoreItem xmlns:ds="http://schemas.openxmlformats.org/officeDocument/2006/customXml" ds:itemID="{CE6147B4-754B-4D1F-A657-AE6B8754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085f01-71c1-4ad1-8594-8472d2d6ada2"/>
    <ds:schemaRef ds:uri="a30e4aa9-a173-4969-a0f3-5f92ab7c0b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3100</Words>
  <Application>Microsoft Office PowerPoint</Application>
  <PresentationFormat>Widescreen</PresentationFormat>
  <Paragraphs>772</Paragraphs>
  <Slides>17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Harlow Solid Italic</vt:lpstr>
      <vt:lpstr>Segoe UI</vt:lpstr>
      <vt:lpstr>Trajanus Roman</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787_Gupta_Singh_Goyal</dc:title>
  <dc:creator/>
  <cp:lastModifiedBy/>
  <cp:revision>1</cp:revision>
  <dcterms:created xsi:type="dcterms:W3CDTF">2020-06-28T14:49:16Z</dcterms:created>
  <dcterms:modified xsi:type="dcterms:W3CDTF">2025-05-26T13:26:51Z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0x0101002AD7B08361F2F5428CD898F8021321AA</vt:lpwstr>
  </property>
</Properties>
</file>