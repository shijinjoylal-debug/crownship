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7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8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773" r:id="rId6"/>
    <p:sldMasterId id="2147483922" r:id="rId7"/>
    <p:sldMasterId id="2147483950" r:id="rId8"/>
    <p:sldMasterId id="2147483965" r:id="rId9"/>
    <p:sldMasterId id="2147483981" r:id="rId10"/>
    <p:sldMasterId id="2147484005" r:id="rId11"/>
    <p:sldMasterId id="2147484028" r:id="rId12"/>
  </p:sldMasterIdLst>
  <p:notesMasterIdLst>
    <p:notesMasterId r:id="rId24"/>
  </p:notesMasterIdLst>
  <p:sldIdLst>
    <p:sldId id="499" r:id="rId13"/>
    <p:sldId id="277" r:id="rId14"/>
    <p:sldId id="286" r:id="rId15"/>
    <p:sldId id="498" r:id="rId16"/>
    <p:sldId id="291" r:id="rId17"/>
    <p:sldId id="374" r:id="rId18"/>
    <p:sldId id="452" r:id="rId19"/>
    <p:sldId id="500" r:id="rId20"/>
    <p:sldId id="486" r:id="rId21"/>
    <p:sldId id="362" r:id="rId22"/>
    <p:sldId id="4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C9CAE8-9C3A-43CF-975D-4B1D8D1DAA8F}">
          <p14:sldIdLst>
            <p14:sldId id="499"/>
            <p14:sldId id="277"/>
            <p14:sldId id="286"/>
            <p14:sldId id="498"/>
            <p14:sldId id="291"/>
            <p14:sldId id="374"/>
            <p14:sldId id="452"/>
            <p14:sldId id="500"/>
            <p14:sldId id="486"/>
            <p14:sldId id="362"/>
            <p14:sldId id="4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00162F"/>
    <a:srgbClr val="FFFFFF"/>
    <a:srgbClr val="44546A"/>
    <a:srgbClr val="435B83"/>
    <a:srgbClr val="410F74"/>
    <a:srgbClr val="F2F2F2"/>
    <a:srgbClr val="FBFBFB"/>
    <a:srgbClr val="182C44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anantachhajer-my.sharepoint.com/personal/mansi_anantachhajer_onmicrosoft_com/Documents/Chart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anantachhajer-my.sharepoint.com/personal/mansi_anantachhajer_onmicrosoft_com/Documents/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Researching</c:v>
                </c:pt>
                <c:pt idx="1">
                  <c:v>Comparing</c:v>
                </c:pt>
                <c:pt idx="2">
                  <c:v>Application</c:v>
                </c:pt>
                <c:pt idx="3">
                  <c:v>Onboarding</c:v>
                </c:pt>
                <c:pt idx="4">
                  <c:v>Payment</c:v>
                </c:pt>
                <c:pt idx="5">
                  <c:v>Support</c:v>
                </c:pt>
                <c:pt idx="6">
                  <c:v>Rewards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2.96</c:v>
                </c:pt>
                <c:pt idx="1">
                  <c:v>3.07</c:v>
                </c:pt>
                <c:pt idx="2">
                  <c:v>3.11</c:v>
                </c:pt>
                <c:pt idx="3">
                  <c:v>2.87</c:v>
                </c:pt>
                <c:pt idx="4">
                  <c:v>2.98</c:v>
                </c:pt>
                <c:pt idx="5">
                  <c:v>3.15</c:v>
                </c:pt>
                <c:pt idx="6">
                  <c:v>2.95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9F-44A7-9DA3-4A3C854B0F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Researching</c:v>
                </c:pt>
                <c:pt idx="1">
                  <c:v>Comparing</c:v>
                </c:pt>
                <c:pt idx="2">
                  <c:v>Application</c:v>
                </c:pt>
                <c:pt idx="3">
                  <c:v>Onboarding</c:v>
                </c:pt>
                <c:pt idx="4">
                  <c:v>Payment</c:v>
                </c:pt>
                <c:pt idx="5">
                  <c:v>Support</c:v>
                </c:pt>
                <c:pt idx="6">
                  <c:v>Rewards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9F-44A7-9DA3-4A3C854B0F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Researching</c:v>
                </c:pt>
                <c:pt idx="1">
                  <c:v>Comparing</c:v>
                </c:pt>
                <c:pt idx="2">
                  <c:v>Application</c:v>
                </c:pt>
                <c:pt idx="3">
                  <c:v>Onboarding</c:v>
                </c:pt>
                <c:pt idx="4">
                  <c:v>Payment</c:v>
                </c:pt>
                <c:pt idx="5">
                  <c:v>Support</c:v>
                </c:pt>
                <c:pt idx="6">
                  <c:v>Rewards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9F-44A7-9DA3-4A3C854B0F8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92138432"/>
        <c:axId val="692149952"/>
      </c:lineChart>
      <c:catAx>
        <c:axId val="6921384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92149952"/>
        <c:crosses val="autoZero"/>
        <c:auto val="1"/>
        <c:lblAlgn val="ctr"/>
        <c:lblOffset val="100"/>
        <c:noMultiLvlLbl val="0"/>
      </c:catAx>
      <c:valAx>
        <c:axId val="692149952"/>
        <c:scaling>
          <c:orientation val="minMax"/>
          <c:min val="2.8"/>
        </c:scaling>
        <c:delete val="1"/>
        <c:axPos val="l"/>
        <c:numFmt formatCode="General" sourceLinked="1"/>
        <c:majorTickMark val="out"/>
        <c:minorTickMark val="none"/>
        <c:tickLblPos val="nextTo"/>
        <c:crossAx val="69213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Credit Cards in India (in Million)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8947492199809584E-2"/>
          <c:y val="0.20092592592592592"/>
          <c:w val="0.90105250780019042"/>
          <c:h val="0.715193205016039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Sheet1!$B$11:$B$12</c:f>
              <c:strCache>
                <c:ptCount val="2"/>
                <c:pt idx="0">
                  <c:v>Number of Credit Cards (in Million)</c:v>
                </c:pt>
                <c:pt idx="1">
                  <c:v>Number of Credit Cards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Sheet1!$A$13:$A$18</c:f>
              <c:numCache>
                <c:formatCode>General</c:formatCode>
                <c:ptCount val="6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</c:numCache>
            </c:numRef>
          </c:cat>
          <c:val>
            <c:numRef>
              <c:f>Sheet1!$B$13:$B$18</c:f>
              <c:numCache>
                <c:formatCode>General</c:formatCode>
                <c:ptCount val="6"/>
                <c:pt idx="0">
                  <c:v>100</c:v>
                </c:pt>
                <c:pt idx="1">
                  <c:v>115</c:v>
                </c:pt>
                <c:pt idx="2">
                  <c:v>132</c:v>
                </c:pt>
                <c:pt idx="3">
                  <c:v>152</c:v>
                </c:pt>
                <c:pt idx="4">
                  <c:v>175</c:v>
                </c:pt>
                <c:pt idx="5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A5-9640-B872-51E5B5D4377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328037135"/>
        <c:axId val="1248088751"/>
      </c:barChart>
      <c:catAx>
        <c:axId val="1328037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8088751"/>
        <c:crosses val="autoZero"/>
        <c:auto val="1"/>
        <c:lblAlgn val="ctr"/>
        <c:lblOffset val="100"/>
        <c:noMultiLvlLbl val="0"/>
      </c:catAx>
      <c:valAx>
        <c:axId val="12480887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8037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Sheet1!$B$20:$B$21</c:f>
              <c:strCache>
                <c:ptCount val="2"/>
                <c:pt idx="0">
                  <c:v>Market Share (in percentage)</c:v>
                </c:pt>
                <c:pt idx="1">
                  <c:v>Market Share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tint val="54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7B77-3C40-8636-ED5280A79BC3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7B77-3C40-8636-ED5280A79BC3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7B77-3C40-8636-ED5280A79BC3}"/>
              </c:ext>
            </c:extLst>
          </c:dPt>
          <c:dPt>
            <c:idx val="3"/>
            <c:bubble3D val="0"/>
            <c:spPr>
              <a:solidFill>
                <a:schemeClr val="accent1">
                  <a:shade val="76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7B77-3C40-8636-ED5280A79BC3}"/>
              </c:ext>
            </c:extLst>
          </c:dPt>
          <c:dPt>
            <c:idx val="4"/>
            <c:bubble3D val="0"/>
            <c:spPr>
              <a:solidFill>
                <a:schemeClr val="accent1">
                  <a:shade val="53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7B77-3C40-8636-ED5280A79BC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tint val="54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B77-3C40-8636-ED5280A79BC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tint val="77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7B77-3C40-8636-ED5280A79BC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7B77-3C40-8636-ED5280A79BC3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shade val="76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7B77-3C40-8636-ED5280A79BC3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shade val="53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7B77-3C40-8636-ED5280A79BC3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Sheet1!$A$22:$A$26</c:f>
              <c:strCache>
                <c:ptCount val="5"/>
                <c:pt idx="0">
                  <c:v>HDFC Bank</c:v>
                </c:pt>
                <c:pt idx="1">
                  <c:v>SBI </c:v>
                </c:pt>
                <c:pt idx="2">
                  <c:v>ICICI Bank</c:v>
                </c:pt>
                <c:pt idx="3">
                  <c:v>Axis Bank</c:v>
                </c:pt>
                <c:pt idx="4">
                  <c:v>Others</c:v>
                </c:pt>
              </c:strCache>
            </c:strRef>
          </c:cat>
          <c:val>
            <c:numRef>
              <c:f>Sheet1!$B$22:$B$26</c:f>
              <c:numCache>
                <c:formatCode>0%</c:formatCode>
                <c:ptCount val="5"/>
                <c:pt idx="0">
                  <c:v>0.22</c:v>
                </c:pt>
                <c:pt idx="1">
                  <c:v>0.19</c:v>
                </c:pt>
                <c:pt idx="2">
                  <c:v>0.17</c:v>
                </c:pt>
                <c:pt idx="3">
                  <c:v>0.14000000000000001</c:v>
                </c:pt>
                <c:pt idx="4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77-3C40-8636-ED5280A79BC3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5400000" scaled="1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DE-4401-B92C-CEA22C593D8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DE-4401-B92C-CEA22C593D8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DE-4401-B92C-CEA22C593D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4"/>
                  </a:gs>
                </a:gsLst>
                <a:lin ang="5400000" scaled="1"/>
              </a:gra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DE-4401-B92C-CEA22C593D8B}"/>
              </c:ext>
            </c:extLst>
          </c:dPt>
          <c:dPt>
            <c:idx val="1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DE-4401-B92C-CEA22C593D8B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DE-4401-B92C-CEA22C593D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Annual</a:t>
            </a:r>
            <a:r>
              <a:rPr lang="en-GB" b="1" baseline="0">
                <a:latin typeface="Arial" panose="020B0604020202020204" pitchFamily="34" charset="0"/>
                <a:cs typeface="Arial" panose="020B0604020202020204" pitchFamily="34" charset="0"/>
              </a:rPr>
              <a:t> v/s Cumulative Cash Flow</a:t>
            </a: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Sheet1!$D$34</c:f>
              <c:strCache>
                <c:ptCount val="1"/>
                <c:pt idx="0">
                  <c:v>Annual Cash Flow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Sheet1!$C$35:$C$42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Sheet1!$D$35:$D$42</c:f>
              <c:numCache>
                <c:formatCode>#,##0</c:formatCode>
                <c:ptCount val="8"/>
                <c:pt idx="0">
                  <c:v>-20000000</c:v>
                </c:pt>
                <c:pt idx="1">
                  <c:v>-4280000</c:v>
                </c:pt>
                <c:pt idx="2">
                  <c:v>-2508000</c:v>
                </c:pt>
                <c:pt idx="3">
                  <c:v>871200</c:v>
                </c:pt>
                <c:pt idx="4">
                  <c:v>7613320</c:v>
                </c:pt>
                <c:pt idx="5">
                  <c:v>15695152</c:v>
                </c:pt>
                <c:pt idx="6">
                  <c:v>22096197</c:v>
                </c:pt>
                <c:pt idx="7">
                  <c:v>26077377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5D-4483-B833-EA55B5180931}"/>
            </c:ext>
          </c:extLst>
        </c:ser>
        <c:ser>
          <c:idx val="1"/>
          <c:order val="1"/>
          <c:tx>
            <c:strRef>
              <c:f>Sheet1!$E$34</c:f>
              <c:strCache>
                <c:ptCount val="1"/>
                <c:pt idx="0">
                  <c:v>Cumulative Cash Flow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Sheet1!$C$35:$C$42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Sheet1!$E$35:$E$42</c:f>
              <c:numCache>
                <c:formatCode>#,##0</c:formatCode>
                <c:ptCount val="8"/>
                <c:pt idx="0">
                  <c:v>-20000000</c:v>
                </c:pt>
                <c:pt idx="1">
                  <c:v>-24280000</c:v>
                </c:pt>
                <c:pt idx="2">
                  <c:v>-26788000</c:v>
                </c:pt>
                <c:pt idx="3">
                  <c:v>-25916800</c:v>
                </c:pt>
                <c:pt idx="4">
                  <c:v>-18303480</c:v>
                </c:pt>
                <c:pt idx="5">
                  <c:v>-2608328</c:v>
                </c:pt>
                <c:pt idx="6">
                  <c:v>19487869</c:v>
                </c:pt>
                <c:pt idx="7">
                  <c:v>45565247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5D-4483-B833-EA55B5180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717455"/>
        <c:axId val="162504639"/>
      </c:lineChart>
      <c:catAx>
        <c:axId val="16571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504639"/>
        <c:crosses val="autoZero"/>
        <c:auto val="0"/>
        <c:lblAlgn val="ctr"/>
        <c:lblOffset val="100"/>
        <c:noMultiLvlLbl val="0"/>
      </c:catAx>
      <c:valAx>
        <c:axId val="162504639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17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D6744-45CA-49DE-8596-BB9E8049ECC4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74E1-9A94-4F22-86D4-BE3667C118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29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Persona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274E1-9A94-4F22-86D4-BE3667C118F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366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Consumer Journey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274E1-9A94-4F22-86D4-BE3667C118F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480D-E1B4-56E8-06CE-FAD7DA51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DD465-2828-9C92-EA01-B8794C4D2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03A99-2736-D5E7-70C0-B192B1F3C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Industry Insights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8385D-81C8-40FE-EE24-21B59700F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274E1-9A94-4F22-86D4-BE3667C118F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957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Industry Insights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274E1-9A94-4F22-86D4-BE3667C118F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347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Recommendations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1552BC-1D9D-438E-A3E9-6E6248733AE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59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274E1-9A94-4F22-86D4-BE3667C118F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707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16C1-C857-7BB9-983F-99680DA1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DFA4D-2B36-C845-5111-5FFB1AF16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F50F3-6947-5BC1-4334-92CD95133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Financials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3987B-462D-B6E4-8742-27CABA2B4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817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Implementation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1552BC-1D9D-438E-A3E9-6E6248733AE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523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A059-3EF6-4ABD-9D2F-656AF8F16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EAA64-FF2D-428C-BB03-CE9725085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E25A1-9B0E-4400-9502-E5B4861A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A893-2586-410C-9A16-34F3D83D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39D2-BA28-43C4-A0F3-A7A4E0AEF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4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9705-2E35-4F6B-AC1F-1959C46C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05D0-2CB9-445F-9B8A-51627147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59A57-F618-4C8E-B1CA-EF4BA3C7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FFFA-3AE4-4893-88AF-320A2D497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42C5F-6173-41AF-8616-3D6E1F54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32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6477-4E35-4CD0-8E72-6BE70FBEE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79AE7-CC62-40FA-9045-49502CB2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9BD5F-7BA2-4215-8B9A-F21AB9C1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64B28-B38C-4AC9-B4CD-A52339EE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15623-59F5-4A07-9976-934ABA8D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8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1B7A-C378-4F68-95DD-9352D193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4FD8-4526-4D0A-83C9-32BC92AAF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52FB0-4081-4E5C-936C-4C6A48028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474F4-6BEC-4260-842C-A60AB72C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091B-3D62-4D54-B2AF-F39D8505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8D4B3-BEA3-4A3E-95E3-D4545700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1BDA-992E-4A51-BB51-7156B50A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DE345-38BE-4EBE-B715-DFEF7ADD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13E4F-B726-47BF-B597-26A7C846A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C10C7-CB43-46AA-8D71-12D8A22D7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B06A5-B06E-442A-A8B7-37481ED87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ABE7A-B06A-4ACD-A328-888B4EA4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7501F-E7D8-4B37-90AE-2AB2F61C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A26A4-86B9-443C-B089-DC1B8036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0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D09A-DA2A-4E43-8FB0-97043E08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BED7B-AE18-46AE-B950-A001801C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EDE60-8568-4BD7-AA92-915BF972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06784-B095-4209-BF42-F8639D89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01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FDBE5-8D46-4C70-95DD-AE9FA702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7FDBC-3401-40C8-BC86-B6A79CB9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4592-ED04-48BB-80BF-2FC00A16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3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B543-C6CE-42AE-83AE-B6000A23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4CF1-B938-4B73-9D02-13CE6FB6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22252-87B6-4BDD-B97B-1EA5DE06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4D745-A78E-4F2D-8504-EF8339C4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C9FBC-A3BD-4406-B6E0-AC780DD6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C4F64-51DB-4BEB-9956-4E53561A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1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7EFA2-51A5-4600-A341-F1370D0CC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EE373-E4A8-4537-AD7F-3A6ADDFB6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DBA7D-3669-4AED-8FC2-30F1F82CD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75BC3-8FC5-4377-B100-5124FDC1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A41D3-5C94-43F4-976C-5377AD8E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73617-CB04-4FB1-8682-524E0F72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25C9-B94C-4953-8C9A-F13CEEC4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3A944-F448-43C2-9F6E-0FD187CBD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758D0-CD5C-4226-BE36-1E153FA7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1962B-5291-4B30-B548-498D794E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FD2EC-1125-4664-A63E-DBAB0701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2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58FA1-7F8E-4C04-B813-D8F844EE0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9C0D5-4696-40E3-9E47-B338FB31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84D57-BE6F-45E4-9E93-48E2E77C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BE689-F98D-4435-BD50-696940EAF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179B-F92F-403F-B118-AD42B05B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600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528A-F936-4EFA-B7FF-F19226B11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30F04-3A2B-4C4F-931D-F6103BD31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E52EF-72AC-4D6A-9239-80D6F8C7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114A-ADD7-4E92-A8BB-B006C72473FA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1D137-83FF-4096-BB73-36B25CE3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C2FCA-C352-4D07-AC3C-2EA610E4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77C8E-CA52-4337-9B99-9E429DE439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257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2E39E-54F4-4E53-BA79-E1A8AE72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A848-113E-449C-B3DC-91DFFB464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5A15B-61C0-4EA2-8042-B3E2F423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14FE-C20D-4007-8BED-A47EED41FCE3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2855-CF92-4254-A7B9-E6EB40EA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6B3A9-AD9E-4D58-B6B1-87448D78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167BF-9DCF-4F11-B5A3-BE3AE49919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122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87117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9902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68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43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46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16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31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40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39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763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4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45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859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99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482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87117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9902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337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12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005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571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014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517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783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782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416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938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655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501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63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746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53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58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288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839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45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0186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667265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420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306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254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107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871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178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996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544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450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2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429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438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667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763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851822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976568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961858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2545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333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3710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723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1898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833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0392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814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3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9507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092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508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089884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5144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347890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2370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488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942704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058890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27644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997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0587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3527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6349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3505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521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0854699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815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8641947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8166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0174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08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Autofit/>
          </a:bodyPr>
          <a:lstStyle>
            <a:lvl1pPr algn="l">
              <a:defRPr sz="4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891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165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1919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Autofit/>
          </a:bodyPr>
          <a:lstStyle>
            <a:lvl1pPr algn="l"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59601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547131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2977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8740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3882993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85761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9494269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1585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3237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636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0638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9027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2613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65223811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0739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2216603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7990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0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5523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2705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1319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3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9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1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2297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6041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9" indent="0">
              <a:buNone/>
              <a:defRPr sz="2667" b="1"/>
            </a:lvl2pPr>
            <a:lvl3pPr marL="1219119" indent="0">
              <a:buNone/>
              <a:defRPr sz="2400" b="1"/>
            </a:lvl3pPr>
            <a:lvl4pPr marL="1828678" indent="0">
              <a:buNone/>
              <a:defRPr sz="2133" b="1"/>
            </a:lvl4pPr>
            <a:lvl5pPr marL="2438238" indent="0">
              <a:buNone/>
              <a:defRPr sz="2133" b="1"/>
            </a:lvl5pPr>
            <a:lvl6pPr marL="3047797" indent="0">
              <a:buNone/>
              <a:defRPr sz="2133" b="1"/>
            </a:lvl6pPr>
            <a:lvl7pPr marL="3657357" indent="0">
              <a:buNone/>
              <a:defRPr sz="2133" b="1"/>
            </a:lvl7pPr>
            <a:lvl8pPr marL="4266915" indent="0">
              <a:buNone/>
              <a:defRPr sz="2133" b="1"/>
            </a:lvl8pPr>
            <a:lvl9pPr marL="4876475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3501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926734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3377766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4844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619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8843912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6928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5130800"/>
            <a:ext cx="12192000" cy="1727200"/>
          </a:xfrm>
          <a:prstGeom prst="rect">
            <a:avLst/>
          </a:prstGeom>
          <a:solidFill>
            <a:srgbClr val="B5D3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031730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0060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9" indent="0">
              <a:buNone/>
              <a:defRPr sz="3733"/>
            </a:lvl2pPr>
            <a:lvl3pPr marL="1219119" indent="0">
              <a:buNone/>
              <a:defRPr sz="3200"/>
            </a:lvl3pPr>
            <a:lvl4pPr marL="1828678" indent="0">
              <a:buNone/>
              <a:defRPr sz="2667"/>
            </a:lvl4pPr>
            <a:lvl5pPr marL="2438238" indent="0">
              <a:buNone/>
              <a:defRPr sz="2667"/>
            </a:lvl5pPr>
            <a:lvl6pPr marL="3047797" indent="0">
              <a:buNone/>
              <a:defRPr sz="2667"/>
            </a:lvl6pPr>
            <a:lvl7pPr marL="3657357" indent="0">
              <a:buNone/>
              <a:defRPr sz="2667"/>
            </a:lvl7pPr>
            <a:lvl8pPr marL="4266915" indent="0">
              <a:buNone/>
              <a:defRPr sz="2667"/>
            </a:lvl8pPr>
            <a:lvl9pPr marL="4876475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9" indent="0">
              <a:buNone/>
              <a:defRPr sz="1600"/>
            </a:lvl2pPr>
            <a:lvl3pPr marL="1219119" indent="0">
              <a:buNone/>
              <a:defRPr sz="1333"/>
            </a:lvl3pPr>
            <a:lvl4pPr marL="1828678" indent="0">
              <a:buNone/>
              <a:defRPr sz="1200"/>
            </a:lvl4pPr>
            <a:lvl5pPr marL="2438238" indent="0">
              <a:buNone/>
              <a:defRPr sz="1200"/>
            </a:lvl5pPr>
            <a:lvl6pPr marL="3047797" indent="0">
              <a:buNone/>
              <a:defRPr sz="1200"/>
            </a:lvl6pPr>
            <a:lvl7pPr marL="3657357" indent="0">
              <a:buNone/>
              <a:defRPr sz="1200"/>
            </a:lvl7pPr>
            <a:lvl8pPr marL="4266915" indent="0">
              <a:buNone/>
              <a:defRPr sz="1200"/>
            </a:lvl8pPr>
            <a:lvl9pPr marL="487647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0289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5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4645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8245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56499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715961"/>
          </a:xfrm>
        </p:spPr>
        <p:txBody>
          <a:bodyPr>
            <a:normAutofit/>
          </a:bodyPr>
          <a:lstStyle>
            <a:lvl1pPr algn="l"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0" cy="508000"/>
          </a:xfrm>
        </p:spPr>
        <p:txBody>
          <a:bodyPr>
            <a:no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5843667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9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90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9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24" Type="http://schemas.openxmlformats.org/officeDocument/2006/relationships/theme" Target="../theme/theme7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9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0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23" Type="http://schemas.openxmlformats.org/officeDocument/2006/relationships/theme" Target="../theme/theme8.xml"/><Relationship Id="rId10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slideLayout" Target="../slideLayouts/slideLayout127.xml"/><Relationship Id="rId1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26.xml"/><Relationship Id="rId17" Type="http://schemas.openxmlformats.org/officeDocument/2006/relationships/slideLayout" Target="../slideLayouts/slideLayout131.xml"/><Relationship Id="rId2" Type="http://schemas.openxmlformats.org/officeDocument/2006/relationships/slideLayout" Target="../slideLayouts/slideLayout116.xml"/><Relationship Id="rId16" Type="http://schemas.openxmlformats.org/officeDocument/2006/relationships/slideLayout" Target="../slideLayouts/slideLayout130.xml"/><Relationship Id="rId2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24.xml"/><Relationship Id="rId19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4" Type="http://schemas.openxmlformats.org/officeDocument/2006/relationships/slideLayout" Target="../slideLayouts/slideLayout128.xml"/><Relationship Id="rId22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80070-0366-42D3-8F94-1EC3607D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5E1E-BC0E-4C3C-85EB-272E5E72F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2D82-0212-4421-B426-9A70ABDA9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CA11-656F-4FB2-93FB-89E34777F27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D5838-CE2F-4F61-9B85-C3D1EB07B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18B42-7FCB-4A5E-A02A-AC64FA6BD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94777-F16A-46E2-8BE6-DC03DDF0A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6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DEB6D-1690-44F8-95C4-55438045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0CC1C-C956-47BF-A5DB-60479536A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A9314-A914-4017-84C0-CD3231900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C114A-ADD7-4E92-A8BB-B006C72473FA}" type="datetimeFigureOut">
              <a:rPr lang="en-GB" smtClean="0"/>
              <a:t>03/05/2025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0F819-7949-4AF0-9D1D-07D9B5809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22EE0-5404-401C-B646-77D739ECA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77C8E-CA52-4337-9B99-9E429DE439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102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1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1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4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1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1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6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  <p:sldLayoutId id="2147483934" r:id="rId12"/>
    <p:sldLayoutId id="2147483935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  <p:sldLayoutId id="2147483962" r:id="rId12"/>
    <p:sldLayoutId id="2147483963" r:id="rId13"/>
    <p:sldLayoutId id="2147483964" r:id="rId14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3993" r:id="rId12"/>
    <p:sldLayoutId id="2147483994" r:id="rId13"/>
    <p:sldLayoutId id="2147483995" r:id="rId14"/>
    <p:sldLayoutId id="2147483996" r:id="rId15"/>
    <p:sldLayoutId id="2147483997" r:id="rId16"/>
    <p:sldLayoutId id="2147483998" r:id="rId17"/>
    <p:sldLayoutId id="2147483999" r:id="rId18"/>
    <p:sldLayoutId id="2147484000" r:id="rId19"/>
    <p:sldLayoutId id="2147484001" r:id="rId20"/>
    <p:sldLayoutId id="2147484002" r:id="rId21"/>
    <p:sldLayoutId id="2147484003" r:id="rId22"/>
    <p:sldLayoutId id="2147484004" r:id="rId23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  <p:sldLayoutId id="2147484027" r:id="rId22"/>
  </p:sldLayoutIdLst>
  <p:txStyles>
    <p:titleStyle>
      <a:lvl1pPr algn="l" defTabSz="1219119" rtl="0" eaLnBrk="1" latinLnBrk="0" hangingPunct="1">
        <a:spcBef>
          <a:spcPct val="0"/>
        </a:spcBef>
        <a:buNone/>
        <a:defRPr sz="4800" b="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Segoe UI" panose="020B0502040204020203" pitchFamily="34" charset="0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EEEEE"/>
            </a:gs>
            <a:gs pos="6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5"/>
            <a:ext cx="10972800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6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  <p:sldLayoutId id="2147484040" r:id="rId12"/>
    <p:sldLayoutId id="2147484041" r:id="rId13"/>
    <p:sldLayoutId id="2147484042" r:id="rId14"/>
    <p:sldLayoutId id="2147484043" r:id="rId15"/>
    <p:sldLayoutId id="2147484044" r:id="rId16"/>
    <p:sldLayoutId id="2147484045" r:id="rId17"/>
    <p:sldLayoutId id="2147484046" r:id="rId18"/>
    <p:sldLayoutId id="2147484047" r:id="rId19"/>
    <p:sldLayoutId id="2147484048" r:id="rId20"/>
    <p:sldLayoutId id="2147484049" r:id="rId21"/>
  </p:sldLayoutIdLst>
  <p:txStyles>
    <p:titleStyle>
      <a:lvl1pPr algn="l" defTabSz="1219119" rtl="0" eaLnBrk="1" latinLnBrk="0" hangingPunct="1">
        <a:spcBef>
          <a:spcPct val="0"/>
        </a:spcBef>
        <a:buNone/>
        <a:defRPr sz="32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170" indent="-457170" algn="l" defTabSz="1219119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534" indent="-380974" algn="l" defTabSz="1219119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898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459" indent="-304780" algn="l" defTabSz="12191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3017" indent="-304780" algn="l" defTabSz="12191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57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36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95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54" indent="-304780" algn="l" defTabSz="1219119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9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7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38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9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57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1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75" algn="l" defTabSz="12191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aticon.com/free-icon/airplane_817209" TargetMode="External"/><Relationship Id="rId13" Type="http://schemas.openxmlformats.org/officeDocument/2006/relationships/image" Target="../media/image16.png"/><Relationship Id="rId18" Type="http://schemas.openxmlformats.org/officeDocument/2006/relationships/hyperlink" Target="https://www.flaticon.com/free-icon/badge_969088" TargetMode="External"/><Relationship Id="rId3" Type="http://schemas.openxmlformats.org/officeDocument/2006/relationships/image" Target="../media/image11.png"/><Relationship Id="rId21" Type="http://schemas.openxmlformats.org/officeDocument/2006/relationships/image" Target="../media/image21.png"/><Relationship Id="rId7" Type="http://schemas.openxmlformats.org/officeDocument/2006/relationships/image" Target="../media/image13.png"/><Relationship Id="rId12" Type="http://schemas.openxmlformats.org/officeDocument/2006/relationships/hyperlink" Target="https://www.flaticon.com/free-icon/personalized-support_14773987" TargetMode="External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flaticon.com/free-icon/invitation_2357448" TargetMode="External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flaticon.com/free-icon/community_9278608" TargetMode="Externa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23" Type="http://schemas.openxmlformats.org/officeDocument/2006/relationships/image" Target="../media/image23.png"/><Relationship Id="rId10" Type="http://schemas.openxmlformats.org/officeDocument/2006/relationships/hyperlink" Target="https://www.flaticon.com/free-icon/membership_18544226" TargetMode="External"/><Relationship Id="rId19" Type="http://schemas.openxmlformats.org/officeDocument/2006/relationships/image" Target="../media/image19.png"/><Relationship Id="rId4" Type="http://schemas.openxmlformats.org/officeDocument/2006/relationships/hyperlink" Target="https://www.flaticon.com/free-icon/recommendation_17728487" TargetMode="External"/><Relationship Id="rId9" Type="http://schemas.openxmlformats.org/officeDocument/2006/relationships/image" Target="../media/image14.png"/><Relationship Id="rId14" Type="http://schemas.openxmlformats.org/officeDocument/2006/relationships/hyperlink" Target="https://www.flaticon.com/free-icon/reward_8971547" TargetMode="External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2451-963D-B940-259F-359C7DFB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9C5F885-E1FD-16DD-1097-DAECD24BC15D}"/>
              </a:ext>
            </a:extLst>
          </p:cNvPr>
          <p:cNvSpPr/>
          <p:nvPr/>
        </p:nvSpPr>
        <p:spPr>
          <a:xfrm>
            <a:off x="1956862" y="3072825"/>
            <a:ext cx="2410784" cy="1494317"/>
          </a:xfrm>
          <a:custGeom>
            <a:avLst/>
            <a:gdLst>
              <a:gd name="connsiteX0" fmla="*/ 2293959 w 2410784"/>
              <a:gd name="connsiteY0" fmla="*/ 1494318 h 1494317"/>
              <a:gd name="connsiteX1" fmla="*/ 2410785 w 2410784"/>
              <a:gd name="connsiteY1" fmla="*/ 741527 h 1494317"/>
              <a:gd name="connsiteX2" fmla="*/ 2297647 w 2410784"/>
              <a:gd name="connsiteY2" fmla="*/ 0 h 1494317"/>
              <a:gd name="connsiteX3" fmla="*/ 0 w 2410784"/>
              <a:gd name="connsiteY3" fmla="*/ 741726 h 1494317"/>
              <a:gd name="connsiteX4" fmla="*/ 2293959 w 2410784"/>
              <a:gd name="connsiteY4" fmla="*/ 1494318 h 149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0784" h="1494317">
                <a:moveTo>
                  <a:pt x="2293959" y="1494318"/>
                </a:moveTo>
                <a:cubicBezTo>
                  <a:pt x="2369716" y="1256977"/>
                  <a:pt x="2410785" y="1004087"/>
                  <a:pt x="2410785" y="741527"/>
                </a:cubicBezTo>
                <a:cubicBezTo>
                  <a:pt x="2410785" y="478967"/>
                  <a:pt x="2371112" y="234151"/>
                  <a:pt x="2297647" y="0"/>
                </a:cubicBezTo>
                <a:lnTo>
                  <a:pt x="0" y="741726"/>
                </a:lnTo>
                <a:lnTo>
                  <a:pt x="2293959" y="14943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ADD76E0-48AE-EF76-90DB-0D0EC3A984DE}"/>
              </a:ext>
            </a:extLst>
          </p:cNvPr>
          <p:cNvSpPr/>
          <p:nvPr/>
        </p:nvSpPr>
        <p:spPr>
          <a:xfrm>
            <a:off x="1944901" y="1825815"/>
            <a:ext cx="2297547" cy="1951454"/>
          </a:xfrm>
          <a:custGeom>
            <a:avLst/>
            <a:gdLst>
              <a:gd name="connsiteX0" fmla="*/ 2297547 w 2297547"/>
              <a:gd name="connsiteY0" fmla="*/ 1209828 h 1951454"/>
              <a:gd name="connsiteX1" fmla="*/ 1420654 w 2297547"/>
              <a:gd name="connsiteY1" fmla="*/ 0 h 1951454"/>
              <a:gd name="connsiteX2" fmla="*/ 0 w 2297547"/>
              <a:gd name="connsiteY2" fmla="*/ 1951455 h 1951454"/>
              <a:gd name="connsiteX3" fmla="*/ 2297547 w 2297547"/>
              <a:gd name="connsiteY3" fmla="*/ 1209828 h 1951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7547" h="1951454">
                <a:moveTo>
                  <a:pt x="2297547" y="1209828"/>
                </a:moveTo>
                <a:cubicBezTo>
                  <a:pt x="2135665" y="721292"/>
                  <a:pt x="1825657" y="300239"/>
                  <a:pt x="1420654" y="0"/>
                </a:cubicBezTo>
                <a:lnTo>
                  <a:pt x="0" y="1951455"/>
                </a:lnTo>
                <a:lnTo>
                  <a:pt x="2297547" y="120982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5E529DD-73C7-F98A-BF44-7CBB1230A23D}"/>
              </a:ext>
            </a:extLst>
          </p:cNvPr>
          <p:cNvSpPr/>
          <p:nvPr/>
        </p:nvSpPr>
        <p:spPr>
          <a:xfrm>
            <a:off x="1913402" y="1340769"/>
            <a:ext cx="1420653" cy="2413575"/>
          </a:xfrm>
          <a:custGeom>
            <a:avLst/>
            <a:gdLst>
              <a:gd name="connsiteX0" fmla="*/ 1420653 w 1420653"/>
              <a:gd name="connsiteY0" fmla="*/ 462121 h 2413575"/>
              <a:gd name="connsiteX1" fmla="*/ 0 w 1420653"/>
              <a:gd name="connsiteY1" fmla="*/ 0 h 2413575"/>
              <a:gd name="connsiteX2" fmla="*/ 0 w 1420653"/>
              <a:gd name="connsiteY2" fmla="*/ 2413576 h 2413575"/>
              <a:gd name="connsiteX3" fmla="*/ 1420653 w 1420653"/>
              <a:gd name="connsiteY3" fmla="*/ 462121 h 241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0653" h="2413575">
                <a:moveTo>
                  <a:pt x="1420653" y="462121"/>
                </a:moveTo>
                <a:cubicBezTo>
                  <a:pt x="1019936" y="174641"/>
                  <a:pt x="529804" y="4087"/>
                  <a:pt x="0" y="0"/>
                </a:cubicBezTo>
                <a:lnTo>
                  <a:pt x="0" y="2413576"/>
                </a:lnTo>
                <a:lnTo>
                  <a:pt x="1420653" y="46212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4118E0A-7E3C-568F-6334-34FFF07EDC41}"/>
              </a:ext>
            </a:extLst>
          </p:cNvPr>
          <p:cNvSpPr/>
          <p:nvPr/>
        </p:nvSpPr>
        <p:spPr>
          <a:xfrm>
            <a:off x="1913401" y="3874759"/>
            <a:ext cx="1411084" cy="2413077"/>
          </a:xfrm>
          <a:custGeom>
            <a:avLst/>
            <a:gdLst>
              <a:gd name="connsiteX0" fmla="*/ 0 w 1411084"/>
              <a:gd name="connsiteY0" fmla="*/ 2413077 h 2413077"/>
              <a:gd name="connsiteX1" fmla="*/ 1411084 w 1411084"/>
              <a:gd name="connsiteY1" fmla="*/ 1957934 h 2413077"/>
              <a:gd name="connsiteX2" fmla="*/ 0 w 1411084"/>
              <a:gd name="connsiteY2" fmla="*/ 0 h 2413077"/>
              <a:gd name="connsiteX3" fmla="*/ 0 w 1411084"/>
              <a:gd name="connsiteY3" fmla="*/ 2413077 h 241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1084" h="2413077">
                <a:moveTo>
                  <a:pt x="0" y="2413077"/>
                </a:moveTo>
                <a:cubicBezTo>
                  <a:pt x="525618" y="2408991"/>
                  <a:pt x="1012161" y="2241227"/>
                  <a:pt x="1411084" y="1957934"/>
                </a:cubicBezTo>
                <a:lnTo>
                  <a:pt x="0" y="0"/>
                </a:lnTo>
                <a:lnTo>
                  <a:pt x="0" y="2413077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E5ABA10-C064-46EA-8610-6C959DB98259}"/>
              </a:ext>
            </a:extLst>
          </p:cNvPr>
          <p:cNvSpPr/>
          <p:nvPr/>
        </p:nvSpPr>
        <p:spPr>
          <a:xfrm>
            <a:off x="1944701" y="3851532"/>
            <a:ext cx="2294058" cy="1958232"/>
          </a:xfrm>
          <a:custGeom>
            <a:avLst/>
            <a:gdLst>
              <a:gd name="connsiteX0" fmla="*/ 1411284 w 2294058"/>
              <a:gd name="connsiteY0" fmla="*/ 1958233 h 1958232"/>
              <a:gd name="connsiteX1" fmla="*/ 2294058 w 2294058"/>
              <a:gd name="connsiteY1" fmla="*/ 752691 h 1958232"/>
              <a:gd name="connsiteX2" fmla="*/ 0 w 2294058"/>
              <a:gd name="connsiteY2" fmla="*/ 0 h 1958232"/>
              <a:gd name="connsiteX3" fmla="*/ 1411284 w 2294058"/>
              <a:gd name="connsiteY3" fmla="*/ 1958133 h 195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4058" h="1958232">
                <a:moveTo>
                  <a:pt x="1411284" y="1958233"/>
                </a:moveTo>
                <a:cubicBezTo>
                  <a:pt x="1817783" y="1659788"/>
                  <a:pt x="2129884" y="1240331"/>
                  <a:pt x="2294058" y="752691"/>
                </a:cubicBezTo>
                <a:lnTo>
                  <a:pt x="0" y="0"/>
                </a:lnTo>
                <a:lnTo>
                  <a:pt x="1411284" y="1958133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374AF31-D8C6-59E4-1A94-B7310EB67903}"/>
              </a:ext>
            </a:extLst>
          </p:cNvPr>
          <p:cNvSpPr/>
          <p:nvPr/>
        </p:nvSpPr>
        <p:spPr>
          <a:xfrm>
            <a:off x="3916990" y="3072825"/>
            <a:ext cx="450657" cy="1494317"/>
          </a:xfrm>
          <a:custGeom>
            <a:avLst/>
            <a:gdLst>
              <a:gd name="connsiteX0" fmla="*/ 100 w 450657"/>
              <a:gd name="connsiteY0" fmla="*/ 1384768 h 1494317"/>
              <a:gd name="connsiteX1" fmla="*/ 333832 w 450657"/>
              <a:gd name="connsiteY1" fmla="*/ 1494318 h 1494317"/>
              <a:gd name="connsiteX2" fmla="*/ 450658 w 450657"/>
              <a:gd name="connsiteY2" fmla="*/ 741527 h 1494317"/>
              <a:gd name="connsiteX3" fmla="*/ 337520 w 450657"/>
              <a:gd name="connsiteY3" fmla="*/ 0 h 1494317"/>
              <a:gd name="connsiteX4" fmla="*/ 3190 w 450657"/>
              <a:gd name="connsiteY4" fmla="*/ 107955 h 1494317"/>
              <a:gd name="connsiteX5" fmla="*/ 99382 w 450657"/>
              <a:gd name="connsiteY5" fmla="*/ 741527 h 1494317"/>
              <a:gd name="connsiteX6" fmla="*/ 0 w 450657"/>
              <a:gd name="connsiteY6" fmla="*/ 1384768 h 149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657" h="1494317">
                <a:moveTo>
                  <a:pt x="100" y="1384768"/>
                </a:moveTo>
                <a:lnTo>
                  <a:pt x="333832" y="1494318"/>
                </a:lnTo>
                <a:cubicBezTo>
                  <a:pt x="409589" y="1256977"/>
                  <a:pt x="450658" y="1004087"/>
                  <a:pt x="450658" y="741527"/>
                </a:cubicBezTo>
                <a:cubicBezTo>
                  <a:pt x="450658" y="478967"/>
                  <a:pt x="410985" y="234151"/>
                  <a:pt x="337520" y="0"/>
                </a:cubicBezTo>
                <a:lnTo>
                  <a:pt x="3190" y="107955"/>
                </a:lnTo>
                <a:cubicBezTo>
                  <a:pt x="65690" y="308014"/>
                  <a:pt x="99382" y="520833"/>
                  <a:pt x="99382" y="741527"/>
                </a:cubicBezTo>
                <a:cubicBezTo>
                  <a:pt x="99382" y="962221"/>
                  <a:pt x="64494" y="1181917"/>
                  <a:pt x="0" y="1384768"/>
                </a:cubicBezTo>
                <a:close/>
              </a:path>
            </a:pathLst>
          </a:custGeom>
          <a:solidFill>
            <a:srgbClr val="00162F"/>
          </a:soli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E93186A-C2A8-60E9-B447-3940E20FF9AE}"/>
              </a:ext>
            </a:extLst>
          </p:cNvPr>
          <p:cNvSpPr/>
          <p:nvPr/>
        </p:nvSpPr>
        <p:spPr>
          <a:xfrm>
            <a:off x="3158915" y="1825815"/>
            <a:ext cx="1083632" cy="1317782"/>
          </a:xfrm>
          <a:custGeom>
            <a:avLst/>
            <a:gdLst>
              <a:gd name="connsiteX0" fmla="*/ 749302 w 1083632"/>
              <a:gd name="connsiteY0" fmla="*/ 1317783 h 1317782"/>
              <a:gd name="connsiteX1" fmla="*/ 1083632 w 1083632"/>
              <a:gd name="connsiteY1" fmla="*/ 1209828 h 1317782"/>
              <a:gd name="connsiteX2" fmla="*/ 206739 w 1083632"/>
              <a:gd name="connsiteY2" fmla="*/ 0 h 1317782"/>
              <a:gd name="connsiteX3" fmla="*/ 0 w 1083632"/>
              <a:gd name="connsiteY3" fmla="*/ 283991 h 1317782"/>
              <a:gd name="connsiteX4" fmla="*/ 749302 w 1083632"/>
              <a:gd name="connsiteY4" fmla="*/ 1317783 h 1317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632" h="1317782">
                <a:moveTo>
                  <a:pt x="749302" y="1317783"/>
                </a:moveTo>
                <a:lnTo>
                  <a:pt x="1083632" y="1209828"/>
                </a:lnTo>
                <a:cubicBezTo>
                  <a:pt x="921750" y="721292"/>
                  <a:pt x="611743" y="300239"/>
                  <a:pt x="206739" y="0"/>
                </a:cubicBezTo>
                <a:lnTo>
                  <a:pt x="0" y="283991"/>
                </a:lnTo>
                <a:cubicBezTo>
                  <a:pt x="345694" y="540969"/>
                  <a:pt x="610447" y="900618"/>
                  <a:pt x="749302" y="1317783"/>
                </a:cubicBezTo>
                <a:close/>
              </a:path>
            </a:pathLst>
          </a:custGeom>
          <a:solidFill>
            <a:srgbClr val="00162F"/>
          </a:soli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2860D02-4C6F-2618-FA08-EE593EA85F58}"/>
              </a:ext>
            </a:extLst>
          </p:cNvPr>
          <p:cNvSpPr/>
          <p:nvPr/>
        </p:nvSpPr>
        <p:spPr>
          <a:xfrm>
            <a:off x="1913402" y="1340768"/>
            <a:ext cx="1420753" cy="746012"/>
          </a:xfrm>
          <a:custGeom>
            <a:avLst/>
            <a:gdLst>
              <a:gd name="connsiteX0" fmla="*/ 1420653 w 1420753"/>
              <a:gd name="connsiteY0" fmla="*/ 462121 h 746012"/>
              <a:gd name="connsiteX1" fmla="*/ 0 w 1420753"/>
              <a:gd name="connsiteY1" fmla="*/ 0 h 746012"/>
              <a:gd name="connsiteX2" fmla="*/ 0 w 1420753"/>
              <a:gd name="connsiteY2" fmla="*/ 351176 h 746012"/>
              <a:gd name="connsiteX3" fmla="*/ 1214015 w 1420753"/>
              <a:gd name="connsiteY3" fmla="*/ 746013 h 746012"/>
              <a:gd name="connsiteX4" fmla="*/ 1420753 w 1420753"/>
              <a:gd name="connsiteY4" fmla="*/ 462021 h 746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753" h="746012">
                <a:moveTo>
                  <a:pt x="1420653" y="462121"/>
                </a:moveTo>
                <a:cubicBezTo>
                  <a:pt x="1019936" y="174641"/>
                  <a:pt x="529804" y="4087"/>
                  <a:pt x="0" y="0"/>
                </a:cubicBezTo>
                <a:lnTo>
                  <a:pt x="0" y="351176"/>
                </a:lnTo>
                <a:cubicBezTo>
                  <a:pt x="452552" y="355263"/>
                  <a:pt x="871212" y="500897"/>
                  <a:pt x="1214015" y="746013"/>
                </a:cubicBezTo>
                <a:lnTo>
                  <a:pt x="1420753" y="462021"/>
                </a:lnTo>
                <a:close/>
              </a:path>
            </a:pathLst>
          </a:custGeom>
          <a:solidFill>
            <a:srgbClr val="00162F"/>
          </a:soli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DB1F7EB-E459-E9F4-37DF-D478351C41BB}"/>
              </a:ext>
            </a:extLst>
          </p:cNvPr>
          <p:cNvSpPr/>
          <p:nvPr/>
        </p:nvSpPr>
        <p:spPr>
          <a:xfrm>
            <a:off x="1913401" y="5547705"/>
            <a:ext cx="1411084" cy="740131"/>
          </a:xfrm>
          <a:custGeom>
            <a:avLst/>
            <a:gdLst>
              <a:gd name="connsiteX0" fmla="*/ 0 w 1411084"/>
              <a:gd name="connsiteY0" fmla="*/ 740131 h 740131"/>
              <a:gd name="connsiteX1" fmla="*/ 1411084 w 1411084"/>
              <a:gd name="connsiteY1" fmla="*/ 284988 h 740131"/>
              <a:gd name="connsiteX2" fmla="*/ 1205741 w 1411084"/>
              <a:gd name="connsiteY2" fmla="*/ 0 h 740131"/>
              <a:gd name="connsiteX3" fmla="*/ 0 w 1411084"/>
              <a:gd name="connsiteY3" fmla="*/ 388955 h 740131"/>
              <a:gd name="connsiteX4" fmla="*/ 0 w 1411084"/>
              <a:gd name="connsiteY4" fmla="*/ 740131 h 740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1084" h="740131">
                <a:moveTo>
                  <a:pt x="0" y="740131"/>
                </a:moveTo>
                <a:cubicBezTo>
                  <a:pt x="525618" y="736044"/>
                  <a:pt x="1012161" y="568281"/>
                  <a:pt x="1411084" y="284988"/>
                </a:cubicBezTo>
                <a:lnTo>
                  <a:pt x="1205741" y="0"/>
                </a:lnTo>
                <a:cubicBezTo>
                  <a:pt x="864533" y="241627"/>
                  <a:pt x="448963" y="384868"/>
                  <a:pt x="0" y="388955"/>
                </a:cubicBezTo>
                <a:lnTo>
                  <a:pt x="0" y="740131"/>
                </a:lnTo>
                <a:close/>
              </a:path>
            </a:pathLst>
          </a:custGeom>
          <a:solidFill>
            <a:srgbClr val="00162F"/>
          </a:soli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CC15759-41E6-94F7-6D4A-C135B2F7568E}"/>
              </a:ext>
            </a:extLst>
          </p:cNvPr>
          <p:cNvSpPr/>
          <p:nvPr/>
        </p:nvSpPr>
        <p:spPr>
          <a:xfrm>
            <a:off x="3150642" y="4494575"/>
            <a:ext cx="1088117" cy="1315091"/>
          </a:xfrm>
          <a:custGeom>
            <a:avLst/>
            <a:gdLst>
              <a:gd name="connsiteX0" fmla="*/ 0 w 1088117"/>
              <a:gd name="connsiteY0" fmla="*/ 1030203 h 1315091"/>
              <a:gd name="connsiteX1" fmla="*/ 205343 w 1088117"/>
              <a:gd name="connsiteY1" fmla="*/ 1315091 h 1315091"/>
              <a:gd name="connsiteX2" fmla="*/ 1088118 w 1088117"/>
              <a:gd name="connsiteY2" fmla="*/ 109549 h 1315091"/>
              <a:gd name="connsiteX3" fmla="*/ 754386 w 1088117"/>
              <a:gd name="connsiteY3" fmla="*/ 0 h 1315091"/>
              <a:gd name="connsiteX4" fmla="*/ 0 w 1088117"/>
              <a:gd name="connsiteY4" fmla="*/ 1030103 h 131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8117" h="1315091">
                <a:moveTo>
                  <a:pt x="0" y="1030203"/>
                </a:moveTo>
                <a:lnTo>
                  <a:pt x="205343" y="1315091"/>
                </a:lnTo>
                <a:cubicBezTo>
                  <a:pt x="611842" y="1016646"/>
                  <a:pt x="923943" y="597189"/>
                  <a:pt x="1088118" y="109549"/>
                </a:cubicBezTo>
                <a:lnTo>
                  <a:pt x="754386" y="0"/>
                </a:lnTo>
                <a:cubicBezTo>
                  <a:pt x="613536" y="416367"/>
                  <a:pt x="346990" y="774720"/>
                  <a:pt x="0" y="1030103"/>
                </a:cubicBezTo>
                <a:close/>
              </a:path>
            </a:pathLst>
          </a:custGeom>
          <a:solidFill>
            <a:srgbClr val="00162F"/>
          </a:soli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61BC2CE-229F-4F30-016D-3CD875C28B61}"/>
              </a:ext>
            </a:extLst>
          </p:cNvPr>
          <p:cNvSpPr/>
          <p:nvPr/>
        </p:nvSpPr>
        <p:spPr>
          <a:xfrm>
            <a:off x="522625" y="2601687"/>
            <a:ext cx="2682377" cy="2682375"/>
          </a:xfrm>
          <a:custGeom>
            <a:avLst/>
            <a:gdLst>
              <a:gd name="connsiteX0" fmla="*/ 1908692 w 1908691"/>
              <a:gd name="connsiteY0" fmla="*/ 954346 h 1908691"/>
              <a:gd name="connsiteX1" fmla="*/ 954346 w 1908691"/>
              <a:gd name="connsiteY1" fmla="*/ 1908691 h 1908691"/>
              <a:gd name="connsiteX2" fmla="*/ 0 w 1908691"/>
              <a:gd name="connsiteY2" fmla="*/ 954346 h 1908691"/>
              <a:gd name="connsiteX3" fmla="*/ 954346 w 1908691"/>
              <a:gd name="connsiteY3" fmla="*/ 0 h 1908691"/>
              <a:gd name="connsiteX4" fmla="*/ 1908692 w 1908691"/>
              <a:gd name="connsiteY4" fmla="*/ 954346 h 1908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691" h="1908691">
                <a:moveTo>
                  <a:pt x="1908692" y="954346"/>
                </a:moveTo>
                <a:cubicBezTo>
                  <a:pt x="1908692" y="1481416"/>
                  <a:pt x="1481416" y="1908691"/>
                  <a:pt x="954346" y="1908691"/>
                </a:cubicBezTo>
                <a:cubicBezTo>
                  <a:pt x="427275" y="1908691"/>
                  <a:pt x="0" y="1481416"/>
                  <a:pt x="0" y="954346"/>
                </a:cubicBezTo>
                <a:cubicBezTo>
                  <a:pt x="0" y="427275"/>
                  <a:pt x="427275" y="0"/>
                  <a:pt x="954346" y="0"/>
                </a:cubicBezTo>
                <a:cubicBezTo>
                  <a:pt x="1481416" y="0"/>
                  <a:pt x="1908692" y="427275"/>
                  <a:pt x="1908692" y="954346"/>
                </a:cubicBezTo>
                <a:close/>
              </a:path>
            </a:pathLst>
          </a:custGeom>
          <a:solidFill>
            <a:schemeClr val="tx1">
              <a:alpha val="31000"/>
            </a:schemeClr>
          </a:solidFill>
          <a:ln w="9967" cap="flat">
            <a:noFill/>
            <a:prstDash val="solid"/>
            <a:miter/>
          </a:ln>
          <a:effectLst>
            <a:softEdge rad="266700"/>
          </a:effectLst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8608FCB-002A-EFEE-F455-1BF9C1827707}"/>
              </a:ext>
            </a:extLst>
          </p:cNvPr>
          <p:cNvSpPr/>
          <p:nvPr/>
        </p:nvSpPr>
        <p:spPr>
          <a:xfrm>
            <a:off x="792568" y="2713056"/>
            <a:ext cx="2202592" cy="2202590"/>
          </a:xfrm>
          <a:custGeom>
            <a:avLst/>
            <a:gdLst>
              <a:gd name="connsiteX0" fmla="*/ 1908692 w 1908691"/>
              <a:gd name="connsiteY0" fmla="*/ 954346 h 1908691"/>
              <a:gd name="connsiteX1" fmla="*/ 954346 w 1908691"/>
              <a:gd name="connsiteY1" fmla="*/ 1908691 h 1908691"/>
              <a:gd name="connsiteX2" fmla="*/ 0 w 1908691"/>
              <a:gd name="connsiteY2" fmla="*/ 954346 h 1908691"/>
              <a:gd name="connsiteX3" fmla="*/ 954346 w 1908691"/>
              <a:gd name="connsiteY3" fmla="*/ 0 h 1908691"/>
              <a:gd name="connsiteX4" fmla="*/ 1908692 w 1908691"/>
              <a:gd name="connsiteY4" fmla="*/ 954346 h 1908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691" h="1908691">
                <a:moveTo>
                  <a:pt x="1908692" y="954346"/>
                </a:moveTo>
                <a:cubicBezTo>
                  <a:pt x="1908692" y="1481416"/>
                  <a:pt x="1481416" y="1908691"/>
                  <a:pt x="954346" y="1908691"/>
                </a:cubicBezTo>
                <a:cubicBezTo>
                  <a:pt x="427275" y="1908691"/>
                  <a:pt x="0" y="1481416"/>
                  <a:pt x="0" y="954346"/>
                </a:cubicBezTo>
                <a:cubicBezTo>
                  <a:pt x="0" y="427275"/>
                  <a:pt x="427275" y="0"/>
                  <a:pt x="954346" y="0"/>
                </a:cubicBezTo>
                <a:cubicBezTo>
                  <a:pt x="1481416" y="0"/>
                  <a:pt x="1908692" y="427275"/>
                  <a:pt x="1908692" y="954346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3600000" scaled="0"/>
            <a:tileRect/>
          </a:gradFill>
          <a:ln w="9967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39A4B85-B5F2-7D2E-AF12-43C3934CCD9F}"/>
              </a:ext>
            </a:extLst>
          </p:cNvPr>
          <p:cNvSpPr/>
          <p:nvPr/>
        </p:nvSpPr>
        <p:spPr>
          <a:xfrm>
            <a:off x="1130026" y="3050515"/>
            <a:ext cx="1527676" cy="1527674"/>
          </a:xfrm>
          <a:custGeom>
            <a:avLst/>
            <a:gdLst>
              <a:gd name="connsiteX0" fmla="*/ 1206339 w 1206339"/>
              <a:gd name="connsiteY0" fmla="*/ 603170 h 1206339"/>
              <a:gd name="connsiteX1" fmla="*/ 603170 w 1206339"/>
              <a:gd name="connsiteY1" fmla="*/ 1206339 h 1206339"/>
              <a:gd name="connsiteX2" fmla="*/ 0 w 1206339"/>
              <a:gd name="connsiteY2" fmla="*/ 603170 h 1206339"/>
              <a:gd name="connsiteX3" fmla="*/ 603170 w 1206339"/>
              <a:gd name="connsiteY3" fmla="*/ 0 h 1206339"/>
              <a:gd name="connsiteX4" fmla="*/ 1206339 w 1206339"/>
              <a:gd name="connsiteY4" fmla="*/ 603170 h 120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339" h="1206339">
                <a:moveTo>
                  <a:pt x="1206339" y="603170"/>
                </a:moveTo>
                <a:cubicBezTo>
                  <a:pt x="1206339" y="936291"/>
                  <a:pt x="936291" y="1206339"/>
                  <a:pt x="603170" y="1206339"/>
                </a:cubicBezTo>
                <a:cubicBezTo>
                  <a:pt x="270048" y="1206339"/>
                  <a:pt x="0" y="936291"/>
                  <a:pt x="0" y="603170"/>
                </a:cubicBezTo>
                <a:cubicBezTo>
                  <a:pt x="0" y="270048"/>
                  <a:pt x="270048" y="0"/>
                  <a:pt x="603170" y="0"/>
                </a:cubicBezTo>
                <a:cubicBezTo>
                  <a:pt x="936291" y="0"/>
                  <a:pt x="1206339" y="270048"/>
                  <a:pt x="1206339" y="603170"/>
                </a:cubicBezTo>
                <a:close/>
              </a:path>
            </a:pathLst>
          </a:custGeom>
          <a:solidFill>
            <a:srgbClr val="00162F"/>
          </a:solidFill>
          <a:ln w="996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55" name="Graphic 54" descr="City with solid fill">
            <a:extLst>
              <a:ext uri="{FF2B5EF4-FFF2-40B4-BE49-F238E27FC236}">
                <a16:creationId xmlns:a16="http://schemas.microsoft.com/office/drawing/2014/main" id="{3BDD4A5F-F0FD-5347-E91C-E8714CB59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5492" y="3455980"/>
            <a:ext cx="716744" cy="71674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7E6D100-952B-9CD1-FBB4-E1DB65D2D8EA}"/>
              </a:ext>
            </a:extLst>
          </p:cNvPr>
          <p:cNvSpPr txBox="1"/>
          <p:nvPr/>
        </p:nvSpPr>
        <p:spPr>
          <a:xfrm rot="1152506">
            <a:off x="1846263" y="1654461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Up">
              <a:avLst/>
            </a:prstTxWarp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Problem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186E8E-A80E-7000-65C8-044795D9748D}"/>
              </a:ext>
            </a:extLst>
          </p:cNvPr>
          <p:cNvSpPr txBox="1"/>
          <p:nvPr/>
        </p:nvSpPr>
        <p:spPr>
          <a:xfrm rot="3275186">
            <a:off x="2836863" y="2372920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Up">
              <a:avLst/>
            </a:prstTxWarp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Objective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C4638C-0D88-2DF6-5137-96A29B6470E2}"/>
              </a:ext>
            </a:extLst>
          </p:cNvPr>
          <p:cNvSpPr txBox="1"/>
          <p:nvPr/>
        </p:nvSpPr>
        <p:spPr>
          <a:xfrm rot="5400000">
            <a:off x="3217864" y="3559464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Up">
              <a:avLst/>
            </a:prstTxWarp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white"/>
                </a:solidFill>
                <a:latin typeface="Segoe UI"/>
              </a:rPr>
              <a:t>Solution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B194B1-0E27-9CD3-199F-D60EE42FFA86}"/>
              </a:ext>
            </a:extLst>
          </p:cNvPr>
          <p:cNvSpPr txBox="1"/>
          <p:nvPr/>
        </p:nvSpPr>
        <p:spPr>
          <a:xfrm rot="18366919">
            <a:off x="2869520" y="4756894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Down">
              <a:avLst/>
            </a:prstTxWarp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Impact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4C72DA-9A80-57EB-761C-5D5AD1B847F3}"/>
              </a:ext>
            </a:extLst>
          </p:cNvPr>
          <p:cNvSpPr txBox="1"/>
          <p:nvPr/>
        </p:nvSpPr>
        <p:spPr>
          <a:xfrm rot="20574728">
            <a:off x="1824492" y="5508009"/>
            <a:ext cx="1392852" cy="519091"/>
          </a:xfrm>
          <a:prstGeom prst="rect">
            <a:avLst/>
          </a:prstGeom>
          <a:noFill/>
        </p:spPr>
        <p:txBody>
          <a:bodyPr spcFirstLastPara="1" wrap="square" lIns="0" tIns="0" rIns="0" bIns="0" numCol="1" rtlCol="0" anchor="ctr">
            <a:prstTxWarp prst="textArchDown">
              <a:avLst/>
            </a:prstTxWarp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Risks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07AABB2-D201-9374-3201-134FC1B5F836}"/>
              </a:ext>
            </a:extLst>
          </p:cNvPr>
          <p:cNvGrpSpPr/>
          <p:nvPr/>
        </p:nvGrpSpPr>
        <p:grpSpPr>
          <a:xfrm>
            <a:off x="6912636" y="1284454"/>
            <a:ext cx="4224755" cy="824098"/>
            <a:chOff x="1045520" y="1147685"/>
            <a:chExt cx="2322376" cy="82409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057645-44DF-6C8C-44A5-31CBD1E957C2}"/>
                </a:ext>
              </a:extLst>
            </p:cNvPr>
            <p:cNvSpPr txBox="1"/>
            <p:nvPr/>
          </p:nvSpPr>
          <p:spPr>
            <a:xfrm>
              <a:off x="1045520" y="1500525"/>
              <a:ext cx="2322376" cy="4712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Competitors have launched credit cards with new offerings that are quickly taking away our market share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8B5437E-8203-0659-7DBC-AA386D191500}"/>
                </a:ext>
              </a:extLst>
            </p:cNvPr>
            <p:cNvSpPr txBox="1"/>
            <p:nvPr/>
          </p:nvSpPr>
          <p:spPr>
            <a:xfrm>
              <a:off x="1045520" y="1147685"/>
              <a:ext cx="2241952" cy="283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egoe UI"/>
                  <a:ea typeface="Segoe UI Black" panose="020B0A02040204020203" pitchFamily="34" charset="0"/>
                  <a:cs typeface="Segoe UI Light" panose="020B0502040204020203" pitchFamily="34" charset="0"/>
                </a:rPr>
                <a:t>Problem Statement </a:t>
              </a:r>
              <a:endPara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C5E7D64-512C-60DA-495C-572DE764A379}"/>
              </a:ext>
            </a:extLst>
          </p:cNvPr>
          <p:cNvGrpSpPr/>
          <p:nvPr/>
        </p:nvGrpSpPr>
        <p:grpSpPr>
          <a:xfrm>
            <a:off x="9177468" y="2351254"/>
            <a:ext cx="2801171" cy="824098"/>
            <a:chOff x="1045520" y="1147685"/>
            <a:chExt cx="2241952" cy="824098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ED0B9C1-4E44-1EBF-1E4D-D079CDEBE652}"/>
                </a:ext>
              </a:extLst>
            </p:cNvPr>
            <p:cNvSpPr txBox="1"/>
            <p:nvPr/>
          </p:nvSpPr>
          <p:spPr>
            <a:xfrm>
              <a:off x="1045520" y="1500525"/>
              <a:ext cx="2241952" cy="4712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Define features for a new credit card and design a plan to increase market share 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DFCA32-9272-6285-2E83-840C0ACD3F33}"/>
                </a:ext>
              </a:extLst>
            </p:cNvPr>
            <p:cNvSpPr txBox="1"/>
            <p:nvPr/>
          </p:nvSpPr>
          <p:spPr>
            <a:xfrm>
              <a:off x="1045520" y="1147685"/>
              <a:ext cx="2241952" cy="283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/>
                  <a:ea typeface="Segoe UI Black" panose="020B0A02040204020203" pitchFamily="34" charset="0"/>
                  <a:cs typeface="Segoe UI Light" panose="020B0502040204020203" pitchFamily="34" charset="0"/>
                </a:rPr>
                <a:t>Objective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A4B2CC2-E3B9-668C-1D53-748D7F4DB59A}"/>
              </a:ext>
            </a:extLst>
          </p:cNvPr>
          <p:cNvGrpSpPr/>
          <p:nvPr/>
        </p:nvGrpSpPr>
        <p:grpSpPr>
          <a:xfrm>
            <a:off x="6912635" y="5551653"/>
            <a:ext cx="4506785" cy="824098"/>
            <a:chOff x="1045520" y="1147685"/>
            <a:chExt cx="2241952" cy="82409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D439506-F662-5B39-F048-0759B593EA38}"/>
                </a:ext>
              </a:extLst>
            </p:cNvPr>
            <p:cNvSpPr txBox="1"/>
            <p:nvPr/>
          </p:nvSpPr>
          <p:spPr>
            <a:xfrm>
              <a:off x="1045520" y="1500525"/>
              <a:ext cx="2241952" cy="4712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Opportunity cost of Investing resources in a new credit card instead of testing other growing digital payment avenues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87B649B-CBDC-BA05-5AAA-586576D83E72}"/>
                </a:ext>
              </a:extLst>
            </p:cNvPr>
            <p:cNvSpPr txBox="1"/>
            <p:nvPr/>
          </p:nvSpPr>
          <p:spPr>
            <a:xfrm>
              <a:off x="1045520" y="1147685"/>
              <a:ext cx="2241952" cy="283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/>
                  <a:ea typeface="Segoe UI Black" panose="020B0A02040204020203" pitchFamily="34" charset="0"/>
                  <a:cs typeface="Segoe UI Light" panose="020B0502040204020203" pitchFamily="34" charset="0"/>
                </a:rPr>
                <a:t>Risks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6396D6C-A692-4FAA-DFCB-A9BE19D9A8A2}"/>
              </a:ext>
            </a:extLst>
          </p:cNvPr>
          <p:cNvGrpSpPr/>
          <p:nvPr/>
        </p:nvGrpSpPr>
        <p:grpSpPr>
          <a:xfrm>
            <a:off x="9177469" y="4484854"/>
            <a:ext cx="2241952" cy="824098"/>
            <a:chOff x="1045520" y="1147685"/>
            <a:chExt cx="2241952" cy="82409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FF3F8DB-76F4-2F6A-823B-A82C486C3067}"/>
                </a:ext>
              </a:extLst>
            </p:cNvPr>
            <p:cNvSpPr txBox="1"/>
            <p:nvPr/>
          </p:nvSpPr>
          <p:spPr>
            <a:xfrm>
              <a:off x="1045520" y="1500525"/>
              <a:ext cx="2241952" cy="4712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Estimated to have 1 lakh+ cards in circulation and over 20 crore+ EBIDTA by year 7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A019E08-3172-41DA-53A3-4AE1A99554DD}"/>
                </a:ext>
              </a:extLst>
            </p:cNvPr>
            <p:cNvSpPr txBox="1"/>
            <p:nvPr/>
          </p:nvSpPr>
          <p:spPr>
            <a:xfrm>
              <a:off x="1045520" y="1147685"/>
              <a:ext cx="2241952" cy="283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/>
                  <a:ea typeface="Segoe UI Black" panose="020B0A02040204020203" pitchFamily="34" charset="0"/>
                  <a:cs typeface="Segoe UI Light" panose="020B0502040204020203" pitchFamily="34" charset="0"/>
                </a:rPr>
                <a:t>Impact 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CD903D6-109C-56A5-4DDD-F31C699A4D35}"/>
              </a:ext>
            </a:extLst>
          </p:cNvPr>
          <p:cNvGrpSpPr/>
          <p:nvPr/>
        </p:nvGrpSpPr>
        <p:grpSpPr>
          <a:xfrm>
            <a:off x="6912636" y="3418054"/>
            <a:ext cx="5175732" cy="824098"/>
            <a:chOff x="1045520" y="1147685"/>
            <a:chExt cx="2241952" cy="824098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94ABFEF-97F2-01C6-D5A5-96E4AB55E2AD}"/>
                </a:ext>
              </a:extLst>
            </p:cNvPr>
            <p:cNvSpPr txBox="1"/>
            <p:nvPr/>
          </p:nvSpPr>
          <p:spPr>
            <a:xfrm>
              <a:off x="1045520" y="1500525"/>
              <a:ext cx="2241952" cy="4712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Credit Card focused on middle aged high-income professionals with gamified rewards and personalized support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75BA4E5-5556-952D-625D-FAAFA2131DC6}"/>
                </a:ext>
              </a:extLst>
            </p:cNvPr>
            <p:cNvSpPr txBox="1"/>
            <p:nvPr/>
          </p:nvSpPr>
          <p:spPr>
            <a:xfrm>
              <a:off x="1045520" y="1147685"/>
              <a:ext cx="2241952" cy="2833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 UI"/>
                  <a:ea typeface="Segoe UI Black" panose="020B0A02040204020203" pitchFamily="34" charset="0"/>
                  <a:cs typeface="Segoe UI Light" panose="020B0502040204020203" pitchFamily="34" charset="0"/>
                </a:rPr>
                <a:t>Solution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DB3D036-8145-D888-201C-EF0A50FA3361}"/>
              </a:ext>
            </a:extLst>
          </p:cNvPr>
          <p:cNvCxnSpPr>
            <a:cxnSpLocks/>
          </p:cNvCxnSpPr>
          <p:nvPr/>
        </p:nvCxnSpPr>
        <p:spPr>
          <a:xfrm flipH="1">
            <a:off x="3531761" y="1600322"/>
            <a:ext cx="256231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3368235-05A2-A8A9-4A96-D36F11F1984B}"/>
              </a:ext>
            </a:extLst>
          </p:cNvPr>
          <p:cNvCxnSpPr>
            <a:cxnSpLocks/>
          </p:cNvCxnSpPr>
          <p:nvPr/>
        </p:nvCxnSpPr>
        <p:spPr>
          <a:xfrm flipH="1">
            <a:off x="4363791" y="2612694"/>
            <a:ext cx="395448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B74E9A7-FEFC-7D27-71B4-CDACD75C1BB9}"/>
              </a:ext>
            </a:extLst>
          </p:cNvPr>
          <p:cNvCxnSpPr>
            <a:cxnSpLocks/>
          </p:cNvCxnSpPr>
          <p:nvPr/>
        </p:nvCxnSpPr>
        <p:spPr>
          <a:xfrm flipH="1">
            <a:off x="4578811" y="3723037"/>
            <a:ext cx="151526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B75ECC2-0D8E-AD0D-5ED4-7205FC8AE395}"/>
              </a:ext>
            </a:extLst>
          </p:cNvPr>
          <p:cNvCxnSpPr>
            <a:cxnSpLocks/>
          </p:cNvCxnSpPr>
          <p:nvPr/>
        </p:nvCxnSpPr>
        <p:spPr>
          <a:xfrm flipH="1">
            <a:off x="4494671" y="4768065"/>
            <a:ext cx="382360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FED4E60-1ABF-16E8-2E89-453D2619B25E}"/>
              </a:ext>
            </a:extLst>
          </p:cNvPr>
          <p:cNvCxnSpPr>
            <a:cxnSpLocks/>
          </p:cNvCxnSpPr>
          <p:nvPr/>
        </p:nvCxnSpPr>
        <p:spPr>
          <a:xfrm flipH="1">
            <a:off x="3485017" y="6041694"/>
            <a:ext cx="260906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  <a:headEnd type="oval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BA55427-C1A8-F050-CFEB-A29AF0514DA3}"/>
              </a:ext>
            </a:extLst>
          </p:cNvPr>
          <p:cNvSpPr txBox="1"/>
          <p:nvPr/>
        </p:nvSpPr>
        <p:spPr>
          <a:xfrm rot="21428574">
            <a:off x="995117" y="2893061"/>
            <a:ext cx="1889250" cy="1882890"/>
          </a:xfrm>
          <a:prstGeom prst="rect">
            <a:avLst/>
          </a:prstGeom>
          <a:noFill/>
        </p:spPr>
        <p:txBody>
          <a:bodyPr spcFirstLastPara="1" wrap="square" lIns="0" tIns="0" rIns="0" bIns="0" numCol="1" anchor="ctr">
            <a:prstTxWarp prst="textArchDown">
              <a:avLst/>
            </a:prstTxWarp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Executive Summary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 UI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3" name="Graphic 50" descr="Advertising with solid fill">
            <a:extLst>
              <a:ext uri="{FF2B5EF4-FFF2-40B4-BE49-F238E27FC236}">
                <a16:creationId xmlns:a16="http://schemas.microsoft.com/office/drawing/2014/main" id="{3E7BE48D-DC51-45BA-0767-2FC102A34AFA}"/>
              </a:ext>
            </a:extLst>
          </p:cNvPr>
          <p:cNvSpPr/>
          <p:nvPr/>
        </p:nvSpPr>
        <p:spPr>
          <a:xfrm>
            <a:off x="2190283" y="2121877"/>
            <a:ext cx="336282" cy="336282"/>
          </a:xfrm>
          <a:custGeom>
            <a:avLst/>
            <a:gdLst>
              <a:gd name="connsiteX0" fmla="*/ 535828 w 535828"/>
              <a:gd name="connsiteY0" fmla="*/ 341591 h 535828"/>
              <a:gd name="connsiteX1" fmla="*/ 535828 w 535828"/>
              <a:gd name="connsiteY1" fmla="*/ 46885 h 535828"/>
              <a:gd name="connsiteX2" fmla="*/ 442058 w 535828"/>
              <a:gd name="connsiteY2" fmla="*/ 46885 h 535828"/>
              <a:gd name="connsiteX3" fmla="*/ 442058 w 535828"/>
              <a:gd name="connsiteY3" fmla="*/ 26791 h 535828"/>
              <a:gd name="connsiteX4" fmla="*/ 455454 w 535828"/>
              <a:gd name="connsiteY4" fmla="*/ 13396 h 535828"/>
              <a:gd name="connsiteX5" fmla="*/ 442058 w 535828"/>
              <a:gd name="connsiteY5" fmla="*/ 0 h 535828"/>
              <a:gd name="connsiteX6" fmla="*/ 415267 w 535828"/>
              <a:gd name="connsiteY6" fmla="*/ 0 h 535828"/>
              <a:gd name="connsiteX7" fmla="*/ 401871 w 535828"/>
              <a:gd name="connsiteY7" fmla="*/ 13396 h 535828"/>
              <a:gd name="connsiteX8" fmla="*/ 415267 w 535828"/>
              <a:gd name="connsiteY8" fmla="*/ 26791 h 535828"/>
              <a:gd name="connsiteX9" fmla="*/ 415267 w 535828"/>
              <a:gd name="connsiteY9" fmla="*/ 46885 h 535828"/>
              <a:gd name="connsiteX10" fmla="*/ 281310 w 535828"/>
              <a:gd name="connsiteY10" fmla="*/ 46885 h 535828"/>
              <a:gd name="connsiteX11" fmla="*/ 281310 w 535828"/>
              <a:gd name="connsiteY11" fmla="*/ 26791 h 535828"/>
              <a:gd name="connsiteX12" fmla="*/ 294706 w 535828"/>
              <a:gd name="connsiteY12" fmla="*/ 13396 h 535828"/>
              <a:gd name="connsiteX13" fmla="*/ 281310 w 535828"/>
              <a:gd name="connsiteY13" fmla="*/ 0 h 535828"/>
              <a:gd name="connsiteX14" fmla="*/ 254518 w 535828"/>
              <a:gd name="connsiteY14" fmla="*/ 0 h 535828"/>
              <a:gd name="connsiteX15" fmla="*/ 241123 w 535828"/>
              <a:gd name="connsiteY15" fmla="*/ 13396 h 535828"/>
              <a:gd name="connsiteX16" fmla="*/ 254518 w 535828"/>
              <a:gd name="connsiteY16" fmla="*/ 26791 h 535828"/>
              <a:gd name="connsiteX17" fmla="*/ 254518 w 535828"/>
              <a:gd name="connsiteY17" fmla="*/ 46885 h 535828"/>
              <a:gd name="connsiteX18" fmla="*/ 120561 w 535828"/>
              <a:gd name="connsiteY18" fmla="*/ 46885 h 535828"/>
              <a:gd name="connsiteX19" fmla="*/ 120561 w 535828"/>
              <a:gd name="connsiteY19" fmla="*/ 26791 h 535828"/>
              <a:gd name="connsiteX20" fmla="*/ 133957 w 535828"/>
              <a:gd name="connsiteY20" fmla="*/ 13396 h 535828"/>
              <a:gd name="connsiteX21" fmla="*/ 120561 w 535828"/>
              <a:gd name="connsiteY21" fmla="*/ 0 h 535828"/>
              <a:gd name="connsiteX22" fmla="*/ 93770 w 535828"/>
              <a:gd name="connsiteY22" fmla="*/ 0 h 535828"/>
              <a:gd name="connsiteX23" fmla="*/ 80374 w 535828"/>
              <a:gd name="connsiteY23" fmla="*/ 13396 h 535828"/>
              <a:gd name="connsiteX24" fmla="*/ 93770 w 535828"/>
              <a:gd name="connsiteY24" fmla="*/ 26791 h 535828"/>
              <a:gd name="connsiteX25" fmla="*/ 93770 w 535828"/>
              <a:gd name="connsiteY25" fmla="*/ 46885 h 535828"/>
              <a:gd name="connsiteX26" fmla="*/ 0 w 535828"/>
              <a:gd name="connsiteY26" fmla="*/ 46885 h 535828"/>
              <a:gd name="connsiteX27" fmla="*/ 0 w 535828"/>
              <a:gd name="connsiteY27" fmla="*/ 341591 h 535828"/>
              <a:gd name="connsiteX28" fmla="*/ 16745 w 535828"/>
              <a:gd name="connsiteY28" fmla="*/ 341591 h 535828"/>
              <a:gd name="connsiteX29" fmla="*/ 16745 w 535828"/>
              <a:gd name="connsiteY29" fmla="*/ 368382 h 535828"/>
              <a:gd name="connsiteX30" fmla="*/ 13396 w 535828"/>
              <a:gd name="connsiteY30" fmla="*/ 368382 h 535828"/>
              <a:gd name="connsiteX31" fmla="*/ 0 w 535828"/>
              <a:gd name="connsiteY31" fmla="*/ 381778 h 535828"/>
              <a:gd name="connsiteX32" fmla="*/ 13396 w 535828"/>
              <a:gd name="connsiteY32" fmla="*/ 395173 h 535828"/>
              <a:gd name="connsiteX33" fmla="*/ 87072 w 535828"/>
              <a:gd name="connsiteY33" fmla="*/ 395173 h 535828"/>
              <a:gd name="connsiteX34" fmla="*/ 87072 w 535828"/>
              <a:gd name="connsiteY34" fmla="*/ 535828 h 535828"/>
              <a:gd name="connsiteX35" fmla="*/ 127259 w 535828"/>
              <a:gd name="connsiteY35" fmla="*/ 535828 h 535828"/>
              <a:gd name="connsiteX36" fmla="*/ 127259 w 535828"/>
              <a:gd name="connsiteY36" fmla="*/ 395173 h 535828"/>
              <a:gd name="connsiteX37" fmla="*/ 408569 w 535828"/>
              <a:gd name="connsiteY37" fmla="*/ 395173 h 535828"/>
              <a:gd name="connsiteX38" fmla="*/ 408569 w 535828"/>
              <a:gd name="connsiteY38" fmla="*/ 535828 h 535828"/>
              <a:gd name="connsiteX39" fmla="*/ 448756 w 535828"/>
              <a:gd name="connsiteY39" fmla="*/ 535828 h 535828"/>
              <a:gd name="connsiteX40" fmla="*/ 448756 w 535828"/>
              <a:gd name="connsiteY40" fmla="*/ 395173 h 535828"/>
              <a:gd name="connsiteX41" fmla="*/ 522433 w 535828"/>
              <a:gd name="connsiteY41" fmla="*/ 395173 h 535828"/>
              <a:gd name="connsiteX42" fmla="*/ 535828 w 535828"/>
              <a:gd name="connsiteY42" fmla="*/ 381778 h 535828"/>
              <a:gd name="connsiteX43" fmla="*/ 522433 w 535828"/>
              <a:gd name="connsiteY43" fmla="*/ 368382 h 535828"/>
              <a:gd name="connsiteX44" fmla="*/ 519084 w 535828"/>
              <a:gd name="connsiteY44" fmla="*/ 368382 h 535828"/>
              <a:gd name="connsiteX45" fmla="*/ 519084 w 535828"/>
              <a:gd name="connsiteY45" fmla="*/ 341591 h 535828"/>
              <a:gd name="connsiteX46" fmla="*/ 338242 w 535828"/>
              <a:gd name="connsiteY46" fmla="*/ 341591 h 535828"/>
              <a:gd name="connsiteX47" fmla="*/ 338242 w 535828"/>
              <a:gd name="connsiteY47" fmla="*/ 368382 h 535828"/>
              <a:gd name="connsiteX48" fmla="*/ 308905 w 535828"/>
              <a:gd name="connsiteY48" fmla="*/ 368382 h 535828"/>
              <a:gd name="connsiteX49" fmla="*/ 335696 w 535828"/>
              <a:gd name="connsiteY49" fmla="*/ 341591 h 535828"/>
              <a:gd name="connsiteX50" fmla="*/ 358335 w 535828"/>
              <a:gd name="connsiteY50" fmla="*/ 368382 h 535828"/>
              <a:gd name="connsiteX51" fmla="*/ 358335 w 535828"/>
              <a:gd name="connsiteY51" fmla="*/ 341591 h 535828"/>
              <a:gd name="connsiteX52" fmla="*/ 387672 w 535828"/>
              <a:gd name="connsiteY52" fmla="*/ 341591 h 535828"/>
              <a:gd name="connsiteX53" fmla="*/ 360880 w 535828"/>
              <a:gd name="connsiteY53" fmla="*/ 368382 h 535828"/>
              <a:gd name="connsiteX54" fmla="*/ 280506 w 535828"/>
              <a:gd name="connsiteY54" fmla="*/ 368382 h 535828"/>
              <a:gd name="connsiteX55" fmla="*/ 277961 w 535828"/>
              <a:gd name="connsiteY55" fmla="*/ 368382 h 535828"/>
              <a:gd name="connsiteX56" fmla="*/ 277961 w 535828"/>
              <a:gd name="connsiteY56" fmla="*/ 341591 h 535828"/>
              <a:gd name="connsiteX57" fmla="*/ 307298 w 535828"/>
              <a:gd name="connsiteY57" fmla="*/ 341591 h 535828"/>
              <a:gd name="connsiteX58" fmla="*/ 257867 w 535828"/>
              <a:gd name="connsiteY58" fmla="*/ 341591 h 535828"/>
              <a:gd name="connsiteX59" fmla="*/ 257867 w 535828"/>
              <a:gd name="connsiteY59" fmla="*/ 368382 h 535828"/>
              <a:gd name="connsiteX60" fmla="*/ 228531 w 535828"/>
              <a:gd name="connsiteY60" fmla="*/ 368382 h 535828"/>
              <a:gd name="connsiteX61" fmla="*/ 255322 w 535828"/>
              <a:gd name="connsiteY61" fmla="*/ 341591 h 535828"/>
              <a:gd name="connsiteX62" fmla="*/ 200132 w 535828"/>
              <a:gd name="connsiteY62" fmla="*/ 368382 h 535828"/>
              <a:gd name="connsiteX63" fmla="*/ 197587 w 535828"/>
              <a:gd name="connsiteY63" fmla="*/ 368382 h 535828"/>
              <a:gd name="connsiteX64" fmla="*/ 197587 w 535828"/>
              <a:gd name="connsiteY64" fmla="*/ 341591 h 535828"/>
              <a:gd name="connsiteX65" fmla="*/ 226923 w 535828"/>
              <a:gd name="connsiteY65" fmla="*/ 341591 h 535828"/>
              <a:gd name="connsiteX66" fmla="*/ 177493 w 535828"/>
              <a:gd name="connsiteY66" fmla="*/ 341591 h 535828"/>
              <a:gd name="connsiteX67" fmla="*/ 177493 w 535828"/>
              <a:gd name="connsiteY67" fmla="*/ 368382 h 535828"/>
              <a:gd name="connsiteX68" fmla="*/ 148157 w 535828"/>
              <a:gd name="connsiteY68" fmla="*/ 368382 h 535828"/>
              <a:gd name="connsiteX69" fmla="*/ 174948 w 535828"/>
              <a:gd name="connsiteY69" fmla="*/ 341591 h 535828"/>
              <a:gd name="connsiteX70" fmla="*/ 119758 w 535828"/>
              <a:gd name="connsiteY70" fmla="*/ 368382 h 535828"/>
              <a:gd name="connsiteX71" fmla="*/ 117212 w 535828"/>
              <a:gd name="connsiteY71" fmla="*/ 368382 h 535828"/>
              <a:gd name="connsiteX72" fmla="*/ 117212 w 535828"/>
              <a:gd name="connsiteY72" fmla="*/ 341591 h 535828"/>
              <a:gd name="connsiteX73" fmla="*/ 146549 w 535828"/>
              <a:gd name="connsiteY73" fmla="*/ 341591 h 535828"/>
              <a:gd name="connsiteX74" fmla="*/ 97119 w 535828"/>
              <a:gd name="connsiteY74" fmla="*/ 341591 h 535828"/>
              <a:gd name="connsiteX75" fmla="*/ 97119 w 535828"/>
              <a:gd name="connsiteY75" fmla="*/ 368382 h 535828"/>
              <a:gd name="connsiteX76" fmla="*/ 67782 w 535828"/>
              <a:gd name="connsiteY76" fmla="*/ 368382 h 535828"/>
              <a:gd name="connsiteX77" fmla="*/ 94574 w 535828"/>
              <a:gd name="connsiteY77" fmla="*/ 341591 h 535828"/>
              <a:gd name="connsiteX78" fmla="*/ 416071 w 535828"/>
              <a:gd name="connsiteY78" fmla="*/ 341591 h 535828"/>
              <a:gd name="connsiteX79" fmla="*/ 418616 w 535828"/>
              <a:gd name="connsiteY79" fmla="*/ 341591 h 535828"/>
              <a:gd name="connsiteX80" fmla="*/ 418616 w 535828"/>
              <a:gd name="connsiteY80" fmla="*/ 368382 h 535828"/>
              <a:gd name="connsiteX81" fmla="*/ 389279 w 535828"/>
              <a:gd name="connsiteY81" fmla="*/ 368382 h 535828"/>
              <a:gd name="connsiteX82" fmla="*/ 438709 w 535828"/>
              <a:gd name="connsiteY82" fmla="*/ 368382 h 535828"/>
              <a:gd name="connsiteX83" fmla="*/ 438709 w 535828"/>
              <a:gd name="connsiteY83" fmla="*/ 341591 h 535828"/>
              <a:gd name="connsiteX84" fmla="*/ 468046 w 535828"/>
              <a:gd name="connsiteY84" fmla="*/ 341591 h 535828"/>
              <a:gd name="connsiteX85" fmla="*/ 441255 w 535828"/>
              <a:gd name="connsiteY85" fmla="*/ 368382 h 535828"/>
              <a:gd name="connsiteX86" fmla="*/ 26791 w 535828"/>
              <a:gd name="connsiteY86" fmla="*/ 73676 h 535828"/>
              <a:gd name="connsiteX87" fmla="*/ 509037 w 535828"/>
              <a:gd name="connsiteY87" fmla="*/ 73676 h 535828"/>
              <a:gd name="connsiteX88" fmla="*/ 509037 w 535828"/>
              <a:gd name="connsiteY88" fmla="*/ 314799 h 535828"/>
              <a:gd name="connsiteX89" fmla="*/ 26791 w 535828"/>
              <a:gd name="connsiteY89" fmla="*/ 314799 h 535828"/>
              <a:gd name="connsiteX90" fmla="*/ 36838 w 535828"/>
              <a:gd name="connsiteY90" fmla="*/ 341591 h 535828"/>
              <a:gd name="connsiteX91" fmla="*/ 66175 w 535828"/>
              <a:gd name="connsiteY91" fmla="*/ 341591 h 535828"/>
              <a:gd name="connsiteX92" fmla="*/ 39383 w 535828"/>
              <a:gd name="connsiteY92" fmla="*/ 368382 h 535828"/>
              <a:gd name="connsiteX93" fmla="*/ 36838 w 535828"/>
              <a:gd name="connsiteY93" fmla="*/ 368382 h 535828"/>
              <a:gd name="connsiteX94" fmla="*/ 498990 w 535828"/>
              <a:gd name="connsiteY94" fmla="*/ 368382 h 535828"/>
              <a:gd name="connsiteX95" fmla="*/ 469654 w 535828"/>
              <a:gd name="connsiteY95" fmla="*/ 368382 h 535828"/>
              <a:gd name="connsiteX96" fmla="*/ 496445 w 535828"/>
              <a:gd name="connsiteY96" fmla="*/ 341591 h 535828"/>
              <a:gd name="connsiteX97" fmla="*/ 498990 w 535828"/>
              <a:gd name="connsiteY97" fmla="*/ 341591 h 535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535828" h="535828">
                <a:moveTo>
                  <a:pt x="535828" y="341591"/>
                </a:moveTo>
                <a:lnTo>
                  <a:pt x="535828" y="46885"/>
                </a:lnTo>
                <a:lnTo>
                  <a:pt x="442058" y="46885"/>
                </a:lnTo>
                <a:lnTo>
                  <a:pt x="442058" y="26791"/>
                </a:lnTo>
                <a:cubicBezTo>
                  <a:pt x="449457" y="26791"/>
                  <a:pt x="455454" y="20794"/>
                  <a:pt x="455454" y="13396"/>
                </a:cubicBezTo>
                <a:cubicBezTo>
                  <a:pt x="455454" y="5997"/>
                  <a:pt x="449457" y="0"/>
                  <a:pt x="442058" y="0"/>
                </a:cubicBezTo>
                <a:lnTo>
                  <a:pt x="415267" y="0"/>
                </a:lnTo>
                <a:cubicBezTo>
                  <a:pt x="407869" y="0"/>
                  <a:pt x="401871" y="5997"/>
                  <a:pt x="401871" y="13396"/>
                </a:cubicBezTo>
                <a:cubicBezTo>
                  <a:pt x="401871" y="20794"/>
                  <a:pt x="407869" y="26791"/>
                  <a:pt x="415267" y="26791"/>
                </a:cubicBezTo>
                <a:lnTo>
                  <a:pt x="415267" y="46885"/>
                </a:lnTo>
                <a:lnTo>
                  <a:pt x="281310" y="46885"/>
                </a:lnTo>
                <a:lnTo>
                  <a:pt x="281310" y="26791"/>
                </a:lnTo>
                <a:cubicBezTo>
                  <a:pt x="288708" y="26791"/>
                  <a:pt x="294706" y="20794"/>
                  <a:pt x="294706" y="13396"/>
                </a:cubicBezTo>
                <a:cubicBezTo>
                  <a:pt x="294706" y="5997"/>
                  <a:pt x="288708" y="0"/>
                  <a:pt x="281310" y="0"/>
                </a:cubicBezTo>
                <a:lnTo>
                  <a:pt x="254518" y="0"/>
                </a:lnTo>
                <a:cubicBezTo>
                  <a:pt x="247120" y="0"/>
                  <a:pt x="241123" y="5997"/>
                  <a:pt x="241123" y="13396"/>
                </a:cubicBezTo>
                <a:cubicBezTo>
                  <a:pt x="241123" y="20794"/>
                  <a:pt x="247120" y="26791"/>
                  <a:pt x="254518" y="26791"/>
                </a:cubicBezTo>
                <a:lnTo>
                  <a:pt x="254518" y="46885"/>
                </a:lnTo>
                <a:lnTo>
                  <a:pt x="120561" y="46885"/>
                </a:lnTo>
                <a:lnTo>
                  <a:pt x="120561" y="26791"/>
                </a:lnTo>
                <a:cubicBezTo>
                  <a:pt x="127960" y="26791"/>
                  <a:pt x="133957" y="20794"/>
                  <a:pt x="133957" y="13396"/>
                </a:cubicBezTo>
                <a:cubicBezTo>
                  <a:pt x="133957" y="5997"/>
                  <a:pt x="127960" y="0"/>
                  <a:pt x="120561" y="0"/>
                </a:cubicBezTo>
                <a:lnTo>
                  <a:pt x="93770" y="0"/>
                </a:lnTo>
                <a:cubicBezTo>
                  <a:pt x="86372" y="0"/>
                  <a:pt x="80374" y="5997"/>
                  <a:pt x="80374" y="13396"/>
                </a:cubicBezTo>
                <a:cubicBezTo>
                  <a:pt x="80374" y="20794"/>
                  <a:pt x="86372" y="26791"/>
                  <a:pt x="93770" y="26791"/>
                </a:cubicBezTo>
                <a:lnTo>
                  <a:pt x="93770" y="46885"/>
                </a:lnTo>
                <a:lnTo>
                  <a:pt x="0" y="46885"/>
                </a:lnTo>
                <a:lnTo>
                  <a:pt x="0" y="341591"/>
                </a:lnTo>
                <a:lnTo>
                  <a:pt x="16745" y="341591"/>
                </a:lnTo>
                <a:lnTo>
                  <a:pt x="16745" y="368382"/>
                </a:lnTo>
                <a:lnTo>
                  <a:pt x="13396" y="368382"/>
                </a:lnTo>
                <a:cubicBezTo>
                  <a:pt x="5997" y="368382"/>
                  <a:pt x="0" y="374379"/>
                  <a:pt x="0" y="381778"/>
                </a:cubicBezTo>
                <a:cubicBezTo>
                  <a:pt x="0" y="389176"/>
                  <a:pt x="5997" y="395173"/>
                  <a:pt x="13396" y="395173"/>
                </a:cubicBezTo>
                <a:lnTo>
                  <a:pt x="87072" y="395173"/>
                </a:lnTo>
                <a:lnTo>
                  <a:pt x="87072" y="535828"/>
                </a:lnTo>
                <a:lnTo>
                  <a:pt x="127259" y="535828"/>
                </a:lnTo>
                <a:lnTo>
                  <a:pt x="127259" y="395173"/>
                </a:lnTo>
                <a:lnTo>
                  <a:pt x="408569" y="395173"/>
                </a:lnTo>
                <a:lnTo>
                  <a:pt x="408569" y="535828"/>
                </a:lnTo>
                <a:lnTo>
                  <a:pt x="448756" y="535828"/>
                </a:lnTo>
                <a:lnTo>
                  <a:pt x="448756" y="395173"/>
                </a:lnTo>
                <a:lnTo>
                  <a:pt x="522433" y="395173"/>
                </a:lnTo>
                <a:cubicBezTo>
                  <a:pt x="529831" y="395173"/>
                  <a:pt x="535828" y="389176"/>
                  <a:pt x="535828" y="381778"/>
                </a:cubicBezTo>
                <a:cubicBezTo>
                  <a:pt x="535828" y="374379"/>
                  <a:pt x="529831" y="368382"/>
                  <a:pt x="522433" y="368382"/>
                </a:cubicBezTo>
                <a:lnTo>
                  <a:pt x="519084" y="368382"/>
                </a:lnTo>
                <a:lnTo>
                  <a:pt x="519084" y="341591"/>
                </a:lnTo>
                <a:close/>
                <a:moveTo>
                  <a:pt x="338242" y="341591"/>
                </a:moveTo>
                <a:lnTo>
                  <a:pt x="338242" y="368382"/>
                </a:lnTo>
                <a:lnTo>
                  <a:pt x="308905" y="368382"/>
                </a:lnTo>
                <a:lnTo>
                  <a:pt x="335696" y="341591"/>
                </a:lnTo>
                <a:close/>
                <a:moveTo>
                  <a:pt x="358335" y="368382"/>
                </a:moveTo>
                <a:lnTo>
                  <a:pt x="358335" y="341591"/>
                </a:lnTo>
                <a:lnTo>
                  <a:pt x="387672" y="341591"/>
                </a:lnTo>
                <a:lnTo>
                  <a:pt x="360880" y="368382"/>
                </a:lnTo>
                <a:close/>
                <a:moveTo>
                  <a:pt x="280506" y="368382"/>
                </a:moveTo>
                <a:lnTo>
                  <a:pt x="277961" y="368382"/>
                </a:lnTo>
                <a:lnTo>
                  <a:pt x="277961" y="341591"/>
                </a:lnTo>
                <a:lnTo>
                  <a:pt x="307298" y="341591"/>
                </a:lnTo>
                <a:close/>
                <a:moveTo>
                  <a:pt x="257867" y="341591"/>
                </a:moveTo>
                <a:lnTo>
                  <a:pt x="257867" y="368382"/>
                </a:lnTo>
                <a:lnTo>
                  <a:pt x="228531" y="368382"/>
                </a:lnTo>
                <a:lnTo>
                  <a:pt x="255322" y="341591"/>
                </a:lnTo>
                <a:close/>
                <a:moveTo>
                  <a:pt x="200132" y="368382"/>
                </a:moveTo>
                <a:lnTo>
                  <a:pt x="197587" y="368382"/>
                </a:lnTo>
                <a:lnTo>
                  <a:pt x="197587" y="341591"/>
                </a:lnTo>
                <a:lnTo>
                  <a:pt x="226923" y="341591"/>
                </a:lnTo>
                <a:close/>
                <a:moveTo>
                  <a:pt x="177493" y="341591"/>
                </a:moveTo>
                <a:lnTo>
                  <a:pt x="177493" y="368382"/>
                </a:lnTo>
                <a:lnTo>
                  <a:pt x="148157" y="368382"/>
                </a:lnTo>
                <a:lnTo>
                  <a:pt x="174948" y="341591"/>
                </a:lnTo>
                <a:close/>
                <a:moveTo>
                  <a:pt x="119758" y="368382"/>
                </a:moveTo>
                <a:lnTo>
                  <a:pt x="117212" y="368382"/>
                </a:lnTo>
                <a:lnTo>
                  <a:pt x="117212" y="341591"/>
                </a:lnTo>
                <a:lnTo>
                  <a:pt x="146549" y="341591"/>
                </a:lnTo>
                <a:close/>
                <a:moveTo>
                  <a:pt x="97119" y="341591"/>
                </a:moveTo>
                <a:lnTo>
                  <a:pt x="97119" y="368382"/>
                </a:lnTo>
                <a:lnTo>
                  <a:pt x="67782" y="368382"/>
                </a:lnTo>
                <a:lnTo>
                  <a:pt x="94574" y="341591"/>
                </a:lnTo>
                <a:close/>
                <a:moveTo>
                  <a:pt x="416071" y="341591"/>
                </a:moveTo>
                <a:lnTo>
                  <a:pt x="418616" y="341591"/>
                </a:lnTo>
                <a:lnTo>
                  <a:pt x="418616" y="368382"/>
                </a:lnTo>
                <a:lnTo>
                  <a:pt x="389279" y="368382"/>
                </a:lnTo>
                <a:close/>
                <a:moveTo>
                  <a:pt x="438709" y="368382"/>
                </a:moveTo>
                <a:lnTo>
                  <a:pt x="438709" y="341591"/>
                </a:lnTo>
                <a:lnTo>
                  <a:pt x="468046" y="341591"/>
                </a:lnTo>
                <a:lnTo>
                  <a:pt x="441255" y="368382"/>
                </a:lnTo>
                <a:close/>
                <a:moveTo>
                  <a:pt x="26791" y="73676"/>
                </a:moveTo>
                <a:lnTo>
                  <a:pt x="509037" y="73676"/>
                </a:lnTo>
                <a:lnTo>
                  <a:pt x="509037" y="314799"/>
                </a:lnTo>
                <a:lnTo>
                  <a:pt x="26791" y="314799"/>
                </a:lnTo>
                <a:close/>
                <a:moveTo>
                  <a:pt x="36838" y="341591"/>
                </a:moveTo>
                <a:lnTo>
                  <a:pt x="66175" y="341591"/>
                </a:lnTo>
                <a:lnTo>
                  <a:pt x="39383" y="368382"/>
                </a:lnTo>
                <a:lnTo>
                  <a:pt x="36838" y="368382"/>
                </a:lnTo>
                <a:close/>
                <a:moveTo>
                  <a:pt x="498990" y="368382"/>
                </a:moveTo>
                <a:lnTo>
                  <a:pt x="469654" y="368382"/>
                </a:lnTo>
                <a:lnTo>
                  <a:pt x="496445" y="341591"/>
                </a:lnTo>
                <a:lnTo>
                  <a:pt x="498990" y="34159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" name="Graphic 52" descr="Bank with solid fill">
            <a:extLst>
              <a:ext uri="{FF2B5EF4-FFF2-40B4-BE49-F238E27FC236}">
                <a16:creationId xmlns:a16="http://schemas.microsoft.com/office/drawing/2014/main" id="{8277480B-77F9-506A-4295-D4AE00AA8FEE}"/>
              </a:ext>
            </a:extLst>
          </p:cNvPr>
          <p:cNvSpPr/>
          <p:nvPr/>
        </p:nvSpPr>
        <p:spPr>
          <a:xfrm>
            <a:off x="3036061" y="2669682"/>
            <a:ext cx="319470" cy="302654"/>
          </a:xfrm>
          <a:custGeom>
            <a:avLst/>
            <a:gdLst>
              <a:gd name="connsiteX0" fmla="*/ 462152 w 509036"/>
              <a:gd name="connsiteY0" fmla="*/ 421965 h 482245"/>
              <a:gd name="connsiteX1" fmla="*/ 462152 w 509036"/>
              <a:gd name="connsiteY1" fmla="*/ 408569 h 482245"/>
              <a:gd name="connsiteX2" fmla="*/ 435361 w 509036"/>
              <a:gd name="connsiteY2" fmla="*/ 408569 h 482245"/>
              <a:gd name="connsiteX3" fmla="*/ 435361 w 509036"/>
              <a:gd name="connsiteY3" fmla="*/ 180842 h 482245"/>
              <a:gd name="connsiteX4" fmla="*/ 462152 w 509036"/>
              <a:gd name="connsiteY4" fmla="*/ 180842 h 482245"/>
              <a:gd name="connsiteX5" fmla="*/ 462152 w 509036"/>
              <a:gd name="connsiteY5" fmla="*/ 167446 h 482245"/>
              <a:gd name="connsiteX6" fmla="*/ 482246 w 509036"/>
              <a:gd name="connsiteY6" fmla="*/ 167446 h 482245"/>
              <a:gd name="connsiteX7" fmla="*/ 482246 w 509036"/>
              <a:gd name="connsiteY7" fmla="*/ 127259 h 482245"/>
              <a:gd name="connsiteX8" fmla="*/ 462152 w 509036"/>
              <a:gd name="connsiteY8" fmla="*/ 127259 h 482245"/>
              <a:gd name="connsiteX9" fmla="*/ 254518 w 509036"/>
              <a:gd name="connsiteY9" fmla="*/ 0 h 482245"/>
              <a:gd name="connsiteX10" fmla="*/ 46885 w 509036"/>
              <a:gd name="connsiteY10" fmla="*/ 127259 h 482245"/>
              <a:gd name="connsiteX11" fmla="*/ 26791 w 509036"/>
              <a:gd name="connsiteY11" fmla="*/ 127259 h 482245"/>
              <a:gd name="connsiteX12" fmla="*/ 26791 w 509036"/>
              <a:gd name="connsiteY12" fmla="*/ 167446 h 482245"/>
              <a:gd name="connsiteX13" fmla="*/ 46885 w 509036"/>
              <a:gd name="connsiteY13" fmla="*/ 167446 h 482245"/>
              <a:gd name="connsiteX14" fmla="*/ 46885 w 509036"/>
              <a:gd name="connsiteY14" fmla="*/ 180842 h 482245"/>
              <a:gd name="connsiteX15" fmla="*/ 73676 w 509036"/>
              <a:gd name="connsiteY15" fmla="*/ 180842 h 482245"/>
              <a:gd name="connsiteX16" fmla="*/ 73676 w 509036"/>
              <a:gd name="connsiteY16" fmla="*/ 408569 h 482245"/>
              <a:gd name="connsiteX17" fmla="*/ 46885 w 509036"/>
              <a:gd name="connsiteY17" fmla="*/ 408569 h 482245"/>
              <a:gd name="connsiteX18" fmla="*/ 46885 w 509036"/>
              <a:gd name="connsiteY18" fmla="*/ 421965 h 482245"/>
              <a:gd name="connsiteX19" fmla="*/ 0 w 509036"/>
              <a:gd name="connsiteY19" fmla="*/ 455454 h 482245"/>
              <a:gd name="connsiteX20" fmla="*/ 0 w 509036"/>
              <a:gd name="connsiteY20" fmla="*/ 482246 h 482245"/>
              <a:gd name="connsiteX21" fmla="*/ 254518 w 509036"/>
              <a:gd name="connsiteY21" fmla="*/ 482246 h 482245"/>
              <a:gd name="connsiteX22" fmla="*/ 509037 w 509036"/>
              <a:gd name="connsiteY22" fmla="*/ 482246 h 482245"/>
              <a:gd name="connsiteX23" fmla="*/ 509037 w 509036"/>
              <a:gd name="connsiteY23" fmla="*/ 455454 h 482245"/>
              <a:gd name="connsiteX24" fmla="*/ 462152 w 509036"/>
              <a:gd name="connsiteY24" fmla="*/ 421965 h 482245"/>
              <a:gd name="connsiteX25" fmla="*/ 154051 w 509036"/>
              <a:gd name="connsiteY25" fmla="*/ 408569 h 482245"/>
              <a:gd name="connsiteX26" fmla="*/ 113864 w 509036"/>
              <a:gd name="connsiteY26" fmla="*/ 408569 h 482245"/>
              <a:gd name="connsiteX27" fmla="*/ 113864 w 509036"/>
              <a:gd name="connsiteY27" fmla="*/ 180842 h 482245"/>
              <a:gd name="connsiteX28" fmla="*/ 154051 w 509036"/>
              <a:gd name="connsiteY28" fmla="*/ 180842 h 482245"/>
              <a:gd name="connsiteX29" fmla="*/ 154051 w 509036"/>
              <a:gd name="connsiteY29" fmla="*/ 408569 h 482245"/>
              <a:gd name="connsiteX30" fmla="*/ 234425 w 509036"/>
              <a:gd name="connsiteY30" fmla="*/ 408569 h 482245"/>
              <a:gd name="connsiteX31" fmla="*/ 194238 w 509036"/>
              <a:gd name="connsiteY31" fmla="*/ 408569 h 482245"/>
              <a:gd name="connsiteX32" fmla="*/ 194238 w 509036"/>
              <a:gd name="connsiteY32" fmla="*/ 180842 h 482245"/>
              <a:gd name="connsiteX33" fmla="*/ 234425 w 509036"/>
              <a:gd name="connsiteY33" fmla="*/ 180842 h 482245"/>
              <a:gd name="connsiteX34" fmla="*/ 234425 w 509036"/>
              <a:gd name="connsiteY34" fmla="*/ 408569 h 482245"/>
              <a:gd name="connsiteX35" fmla="*/ 247821 w 509036"/>
              <a:gd name="connsiteY35" fmla="*/ 113864 h 482245"/>
              <a:gd name="connsiteX36" fmla="*/ 221029 w 509036"/>
              <a:gd name="connsiteY36" fmla="*/ 87072 h 482245"/>
              <a:gd name="connsiteX37" fmla="*/ 247821 w 509036"/>
              <a:gd name="connsiteY37" fmla="*/ 60281 h 482245"/>
              <a:gd name="connsiteX38" fmla="*/ 274612 w 509036"/>
              <a:gd name="connsiteY38" fmla="*/ 87072 h 482245"/>
              <a:gd name="connsiteX39" fmla="*/ 247821 w 509036"/>
              <a:gd name="connsiteY39" fmla="*/ 113864 h 482245"/>
              <a:gd name="connsiteX40" fmla="*/ 314799 w 509036"/>
              <a:gd name="connsiteY40" fmla="*/ 408569 h 482245"/>
              <a:gd name="connsiteX41" fmla="*/ 274612 w 509036"/>
              <a:gd name="connsiteY41" fmla="*/ 408569 h 482245"/>
              <a:gd name="connsiteX42" fmla="*/ 274612 w 509036"/>
              <a:gd name="connsiteY42" fmla="*/ 180842 h 482245"/>
              <a:gd name="connsiteX43" fmla="*/ 314799 w 509036"/>
              <a:gd name="connsiteY43" fmla="*/ 180842 h 482245"/>
              <a:gd name="connsiteX44" fmla="*/ 314799 w 509036"/>
              <a:gd name="connsiteY44" fmla="*/ 408569 h 482245"/>
              <a:gd name="connsiteX45" fmla="*/ 395173 w 509036"/>
              <a:gd name="connsiteY45" fmla="*/ 408569 h 482245"/>
              <a:gd name="connsiteX46" fmla="*/ 354986 w 509036"/>
              <a:gd name="connsiteY46" fmla="*/ 408569 h 482245"/>
              <a:gd name="connsiteX47" fmla="*/ 354986 w 509036"/>
              <a:gd name="connsiteY47" fmla="*/ 180842 h 482245"/>
              <a:gd name="connsiteX48" fmla="*/ 395173 w 509036"/>
              <a:gd name="connsiteY48" fmla="*/ 180842 h 482245"/>
              <a:gd name="connsiteX49" fmla="*/ 395173 w 509036"/>
              <a:gd name="connsiteY49" fmla="*/ 408569 h 482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509036" h="482245">
                <a:moveTo>
                  <a:pt x="462152" y="421965"/>
                </a:moveTo>
                <a:lnTo>
                  <a:pt x="462152" y="408569"/>
                </a:lnTo>
                <a:lnTo>
                  <a:pt x="435361" y="408569"/>
                </a:lnTo>
                <a:lnTo>
                  <a:pt x="435361" y="180842"/>
                </a:lnTo>
                <a:lnTo>
                  <a:pt x="462152" y="180842"/>
                </a:lnTo>
                <a:lnTo>
                  <a:pt x="462152" y="167446"/>
                </a:lnTo>
                <a:lnTo>
                  <a:pt x="482246" y="167446"/>
                </a:lnTo>
                <a:lnTo>
                  <a:pt x="482246" y="127259"/>
                </a:lnTo>
                <a:lnTo>
                  <a:pt x="462152" y="127259"/>
                </a:lnTo>
                <a:lnTo>
                  <a:pt x="254518" y="0"/>
                </a:lnTo>
                <a:lnTo>
                  <a:pt x="46885" y="127259"/>
                </a:lnTo>
                <a:lnTo>
                  <a:pt x="26791" y="127259"/>
                </a:lnTo>
                <a:lnTo>
                  <a:pt x="26791" y="167446"/>
                </a:lnTo>
                <a:lnTo>
                  <a:pt x="46885" y="167446"/>
                </a:lnTo>
                <a:lnTo>
                  <a:pt x="46885" y="180842"/>
                </a:lnTo>
                <a:lnTo>
                  <a:pt x="73676" y="180842"/>
                </a:lnTo>
                <a:lnTo>
                  <a:pt x="73676" y="408569"/>
                </a:lnTo>
                <a:lnTo>
                  <a:pt x="46885" y="408569"/>
                </a:lnTo>
                <a:lnTo>
                  <a:pt x="46885" y="421965"/>
                </a:lnTo>
                <a:lnTo>
                  <a:pt x="0" y="455454"/>
                </a:lnTo>
                <a:lnTo>
                  <a:pt x="0" y="482246"/>
                </a:lnTo>
                <a:lnTo>
                  <a:pt x="254518" y="482246"/>
                </a:lnTo>
                <a:lnTo>
                  <a:pt x="509037" y="482246"/>
                </a:lnTo>
                <a:lnTo>
                  <a:pt x="509037" y="455454"/>
                </a:lnTo>
                <a:lnTo>
                  <a:pt x="462152" y="421965"/>
                </a:lnTo>
                <a:close/>
                <a:moveTo>
                  <a:pt x="154051" y="408569"/>
                </a:moveTo>
                <a:lnTo>
                  <a:pt x="113864" y="408569"/>
                </a:lnTo>
                <a:lnTo>
                  <a:pt x="113864" y="180842"/>
                </a:lnTo>
                <a:lnTo>
                  <a:pt x="154051" y="180842"/>
                </a:lnTo>
                <a:lnTo>
                  <a:pt x="154051" y="408569"/>
                </a:lnTo>
                <a:close/>
                <a:moveTo>
                  <a:pt x="234425" y="408569"/>
                </a:moveTo>
                <a:lnTo>
                  <a:pt x="194238" y="408569"/>
                </a:lnTo>
                <a:lnTo>
                  <a:pt x="194238" y="180842"/>
                </a:lnTo>
                <a:lnTo>
                  <a:pt x="234425" y="180842"/>
                </a:lnTo>
                <a:lnTo>
                  <a:pt x="234425" y="408569"/>
                </a:lnTo>
                <a:close/>
                <a:moveTo>
                  <a:pt x="247821" y="113864"/>
                </a:moveTo>
                <a:cubicBezTo>
                  <a:pt x="233085" y="113864"/>
                  <a:pt x="221029" y="101807"/>
                  <a:pt x="221029" y="87072"/>
                </a:cubicBezTo>
                <a:cubicBezTo>
                  <a:pt x="221029" y="72337"/>
                  <a:pt x="233085" y="60281"/>
                  <a:pt x="247821" y="60281"/>
                </a:cubicBezTo>
                <a:cubicBezTo>
                  <a:pt x="262556" y="60281"/>
                  <a:pt x="274612" y="72337"/>
                  <a:pt x="274612" y="87072"/>
                </a:cubicBezTo>
                <a:cubicBezTo>
                  <a:pt x="274612" y="101807"/>
                  <a:pt x="262556" y="113864"/>
                  <a:pt x="247821" y="113864"/>
                </a:cubicBezTo>
                <a:close/>
                <a:moveTo>
                  <a:pt x="314799" y="408569"/>
                </a:moveTo>
                <a:lnTo>
                  <a:pt x="274612" y="408569"/>
                </a:lnTo>
                <a:lnTo>
                  <a:pt x="274612" y="180842"/>
                </a:lnTo>
                <a:lnTo>
                  <a:pt x="314799" y="180842"/>
                </a:lnTo>
                <a:lnTo>
                  <a:pt x="314799" y="408569"/>
                </a:lnTo>
                <a:close/>
                <a:moveTo>
                  <a:pt x="395173" y="408569"/>
                </a:moveTo>
                <a:lnTo>
                  <a:pt x="354986" y="408569"/>
                </a:lnTo>
                <a:lnTo>
                  <a:pt x="354986" y="180842"/>
                </a:lnTo>
                <a:lnTo>
                  <a:pt x="395173" y="180842"/>
                </a:lnTo>
                <a:lnTo>
                  <a:pt x="395173" y="40856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5" name="Graphic 54" descr="Board Of Directors with solid fill">
            <a:extLst>
              <a:ext uri="{FF2B5EF4-FFF2-40B4-BE49-F238E27FC236}">
                <a16:creationId xmlns:a16="http://schemas.microsoft.com/office/drawing/2014/main" id="{154B228A-6E2F-6262-0F41-A19FAECA5716}"/>
              </a:ext>
            </a:extLst>
          </p:cNvPr>
          <p:cNvSpPr/>
          <p:nvPr/>
        </p:nvSpPr>
        <p:spPr>
          <a:xfrm>
            <a:off x="3295440" y="3645877"/>
            <a:ext cx="386718" cy="302648"/>
          </a:xfrm>
          <a:custGeom>
            <a:avLst/>
            <a:gdLst>
              <a:gd name="connsiteX0" fmla="*/ 585584 w 616191"/>
              <a:gd name="connsiteY0" fmla="*/ 341952 h 482237"/>
              <a:gd name="connsiteX1" fmla="*/ 600125 w 616191"/>
              <a:gd name="connsiteY1" fmla="*/ 325013 h 482237"/>
              <a:gd name="connsiteX2" fmla="*/ 616046 w 616191"/>
              <a:gd name="connsiteY2" fmla="*/ 192356 h 482237"/>
              <a:gd name="connsiteX3" fmla="*/ 598533 w 616191"/>
              <a:gd name="connsiteY3" fmla="*/ 170049 h 482237"/>
              <a:gd name="connsiteX4" fmla="*/ 597292 w 616191"/>
              <a:gd name="connsiteY4" fmla="*/ 169938 h 482237"/>
              <a:gd name="connsiteX5" fmla="*/ 523575 w 616191"/>
              <a:gd name="connsiteY5" fmla="*/ 165598 h 482237"/>
              <a:gd name="connsiteX6" fmla="*/ 502497 w 616191"/>
              <a:gd name="connsiteY6" fmla="*/ 183059 h 482237"/>
              <a:gd name="connsiteX7" fmla="*/ 497929 w 616191"/>
              <a:gd name="connsiteY7" fmla="*/ 218477 h 482237"/>
              <a:gd name="connsiteX8" fmla="*/ 486670 w 616191"/>
              <a:gd name="connsiteY8" fmla="*/ 201237 h 482237"/>
              <a:gd name="connsiteX9" fmla="*/ 489235 w 616191"/>
              <a:gd name="connsiteY9" fmla="*/ 181351 h 482237"/>
              <a:gd name="connsiteX10" fmla="*/ 522430 w 616191"/>
              <a:gd name="connsiteY10" fmla="*/ 152195 h 482237"/>
              <a:gd name="connsiteX11" fmla="*/ 524439 w 616191"/>
              <a:gd name="connsiteY11" fmla="*/ 152256 h 482237"/>
              <a:gd name="connsiteX12" fmla="*/ 556281 w 616191"/>
              <a:gd name="connsiteY12" fmla="*/ 154124 h 482237"/>
              <a:gd name="connsiteX13" fmla="*/ 560882 w 616191"/>
              <a:gd name="connsiteY13" fmla="*/ 125879 h 482237"/>
              <a:gd name="connsiteX14" fmla="*/ 544231 w 616191"/>
              <a:gd name="connsiteY14" fmla="*/ 102852 h 482237"/>
              <a:gd name="connsiteX15" fmla="*/ 542416 w 616191"/>
              <a:gd name="connsiteY15" fmla="*/ 102645 h 482237"/>
              <a:gd name="connsiteX16" fmla="*/ 482477 w 616191"/>
              <a:gd name="connsiteY16" fmla="*/ 98626 h 482237"/>
              <a:gd name="connsiteX17" fmla="*/ 461318 w 616191"/>
              <a:gd name="connsiteY17" fmla="*/ 115585 h 482237"/>
              <a:gd name="connsiteX18" fmla="*/ 455451 w 616191"/>
              <a:gd name="connsiteY18" fmla="*/ 153354 h 482237"/>
              <a:gd name="connsiteX19" fmla="*/ 444507 w 616191"/>
              <a:gd name="connsiteY19" fmla="*/ 136609 h 482237"/>
              <a:gd name="connsiteX20" fmla="*/ 448057 w 616191"/>
              <a:gd name="connsiteY20" fmla="*/ 113582 h 482237"/>
              <a:gd name="connsiteX21" fmla="*/ 481091 w 616191"/>
              <a:gd name="connsiteY21" fmla="*/ 85244 h 482237"/>
              <a:gd name="connsiteX22" fmla="*/ 483328 w 616191"/>
              <a:gd name="connsiteY22" fmla="*/ 85324 h 482237"/>
              <a:gd name="connsiteX23" fmla="*/ 496549 w 616191"/>
              <a:gd name="connsiteY23" fmla="*/ 86201 h 482237"/>
              <a:gd name="connsiteX24" fmla="*/ 498632 w 616191"/>
              <a:gd name="connsiteY24" fmla="*/ 67447 h 482237"/>
              <a:gd name="connsiteX25" fmla="*/ 480850 w 616191"/>
              <a:gd name="connsiteY25" fmla="*/ 45282 h 482237"/>
              <a:gd name="connsiteX26" fmla="*/ 480233 w 616191"/>
              <a:gd name="connsiteY26" fmla="*/ 45224 h 482237"/>
              <a:gd name="connsiteX27" fmla="*/ 433442 w 616191"/>
              <a:gd name="connsiteY27" fmla="*/ 41627 h 482237"/>
              <a:gd name="connsiteX28" fmla="*/ 411915 w 616191"/>
              <a:gd name="connsiteY28" fmla="*/ 59531 h 482237"/>
              <a:gd name="connsiteX29" fmla="*/ 408881 w 616191"/>
              <a:gd name="connsiteY29" fmla="*/ 88372 h 482237"/>
              <a:gd name="connsiteX30" fmla="*/ 366309 w 616191"/>
              <a:gd name="connsiteY30" fmla="*/ 73569 h 482237"/>
              <a:gd name="connsiteX31" fmla="*/ 360462 w 616191"/>
              <a:gd name="connsiteY31" fmla="*/ 73569 h 482237"/>
              <a:gd name="connsiteX32" fmla="*/ 360462 w 616191"/>
              <a:gd name="connsiteY32" fmla="*/ 26684 h 482237"/>
              <a:gd name="connsiteX33" fmla="*/ 355104 w 616191"/>
              <a:gd name="connsiteY33" fmla="*/ 13751 h 482237"/>
              <a:gd name="connsiteX34" fmla="*/ 346946 w 616191"/>
              <a:gd name="connsiteY34" fmla="*/ 8721 h 482237"/>
              <a:gd name="connsiteX35" fmla="*/ 268990 w 616191"/>
              <a:gd name="connsiteY35" fmla="*/ 8386 h 482237"/>
              <a:gd name="connsiteX36" fmla="*/ 259311 w 616191"/>
              <a:gd name="connsiteY36" fmla="*/ 13744 h 482237"/>
              <a:gd name="connsiteX37" fmla="*/ 253953 w 616191"/>
              <a:gd name="connsiteY37" fmla="*/ 26678 h 482237"/>
              <a:gd name="connsiteX38" fmla="*/ 253953 w 616191"/>
              <a:gd name="connsiteY38" fmla="*/ 73563 h 482237"/>
              <a:gd name="connsiteX39" fmla="*/ 247510 w 616191"/>
              <a:gd name="connsiteY39" fmla="*/ 73563 h 482237"/>
              <a:gd name="connsiteX40" fmla="*/ 207122 w 616191"/>
              <a:gd name="connsiteY40" fmla="*/ 86684 h 482237"/>
              <a:gd name="connsiteX41" fmla="*/ 204282 w 616191"/>
              <a:gd name="connsiteY41" fmla="*/ 59531 h 482237"/>
              <a:gd name="connsiteX42" fmla="*/ 182795 w 616191"/>
              <a:gd name="connsiteY42" fmla="*/ 41627 h 482237"/>
              <a:gd name="connsiteX43" fmla="*/ 136004 w 616191"/>
              <a:gd name="connsiteY43" fmla="*/ 45224 h 482237"/>
              <a:gd name="connsiteX44" fmla="*/ 117546 w 616191"/>
              <a:gd name="connsiteY44" fmla="*/ 66831 h 482237"/>
              <a:gd name="connsiteX45" fmla="*/ 117605 w 616191"/>
              <a:gd name="connsiteY45" fmla="*/ 67447 h 482237"/>
              <a:gd name="connsiteX46" fmla="*/ 119688 w 616191"/>
              <a:gd name="connsiteY46" fmla="*/ 86201 h 482237"/>
              <a:gd name="connsiteX47" fmla="*/ 132909 w 616191"/>
              <a:gd name="connsiteY47" fmla="*/ 85324 h 482237"/>
              <a:gd name="connsiteX48" fmla="*/ 135146 w 616191"/>
              <a:gd name="connsiteY48" fmla="*/ 85244 h 482237"/>
              <a:gd name="connsiteX49" fmla="*/ 168173 w 616191"/>
              <a:gd name="connsiteY49" fmla="*/ 113582 h 482237"/>
              <a:gd name="connsiteX50" fmla="*/ 171288 w 616191"/>
              <a:gd name="connsiteY50" fmla="*/ 133716 h 482237"/>
              <a:gd name="connsiteX51" fmla="*/ 160344 w 616191"/>
              <a:gd name="connsiteY51" fmla="*/ 150461 h 482237"/>
              <a:gd name="connsiteX52" fmla="*/ 154985 w 616191"/>
              <a:gd name="connsiteY52" fmla="*/ 115592 h 482237"/>
              <a:gd name="connsiteX53" fmla="*/ 133827 w 616191"/>
              <a:gd name="connsiteY53" fmla="*/ 98633 h 482237"/>
              <a:gd name="connsiteX54" fmla="*/ 73888 w 616191"/>
              <a:gd name="connsiteY54" fmla="*/ 102651 h 482237"/>
              <a:gd name="connsiteX55" fmla="*/ 55214 w 616191"/>
              <a:gd name="connsiteY55" fmla="*/ 124071 h 482237"/>
              <a:gd name="connsiteX56" fmla="*/ 55422 w 616191"/>
              <a:gd name="connsiteY56" fmla="*/ 125886 h 482237"/>
              <a:gd name="connsiteX57" fmla="*/ 60023 w 616191"/>
              <a:gd name="connsiteY57" fmla="*/ 154131 h 482237"/>
              <a:gd name="connsiteX58" fmla="*/ 91865 w 616191"/>
              <a:gd name="connsiteY58" fmla="*/ 152262 h 482237"/>
              <a:gd name="connsiteX59" fmla="*/ 93874 w 616191"/>
              <a:gd name="connsiteY59" fmla="*/ 152202 h 482237"/>
              <a:gd name="connsiteX60" fmla="*/ 127015 w 616191"/>
              <a:gd name="connsiteY60" fmla="*/ 181358 h 482237"/>
              <a:gd name="connsiteX61" fmla="*/ 129199 w 616191"/>
              <a:gd name="connsiteY61" fmla="*/ 198310 h 482237"/>
              <a:gd name="connsiteX62" fmla="*/ 117879 w 616191"/>
              <a:gd name="connsiteY62" fmla="*/ 215557 h 482237"/>
              <a:gd name="connsiteX63" fmla="*/ 113686 w 616191"/>
              <a:gd name="connsiteY63" fmla="*/ 183059 h 482237"/>
              <a:gd name="connsiteX64" fmla="*/ 92608 w 616191"/>
              <a:gd name="connsiteY64" fmla="*/ 165598 h 482237"/>
              <a:gd name="connsiteX65" fmla="*/ 18898 w 616191"/>
              <a:gd name="connsiteY65" fmla="*/ 169938 h 482237"/>
              <a:gd name="connsiteX66" fmla="*/ 34 w 616191"/>
              <a:gd name="connsiteY66" fmla="*/ 191113 h 482237"/>
              <a:gd name="connsiteX67" fmla="*/ 144 w 616191"/>
              <a:gd name="connsiteY67" fmla="*/ 192356 h 482237"/>
              <a:gd name="connsiteX68" fmla="*/ 16072 w 616191"/>
              <a:gd name="connsiteY68" fmla="*/ 325013 h 482237"/>
              <a:gd name="connsiteX69" fmla="*/ 30620 w 616191"/>
              <a:gd name="connsiteY69" fmla="*/ 341952 h 482237"/>
              <a:gd name="connsiteX70" fmla="*/ 58456 w 616191"/>
              <a:gd name="connsiteY70" fmla="*/ 349688 h 482237"/>
              <a:gd name="connsiteX71" fmla="*/ 58456 w 616191"/>
              <a:gd name="connsiteY71" fmla="*/ 377819 h 482237"/>
              <a:gd name="connsiteX72" fmla="*/ 35067 w 616191"/>
              <a:gd name="connsiteY72" fmla="*/ 377819 h 482237"/>
              <a:gd name="connsiteX73" fmla="*/ 11665 w 616191"/>
              <a:gd name="connsiteY73" fmla="*/ 401215 h 482237"/>
              <a:gd name="connsiteX74" fmla="*/ 11665 w 616191"/>
              <a:gd name="connsiteY74" fmla="*/ 405823 h 482237"/>
              <a:gd name="connsiteX75" fmla="*/ 12851 w 616191"/>
              <a:gd name="connsiteY75" fmla="*/ 424730 h 482237"/>
              <a:gd name="connsiteX76" fmla="*/ 31758 w 616191"/>
              <a:gd name="connsiteY76" fmla="*/ 423544 h 482237"/>
              <a:gd name="connsiteX77" fmla="*/ 31758 w 616191"/>
              <a:gd name="connsiteY77" fmla="*/ 405823 h 482237"/>
              <a:gd name="connsiteX78" fmla="*/ 31758 w 616191"/>
              <a:gd name="connsiteY78" fmla="*/ 401215 h 482237"/>
              <a:gd name="connsiteX79" fmla="*/ 35107 w 616191"/>
              <a:gd name="connsiteY79" fmla="*/ 397866 h 482237"/>
              <a:gd name="connsiteX80" fmla="*/ 58469 w 616191"/>
              <a:gd name="connsiteY80" fmla="*/ 397866 h 482237"/>
              <a:gd name="connsiteX81" fmla="*/ 58469 w 616191"/>
              <a:gd name="connsiteY81" fmla="*/ 405816 h 482237"/>
              <a:gd name="connsiteX82" fmla="*/ 59620 w 616191"/>
              <a:gd name="connsiteY82" fmla="*/ 424726 h 482237"/>
              <a:gd name="connsiteX83" fmla="*/ 78529 w 616191"/>
              <a:gd name="connsiteY83" fmla="*/ 423575 h 482237"/>
              <a:gd name="connsiteX84" fmla="*/ 78529 w 616191"/>
              <a:gd name="connsiteY84" fmla="*/ 405816 h 482237"/>
              <a:gd name="connsiteX85" fmla="*/ 78529 w 616191"/>
              <a:gd name="connsiteY85" fmla="*/ 397866 h 482237"/>
              <a:gd name="connsiteX86" fmla="*/ 101932 w 616191"/>
              <a:gd name="connsiteY86" fmla="*/ 397866 h 482237"/>
              <a:gd name="connsiteX87" fmla="*/ 105281 w 616191"/>
              <a:gd name="connsiteY87" fmla="*/ 401215 h 482237"/>
              <a:gd name="connsiteX88" fmla="*/ 105281 w 616191"/>
              <a:gd name="connsiteY88" fmla="*/ 405823 h 482237"/>
              <a:gd name="connsiteX89" fmla="*/ 106467 w 616191"/>
              <a:gd name="connsiteY89" fmla="*/ 424730 h 482237"/>
              <a:gd name="connsiteX90" fmla="*/ 125374 w 616191"/>
              <a:gd name="connsiteY90" fmla="*/ 423544 h 482237"/>
              <a:gd name="connsiteX91" fmla="*/ 125374 w 616191"/>
              <a:gd name="connsiteY91" fmla="*/ 405823 h 482237"/>
              <a:gd name="connsiteX92" fmla="*/ 125374 w 616191"/>
              <a:gd name="connsiteY92" fmla="*/ 401215 h 482237"/>
              <a:gd name="connsiteX93" fmla="*/ 101972 w 616191"/>
              <a:gd name="connsiteY93" fmla="*/ 377813 h 482237"/>
              <a:gd name="connsiteX94" fmla="*/ 78529 w 616191"/>
              <a:gd name="connsiteY94" fmla="*/ 377813 h 482237"/>
              <a:gd name="connsiteX95" fmla="*/ 78529 w 616191"/>
              <a:gd name="connsiteY95" fmla="*/ 358838 h 482237"/>
              <a:gd name="connsiteX96" fmla="*/ 92039 w 616191"/>
              <a:gd name="connsiteY96" fmla="*/ 364913 h 482237"/>
              <a:gd name="connsiteX97" fmla="*/ 135146 w 616191"/>
              <a:gd name="connsiteY97" fmla="*/ 376433 h 482237"/>
              <a:gd name="connsiteX98" fmla="*/ 200008 w 616191"/>
              <a:gd name="connsiteY98" fmla="*/ 390318 h 482237"/>
              <a:gd name="connsiteX99" fmla="*/ 200008 w 616191"/>
              <a:gd name="connsiteY99" fmla="*/ 452527 h 482237"/>
              <a:gd name="connsiteX100" fmla="*/ 215206 w 616191"/>
              <a:gd name="connsiteY100" fmla="*/ 471951 h 482237"/>
              <a:gd name="connsiteX101" fmla="*/ 225286 w 616191"/>
              <a:gd name="connsiteY101" fmla="*/ 474469 h 482237"/>
              <a:gd name="connsiteX102" fmla="*/ 388386 w 616191"/>
              <a:gd name="connsiteY102" fmla="*/ 473197 h 482237"/>
              <a:gd name="connsiteX103" fmla="*/ 392404 w 616191"/>
              <a:gd name="connsiteY103" fmla="*/ 472125 h 482237"/>
              <a:gd name="connsiteX104" fmla="*/ 407300 w 616191"/>
              <a:gd name="connsiteY104" fmla="*/ 452788 h 482237"/>
              <a:gd name="connsiteX105" fmla="*/ 407300 w 616191"/>
              <a:gd name="connsiteY105" fmla="*/ 391269 h 482237"/>
              <a:gd name="connsiteX106" fmla="*/ 477768 w 616191"/>
              <a:gd name="connsiteY106" fmla="*/ 376634 h 482237"/>
              <a:gd name="connsiteX107" fmla="*/ 521874 w 616191"/>
              <a:gd name="connsiteY107" fmla="*/ 364899 h 482237"/>
              <a:gd name="connsiteX108" fmla="*/ 537687 w 616191"/>
              <a:gd name="connsiteY108" fmla="*/ 357290 h 482237"/>
              <a:gd name="connsiteX109" fmla="*/ 537687 w 616191"/>
              <a:gd name="connsiteY109" fmla="*/ 377813 h 482237"/>
              <a:gd name="connsiteX110" fmla="*/ 514285 w 616191"/>
              <a:gd name="connsiteY110" fmla="*/ 377813 h 482237"/>
              <a:gd name="connsiteX111" fmla="*/ 490883 w 616191"/>
              <a:gd name="connsiteY111" fmla="*/ 401215 h 482237"/>
              <a:gd name="connsiteX112" fmla="*/ 490883 w 616191"/>
              <a:gd name="connsiteY112" fmla="*/ 405823 h 482237"/>
              <a:gd name="connsiteX113" fmla="*/ 492034 w 616191"/>
              <a:gd name="connsiteY113" fmla="*/ 424732 h 482237"/>
              <a:gd name="connsiteX114" fmla="*/ 510943 w 616191"/>
              <a:gd name="connsiteY114" fmla="*/ 423582 h 482237"/>
              <a:gd name="connsiteX115" fmla="*/ 510943 w 616191"/>
              <a:gd name="connsiteY115" fmla="*/ 405823 h 482237"/>
              <a:gd name="connsiteX116" fmla="*/ 510943 w 616191"/>
              <a:gd name="connsiteY116" fmla="*/ 401215 h 482237"/>
              <a:gd name="connsiteX117" fmla="*/ 514292 w 616191"/>
              <a:gd name="connsiteY117" fmla="*/ 397866 h 482237"/>
              <a:gd name="connsiteX118" fmla="*/ 537694 w 616191"/>
              <a:gd name="connsiteY118" fmla="*/ 397866 h 482237"/>
              <a:gd name="connsiteX119" fmla="*/ 537694 w 616191"/>
              <a:gd name="connsiteY119" fmla="*/ 405816 h 482237"/>
              <a:gd name="connsiteX120" fmla="*/ 538845 w 616191"/>
              <a:gd name="connsiteY120" fmla="*/ 424726 h 482237"/>
              <a:gd name="connsiteX121" fmla="*/ 557754 w 616191"/>
              <a:gd name="connsiteY121" fmla="*/ 423575 h 482237"/>
              <a:gd name="connsiteX122" fmla="*/ 557754 w 616191"/>
              <a:gd name="connsiteY122" fmla="*/ 405816 h 482237"/>
              <a:gd name="connsiteX123" fmla="*/ 557754 w 616191"/>
              <a:gd name="connsiteY123" fmla="*/ 397866 h 482237"/>
              <a:gd name="connsiteX124" fmla="*/ 581156 w 616191"/>
              <a:gd name="connsiteY124" fmla="*/ 397866 h 482237"/>
              <a:gd name="connsiteX125" fmla="*/ 584505 w 616191"/>
              <a:gd name="connsiteY125" fmla="*/ 401215 h 482237"/>
              <a:gd name="connsiteX126" fmla="*/ 584505 w 616191"/>
              <a:gd name="connsiteY126" fmla="*/ 405823 h 482237"/>
              <a:gd name="connsiteX127" fmla="*/ 585692 w 616191"/>
              <a:gd name="connsiteY127" fmla="*/ 424730 h 482237"/>
              <a:gd name="connsiteX128" fmla="*/ 604599 w 616191"/>
              <a:gd name="connsiteY128" fmla="*/ 423544 h 482237"/>
              <a:gd name="connsiteX129" fmla="*/ 604599 w 616191"/>
              <a:gd name="connsiteY129" fmla="*/ 405823 h 482237"/>
              <a:gd name="connsiteX130" fmla="*/ 604599 w 616191"/>
              <a:gd name="connsiteY130" fmla="*/ 401215 h 482237"/>
              <a:gd name="connsiteX131" fmla="*/ 581156 w 616191"/>
              <a:gd name="connsiteY131" fmla="*/ 377813 h 482237"/>
              <a:gd name="connsiteX132" fmla="*/ 557748 w 616191"/>
              <a:gd name="connsiteY132" fmla="*/ 377813 h 482237"/>
              <a:gd name="connsiteX133" fmla="*/ 557748 w 616191"/>
              <a:gd name="connsiteY133" fmla="*/ 349682 h 482237"/>
              <a:gd name="connsiteX134" fmla="*/ 470890 w 616191"/>
              <a:gd name="connsiteY134" fmla="*/ 350787 h 482237"/>
              <a:gd name="connsiteX135" fmla="*/ 306839 w 616191"/>
              <a:gd name="connsiteY135" fmla="*/ 372220 h 482237"/>
              <a:gd name="connsiteX136" fmla="*/ 142072 w 616191"/>
              <a:gd name="connsiteY136" fmla="*/ 350579 h 482237"/>
              <a:gd name="connsiteX137" fmla="*/ 98965 w 616191"/>
              <a:gd name="connsiteY137" fmla="*/ 339059 h 482237"/>
              <a:gd name="connsiteX138" fmla="*/ 84945 w 616191"/>
              <a:gd name="connsiteY138" fmla="*/ 317229 h 482237"/>
              <a:gd name="connsiteX139" fmla="*/ 87625 w 616191"/>
              <a:gd name="connsiteY139" fmla="*/ 310928 h 482237"/>
              <a:gd name="connsiteX140" fmla="*/ 213806 w 616191"/>
              <a:gd name="connsiteY140" fmla="*/ 117467 h 482237"/>
              <a:gd name="connsiteX141" fmla="*/ 247523 w 616191"/>
              <a:gd name="connsiteY141" fmla="*/ 100314 h 482237"/>
              <a:gd name="connsiteX142" fmla="*/ 366370 w 616191"/>
              <a:gd name="connsiteY142" fmla="*/ 100314 h 482237"/>
              <a:gd name="connsiteX143" fmla="*/ 400087 w 616191"/>
              <a:gd name="connsiteY143" fmla="*/ 117454 h 482237"/>
              <a:gd name="connsiteX144" fmla="*/ 526355 w 616191"/>
              <a:gd name="connsiteY144" fmla="*/ 310901 h 482237"/>
              <a:gd name="connsiteX145" fmla="*/ 521327 w 616191"/>
              <a:gd name="connsiteY145" fmla="*/ 336344 h 482237"/>
              <a:gd name="connsiteX146" fmla="*/ 515002 w 616191"/>
              <a:gd name="connsiteY146" fmla="*/ 339032 h 48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616191" h="482237">
                <a:moveTo>
                  <a:pt x="585584" y="341952"/>
                </a:moveTo>
                <a:cubicBezTo>
                  <a:pt x="593416" y="339775"/>
                  <a:pt x="599159" y="333085"/>
                  <a:pt x="600125" y="325013"/>
                </a:cubicBezTo>
                <a:lnTo>
                  <a:pt x="616046" y="192356"/>
                </a:lnTo>
                <a:cubicBezTo>
                  <a:pt x="617370" y="181360"/>
                  <a:pt x="609529" y="171373"/>
                  <a:pt x="598533" y="170049"/>
                </a:cubicBezTo>
                <a:cubicBezTo>
                  <a:pt x="598121" y="169999"/>
                  <a:pt x="597707" y="169962"/>
                  <a:pt x="597292" y="169938"/>
                </a:cubicBezTo>
                <a:lnTo>
                  <a:pt x="523575" y="165598"/>
                </a:lnTo>
                <a:cubicBezTo>
                  <a:pt x="513058" y="164993"/>
                  <a:pt x="503859" y="172613"/>
                  <a:pt x="502497" y="183059"/>
                </a:cubicBezTo>
                <a:lnTo>
                  <a:pt x="497929" y="218477"/>
                </a:lnTo>
                <a:lnTo>
                  <a:pt x="486670" y="201237"/>
                </a:lnTo>
                <a:lnTo>
                  <a:pt x="489235" y="181351"/>
                </a:lnTo>
                <a:cubicBezTo>
                  <a:pt x="491411" y="164677"/>
                  <a:pt x="505614" y="152202"/>
                  <a:pt x="522430" y="152195"/>
                </a:cubicBezTo>
                <a:cubicBezTo>
                  <a:pt x="523099" y="152195"/>
                  <a:pt x="523769" y="152195"/>
                  <a:pt x="524439" y="152256"/>
                </a:cubicBezTo>
                <a:lnTo>
                  <a:pt x="556281" y="154124"/>
                </a:lnTo>
                <a:lnTo>
                  <a:pt x="560882" y="125879"/>
                </a:lnTo>
                <a:cubicBezTo>
                  <a:pt x="562643" y="114922"/>
                  <a:pt x="555188" y="104613"/>
                  <a:pt x="544231" y="102852"/>
                </a:cubicBezTo>
                <a:cubicBezTo>
                  <a:pt x="543630" y="102756"/>
                  <a:pt x="543024" y="102686"/>
                  <a:pt x="542416" y="102645"/>
                </a:cubicBezTo>
                <a:lnTo>
                  <a:pt x="482477" y="98626"/>
                </a:lnTo>
                <a:cubicBezTo>
                  <a:pt x="472098" y="97951"/>
                  <a:pt x="462919" y="105308"/>
                  <a:pt x="461318" y="115585"/>
                </a:cubicBezTo>
                <a:lnTo>
                  <a:pt x="455451" y="153354"/>
                </a:lnTo>
                <a:lnTo>
                  <a:pt x="444507" y="136609"/>
                </a:lnTo>
                <a:lnTo>
                  <a:pt x="448057" y="113582"/>
                </a:lnTo>
                <a:cubicBezTo>
                  <a:pt x="450499" y="97241"/>
                  <a:pt x="464568" y="85172"/>
                  <a:pt x="481091" y="85244"/>
                </a:cubicBezTo>
                <a:cubicBezTo>
                  <a:pt x="481827" y="85244"/>
                  <a:pt x="482578" y="85244"/>
                  <a:pt x="483328" y="85324"/>
                </a:cubicBezTo>
                <a:lnTo>
                  <a:pt x="496549" y="86201"/>
                </a:lnTo>
                <a:lnTo>
                  <a:pt x="498632" y="67447"/>
                </a:lnTo>
                <a:cubicBezTo>
                  <a:pt x="499843" y="56416"/>
                  <a:pt x="491881" y="46493"/>
                  <a:pt x="480850" y="45282"/>
                </a:cubicBezTo>
                <a:cubicBezTo>
                  <a:pt x="480645" y="45259"/>
                  <a:pt x="480440" y="45240"/>
                  <a:pt x="480233" y="45224"/>
                </a:cubicBezTo>
                <a:lnTo>
                  <a:pt x="433442" y="41627"/>
                </a:lnTo>
                <a:cubicBezTo>
                  <a:pt x="422605" y="40791"/>
                  <a:pt x="413068" y="48723"/>
                  <a:pt x="411915" y="59531"/>
                </a:cubicBezTo>
                <a:lnTo>
                  <a:pt x="408881" y="88372"/>
                </a:lnTo>
                <a:cubicBezTo>
                  <a:pt x="396773" y="78763"/>
                  <a:pt x="381766" y="73546"/>
                  <a:pt x="366309" y="73569"/>
                </a:cubicBezTo>
                <a:lnTo>
                  <a:pt x="360462" y="73569"/>
                </a:lnTo>
                <a:lnTo>
                  <a:pt x="360462" y="26684"/>
                </a:lnTo>
                <a:cubicBezTo>
                  <a:pt x="360457" y="21834"/>
                  <a:pt x="358530" y="17184"/>
                  <a:pt x="355104" y="13751"/>
                </a:cubicBezTo>
                <a:cubicBezTo>
                  <a:pt x="352643" y="11686"/>
                  <a:pt x="349895" y="9992"/>
                  <a:pt x="346946" y="8721"/>
                </a:cubicBezTo>
                <a:cubicBezTo>
                  <a:pt x="322260" y="-2789"/>
                  <a:pt x="293773" y="-2911"/>
                  <a:pt x="268990" y="8386"/>
                </a:cubicBezTo>
                <a:cubicBezTo>
                  <a:pt x="265550" y="9757"/>
                  <a:pt x="262298" y="11557"/>
                  <a:pt x="259311" y="13744"/>
                </a:cubicBezTo>
                <a:cubicBezTo>
                  <a:pt x="255885" y="17177"/>
                  <a:pt x="253958" y="21828"/>
                  <a:pt x="253953" y="26678"/>
                </a:cubicBezTo>
                <a:lnTo>
                  <a:pt x="253953" y="73563"/>
                </a:lnTo>
                <a:lnTo>
                  <a:pt x="247510" y="73563"/>
                </a:lnTo>
                <a:cubicBezTo>
                  <a:pt x="232997" y="73546"/>
                  <a:pt x="218853" y="78141"/>
                  <a:pt x="207122" y="86684"/>
                </a:cubicBezTo>
                <a:lnTo>
                  <a:pt x="204282" y="59531"/>
                </a:lnTo>
                <a:cubicBezTo>
                  <a:pt x="203130" y="48740"/>
                  <a:pt x="193617" y="40813"/>
                  <a:pt x="182795" y="41627"/>
                </a:cubicBezTo>
                <a:lnTo>
                  <a:pt x="136004" y="45224"/>
                </a:lnTo>
                <a:cubicBezTo>
                  <a:pt x="124940" y="46093"/>
                  <a:pt x="116677" y="55767"/>
                  <a:pt x="117546" y="66831"/>
                </a:cubicBezTo>
                <a:cubicBezTo>
                  <a:pt x="117563" y="67036"/>
                  <a:pt x="117582" y="67242"/>
                  <a:pt x="117605" y="67447"/>
                </a:cubicBezTo>
                <a:lnTo>
                  <a:pt x="119688" y="86201"/>
                </a:lnTo>
                <a:lnTo>
                  <a:pt x="132909" y="85324"/>
                </a:lnTo>
                <a:cubicBezTo>
                  <a:pt x="133659" y="85270"/>
                  <a:pt x="134410" y="85244"/>
                  <a:pt x="135146" y="85244"/>
                </a:cubicBezTo>
                <a:cubicBezTo>
                  <a:pt x="151668" y="85169"/>
                  <a:pt x="165737" y="97241"/>
                  <a:pt x="168173" y="113582"/>
                </a:cubicBezTo>
                <a:lnTo>
                  <a:pt x="171288" y="133716"/>
                </a:lnTo>
                <a:lnTo>
                  <a:pt x="160344" y="150461"/>
                </a:lnTo>
                <a:lnTo>
                  <a:pt x="154985" y="115592"/>
                </a:lnTo>
                <a:cubicBezTo>
                  <a:pt x="153385" y="105314"/>
                  <a:pt x="144206" y="97957"/>
                  <a:pt x="133827" y="98633"/>
                </a:cubicBezTo>
                <a:lnTo>
                  <a:pt x="73888" y="102651"/>
                </a:lnTo>
                <a:cubicBezTo>
                  <a:pt x="62816" y="103410"/>
                  <a:pt x="54456" y="113000"/>
                  <a:pt x="55214" y="124071"/>
                </a:cubicBezTo>
                <a:cubicBezTo>
                  <a:pt x="55256" y="124679"/>
                  <a:pt x="55325" y="125285"/>
                  <a:pt x="55422" y="125886"/>
                </a:cubicBezTo>
                <a:lnTo>
                  <a:pt x="60023" y="154131"/>
                </a:lnTo>
                <a:lnTo>
                  <a:pt x="91865" y="152262"/>
                </a:lnTo>
                <a:cubicBezTo>
                  <a:pt x="92535" y="152222"/>
                  <a:pt x="93204" y="152202"/>
                  <a:pt x="93874" y="152202"/>
                </a:cubicBezTo>
                <a:cubicBezTo>
                  <a:pt x="110669" y="152236"/>
                  <a:pt x="124842" y="164704"/>
                  <a:pt x="127015" y="181358"/>
                </a:cubicBezTo>
                <a:lnTo>
                  <a:pt x="129199" y="198310"/>
                </a:lnTo>
                <a:lnTo>
                  <a:pt x="117879" y="215557"/>
                </a:lnTo>
                <a:lnTo>
                  <a:pt x="113686" y="183059"/>
                </a:lnTo>
                <a:cubicBezTo>
                  <a:pt x="112324" y="172613"/>
                  <a:pt x="103125" y="164993"/>
                  <a:pt x="92608" y="165598"/>
                </a:cubicBezTo>
                <a:lnTo>
                  <a:pt x="18898" y="169938"/>
                </a:lnTo>
                <a:cubicBezTo>
                  <a:pt x="7842" y="170576"/>
                  <a:pt x="-604" y="180057"/>
                  <a:pt x="34" y="191113"/>
                </a:cubicBezTo>
                <a:cubicBezTo>
                  <a:pt x="58" y="191529"/>
                  <a:pt x="95" y="191943"/>
                  <a:pt x="144" y="192356"/>
                </a:cubicBezTo>
                <a:lnTo>
                  <a:pt x="16072" y="325013"/>
                </a:lnTo>
                <a:cubicBezTo>
                  <a:pt x="17039" y="333087"/>
                  <a:pt x="22785" y="339777"/>
                  <a:pt x="30620" y="341952"/>
                </a:cubicBezTo>
                <a:lnTo>
                  <a:pt x="58456" y="349688"/>
                </a:lnTo>
                <a:lnTo>
                  <a:pt x="58456" y="377819"/>
                </a:lnTo>
                <a:lnTo>
                  <a:pt x="35067" y="377819"/>
                </a:lnTo>
                <a:cubicBezTo>
                  <a:pt x="22154" y="377841"/>
                  <a:pt x="11691" y="388302"/>
                  <a:pt x="11665" y="401215"/>
                </a:cubicBezTo>
                <a:lnTo>
                  <a:pt x="11665" y="405823"/>
                </a:lnTo>
                <a:cubicBezTo>
                  <a:pt x="6771" y="411372"/>
                  <a:pt x="7302" y="419837"/>
                  <a:pt x="12851" y="424730"/>
                </a:cubicBezTo>
                <a:cubicBezTo>
                  <a:pt x="18400" y="429624"/>
                  <a:pt x="26865" y="429093"/>
                  <a:pt x="31758" y="423544"/>
                </a:cubicBezTo>
                <a:cubicBezTo>
                  <a:pt x="36224" y="418481"/>
                  <a:pt x="36224" y="410886"/>
                  <a:pt x="31758" y="405823"/>
                </a:cubicBezTo>
                <a:lnTo>
                  <a:pt x="31758" y="401215"/>
                </a:lnTo>
                <a:cubicBezTo>
                  <a:pt x="31758" y="399366"/>
                  <a:pt x="33258" y="397866"/>
                  <a:pt x="35107" y="397866"/>
                </a:cubicBezTo>
                <a:lnTo>
                  <a:pt x="58469" y="397866"/>
                </a:lnTo>
                <a:lnTo>
                  <a:pt x="58469" y="405816"/>
                </a:lnTo>
                <a:cubicBezTo>
                  <a:pt x="53565" y="411355"/>
                  <a:pt x="54080" y="419822"/>
                  <a:pt x="59620" y="424726"/>
                </a:cubicBezTo>
                <a:cubicBezTo>
                  <a:pt x="65159" y="429630"/>
                  <a:pt x="73625" y="429115"/>
                  <a:pt x="78529" y="423575"/>
                </a:cubicBezTo>
                <a:cubicBezTo>
                  <a:pt x="83017" y="418506"/>
                  <a:pt x="83017" y="410885"/>
                  <a:pt x="78529" y="405816"/>
                </a:cubicBezTo>
                <a:lnTo>
                  <a:pt x="78529" y="397866"/>
                </a:lnTo>
                <a:lnTo>
                  <a:pt x="101932" y="397866"/>
                </a:lnTo>
                <a:cubicBezTo>
                  <a:pt x="103781" y="397866"/>
                  <a:pt x="105281" y="399366"/>
                  <a:pt x="105281" y="401215"/>
                </a:cubicBezTo>
                <a:lnTo>
                  <a:pt x="105281" y="405823"/>
                </a:lnTo>
                <a:cubicBezTo>
                  <a:pt x="100387" y="411372"/>
                  <a:pt x="100918" y="419837"/>
                  <a:pt x="106467" y="424730"/>
                </a:cubicBezTo>
                <a:cubicBezTo>
                  <a:pt x="112016" y="429624"/>
                  <a:pt x="120481" y="429093"/>
                  <a:pt x="125374" y="423544"/>
                </a:cubicBezTo>
                <a:cubicBezTo>
                  <a:pt x="129840" y="418481"/>
                  <a:pt x="129840" y="410886"/>
                  <a:pt x="125374" y="405823"/>
                </a:cubicBezTo>
                <a:lnTo>
                  <a:pt x="125374" y="401215"/>
                </a:lnTo>
                <a:cubicBezTo>
                  <a:pt x="125352" y="388299"/>
                  <a:pt x="114887" y="377835"/>
                  <a:pt x="101972" y="377813"/>
                </a:cubicBezTo>
                <a:lnTo>
                  <a:pt x="78529" y="377813"/>
                </a:lnTo>
                <a:lnTo>
                  <a:pt x="78529" y="358838"/>
                </a:lnTo>
                <a:cubicBezTo>
                  <a:pt x="82686" y="361558"/>
                  <a:pt x="87245" y="363608"/>
                  <a:pt x="92039" y="364913"/>
                </a:cubicBezTo>
                <a:lnTo>
                  <a:pt x="135146" y="376433"/>
                </a:lnTo>
                <a:cubicBezTo>
                  <a:pt x="156539" y="382144"/>
                  <a:pt x="178160" y="386772"/>
                  <a:pt x="200008" y="390318"/>
                </a:cubicBezTo>
                <a:lnTo>
                  <a:pt x="200008" y="452527"/>
                </a:lnTo>
                <a:cubicBezTo>
                  <a:pt x="200038" y="461715"/>
                  <a:pt x="206295" y="469713"/>
                  <a:pt x="215206" y="471951"/>
                </a:cubicBezTo>
                <a:lnTo>
                  <a:pt x="225286" y="474469"/>
                </a:lnTo>
                <a:cubicBezTo>
                  <a:pt x="279164" y="485239"/>
                  <a:pt x="334682" y="484805"/>
                  <a:pt x="388386" y="473197"/>
                </a:cubicBezTo>
                <a:lnTo>
                  <a:pt x="392404" y="472125"/>
                </a:lnTo>
                <a:cubicBezTo>
                  <a:pt x="401164" y="469780"/>
                  <a:pt x="407267" y="461857"/>
                  <a:pt x="407300" y="452788"/>
                </a:cubicBezTo>
                <a:lnTo>
                  <a:pt x="407300" y="391269"/>
                </a:lnTo>
                <a:cubicBezTo>
                  <a:pt x="431036" y="387662"/>
                  <a:pt x="454560" y="382777"/>
                  <a:pt x="477768" y="376634"/>
                </a:cubicBezTo>
                <a:lnTo>
                  <a:pt x="521874" y="364899"/>
                </a:lnTo>
                <a:cubicBezTo>
                  <a:pt x="527575" y="363376"/>
                  <a:pt x="532939" y="360795"/>
                  <a:pt x="537687" y="357290"/>
                </a:cubicBezTo>
                <a:lnTo>
                  <a:pt x="537687" y="377813"/>
                </a:lnTo>
                <a:lnTo>
                  <a:pt x="514285" y="377813"/>
                </a:lnTo>
                <a:cubicBezTo>
                  <a:pt x="501370" y="377835"/>
                  <a:pt x="490905" y="388299"/>
                  <a:pt x="490883" y="401215"/>
                </a:cubicBezTo>
                <a:lnTo>
                  <a:pt x="490883" y="405823"/>
                </a:lnTo>
                <a:cubicBezTo>
                  <a:pt x="485979" y="411362"/>
                  <a:pt x="486494" y="419828"/>
                  <a:pt x="492034" y="424732"/>
                </a:cubicBezTo>
                <a:cubicBezTo>
                  <a:pt x="497573" y="429637"/>
                  <a:pt x="506039" y="429121"/>
                  <a:pt x="510943" y="423582"/>
                </a:cubicBezTo>
                <a:cubicBezTo>
                  <a:pt x="515430" y="418513"/>
                  <a:pt x="515430" y="410892"/>
                  <a:pt x="510943" y="405823"/>
                </a:cubicBezTo>
                <a:lnTo>
                  <a:pt x="510943" y="401215"/>
                </a:lnTo>
                <a:cubicBezTo>
                  <a:pt x="510943" y="399366"/>
                  <a:pt x="512443" y="397866"/>
                  <a:pt x="514292" y="397866"/>
                </a:cubicBezTo>
                <a:lnTo>
                  <a:pt x="537694" y="397866"/>
                </a:lnTo>
                <a:lnTo>
                  <a:pt x="537694" y="405816"/>
                </a:lnTo>
                <a:cubicBezTo>
                  <a:pt x="532790" y="411355"/>
                  <a:pt x="533305" y="419822"/>
                  <a:pt x="538845" y="424726"/>
                </a:cubicBezTo>
                <a:cubicBezTo>
                  <a:pt x="544384" y="429630"/>
                  <a:pt x="552850" y="429115"/>
                  <a:pt x="557754" y="423575"/>
                </a:cubicBezTo>
                <a:cubicBezTo>
                  <a:pt x="562242" y="418506"/>
                  <a:pt x="562242" y="410885"/>
                  <a:pt x="557754" y="405816"/>
                </a:cubicBezTo>
                <a:lnTo>
                  <a:pt x="557754" y="397866"/>
                </a:lnTo>
                <a:lnTo>
                  <a:pt x="581156" y="397866"/>
                </a:lnTo>
                <a:cubicBezTo>
                  <a:pt x="583006" y="397866"/>
                  <a:pt x="584505" y="399366"/>
                  <a:pt x="584505" y="401215"/>
                </a:cubicBezTo>
                <a:lnTo>
                  <a:pt x="584505" y="405823"/>
                </a:lnTo>
                <a:cubicBezTo>
                  <a:pt x="579612" y="411372"/>
                  <a:pt x="580143" y="419837"/>
                  <a:pt x="585692" y="424730"/>
                </a:cubicBezTo>
                <a:cubicBezTo>
                  <a:pt x="591241" y="429624"/>
                  <a:pt x="599706" y="429093"/>
                  <a:pt x="604599" y="423544"/>
                </a:cubicBezTo>
                <a:cubicBezTo>
                  <a:pt x="609064" y="418481"/>
                  <a:pt x="609064" y="410886"/>
                  <a:pt x="604599" y="405823"/>
                </a:cubicBezTo>
                <a:lnTo>
                  <a:pt x="604599" y="401215"/>
                </a:lnTo>
                <a:cubicBezTo>
                  <a:pt x="604577" y="388283"/>
                  <a:pt x="594088" y="377813"/>
                  <a:pt x="581156" y="377813"/>
                </a:cubicBezTo>
                <a:lnTo>
                  <a:pt x="557748" y="377813"/>
                </a:lnTo>
                <a:lnTo>
                  <a:pt x="557748" y="349682"/>
                </a:lnTo>
                <a:close/>
                <a:moveTo>
                  <a:pt x="470890" y="350787"/>
                </a:moveTo>
                <a:cubicBezTo>
                  <a:pt x="417368" y="365020"/>
                  <a:pt x="362221" y="372225"/>
                  <a:pt x="306839" y="372220"/>
                </a:cubicBezTo>
                <a:cubicBezTo>
                  <a:pt x="251209" y="372215"/>
                  <a:pt x="195817" y="364940"/>
                  <a:pt x="142072" y="350579"/>
                </a:cubicBezTo>
                <a:lnTo>
                  <a:pt x="98965" y="339059"/>
                </a:lnTo>
                <a:cubicBezTo>
                  <a:pt x="89065" y="336902"/>
                  <a:pt x="82788" y="327129"/>
                  <a:pt x="84945" y="317229"/>
                </a:cubicBezTo>
                <a:cubicBezTo>
                  <a:pt x="85435" y="314979"/>
                  <a:pt x="86344" y="312841"/>
                  <a:pt x="87625" y="310928"/>
                </a:cubicBezTo>
                <a:lnTo>
                  <a:pt x="213806" y="117467"/>
                </a:lnTo>
                <a:cubicBezTo>
                  <a:pt x="221567" y="106584"/>
                  <a:pt x="234156" y="100178"/>
                  <a:pt x="247523" y="100314"/>
                </a:cubicBezTo>
                <a:lnTo>
                  <a:pt x="366370" y="100314"/>
                </a:lnTo>
                <a:cubicBezTo>
                  <a:pt x="379733" y="100179"/>
                  <a:pt x="392321" y="106578"/>
                  <a:pt x="400087" y="117454"/>
                </a:cubicBezTo>
                <a:lnTo>
                  <a:pt x="526355" y="310901"/>
                </a:lnTo>
                <a:cubicBezTo>
                  <a:pt x="531992" y="319315"/>
                  <a:pt x="529742" y="330707"/>
                  <a:pt x="521327" y="336344"/>
                </a:cubicBezTo>
                <a:cubicBezTo>
                  <a:pt x="519407" y="337631"/>
                  <a:pt x="517261" y="338542"/>
                  <a:pt x="515002" y="33903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6" name="Graphic 56" descr="Brain in head with solid fill">
            <a:extLst>
              <a:ext uri="{FF2B5EF4-FFF2-40B4-BE49-F238E27FC236}">
                <a16:creationId xmlns:a16="http://schemas.microsoft.com/office/drawing/2014/main" id="{B974E2DB-4F68-B988-02D1-CBD23E6F671D}"/>
              </a:ext>
            </a:extLst>
          </p:cNvPr>
          <p:cNvSpPr/>
          <p:nvPr/>
        </p:nvSpPr>
        <p:spPr>
          <a:xfrm>
            <a:off x="3034673" y="4583770"/>
            <a:ext cx="285966" cy="336282"/>
          </a:xfrm>
          <a:custGeom>
            <a:avLst/>
            <a:gdLst>
              <a:gd name="connsiteX0" fmla="*/ 306226 w 455655"/>
              <a:gd name="connsiteY0" fmla="*/ 219690 h 535828"/>
              <a:gd name="connsiteX1" fmla="*/ 246616 w 455655"/>
              <a:gd name="connsiteY1" fmla="*/ 219690 h 535828"/>
              <a:gd name="connsiteX2" fmla="*/ 200400 w 455655"/>
              <a:gd name="connsiteY2" fmla="*/ 265235 h 535828"/>
              <a:gd name="connsiteX3" fmla="*/ 200400 w 455655"/>
              <a:gd name="connsiteY3" fmla="*/ 314799 h 535828"/>
              <a:gd name="connsiteX4" fmla="*/ 170260 w 455655"/>
              <a:gd name="connsiteY4" fmla="*/ 314799 h 535828"/>
              <a:gd name="connsiteX5" fmla="*/ 170260 w 455655"/>
              <a:gd name="connsiteY5" fmla="*/ 275282 h 535828"/>
              <a:gd name="connsiteX6" fmla="*/ 160883 w 455655"/>
              <a:gd name="connsiteY6" fmla="*/ 231746 h 535828"/>
              <a:gd name="connsiteX7" fmla="*/ 140789 w 455655"/>
              <a:gd name="connsiteY7" fmla="*/ 214331 h 535828"/>
              <a:gd name="connsiteX8" fmla="*/ 126054 w 455655"/>
              <a:gd name="connsiteY8" fmla="*/ 201605 h 535828"/>
              <a:gd name="connsiteX9" fmla="*/ 121366 w 455655"/>
              <a:gd name="connsiteY9" fmla="*/ 192228 h 535828"/>
              <a:gd name="connsiteX10" fmla="*/ 146148 w 455655"/>
              <a:gd name="connsiteY10" fmla="*/ 188880 h 535828"/>
              <a:gd name="connsiteX11" fmla="*/ 153515 w 455655"/>
              <a:gd name="connsiteY11" fmla="*/ 182182 h 535828"/>
              <a:gd name="connsiteX12" fmla="*/ 148157 w 455655"/>
              <a:gd name="connsiteY12" fmla="*/ 173474 h 535828"/>
              <a:gd name="connsiteX13" fmla="*/ 117347 w 455655"/>
              <a:gd name="connsiteY13" fmla="*/ 176823 h 535828"/>
              <a:gd name="connsiteX14" fmla="*/ 116677 w 455655"/>
              <a:gd name="connsiteY14" fmla="*/ 173474 h 535828"/>
              <a:gd name="connsiteX15" fmla="*/ 118687 w 455655"/>
              <a:gd name="connsiteY15" fmla="*/ 155390 h 535828"/>
              <a:gd name="connsiteX16" fmla="*/ 150166 w 455655"/>
              <a:gd name="connsiteY16" fmla="*/ 130608 h 535828"/>
              <a:gd name="connsiteX17" fmla="*/ 158204 w 455655"/>
              <a:gd name="connsiteY17" fmla="*/ 128599 h 535828"/>
              <a:gd name="connsiteX18" fmla="*/ 160213 w 455655"/>
              <a:gd name="connsiteY18" fmla="*/ 127929 h 535828"/>
              <a:gd name="connsiteX19" fmla="*/ 160883 w 455655"/>
              <a:gd name="connsiteY19" fmla="*/ 127929 h 535828"/>
              <a:gd name="connsiteX20" fmla="*/ 169590 w 455655"/>
              <a:gd name="connsiteY20" fmla="*/ 129938 h 535828"/>
              <a:gd name="connsiteX21" fmla="*/ 172939 w 455655"/>
              <a:gd name="connsiteY21" fmla="*/ 130608 h 535828"/>
              <a:gd name="connsiteX22" fmla="*/ 176958 w 455655"/>
              <a:gd name="connsiteY22" fmla="*/ 131278 h 535828"/>
              <a:gd name="connsiteX23" fmla="*/ 186335 w 455655"/>
              <a:gd name="connsiteY23" fmla="*/ 159409 h 535828"/>
              <a:gd name="connsiteX24" fmla="*/ 172939 w 455655"/>
              <a:gd name="connsiteY24" fmla="*/ 185531 h 535828"/>
              <a:gd name="connsiteX25" fmla="*/ 172269 w 455655"/>
              <a:gd name="connsiteY25" fmla="*/ 196247 h 535828"/>
              <a:gd name="connsiteX26" fmla="*/ 182316 w 455655"/>
              <a:gd name="connsiteY26" fmla="*/ 196917 h 535828"/>
              <a:gd name="connsiteX27" fmla="*/ 193702 w 455655"/>
              <a:gd name="connsiteY27" fmla="*/ 182851 h 535828"/>
              <a:gd name="connsiteX28" fmla="*/ 194372 w 455655"/>
              <a:gd name="connsiteY28" fmla="*/ 182851 h 535828"/>
              <a:gd name="connsiteX29" fmla="*/ 227192 w 455655"/>
              <a:gd name="connsiteY29" fmla="*/ 172805 h 535828"/>
              <a:gd name="connsiteX30" fmla="*/ 230541 w 455655"/>
              <a:gd name="connsiteY30" fmla="*/ 168116 h 535828"/>
              <a:gd name="connsiteX31" fmla="*/ 229201 w 455655"/>
              <a:gd name="connsiteY31" fmla="*/ 162758 h 535828"/>
              <a:gd name="connsiteX32" fmla="*/ 219154 w 455655"/>
              <a:gd name="connsiteY32" fmla="*/ 160749 h 535828"/>
              <a:gd name="connsiteX33" fmla="*/ 199731 w 455655"/>
              <a:gd name="connsiteY33" fmla="*/ 167446 h 535828"/>
              <a:gd name="connsiteX34" fmla="*/ 201070 w 455655"/>
              <a:gd name="connsiteY34" fmla="*/ 160749 h 535828"/>
              <a:gd name="connsiteX35" fmla="*/ 197051 w 455655"/>
              <a:gd name="connsiteY35" fmla="*/ 135966 h 535828"/>
              <a:gd name="connsiteX36" fmla="*/ 213126 w 455655"/>
              <a:gd name="connsiteY36" fmla="*/ 137306 h 535828"/>
              <a:gd name="connsiteX37" fmla="*/ 227192 w 455655"/>
              <a:gd name="connsiteY37" fmla="*/ 135966 h 535828"/>
              <a:gd name="connsiteX38" fmla="*/ 260681 w 455655"/>
              <a:gd name="connsiteY38" fmla="*/ 157400 h 535828"/>
              <a:gd name="connsiteX39" fmla="*/ 294170 w 455655"/>
              <a:gd name="connsiteY39" fmla="*/ 196247 h 535828"/>
              <a:gd name="connsiteX40" fmla="*/ 297519 w 455655"/>
              <a:gd name="connsiteY40" fmla="*/ 203615 h 535828"/>
              <a:gd name="connsiteX41" fmla="*/ 305557 w 455655"/>
              <a:gd name="connsiteY41" fmla="*/ 203615 h 535828"/>
              <a:gd name="connsiteX42" fmla="*/ 308906 w 455655"/>
              <a:gd name="connsiteY42" fmla="*/ 196247 h 535828"/>
              <a:gd name="connsiteX43" fmla="*/ 290821 w 455655"/>
              <a:gd name="connsiteY43" fmla="*/ 159409 h 535828"/>
              <a:gd name="connsiteX44" fmla="*/ 314264 w 455655"/>
              <a:gd name="connsiteY44" fmla="*/ 147353 h 535828"/>
              <a:gd name="connsiteX45" fmla="*/ 313594 w 455655"/>
              <a:gd name="connsiteY45" fmla="*/ 136636 h 535828"/>
              <a:gd name="connsiteX46" fmla="*/ 302878 w 455655"/>
              <a:gd name="connsiteY46" fmla="*/ 137306 h 535828"/>
              <a:gd name="connsiteX47" fmla="*/ 278095 w 455655"/>
              <a:gd name="connsiteY47" fmla="*/ 144004 h 535828"/>
              <a:gd name="connsiteX48" fmla="*/ 243267 w 455655"/>
              <a:gd name="connsiteY48" fmla="*/ 131278 h 535828"/>
              <a:gd name="connsiteX49" fmla="*/ 269388 w 455655"/>
              <a:gd name="connsiteY49" fmla="*/ 108505 h 535828"/>
              <a:gd name="connsiteX50" fmla="*/ 266709 w 455655"/>
              <a:gd name="connsiteY50" fmla="*/ 97789 h 535828"/>
              <a:gd name="connsiteX51" fmla="*/ 256662 w 455655"/>
              <a:gd name="connsiteY51" fmla="*/ 100468 h 535828"/>
              <a:gd name="connsiteX52" fmla="*/ 182986 w 455655"/>
              <a:gd name="connsiteY52" fmla="*/ 117882 h 535828"/>
              <a:gd name="connsiteX53" fmla="*/ 194372 w 455655"/>
              <a:gd name="connsiteY53" fmla="*/ 87742 h 535828"/>
              <a:gd name="connsiteX54" fmla="*/ 190354 w 455655"/>
              <a:gd name="connsiteY54" fmla="*/ 81044 h 535828"/>
              <a:gd name="connsiteX55" fmla="*/ 182316 w 455655"/>
              <a:gd name="connsiteY55" fmla="*/ 81714 h 535828"/>
              <a:gd name="connsiteX56" fmla="*/ 178967 w 455655"/>
              <a:gd name="connsiteY56" fmla="*/ 89081 h 535828"/>
              <a:gd name="connsiteX57" fmla="*/ 154855 w 455655"/>
              <a:gd name="connsiteY57" fmla="*/ 114533 h 535828"/>
              <a:gd name="connsiteX58" fmla="*/ 148157 w 455655"/>
              <a:gd name="connsiteY58" fmla="*/ 116543 h 535828"/>
              <a:gd name="connsiteX59" fmla="*/ 125384 w 455655"/>
              <a:gd name="connsiteY59" fmla="*/ 97119 h 535828"/>
              <a:gd name="connsiteX60" fmla="*/ 118017 w 455655"/>
              <a:gd name="connsiteY60" fmla="*/ 99128 h 535828"/>
              <a:gd name="connsiteX61" fmla="*/ 116007 w 455655"/>
              <a:gd name="connsiteY61" fmla="*/ 107166 h 535828"/>
              <a:gd name="connsiteX62" fmla="*/ 122035 w 455655"/>
              <a:gd name="connsiteY62" fmla="*/ 112524 h 535828"/>
              <a:gd name="connsiteX63" fmla="*/ 134092 w 455655"/>
              <a:gd name="connsiteY63" fmla="*/ 122571 h 535828"/>
              <a:gd name="connsiteX64" fmla="*/ 134092 w 455655"/>
              <a:gd name="connsiteY64" fmla="*/ 123241 h 535828"/>
              <a:gd name="connsiteX65" fmla="*/ 106630 w 455655"/>
              <a:gd name="connsiteY65" fmla="*/ 151372 h 535828"/>
              <a:gd name="connsiteX66" fmla="*/ 104621 w 455655"/>
              <a:gd name="connsiteY66" fmla="*/ 160749 h 535828"/>
              <a:gd name="connsiteX67" fmla="*/ 101272 w 455655"/>
              <a:gd name="connsiteY67" fmla="*/ 156060 h 535828"/>
              <a:gd name="connsiteX68" fmla="*/ 95914 w 455655"/>
              <a:gd name="connsiteY68" fmla="*/ 137976 h 535828"/>
              <a:gd name="connsiteX69" fmla="*/ 91225 w 455655"/>
              <a:gd name="connsiteY69" fmla="*/ 131948 h 535828"/>
              <a:gd name="connsiteX70" fmla="*/ 83858 w 455655"/>
              <a:gd name="connsiteY70" fmla="*/ 133287 h 535828"/>
              <a:gd name="connsiteX71" fmla="*/ 81848 w 455655"/>
              <a:gd name="connsiteY71" fmla="*/ 140655 h 535828"/>
              <a:gd name="connsiteX72" fmla="*/ 89216 w 455655"/>
              <a:gd name="connsiteY72" fmla="*/ 162758 h 535828"/>
              <a:gd name="connsiteX73" fmla="*/ 105961 w 455655"/>
              <a:gd name="connsiteY73" fmla="*/ 178163 h 535828"/>
              <a:gd name="connsiteX74" fmla="*/ 114668 w 455655"/>
              <a:gd name="connsiteY74" fmla="*/ 205624 h 535828"/>
              <a:gd name="connsiteX75" fmla="*/ 97253 w 455655"/>
              <a:gd name="connsiteY75" fmla="*/ 220359 h 535828"/>
              <a:gd name="connsiteX76" fmla="*/ 93235 w 455655"/>
              <a:gd name="connsiteY76" fmla="*/ 227057 h 535828"/>
              <a:gd name="connsiteX77" fmla="*/ 97253 w 455655"/>
              <a:gd name="connsiteY77" fmla="*/ 233755 h 535828"/>
              <a:gd name="connsiteX78" fmla="*/ 104621 w 455655"/>
              <a:gd name="connsiteY78" fmla="*/ 233085 h 535828"/>
              <a:gd name="connsiteX79" fmla="*/ 122705 w 455655"/>
              <a:gd name="connsiteY79" fmla="*/ 217680 h 535828"/>
              <a:gd name="connsiteX80" fmla="*/ 134761 w 455655"/>
              <a:gd name="connsiteY80" fmla="*/ 226387 h 535828"/>
              <a:gd name="connsiteX81" fmla="*/ 152176 w 455655"/>
              <a:gd name="connsiteY81" fmla="*/ 241123 h 535828"/>
              <a:gd name="connsiteX82" fmla="*/ 158204 w 455655"/>
              <a:gd name="connsiteY82" fmla="*/ 274612 h 535828"/>
              <a:gd name="connsiteX83" fmla="*/ 158204 w 455655"/>
              <a:gd name="connsiteY83" fmla="*/ 314799 h 535828"/>
              <a:gd name="connsiteX84" fmla="*/ 127394 w 455655"/>
              <a:gd name="connsiteY84" fmla="*/ 314799 h 535828"/>
              <a:gd name="connsiteX85" fmla="*/ 100602 w 455655"/>
              <a:gd name="connsiteY85" fmla="*/ 261216 h 535828"/>
              <a:gd name="connsiteX86" fmla="*/ 58406 w 455655"/>
              <a:gd name="connsiteY86" fmla="*/ 216341 h 535828"/>
              <a:gd name="connsiteX87" fmla="*/ 57736 w 455655"/>
              <a:gd name="connsiteY87" fmla="*/ 211652 h 535828"/>
              <a:gd name="connsiteX88" fmla="*/ 59745 w 455655"/>
              <a:gd name="connsiteY88" fmla="*/ 158069 h 535828"/>
              <a:gd name="connsiteX89" fmla="*/ 57736 w 455655"/>
              <a:gd name="connsiteY89" fmla="*/ 144004 h 535828"/>
              <a:gd name="connsiteX90" fmla="*/ 94574 w 455655"/>
              <a:gd name="connsiteY90" fmla="*/ 99798 h 535828"/>
              <a:gd name="connsiteX91" fmla="*/ 138110 w 455655"/>
              <a:gd name="connsiteY91" fmla="*/ 68988 h 535828"/>
              <a:gd name="connsiteX92" fmla="*/ 148827 w 455655"/>
              <a:gd name="connsiteY92" fmla="*/ 70327 h 535828"/>
              <a:gd name="connsiteX93" fmla="*/ 180977 w 455655"/>
              <a:gd name="connsiteY93" fmla="*/ 54253 h 535828"/>
              <a:gd name="connsiteX94" fmla="*/ 215136 w 455655"/>
              <a:gd name="connsiteY94" fmla="*/ 66309 h 535828"/>
              <a:gd name="connsiteX95" fmla="*/ 255323 w 455655"/>
              <a:gd name="connsiteY95" fmla="*/ 60281 h 535828"/>
              <a:gd name="connsiteX96" fmla="*/ 284793 w 455655"/>
              <a:gd name="connsiteY96" fmla="*/ 88412 h 535828"/>
              <a:gd name="connsiteX97" fmla="*/ 287472 w 455655"/>
              <a:gd name="connsiteY97" fmla="*/ 88412 h 535828"/>
              <a:gd name="connsiteX98" fmla="*/ 333688 w 455655"/>
              <a:gd name="connsiteY98" fmla="*/ 133957 h 535828"/>
              <a:gd name="connsiteX99" fmla="*/ 333688 w 455655"/>
              <a:gd name="connsiteY99" fmla="*/ 135966 h 535828"/>
              <a:gd name="connsiteX100" fmla="*/ 356460 w 455655"/>
              <a:gd name="connsiteY100" fmla="*/ 178833 h 535828"/>
              <a:gd name="connsiteX101" fmla="*/ 306226 w 455655"/>
              <a:gd name="connsiteY101" fmla="*/ 219690 h 535828"/>
              <a:gd name="connsiteX102" fmla="*/ 448891 w 455655"/>
              <a:gd name="connsiteY102" fmla="*/ 290017 h 535828"/>
              <a:gd name="connsiteX103" fmla="*/ 402676 w 455655"/>
              <a:gd name="connsiteY103" fmla="*/ 210313 h 535828"/>
              <a:gd name="connsiteX104" fmla="*/ 402676 w 455655"/>
              <a:gd name="connsiteY104" fmla="*/ 207633 h 535828"/>
              <a:gd name="connsiteX105" fmla="*/ 304217 w 455655"/>
              <a:gd name="connsiteY105" fmla="*/ 28131 h 535828"/>
              <a:gd name="connsiteX106" fmla="*/ 98593 w 455655"/>
              <a:gd name="connsiteY106" fmla="*/ 28131 h 535828"/>
              <a:gd name="connsiteX107" fmla="*/ 134 w 455655"/>
              <a:gd name="connsiteY107" fmla="*/ 207633 h 535828"/>
              <a:gd name="connsiteX108" fmla="*/ 79169 w 455655"/>
              <a:gd name="connsiteY108" fmla="*/ 368382 h 535828"/>
              <a:gd name="connsiteX109" fmla="*/ 79169 w 455655"/>
              <a:gd name="connsiteY109" fmla="*/ 535828 h 535828"/>
              <a:gd name="connsiteX110" fmla="*/ 290821 w 455655"/>
              <a:gd name="connsiteY110" fmla="*/ 535828 h 535828"/>
              <a:gd name="connsiteX111" fmla="*/ 290821 w 455655"/>
              <a:gd name="connsiteY111" fmla="*/ 456124 h 535828"/>
              <a:gd name="connsiteX112" fmla="*/ 323641 w 455655"/>
              <a:gd name="connsiteY112" fmla="*/ 456124 h 535828"/>
              <a:gd name="connsiteX113" fmla="*/ 379903 w 455655"/>
              <a:gd name="connsiteY113" fmla="*/ 432681 h 535828"/>
              <a:gd name="connsiteX114" fmla="*/ 402676 w 455655"/>
              <a:gd name="connsiteY114" fmla="*/ 376419 h 535828"/>
              <a:gd name="connsiteX115" fmla="*/ 402676 w 455655"/>
              <a:gd name="connsiteY115" fmla="*/ 336232 h 535828"/>
              <a:gd name="connsiteX116" fmla="*/ 432146 w 455655"/>
              <a:gd name="connsiteY116" fmla="*/ 336232 h 535828"/>
              <a:gd name="connsiteX117" fmla="*/ 448891 w 455655"/>
              <a:gd name="connsiteY117" fmla="*/ 290017 h 535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455655" h="535828">
                <a:moveTo>
                  <a:pt x="306226" y="219690"/>
                </a:moveTo>
                <a:lnTo>
                  <a:pt x="246616" y="219690"/>
                </a:lnTo>
                <a:cubicBezTo>
                  <a:pt x="221164" y="219690"/>
                  <a:pt x="200400" y="239783"/>
                  <a:pt x="200400" y="265235"/>
                </a:cubicBezTo>
                <a:lnTo>
                  <a:pt x="200400" y="314799"/>
                </a:lnTo>
                <a:lnTo>
                  <a:pt x="170260" y="314799"/>
                </a:lnTo>
                <a:lnTo>
                  <a:pt x="170260" y="275282"/>
                </a:lnTo>
                <a:cubicBezTo>
                  <a:pt x="170260" y="261216"/>
                  <a:pt x="170930" y="243132"/>
                  <a:pt x="160883" y="231746"/>
                </a:cubicBezTo>
                <a:cubicBezTo>
                  <a:pt x="154855" y="225048"/>
                  <a:pt x="148157" y="219690"/>
                  <a:pt x="140789" y="214331"/>
                </a:cubicBezTo>
                <a:cubicBezTo>
                  <a:pt x="135431" y="210982"/>
                  <a:pt x="130073" y="206964"/>
                  <a:pt x="126054" y="201605"/>
                </a:cubicBezTo>
                <a:cubicBezTo>
                  <a:pt x="124045" y="198926"/>
                  <a:pt x="122705" y="195577"/>
                  <a:pt x="121366" y="192228"/>
                </a:cubicBezTo>
                <a:cubicBezTo>
                  <a:pt x="129403" y="188880"/>
                  <a:pt x="138110" y="188210"/>
                  <a:pt x="146148" y="188880"/>
                </a:cubicBezTo>
                <a:cubicBezTo>
                  <a:pt x="150166" y="188880"/>
                  <a:pt x="153515" y="186200"/>
                  <a:pt x="153515" y="182182"/>
                </a:cubicBezTo>
                <a:cubicBezTo>
                  <a:pt x="154185" y="178163"/>
                  <a:pt x="151506" y="174814"/>
                  <a:pt x="148157" y="173474"/>
                </a:cubicBezTo>
                <a:cubicBezTo>
                  <a:pt x="138110" y="172135"/>
                  <a:pt x="127394" y="173474"/>
                  <a:pt x="117347" y="176823"/>
                </a:cubicBezTo>
                <a:cubicBezTo>
                  <a:pt x="117347" y="175484"/>
                  <a:pt x="117347" y="174144"/>
                  <a:pt x="116677" y="173474"/>
                </a:cubicBezTo>
                <a:cubicBezTo>
                  <a:pt x="116007" y="167446"/>
                  <a:pt x="117347" y="161418"/>
                  <a:pt x="118687" y="155390"/>
                </a:cubicBezTo>
                <a:cubicBezTo>
                  <a:pt x="124045" y="141325"/>
                  <a:pt x="137441" y="135297"/>
                  <a:pt x="150166" y="130608"/>
                </a:cubicBezTo>
                <a:cubicBezTo>
                  <a:pt x="152176" y="129938"/>
                  <a:pt x="154855" y="129269"/>
                  <a:pt x="158204" y="128599"/>
                </a:cubicBezTo>
                <a:lnTo>
                  <a:pt x="160213" y="127929"/>
                </a:lnTo>
                <a:lnTo>
                  <a:pt x="160883" y="127929"/>
                </a:lnTo>
                <a:cubicBezTo>
                  <a:pt x="164232" y="128599"/>
                  <a:pt x="166911" y="129269"/>
                  <a:pt x="169590" y="129938"/>
                </a:cubicBezTo>
                <a:lnTo>
                  <a:pt x="172939" y="130608"/>
                </a:lnTo>
                <a:lnTo>
                  <a:pt x="176958" y="131278"/>
                </a:lnTo>
                <a:cubicBezTo>
                  <a:pt x="183656" y="139315"/>
                  <a:pt x="187005" y="149362"/>
                  <a:pt x="186335" y="159409"/>
                </a:cubicBezTo>
                <a:cubicBezTo>
                  <a:pt x="185665" y="169456"/>
                  <a:pt x="180977" y="178833"/>
                  <a:pt x="172939" y="185531"/>
                </a:cubicBezTo>
                <a:cubicBezTo>
                  <a:pt x="170260" y="188210"/>
                  <a:pt x="169590" y="192898"/>
                  <a:pt x="172269" y="196247"/>
                </a:cubicBezTo>
                <a:cubicBezTo>
                  <a:pt x="174948" y="198926"/>
                  <a:pt x="178967" y="199596"/>
                  <a:pt x="182316" y="196917"/>
                </a:cubicBezTo>
                <a:cubicBezTo>
                  <a:pt x="187005" y="192898"/>
                  <a:pt x="191023" y="188210"/>
                  <a:pt x="193702" y="182851"/>
                </a:cubicBezTo>
                <a:lnTo>
                  <a:pt x="194372" y="182851"/>
                </a:lnTo>
                <a:cubicBezTo>
                  <a:pt x="205759" y="181512"/>
                  <a:pt x="217145" y="178163"/>
                  <a:pt x="227192" y="172805"/>
                </a:cubicBezTo>
                <a:cubicBezTo>
                  <a:pt x="228531" y="171465"/>
                  <a:pt x="229871" y="170126"/>
                  <a:pt x="230541" y="168116"/>
                </a:cubicBezTo>
                <a:cubicBezTo>
                  <a:pt x="231210" y="166107"/>
                  <a:pt x="230541" y="164097"/>
                  <a:pt x="229201" y="162758"/>
                </a:cubicBezTo>
                <a:cubicBezTo>
                  <a:pt x="226522" y="159409"/>
                  <a:pt x="222503" y="158739"/>
                  <a:pt x="219154" y="160749"/>
                </a:cubicBezTo>
                <a:cubicBezTo>
                  <a:pt x="213126" y="164097"/>
                  <a:pt x="207098" y="166777"/>
                  <a:pt x="199731" y="167446"/>
                </a:cubicBezTo>
                <a:cubicBezTo>
                  <a:pt x="200400" y="165437"/>
                  <a:pt x="201070" y="162758"/>
                  <a:pt x="201070" y="160749"/>
                </a:cubicBezTo>
                <a:cubicBezTo>
                  <a:pt x="201740" y="152041"/>
                  <a:pt x="200400" y="143334"/>
                  <a:pt x="197051" y="135966"/>
                </a:cubicBezTo>
                <a:cubicBezTo>
                  <a:pt x="202410" y="136636"/>
                  <a:pt x="207768" y="137306"/>
                  <a:pt x="213126" y="137306"/>
                </a:cubicBezTo>
                <a:cubicBezTo>
                  <a:pt x="217815" y="137306"/>
                  <a:pt x="222503" y="136636"/>
                  <a:pt x="227192" y="135966"/>
                </a:cubicBezTo>
                <a:cubicBezTo>
                  <a:pt x="235899" y="146683"/>
                  <a:pt x="247285" y="154051"/>
                  <a:pt x="260681" y="157400"/>
                </a:cubicBezTo>
                <a:cubicBezTo>
                  <a:pt x="278095" y="166107"/>
                  <a:pt x="294170" y="177493"/>
                  <a:pt x="294170" y="196247"/>
                </a:cubicBezTo>
                <a:cubicBezTo>
                  <a:pt x="294170" y="198926"/>
                  <a:pt x="295510" y="202275"/>
                  <a:pt x="297519" y="203615"/>
                </a:cubicBezTo>
                <a:cubicBezTo>
                  <a:pt x="300198" y="204954"/>
                  <a:pt x="302878" y="204954"/>
                  <a:pt x="305557" y="203615"/>
                </a:cubicBezTo>
                <a:cubicBezTo>
                  <a:pt x="308236" y="202275"/>
                  <a:pt x="309575" y="198926"/>
                  <a:pt x="308906" y="196247"/>
                </a:cubicBezTo>
                <a:cubicBezTo>
                  <a:pt x="308906" y="181512"/>
                  <a:pt x="302208" y="168116"/>
                  <a:pt x="290821" y="159409"/>
                </a:cubicBezTo>
                <a:cubicBezTo>
                  <a:pt x="300198" y="158739"/>
                  <a:pt x="308236" y="154051"/>
                  <a:pt x="314264" y="147353"/>
                </a:cubicBezTo>
                <a:cubicBezTo>
                  <a:pt x="316943" y="144004"/>
                  <a:pt x="316273" y="139315"/>
                  <a:pt x="313594" y="136636"/>
                </a:cubicBezTo>
                <a:cubicBezTo>
                  <a:pt x="310245" y="133957"/>
                  <a:pt x="305557" y="134627"/>
                  <a:pt x="302878" y="137306"/>
                </a:cubicBezTo>
                <a:cubicBezTo>
                  <a:pt x="299529" y="141325"/>
                  <a:pt x="290821" y="144674"/>
                  <a:pt x="278095" y="144004"/>
                </a:cubicBezTo>
                <a:cubicBezTo>
                  <a:pt x="265370" y="144004"/>
                  <a:pt x="252644" y="139315"/>
                  <a:pt x="243267" y="131278"/>
                </a:cubicBezTo>
                <a:cubicBezTo>
                  <a:pt x="253983" y="126589"/>
                  <a:pt x="263360" y="118552"/>
                  <a:pt x="269388" y="108505"/>
                </a:cubicBezTo>
                <a:cubicBezTo>
                  <a:pt x="271398" y="105156"/>
                  <a:pt x="270058" y="100468"/>
                  <a:pt x="266709" y="97789"/>
                </a:cubicBezTo>
                <a:cubicBezTo>
                  <a:pt x="263360" y="95779"/>
                  <a:pt x="258672" y="97119"/>
                  <a:pt x="256662" y="100468"/>
                </a:cubicBezTo>
                <a:cubicBezTo>
                  <a:pt x="245276" y="121231"/>
                  <a:pt x="221164" y="127259"/>
                  <a:pt x="182986" y="117882"/>
                </a:cubicBezTo>
                <a:cubicBezTo>
                  <a:pt x="191693" y="110515"/>
                  <a:pt x="195712" y="99128"/>
                  <a:pt x="194372" y="87742"/>
                </a:cubicBezTo>
                <a:cubicBezTo>
                  <a:pt x="194372" y="85063"/>
                  <a:pt x="193033" y="82384"/>
                  <a:pt x="190354" y="81044"/>
                </a:cubicBezTo>
                <a:cubicBezTo>
                  <a:pt x="187674" y="79704"/>
                  <a:pt x="184995" y="79704"/>
                  <a:pt x="182316" y="81714"/>
                </a:cubicBezTo>
                <a:cubicBezTo>
                  <a:pt x="179637" y="83053"/>
                  <a:pt x="178967" y="86402"/>
                  <a:pt x="178967" y="89081"/>
                </a:cubicBezTo>
                <a:cubicBezTo>
                  <a:pt x="179637" y="106496"/>
                  <a:pt x="170260" y="109845"/>
                  <a:pt x="154855" y="114533"/>
                </a:cubicBezTo>
                <a:cubicBezTo>
                  <a:pt x="152846" y="115203"/>
                  <a:pt x="150166" y="115873"/>
                  <a:pt x="148157" y="116543"/>
                </a:cubicBezTo>
                <a:cubicBezTo>
                  <a:pt x="144138" y="107166"/>
                  <a:pt x="135431" y="99798"/>
                  <a:pt x="125384" y="97119"/>
                </a:cubicBezTo>
                <a:cubicBezTo>
                  <a:pt x="122705" y="96449"/>
                  <a:pt x="120026" y="97119"/>
                  <a:pt x="118017" y="99128"/>
                </a:cubicBezTo>
                <a:cubicBezTo>
                  <a:pt x="116007" y="101138"/>
                  <a:pt x="115338" y="103817"/>
                  <a:pt x="116007" y="107166"/>
                </a:cubicBezTo>
                <a:cubicBezTo>
                  <a:pt x="116677" y="109845"/>
                  <a:pt x="118687" y="111854"/>
                  <a:pt x="122035" y="112524"/>
                </a:cubicBezTo>
                <a:cubicBezTo>
                  <a:pt x="127394" y="113864"/>
                  <a:pt x="131412" y="117882"/>
                  <a:pt x="134092" y="122571"/>
                </a:cubicBezTo>
                <a:lnTo>
                  <a:pt x="134092" y="123241"/>
                </a:lnTo>
                <a:cubicBezTo>
                  <a:pt x="121366" y="128599"/>
                  <a:pt x="111319" y="138646"/>
                  <a:pt x="106630" y="151372"/>
                </a:cubicBezTo>
                <a:cubicBezTo>
                  <a:pt x="105291" y="154051"/>
                  <a:pt x="104621" y="157400"/>
                  <a:pt x="104621" y="160749"/>
                </a:cubicBezTo>
                <a:cubicBezTo>
                  <a:pt x="103281" y="159409"/>
                  <a:pt x="101942" y="158069"/>
                  <a:pt x="101272" y="156060"/>
                </a:cubicBezTo>
                <a:cubicBezTo>
                  <a:pt x="98593" y="150702"/>
                  <a:pt x="96584" y="144004"/>
                  <a:pt x="95914" y="137976"/>
                </a:cubicBezTo>
                <a:cubicBezTo>
                  <a:pt x="95244" y="135297"/>
                  <a:pt x="93235" y="132618"/>
                  <a:pt x="91225" y="131948"/>
                </a:cubicBezTo>
                <a:cubicBezTo>
                  <a:pt x="88546" y="130608"/>
                  <a:pt x="85867" y="131278"/>
                  <a:pt x="83858" y="133287"/>
                </a:cubicBezTo>
                <a:cubicBezTo>
                  <a:pt x="81848" y="135297"/>
                  <a:pt x="80509" y="137976"/>
                  <a:pt x="81848" y="140655"/>
                </a:cubicBezTo>
                <a:cubicBezTo>
                  <a:pt x="83188" y="148692"/>
                  <a:pt x="85197" y="156060"/>
                  <a:pt x="89216" y="162758"/>
                </a:cubicBezTo>
                <a:cubicBezTo>
                  <a:pt x="93235" y="169456"/>
                  <a:pt x="98593" y="174814"/>
                  <a:pt x="105961" y="178163"/>
                </a:cubicBezTo>
                <a:cubicBezTo>
                  <a:pt x="106630" y="187540"/>
                  <a:pt x="109979" y="196917"/>
                  <a:pt x="114668" y="205624"/>
                </a:cubicBezTo>
                <a:cubicBezTo>
                  <a:pt x="109979" y="211652"/>
                  <a:pt x="103951" y="216341"/>
                  <a:pt x="97253" y="220359"/>
                </a:cubicBezTo>
                <a:cubicBezTo>
                  <a:pt x="95244" y="221699"/>
                  <a:pt x="93904" y="224378"/>
                  <a:pt x="93235" y="227057"/>
                </a:cubicBezTo>
                <a:cubicBezTo>
                  <a:pt x="93235" y="229736"/>
                  <a:pt x="94574" y="232416"/>
                  <a:pt x="97253" y="233755"/>
                </a:cubicBezTo>
                <a:cubicBezTo>
                  <a:pt x="99933" y="235095"/>
                  <a:pt x="102612" y="235095"/>
                  <a:pt x="104621" y="233085"/>
                </a:cubicBezTo>
                <a:cubicBezTo>
                  <a:pt x="111319" y="228397"/>
                  <a:pt x="117347" y="223708"/>
                  <a:pt x="122705" y="217680"/>
                </a:cubicBezTo>
                <a:cubicBezTo>
                  <a:pt x="126724" y="221029"/>
                  <a:pt x="130743" y="223708"/>
                  <a:pt x="134761" y="226387"/>
                </a:cubicBezTo>
                <a:cubicBezTo>
                  <a:pt x="141459" y="230406"/>
                  <a:pt x="146818" y="235095"/>
                  <a:pt x="152176" y="241123"/>
                </a:cubicBezTo>
                <a:cubicBezTo>
                  <a:pt x="158204" y="248490"/>
                  <a:pt x="158204" y="262556"/>
                  <a:pt x="158204" y="274612"/>
                </a:cubicBezTo>
                <a:lnTo>
                  <a:pt x="158204" y="314799"/>
                </a:lnTo>
                <a:lnTo>
                  <a:pt x="127394" y="314799"/>
                </a:lnTo>
                <a:cubicBezTo>
                  <a:pt x="127394" y="265235"/>
                  <a:pt x="103281" y="262556"/>
                  <a:pt x="100602" y="261216"/>
                </a:cubicBezTo>
                <a:cubicBezTo>
                  <a:pt x="90556" y="258537"/>
                  <a:pt x="64434" y="244472"/>
                  <a:pt x="58406" y="216341"/>
                </a:cubicBezTo>
                <a:cubicBezTo>
                  <a:pt x="57736" y="215001"/>
                  <a:pt x="57736" y="212992"/>
                  <a:pt x="57736" y="211652"/>
                </a:cubicBezTo>
                <a:cubicBezTo>
                  <a:pt x="46350" y="195577"/>
                  <a:pt x="47019" y="173474"/>
                  <a:pt x="59745" y="158069"/>
                </a:cubicBezTo>
                <a:cubicBezTo>
                  <a:pt x="58406" y="153381"/>
                  <a:pt x="57736" y="148692"/>
                  <a:pt x="57736" y="144004"/>
                </a:cubicBezTo>
                <a:cubicBezTo>
                  <a:pt x="57736" y="122571"/>
                  <a:pt x="73141" y="103817"/>
                  <a:pt x="94574" y="99798"/>
                </a:cubicBezTo>
                <a:cubicBezTo>
                  <a:pt x="101272" y="81044"/>
                  <a:pt x="118687" y="68318"/>
                  <a:pt x="138110" y="68988"/>
                </a:cubicBezTo>
                <a:cubicBezTo>
                  <a:pt x="141459" y="68988"/>
                  <a:pt x="145478" y="69658"/>
                  <a:pt x="148827" y="70327"/>
                </a:cubicBezTo>
                <a:cubicBezTo>
                  <a:pt x="156864" y="60950"/>
                  <a:pt x="168251" y="55592"/>
                  <a:pt x="180977" y="54253"/>
                </a:cubicBezTo>
                <a:cubicBezTo>
                  <a:pt x="193702" y="53583"/>
                  <a:pt x="205759" y="57602"/>
                  <a:pt x="215136" y="66309"/>
                </a:cubicBezTo>
                <a:cubicBezTo>
                  <a:pt x="227192" y="58271"/>
                  <a:pt x="241927" y="56262"/>
                  <a:pt x="255323" y="60281"/>
                </a:cubicBezTo>
                <a:cubicBezTo>
                  <a:pt x="269388" y="64299"/>
                  <a:pt x="280105" y="75016"/>
                  <a:pt x="284793" y="88412"/>
                </a:cubicBezTo>
                <a:lnTo>
                  <a:pt x="287472" y="88412"/>
                </a:lnTo>
                <a:cubicBezTo>
                  <a:pt x="312924" y="88412"/>
                  <a:pt x="333018" y="108505"/>
                  <a:pt x="333688" y="133957"/>
                </a:cubicBezTo>
                <a:lnTo>
                  <a:pt x="333688" y="135966"/>
                </a:lnTo>
                <a:cubicBezTo>
                  <a:pt x="349093" y="144674"/>
                  <a:pt x="357800" y="161418"/>
                  <a:pt x="356460" y="178833"/>
                </a:cubicBezTo>
                <a:cubicBezTo>
                  <a:pt x="351102" y="202275"/>
                  <a:pt x="330339" y="220359"/>
                  <a:pt x="306226" y="219690"/>
                </a:cubicBezTo>
                <a:close/>
                <a:moveTo>
                  <a:pt x="448891" y="290017"/>
                </a:moveTo>
                <a:lnTo>
                  <a:pt x="402676" y="210313"/>
                </a:lnTo>
                <a:lnTo>
                  <a:pt x="402676" y="207633"/>
                </a:lnTo>
                <a:cubicBezTo>
                  <a:pt x="405355" y="133957"/>
                  <a:pt x="367847" y="64969"/>
                  <a:pt x="304217" y="28131"/>
                </a:cubicBezTo>
                <a:cubicBezTo>
                  <a:pt x="240587" y="-9377"/>
                  <a:pt x="162223" y="-9377"/>
                  <a:pt x="98593" y="28131"/>
                </a:cubicBezTo>
                <a:cubicBezTo>
                  <a:pt x="34963" y="64969"/>
                  <a:pt x="-2545" y="133957"/>
                  <a:pt x="134" y="207633"/>
                </a:cubicBezTo>
                <a:cubicBezTo>
                  <a:pt x="134" y="270593"/>
                  <a:pt x="28935" y="330204"/>
                  <a:pt x="79169" y="368382"/>
                </a:cubicBezTo>
                <a:lnTo>
                  <a:pt x="79169" y="535828"/>
                </a:lnTo>
                <a:lnTo>
                  <a:pt x="290821" y="535828"/>
                </a:lnTo>
                <a:lnTo>
                  <a:pt x="290821" y="456124"/>
                </a:lnTo>
                <a:lnTo>
                  <a:pt x="323641" y="456124"/>
                </a:lnTo>
                <a:cubicBezTo>
                  <a:pt x="345074" y="456124"/>
                  <a:pt x="365168" y="448086"/>
                  <a:pt x="379903" y="432681"/>
                </a:cubicBezTo>
                <a:cubicBezTo>
                  <a:pt x="394638" y="417946"/>
                  <a:pt x="402676" y="397183"/>
                  <a:pt x="402676" y="376419"/>
                </a:cubicBezTo>
                <a:lnTo>
                  <a:pt x="402676" y="336232"/>
                </a:lnTo>
                <a:lnTo>
                  <a:pt x="432146" y="336232"/>
                </a:lnTo>
                <a:cubicBezTo>
                  <a:pt x="449561" y="334893"/>
                  <a:pt x="464966" y="314799"/>
                  <a:pt x="448891" y="29001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4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8BA628C-4780-DFD7-462C-D475C138C2E1}"/>
              </a:ext>
            </a:extLst>
          </p:cNvPr>
          <p:cNvGrpSpPr/>
          <p:nvPr/>
        </p:nvGrpSpPr>
        <p:grpSpPr>
          <a:xfrm>
            <a:off x="2202486" y="5178676"/>
            <a:ext cx="332080" cy="332080"/>
            <a:chOff x="8207181" y="3414922"/>
            <a:chExt cx="529130" cy="52913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2591680E-1076-6921-647B-A4C5C6DD75F8}"/>
                </a:ext>
              </a:extLst>
            </p:cNvPr>
            <p:cNvSpPr/>
            <p:nvPr/>
          </p:nvSpPr>
          <p:spPr>
            <a:xfrm>
              <a:off x="8394051" y="3414922"/>
              <a:ext cx="342260" cy="341590"/>
            </a:xfrm>
            <a:custGeom>
              <a:avLst/>
              <a:gdLst>
                <a:gd name="connsiteX0" fmla="*/ 281980 w 342260"/>
                <a:gd name="connsiteY0" fmla="*/ 60281 h 341590"/>
                <a:gd name="connsiteX1" fmla="*/ 275282 w 342260"/>
                <a:gd name="connsiteY1" fmla="*/ 0 h 341590"/>
                <a:gd name="connsiteX2" fmla="*/ 201605 w 342260"/>
                <a:gd name="connsiteY2" fmla="*/ 73676 h 341590"/>
                <a:gd name="connsiteX3" fmla="*/ 205624 w 342260"/>
                <a:gd name="connsiteY3" fmla="*/ 108505 h 341590"/>
                <a:gd name="connsiteX4" fmla="*/ 98458 w 342260"/>
                <a:gd name="connsiteY4" fmla="*/ 215671 h 341590"/>
                <a:gd name="connsiteX5" fmla="*/ 66979 w 342260"/>
                <a:gd name="connsiteY5" fmla="*/ 207633 h 341590"/>
                <a:gd name="connsiteX6" fmla="*/ 0 w 342260"/>
                <a:gd name="connsiteY6" fmla="*/ 274612 h 341590"/>
                <a:gd name="connsiteX7" fmla="*/ 66979 w 342260"/>
                <a:gd name="connsiteY7" fmla="*/ 341591 h 341590"/>
                <a:gd name="connsiteX8" fmla="*/ 133957 w 342260"/>
                <a:gd name="connsiteY8" fmla="*/ 274612 h 341590"/>
                <a:gd name="connsiteX9" fmla="*/ 126589 w 342260"/>
                <a:gd name="connsiteY9" fmla="*/ 243802 h 341590"/>
                <a:gd name="connsiteX10" fmla="*/ 233755 w 342260"/>
                <a:gd name="connsiteY10" fmla="*/ 136636 h 341590"/>
                <a:gd name="connsiteX11" fmla="*/ 268584 w 342260"/>
                <a:gd name="connsiteY11" fmla="*/ 140655 h 341590"/>
                <a:gd name="connsiteX12" fmla="*/ 342260 w 342260"/>
                <a:gd name="connsiteY12" fmla="*/ 66979 h 341590"/>
                <a:gd name="connsiteX13" fmla="*/ 281980 w 342260"/>
                <a:gd name="connsiteY13" fmla="*/ 60281 h 34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260" h="341590">
                  <a:moveTo>
                    <a:pt x="281980" y="60281"/>
                  </a:moveTo>
                  <a:lnTo>
                    <a:pt x="275282" y="0"/>
                  </a:lnTo>
                  <a:lnTo>
                    <a:pt x="201605" y="73676"/>
                  </a:lnTo>
                  <a:lnTo>
                    <a:pt x="205624" y="108505"/>
                  </a:lnTo>
                  <a:lnTo>
                    <a:pt x="98458" y="215671"/>
                  </a:lnTo>
                  <a:cubicBezTo>
                    <a:pt x="89081" y="210982"/>
                    <a:pt x="78365" y="207633"/>
                    <a:pt x="66979" y="207633"/>
                  </a:cubicBezTo>
                  <a:cubicBezTo>
                    <a:pt x="30140" y="207633"/>
                    <a:pt x="0" y="237774"/>
                    <a:pt x="0" y="274612"/>
                  </a:cubicBezTo>
                  <a:cubicBezTo>
                    <a:pt x="0" y="311450"/>
                    <a:pt x="30140" y="341591"/>
                    <a:pt x="66979" y="341591"/>
                  </a:cubicBezTo>
                  <a:cubicBezTo>
                    <a:pt x="103817" y="341591"/>
                    <a:pt x="133957" y="311450"/>
                    <a:pt x="133957" y="274612"/>
                  </a:cubicBezTo>
                  <a:cubicBezTo>
                    <a:pt x="133957" y="263226"/>
                    <a:pt x="131278" y="253179"/>
                    <a:pt x="126589" y="243802"/>
                  </a:cubicBezTo>
                  <a:lnTo>
                    <a:pt x="233755" y="136636"/>
                  </a:lnTo>
                  <a:lnTo>
                    <a:pt x="268584" y="140655"/>
                  </a:lnTo>
                  <a:lnTo>
                    <a:pt x="342260" y="66979"/>
                  </a:lnTo>
                  <a:lnTo>
                    <a:pt x="281980" y="60281"/>
                  </a:lnTo>
                  <a:close/>
                </a:path>
              </a:pathLst>
            </a:custGeom>
            <a:grpFill/>
            <a:ln w="66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A240DE9-13DD-AFFC-E958-29AB49FCACC7}"/>
                </a:ext>
              </a:extLst>
            </p:cNvPr>
            <p:cNvSpPr/>
            <p:nvPr/>
          </p:nvSpPr>
          <p:spPr>
            <a:xfrm>
              <a:off x="8207181" y="3435016"/>
              <a:ext cx="509036" cy="509036"/>
            </a:xfrm>
            <a:custGeom>
              <a:avLst/>
              <a:gdLst>
                <a:gd name="connsiteX0" fmla="*/ 474208 w 509036"/>
                <a:gd name="connsiteY0" fmla="*/ 139315 h 509036"/>
                <a:gd name="connsiteX1" fmla="*/ 465501 w 509036"/>
                <a:gd name="connsiteY1" fmla="*/ 148692 h 509036"/>
                <a:gd name="connsiteX2" fmla="*/ 452775 w 509036"/>
                <a:gd name="connsiteY2" fmla="*/ 147353 h 509036"/>
                <a:gd name="connsiteX3" fmla="*/ 438709 w 509036"/>
                <a:gd name="connsiteY3" fmla="*/ 145343 h 509036"/>
                <a:gd name="connsiteX4" fmla="*/ 468850 w 509036"/>
                <a:gd name="connsiteY4" fmla="*/ 254518 h 509036"/>
                <a:gd name="connsiteX5" fmla="*/ 254518 w 509036"/>
                <a:gd name="connsiteY5" fmla="*/ 468850 h 509036"/>
                <a:gd name="connsiteX6" fmla="*/ 40187 w 509036"/>
                <a:gd name="connsiteY6" fmla="*/ 254518 h 509036"/>
                <a:gd name="connsiteX7" fmla="*/ 254518 w 509036"/>
                <a:gd name="connsiteY7" fmla="*/ 40187 h 509036"/>
                <a:gd name="connsiteX8" fmla="*/ 363693 w 509036"/>
                <a:gd name="connsiteY8" fmla="*/ 70327 h 509036"/>
                <a:gd name="connsiteX9" fmla="*/ 362354 w 509036"/>
                <a:gd name="connsiteY9" fmla="*/ 56932 h 509036"/>
                <a:gd name="connsiteX10" fmla="*/ 360345 w 509036"/>
                <a:gd name="connsiteY10" fmla="*/ 43536 h 509036"/>
                <a:gd name="connsiteX11" fmla="*/ 369722 w 509036"/>
                <a:gd name="connsiteY11" fmla="*/ 34159 h 509036"/>
                <a:gd name="connsiteX12" fmla="*/ 374410 w 509036"/>
                <a:gd name="connsiteY12" fmla="*/ 29471 h 509036"/>
                <a:gd name="connsiteX13" fmla="*/ 254518 w 509036"/>
                <a:gd name="connsiteY13" fmla="*/ 0 h 509036"/>
                <a:gd name="connsiteX14" fmla="*/ 0 w 509036"/>
                <a:gd name="connsiteY14" fmla="*/ 254518 h 509036"/>
                <a:gd name="connsiteX15" fmla="*/ 254518 w 509036"/>
                <a:gd name="connsiteY15" fmla="*/ 509037 h 509036"/>
                <a:gd name="connsiteX16" fmla="*/ 509037 w 509036"/>
                <a:gd name="connsiteY16" fmla="*/ 254518 h 509036"/>
                <a:gd name="connsiteX17" fmla="*/ 478897 w 509036"/>
                <a:gd name="connsiteY17" fmla="*/ 135297 h 509036"/>
                <a:gd name="connsiteX18" fmla="*/ 474208 w 509036"/>
                <a:gd name="connsiteY18" fmla="*/ 139315 h 509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9036" h="509036">
                  <a:moveTo>
                    <a:pt x="474208" y="139315"/>
                  </a:moveTo>
                  <a:lnTo>
                    <a:pt x="465501" y="148692"/>
                  </a:lnTo>
                  <a:lnTo>
                    <a:pt x="452775" y="147353"/>
                  </a:lnTo>
                  <a:lnTo>
                    <a:pt x="438709" y="145343"/>
                  </a:lnTo>
                  <a:cubicBezTo>
                    <a:pt x="457463" y="177493"/>
                    <a:pt x="468850" y="214331"/>
                    <a:pt x="468850" y="254518"/>
                  </a:cubicBezTo>
                  <a:cubicBezTo>
                    <a:pt x="468850" y="372401"/>
                    <a:pt x="372401" y="468850"/>
                    <a:pt x="254518" y="468850"/>
                  </a:cubicBezTo>
                  <a:cubicBezTo>
                    <a:pt x="136636" y="468850"/>
                    <a:pt x="40187" y="372401"/>
                    <a:pt x="40187" y="254518"/>
                  </a:cubicBezTo>
                  <a:cubicBezTo>
                    <a:pt x="40187" y="136636"/>
                    <a:pt x="136636" y="40187"/>
                    <a:pt x="254518" y="40187"/>
                  </a:cubicBezTo>
                  <a:cubicBezTo>
                    <a:pt x="294036" y="40187"/>
                    <a:pt x="331544" y="50904"/>
                    <a:pt x="363693" y="70327"/>
                  </a:cubicBezTo>
                  <a:lnTo>
                    <a:pt x="362354" y="56932"/>
                  </a:lnTo>
                  <a:lnTo>
                    <a:pt x="360345" y="43536"/>
                  </a:lnTo>
                  <a:lnTo>
                    <a:pt x="369722" y="34159"/>
                  </a:lnTo>
                  <a:lnTo>
                    <a:pt x="374410" y="29471"/>
                  </a:lnTo>
                  <a:cubicBezTo>
                    <a:pt x="338242" y="10717"/>
                    <a:pt x="298055" y="0"/>
                    <a:pt x="254518" y="0"/>
                  </a:cubicBezTo>
                  <a:cubicBezTo>
                    <a:pt x="113864" y="0"/>
                    <a:pt x="0" y="113864"/>
                    <a:pt x="0" y="254518"/>
                  </a:cubicBezTo>
                  <a:cubicBezTo>
                    <a:pt x="0" y="395173"/>
                    <a:pt x="113864" y="509037"/>
                    <a:pt x="254518" y="509037"/>
                  </a:cubicBezTo>
                  <a:cubicBezTo>
                    <a:pt x="395173" y="509037"/>
                    <a:pt x="509037" y="395173"/>
                    <a:pt x="509037" y="254518"/>
                  </a:cubicBezTo>
                  <a:cubicBezTo>
                    <a:pt x="509037" y="210982"/>
                    <a:pt x="498320" y="170795"/>
                    <a:pt x="478897" y="135297"/>
                  </a:cubicBezTo>
                  <a:lnTo>
                    <a:pt x="474208" y="139315"/>
                  </a:lnTo>
                  <a:close/>
                </a:path>
              </a:pathLst>
            </a:custGeom>
            <a:grpFill/>
            <a:ln w="66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34DDBC2-3F7E-D5C1-3B92-56E7BF8132A2}"/>
                </a:ext>
              </a:extLst>
            </p:cNvPr>
            <p:cNvSpPr/>
            <p:nvPr/>
          </p:nvSpPr>
          <p:spPr>
            <a:xfrm>
              <a:off x="8300951" y="3528786"/>
              <a:ext cx="321497" cy="321497"/>
            </a:xfrm>
            <a:custGeom>
              <a:avLst/>
              <a:gdLst>
                <a:gd name="connsiteX0" fmla="*/ 272603 w 321497"/>
                <a:gd name="connsiteY0" fmla="*/ 115203 h 321497"/>
                <a:gd name="connsiteX1" fmla="*/ 281310 w 321497"/>
                <a:gd name="connsiteY1" fmla="*/ 160749 h 321497"/>
                <a:gd name="connsiteX2" fmla="*/ 160749 w 321497"/>
                <a:gd name="connsiteY2" fmla="*/ 281310 h 321497"/>
                <a:gd name="connsiteX3" fmla="*/ 40187 w 321497"/>
                <a:gd name="connsiteY3" fmla="*/ 160749 h 321497"/>
                <a:gd name="connsiteX4" fmla="*/ 160749 w 321497"/>
                <a:gd name="connsiteY4" fmla="*/ 40187 h 321497"/>
                <a:gd name="connsiteX5" fmla="*/ 206294 w 321497"/>
                <a:gd name="connsiteY5" fmla="*/ 48894 h 321497"/>
                <a:gd name="connsiteX6" fmla="*/ 236434 w 321497"/>
                <a:gd name="connsiteY6" fmla="*/ 18754 h 321497"/>
                <a:gd name="connsiteX7" fmla="*/ 160749 w 321497"/>
                <a:gd name="connsiteY7" fmla="*/ 0 h 321497"/>
                <a:gd name="connsiteX8" fmla="*/ 0 w 321497"/>
                <a:gd name="connsiteY8" fmla="*/ 160749 h 321497"/>
                <a:gd name="connsiteX9" fmla="*/ 160749 w 321497"/>
                <a:gd name="connsiteY9" fmla="*/ 321497 h 321497"/>
                <a:gd name="connsiteX10" fmla="*/ 321497 w 321497"/>
                <a:gd name="connsiteY10" fmla="*/ 160749 h 321497"/>
                <a:gd name="connsiteX11" fmla="*/ 302743 w 321497"/>
                <a:gd name="connsiteY11" fmla="*/ 85063 h 321497"/>
                <a:gd name="connsiteX12" fmla="*/ 272603 w 321497"/>
                <a:gd name="connsiteY12" fmla="*/ 115203 h 321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497" h="321497">
                  <a:moveTo>
                    <a:pt x="272603" y="115203"/>
                  </a:moveTo>
                  <a:cubicBezTo>
                    <a:pt x="278631" y="129269"/>
                    <a:pt x="281310" y="144674"/>
                    <a:pt x="281310" y="160749"/>
                  </a:cubicBezTo>
                  <a:cubicBezTo>
                    <a:pt x="281310" y="227057"/>
                    <a:pt x="227057" y="281310"/>
                    <a:pt x="160749" y="281310"/>
                  </a:cubicBezTo>
                  <a:cubicBezTo>
                    <a:pt x="94440" y="281310"/>
                    <a:pt x="40187" y="227057"/>
                    <a:pt x="40187" y="160749"/>
                  </a:cubicBezTo>
                  <a:cubicBezTo>
                    <a:pt x="40187" y="94440"/>
                    <a:pt x="94440" y="40187"/>
                    <a:pt x="160749" y="40187"/>
                  </a:cubicBezTo>
                  <a:cubicBezTo>
                    <a:pt x="176823" y="40187"/>
                    <a:pt x="192228" y="43536"/>
                    <a:pt x="206294" y="48894"/>
                  </a:cubicBezTo>
                  <a:lnTo>
                    <a:pt x="236434" y="18754"/>
                  </a:lnTo>
                  <a:cubicBezTo>
                    <a:pt x="213662" y="6698"/>
                    <a:pt x="188210" y="0"/>
                    <a:pt x="160749" y="0"/>
                  </a:cubicBezTo>
                  <a:cubicBezTo>
                    <a:pt x="72337" y="0"/>
                    <a:pt x="0" y="72337"/>
                    <a:pt x="0" y="160749"/>
                  </a:cubicBezTo>
                  <a:cubicBezTo>
                    <a:pt x="0" y="249160"/>
                    <a:pt x="72337" y="321497"/>
                    <a:pt x="160749" y="321497"/>
                  </a:cubicBezTo>
                  <a:cubicBezTo>
                    <a:pt x="249160" y="321497"/>
                    <a:pt x="321497" y="249160"/>
                    <a:pt x="321497" y="160749"/>
                  </a:cubicBezTo>
                  <a:cubicBezTo>
                    <a:pt x="321497" y="133287"/>
                    <a:pt x="314799" y="107835"/>
                    <a:pt x="302743" y="85063"/>
                  </a:cubicBezTo>
                  <a:lnTo>
                    <a:pt x="272603" y="115203"/>
                  </a:lnTo>
                  <a:close/>
                </a:path>
              </a:pathLst>
            </a:custGeom>
            <a:grpFill/>
            <a:ln w="66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EF311B3-7699-0AA4-AE55-286F708C5B98}"/>
              </a:ext>
            </a:extLst>
          </p:cNvPr>
          <p:cNvSpPr txBox="1"/>
          <p:nvPr/>
        </p:nvSpPr>
        <p:spPr>
          <a:xfrm>
            <a:off x="6308211" y="1267747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Segoe UI Light" panose="020B0502040204020203" pitchFamily="34" charset="0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6DD10-8EDB-104B-6A87-2C6DC571014D}"/>
              </a:ext>
            </a:extLst>
          </p:cNvPr>
          <p:cNvSpPr txBox="1"/>
          <p:nvPr/>
        </p:nvSpPr>
        <p:spPr>
          <a:xfrm>
            <a:off x="8594001" y="2332243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Segoe UI Light" panose="020B0502040204020203" pitchFamily="3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51478-42C6-0254-C05F-989AF98E5D77}"/>
              </a:ext>
            </a:extLst>
          </p:cNvPr>
          <p:cNvSpPr txBox="1"/>
          <p:nvPr/>
        </p:nvSpPr>
        <p:spPr>
          <a:xfrm>
            <a:off x="8613306" y="4513400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Segoe UI Light" panose="020B0502040204020203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5DD2D-9192-A032-728D-C181DFEC86C2}"/>
              </a:ext>
            </a:extLst>
          </p:cNvPr>
          <p:cNvSpPr txBox="1"/>
          <p:nvPr/>
        </p:nvSpPr>
        <p:spPr>
          <a:xfrm>
            <a:off x="6357438" y="3426281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Segoe UI Light" panose="020B0502040204020203" pitchFamily="34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F896F-E6DD-87BD-651C-13157E75918C}"/>
              </a:ext>
            </a:extLst>
          </p:cNvPr>
          <p:cNvSpPr txBox="1"/>
          <p:nvPr/>
        </p:nvSpPr>
        <p:spPr>
          <a:xfrm>
            <a:off x="6357438" y="5561147"/>
            <a:ext cx="590376" cy="6074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UI"/>
                <a:ea typeface="Segoe UI Black" panose="020B0A02040204020203" pitchFamily="34" charset="0"/>
                <a:cs typeface="Segoe UI Light" panose="020B0502040204020203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5ED8FA-7328-1ED8-DCDF-20FEE03A9720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sz="2400" b="1" dirty="0">
                <a:solidFill>
                  <a:srgbClr val="FFFFFF">
                    <a:lumMod val="50000"/>
                  </a:srgbClr>
                </a:solidFill>
                <a:latin typeface="Aptos"/>
              </a:rPr>
              <a:t>The focus will be on redefining the </a:t>
            </a:r>
            <a:r>
              <a:rPr lang="en-US" sz="2400" b="1" dirty="0">
                <a:solidFill>
                  <a:srgbClr val="FFFFFF">
                    <a:lumMod val="50000"/>
                  </a:srgbClr>
                </a:solidFill>
                <a:latin typeface="Aptos"/>
              </a:rPr>
              <a:t>credit card engagement with gamification, personalization &amp; profitability to outpace competition</a:t>
            </a:r>
            <a:endParaRPr lang="en-IN" sz="2400" b="1" dirty="0">
              <a:solidFill>
                <a:srgbClr val="FFFFFF">
                  <a:lumMod val="50000"/>
                </a:srgbClr>
              </a:solidFill>
              <a:latin typeface="Aptos"/>
            </a:endParaRPr>
          </a:p>
        </p:txBody>
      </p:sp>
      <p:sp>
        <p:nvSpPr>
          <p:cNvPr id="76" name="Rectangle: Top Corners Rounded 75">
            <a:extLst>
              <a:ext uri="{FF2B5EF4-FFF2-40B4-BE49-F238E27FC236}">
                <a16:creationId xmlns:a16="http://schemas.microsoft.com/office/drawing/2014/main" id="{7B227784-C9AB-4B7E-BA51-F3C5E6201C05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77" name="Rectangle: Top Corners Rounded 76">
            <a:extLst>
              <a:ext uri="{FF2B5EF4-FFF2-40B4-BE49-F238E27FC236}">
                <a16:creationId xmlns:a16="http://schemas.microsoft.com/office/drawing/2014/main" id="{261BFD4B-1A83-2072-D4FD-07E91F2D2638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78" name="Rectangle: Top Corners Rounded 77">
            <a:extLst>
              <a:ext uri="{FF2B5EF4-FFF2-40B4-BE49-F238E27FC236}">
                <a16:creationId xmlns:a16="http://schemas.microsoft.com/office/drawing/2014/main" id="{5A17159E-487E-824B-19F8-2212462B0791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79" name="Arrow: Chevron 78">
            <a:extLst>
              <a:ext uri="{FF2B5EF4-FFF2-40B4-BE49-F238E27FC236}">
                <a16:creationId xmlns:a16="http://schemas.microsoft.com/office/drawing/2014/main" id="{BF4D529C-1AC4-71BE-C70A-179957C78F66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Rectangle: Top Corners Rounded 81">
            <a:extLst>
              <a:ext uri="{FF2B5EF4-FFF2-40B4-BE49-F238E27FC236}">
                <a16:creationId xmlns:a16="http://schemas.microsoft.com/office/drawing/2014/main" id="{9EE6BF49-532F-7AAA-115D-361BB03A357D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83" name="Rectangle: Top Corners Rounded 82">
            <a:extLst>
              <a:ext uri="{FF2B5EF4-FFF2-40B4-BE49-F238E27FC236}">
                <a16:creationId xmlns:a16="http://schemas.microsoft.com/office/drawing/2014/main" id="{1E98F8F8-A350-F974-60A0-7ACAC2B00DD3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85" name="Rectangle: Top Corners Rounded 84">
            <a:extLst>
              <a:ext uri="{FF2B5EF4-FFF2-40B4-BE49-F238E27FC236}">
                <a16:creationId xmlns:a16="http://schemas.microsoft.com/office/drawing/2014/main" id="{4F05424E-FBC3-08D4-7C05-C3BC0D629743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87" name="Arrow: Chevron 86">
            <a:extLst>
              <a:ext uri="{FF2B5EF4-FFF2-40B4-BE49-F238E27FC236}">
                <a16:creationId xmlns:a16="http://schemas.microsoft.com/office/drawing/2014/main" id="{E2D72B97-C93E-C1BC-8561-450BC2806E91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47D0F38B-2102-4FAD-5719-F3F8723884B2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Arrow: Chevron 89">
            <a:extLst>
              <a:ext uri="{FF2B5EF4-FFF2-40B4-BE49-F238E27FC236}">
                <a16:creationId xmlns:a16="http://schemas.microsoft.com/office/drawing/2014/main" id="{8EACDA6D-7228-55FD-49E4-2BE98ED7CCE8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Rectangle: Top Corners Rounded 90">
            <a:extLst>
              <a:ext uri="{FF2B5EF4-FFF2-40B4-BE49-F238E27FC236}">
                <a16:creationId xmlns:a16="http://schemas.microsoft.com/office/drawing/2014/main" id="{297F3B9A-6EF9-83AE-912E-19D46A5F9BC7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101" name="Arrow: Chevron 100">
            <a:extLst>
              <a:ext uri="{FF2B5EF4-FFF2-40B4-BE49-F238E27FC236}">
                <a16:creationId xmlns:a16="http://schemas.microsoft.com/office/drawing/2014/main" id="{1853E6EE-557C-53A5-77C9-447022DBDCB5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Arrow: Chevron 101">
            <a:extLst>
              <a:ext uri="{FF2B5EF4-FFF2-40B4-BE49-F238E27FC236}">
                <a16:creationId xmlns:a16="http://schemas.microsoft.com/office/drawing/2014/main" id="{C9116FB1-7295-0A43-8315-8C5F233CDC66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Arrow: Chevron 102">
            <a:extLst>
              <a:ext uri="{FF2B5EF4-FFF2-40B4-BE49-F238E27FC236}">
                <a16:creationId xmlns:a16="http://schemas.microsoft.com/office/drawing/2014/main" id="{787D3499-9543-6D78-9ED2-0AE0A3731228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16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E46FCA2-6A05-9000-8BAA-1F3590679DEC}"/>
              </a:ext>
            </a:extLst>
          </p:cNvPr>
          <p:cNvSpPr/>
          <p:nvPr/>
        </p:nvSpPr>
        <p:spPr>
          <a:xfrm>
            <a:off x="3475718" y="1195326"/>
            <a:ext cx="8492166" cy="5364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8AA0D-23EA-D412-D919-AF1D03F8CB2B}"/>
              </a:ext>
            </a:extLst>
          </p:cNvPr>
          <p:cNvSpPr/>
          <p:nvPr/>
        </p:nvSpPr>
        <p:spPr>
          <a:xfrm>
            <a:off x="4298826" y="1463484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High Income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Professional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46B91E-64F3-06DC-B26D-4020F1F477C8}"/>
              </a:ext>
            </a:extLst>
          </p:cNvPr>
          <p:cNvSpPr/>
          <p:nvPr/>
        </p:nvSpPr>
        <p:spPr>
          <a:xfrm>
            <a:off x="4058213" y="1400477"/>
            <a:ext cx="627529" cy="5827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6" name="Picture 8" descr="Engineer ">
            <a:extLst>
              <a:ext uri="{FF2B5EF4-FFF2-40B4-BE49-F238E27FC236}">
                <a16:creationId xmlns:a16="http://schemas.microsoft.com/office/drawing/2014/main" id="{AF69819C-6DD1-9BBD-5CA2-C94FF6CC1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851" y="1517904"/>
            <a:ext cx="320946" cy="320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E0120EA-0A89-4A27-60A1-81AC3BE68E36}"/>
              </a:ext>
            </a:extLst>
          </p:cNvPr>
          <p:cNvSpPr/>
          <p:nvPr/>
        </p:nvSpPr>
        <p:spPr>
          <a:xfrm>
            <a:off x="6909673" y="1463484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Mid Spend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Entrepreneurs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8BA875-678B-D05E-29C7-4F951DDD8AF7}"/>
              </a:ext>
            </a:extLst>
          </p:cNvPr>
          <p:cNvSpPr/>
          <p:nvPr/>
        </p:nvSpPr>
        <p:spPr>
          <a:xfrm>
            <a:off x="9520520" y="1463484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Value Oriented Professionals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85876-F8EF-77DE-8D10-05FF965FCD1E}"/>
              </a:ext>
            </a:extLst>
          </p:cNvPr>
          <p:cNvSpPr txBox="1"/>
          <p:nvPr/>
        </p:nvSpPr>
        <p:spPr>
          <a:xfrm rot="16200000">
            <a:off x="3299379" y="2632211"/>
            <a:ext cx="127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Characteristics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A6F0FF-6153-490F-B50C-688DD00EDE06}"/>
              </a:ext>
            </a:extLst>
          </p:cNvPr>
          <p:cNvSpPr/>
          <p:nvPr/>
        </p:nvSpPr>
        <p:spPr>
          <a:xfrm>
            <a:off x="4298826" y="2210442"/>
            <a:ext cx="2340000" cy="1196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Income: &gt; Rs2 lakh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Spend: 1 lakh – 2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Mostly spends on Travel and Online Shopping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FE8F60-2CBA-5BA3-F244-80515EA5D528}"/>
              </a:ext>
            </a:extLst>
          </p:cNvPr>
          <p:cNvSpPr/>
          <p:nvPr/>
        </p:nvSpPr>
        <p:spPr>
          <a:xfrm>
            <a:off x="6909673" y="2224531"/>
            <a:ext cx="2340000" cy="1196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Income: Rs 1 lakh – 2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Spend: Rs 1 lakh – 2lakh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Mostly spends on Travel, dining and food delivery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D18857-E1D2-44FC-B275-5F0F4B8A72D0}"/>
              </a:ext>
            </a:extLst>
          </p:cNvPr>
          <p:cNvSpPr/>
          <p:nvPr/>
        </p:nvSpPr>
        <p:spPr>
          <a:xfrm>
            <a:off x="9520520" y="2210442"/>
            <a:ext cx="2340000" cy="1196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Income: Rs 1 lakh – 2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Spend: Rs 50,000 -1 lakh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Mostly spends on online shopping and EMI purchases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A50DF8-BF91-9F1C-7E09-74ED3F092DE5}"/>
              </a:ext>
            </a:extLst>
          </p:cNvPr>
          <p:cNvSpPr txBox="1"/>
          <p:nvPr/>
        </p:nvSpPr>
        <p:spPr>
          <a:xfrm rot="16200000">
            <a:off x="3317845" y="3657495"/>
            <a:ext cx="127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Pain Points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A34BC5-F0F6-0E47-A5F2-CB8157064DC2}"/>
              </a:ext>
            </a:extLst>
          </p:cNvPr>
          <p:cNvSpPr/>
          <p:nvPr/>
        </p:nvSpPr>
        <p:spPr>
          <a:xfrm>
            <a:off x="4298826" y="352234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No control over rewards and transaction being declined without clear reason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08E5CE-CB58-2E7B-3982-CC560EB25F3C}"/>
              </a:ext>
            </a:extLst>
          </p:cNvPr>
          <p:cNvSpPr/>
          <p:nvPr/>
        </p:nvSpPr>
        <p:spPr>
          <a:xfrm>
            <a:off x="6909673" y="352234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Difficult reward redemption process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069BFC-6B28-5EC2-7073-742065FE576E}"/>
              </a:ext>
            </a:extLst>
          </p:cNvPr>
          <p:cNvSpPr/>
          <p:nvPr/>
        </p:nvSpPr>
        <p:spPr>
          <a:xfrm>
            <a:off x="9520520" y="352234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Slow Onboarding and high interest charges on late payments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68A540-FE51-88C3-DCAE-D1224571356C}"/>
              </a:ext>
            </a:extLst>
          </p:cNvPr>
          <p:cNvSpPr txBox="1"/>
          <p:nvPr/>
        </p:nvSpPr>
        <p:spPr>
          <a:xfrm rot="16200000">
            <a:off x="3409113" y="4685462"/>
            <a:ext cx="111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</a:t>
            </a:r>
          </a:p>
        </p:txBody>
      </p:sp>
      <p:sp>
        <p:nvSpPr>
          <p:cNvPr id="34" name="Rectangle 41">
            <a:extLst>
              <a:ext uri="{FF2B5EF4-FFF2-40B4-BE49-F238E27FC236}">
                <a16:creationId xmlns:a16="http://schemas.microsoft.com/office/drawing/2014/main" id="{248E0CAB-B75B-D1D4-A60D-A1937F664AA1}"/>
              </a:ext>
            </a:extLst>
          </p:cNvPr>
          <p:cNvSpPr/>
          <p:nvPr/>
        </p:nvSpPr>
        <p:spPr>
          <a:xfrm rot="16200000">
            <a:off x="179915" y="3769904"/>
            <a:ext cx="6221509" cy="215444"/>
          </a:xfrm>
          <a:custGeom>
            <a:avLst/>
            <a:gdLst>
              <a:gd name="connsiteX0" fmla="*/ 0 w 2136913"/>
              <a:gd name="connsiteY0" fmla="*/ 0 h 218439"/>
              <a:gd name="connsiteX1" fmla="*/ 2136913 w 2136913"/>
              <a:gd name="connsiteY1" fmla="*/ 0 h 218439"/>
              <a:gd name="connsiteX2" fmla="*/ 2136913 w 2136913"/>
              <a:gd name="connsiteY2" fmla="*/ 218439 h 218439"/>
              <a:gd name="connsiteX3" fmla="*/ 0 w 2136913"/>
              <a:gd name="connsiteY3" fmla="*/ 218439 h 218439"/>
              <a:gd name="connsiteX4" fmla="*/ 0 w 2136913"/>
              <a:gd name="connsiteY4" fmla="*/ 0 h 21843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394031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278715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5728473"/>
              <a:gd name="connsiteY0" fmla="*/ 0 h 226059"/>
              <a:gd name="connsiteX1" fmla="*/ 3940313 w 5728473"/>
              <a:gd name="connsiteY1" fmla="*/ 0 h 226059"/>
              <a:gd name="connsiteX2" fmla="*/ 5728473 w 5728473"/>
              <a:gd name="connsiteY2" fmla="*/ 226059 h 226059"/>
              <a:gd name="connsiteX3" fmla="*/ 0 w 5728473"/>
              <a:gd name="connsiteY3" fmla="*/ 223519 h 226059"/>
              <a:gd name="connsiteX4" fmla="*/ 1803400 w 5728473"/>
              <a:gd name="connsiteY4" fmla="*/ 0 h 226059"/>
              <a:gd name="connsiteX0" fmla="*/ 0 w 3925073"/>
              <a:gd name="connsiteY0" fmla="*/ 0 h 226059"/>
              <a:gd name="connsiteX1" fmla="*/ 2136913 w 3925073"/>
              <a:gd name="connsiteY1" fmla="*/ 0 h 226059"/>
              <a:gd name="connsiteX2" fmla="*/ 3925073 w 3925073"/>
              <a:gd name="connsiteY2" fmla="*/ 226059 h 226059"/>
              <a:gd name="connsiteX3" fmla="*/ 1137920 w 3925073"/>
              <a:gd name="connsiteY3" fmla="*/ 223519 h 226059"/>
              <a:gd name="connsiteX4" fmla="*/ 0 w 3925073"/>
              <a:gd name="connsiteY4" fmla="*/ 0 h 226059"/>
              <a:gd name="connsiteX0" fmla="*/ 1833880 w 5758953"/>
              <a:gd name="connsiteY0" fmla="*/ 0 h 226059"/>
              <a:gd name="connsiteX1" fmla="*/ 3970793 w 5758953"/>
              <a:gd name="connsiteY1" fmla="*/ 0 h 226059"/>
              <a:gd name="connsiteX2" fmla="*/ 5758953 w 5758953"/>
              <a:gd name="connsiteY2" fmla="*/ 226059 h 226059"/>
              <a:gd name="connsiteX3" fmla="*/ 0 w 5758953"/>
              <a:gd name="connsiteY3" fmla="*/ 223519 h 226059"/>
              <a:gd name="connsiteX4" fmla="*/ 1833880 w 5758953"/>
              <a:gd name="connsiteY4" fmla="*/ 0 h 226059"/>
              <a:gd name="connsiteX0" fmla="*/ 1388110 w 5758953"/>
              <a:gd name="connsiteY0" fmla="*/ 0 h 237489"/>
              <a:gd name="connsiteX1" fmla="*/ 3970793 w 5758953"/>
              <a:gd name="connsiteY1" fmla="*/ 11430 h 237489"/>
              <a:gd name="connsiteX2" fmla="*/ 5758953 w 5758953"/>
              <a:gd name="connsiteY2" fmla="*/ 237489 h 237489"/>
              <a:gd name="connsiteX3" fmla="*/ 0 w 5758953"/>
              <a:gd name="connsiteY3" fmla="*/ 234949 h 237489"/>
              <a:gd name="connsiteX4" fmla="*/ 1388110 w 5758953"/>
              <a:gd name="connsiteY4" fmla="*/ 0 h 237489"/>
              <a:gd name="connsiteX0" fmla="*/ 1388110 w 5758953"/>
              <a:gd name="connsiteY0" fmla="*/ 3810 h 241299"/>
              <a:gd name="connsiteX1" fmla="*/ 425654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381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635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6350 h 24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8953" h="241299">
                <a:moveTo>
                  <a:pt x="1388110" y="6350"/>
                </a:moveTo>
                <a:lnTo>
                  <a:pt x="4203203" y="0"/>
                </a:lnTo>
                <a:lnTo>
                  <a:pt x="5758953" y="241299"/>
                </a:lnTo>
                <a:lnTo>
                  <a:pt x="0" y="238759"/>
                </a:lnTo>
                <a:lnTo>
                  <a:pt x="1388110" y="635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rgbClr val="00162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739CB7-C338-447D-0D36-E1A2F072E2C0}"/>
              </a:ext>
            </a:extLst>
          </p:cNvPr>
          <p:cNvSpPr/>
          <p:nvPr/>
        </p:nvSpPr>
        <p:spPr>
          <a:xfrm>
            <a:off x="339638" y="1400477"/>
            <a:ext cx="2340000" cy="4788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Importance of Features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13A1D6-0C24-91AB-1C14-FEC53EC77DE9}"/>
              </a:ext>
            </a:extLst>
          </p:cNvPr>
          <p:cNvSpPr/>
          <p:nvPr/>
        </p:nvSpPr>
        <p:spPr>
          <a:xfrm>
            <a:off x="4298826" y="452653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Cobranded Benefits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International Usage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Lounge Access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F5B0C3-1919-231A-14C9-50ADC5C38FB6}"/>
              </a:ext>
            </a:extLst>
          </p:cNvPr>
          <p:cNvSpPr/>
          <p:nvPr/>
        </p:nvSpPr>
        <p:spPr>
          <a:xfrm>
            <a:off x="6909673" y="4526533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Fuel Waiver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EMI Options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Customer 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A72F30-4545-F447-3003-403FD09D6476}"/>
              </a:ext>
            </a:extLst>
          </p:cNvPr>
          <p:cNvSpPr/>
          <p:nvPr/>
        </p:nvSpPr>
        <p:spPr>
          <a:xfrm>
            <a:off x="9520520" y="4524550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Lounge Access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Low Fees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Customer Service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368798-C048-3385-B77A-87808759DA04}"/>
              </a:ext>
            </a:extLst>
          </p:cNvPr>
          <p:cNvSpPr txBox="1"/>
          <p:nvPr/>
        </p:nvSpPr>
        <p:spPr>
          <a:xfrm rot="16200000">
            <a:off x="3470189" y="5740526"/>
            <a:ext cx="111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Potential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8C032F-8977-9B9A-8C7D-307A617FDF23}"/>
              </a:ext>
            </a:extLst>
          </p:cNvPr>
          <p:cNvSpPr/>
          <p:nvPr/>
        </p:nvSpPr>
        <p:spPr>
          <a:xfrm>
            <a:off x="4289590" y="5560818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Card with customizable reward with different brands allowing to switch benefits from travel to shopping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871CA1-D3AF-9F64-0BEE-00DA7F2E45EB}"/>
              </a:ext>
            </a:extLst>
          </p:cNvPr>
          <p:cNvSpPr/>
          <p:nvPr/>
        </p:nvSpPr>
        <p:spPr>
          <a:xfrm>
            <a:off x="6909673" y="5561050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Card with offers on restaurants and food providing instant cashback compared to accumulated rewards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6DF85A-B55D-FDAF-99CD-E23F53CDBAFD}"/>
              </a:ext>
            </a:extLst>
          </p:cNvPr>
          <p:cNvSpPr/>
          <p:nvPr/>
        </p:nvSpPr>
        <p:spPr>
          <a:xfrm>
            <a:off x="9520520" y="5516342"/>
            <a:ext cx="2340000" cy="88263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Low fees card with potentially less rewards but better customer service and EMI benefits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6C441-F9B2-A8B6-97CA-1A2C25E0974D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ptos"/>
              </a:rPr>
              <a:t>Based on 280+ credit card users, </a:t>
            </a:r>
            <a:r>
              <a:rPr lang="en-IN" sz="2400" b="1" dirty="0">
                <a:solidFill>
                  <a:schemeClr val="bg2">
                    <a:lumMod val="50000"/>
                  </a:schemeClr>
                </a:solidFill>
                <a:latin typeface="Aptos"/>
              </a:rPr>
              <a:t>3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ptos"/>
              </a:rPr>
              <a:t>typical consumer profiles are defined and high income professionals have been identified as the key growth segment</a:t>
            </a:r>
          </a:p>
        </p:txBody>
      </p:sp>
      <p:sp>
        <p:nvSpPr>
          <p:cNvPr id="44" name="5-Point Star 63">
            <a:extLst>
              <a:ext uri="{FF2B5EF4-FFF2-40B4-BE49-F238E27FC236}">
                <a16:creationId xmlns:a16="http://schemas.microsoft.com/office/drawing/2014/main" id="{BB02F6B9-A700-7A06-4DBE-2E52224ACDBF}"/>
              </a:ext>
            </a:extLst>
          </p:cNvPr>
          <p:cNvSpPr/>
          <p:nvPr/>
        </p:nvSpPr>
        <p:spPr>
          <a:xfrm>
            <a:off x="1953411" y="207556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4" name="5-Point Star 63">
            <a:extLst>
              <a:ext uri="{FF2B5EF4-FFF2-40B4-BE49-F238E27FC236}">
                <a16:creationId xmlns:a16="http://schemas.microsoft.com/office/drawing/2014/main" id="{9E5A688F-1F89-76BB-23E5-A15DDD0ACE4C}"/>
              </a:ext>
            </a:extLst>
          </p:cNvPr>
          <p:cNvSpPr/>
          <p:nvPr/>
        </p:nvSpPr>
        <p:spPr>
          <a:xfrm>
            <a:off x="2142088" y="207556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" name="5-Point Star 63">
            <a:extLst>
              <a:ext uri="{FF2B5EF4-FFF2-40B4-BE49-F238E27FC236}">
                <a16:creationId xmlns:a16="http://schemas.microsoft.com/office/drawing/2014/main" id="{72D7165D-5D58-9300-35BB-92DFCA1EE5B0}"/>
              </a:ext>
            </a:extLst>
          </p:cNvPr>
          <p:cNvSpPr/>
          <p:nvPr/>
        </p:nvSpPr>
        <p:spPr>
          <a:xfrm>
            <a:off x="2330649" y="207556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A1EDF-40BE-2662-B8DF-B3EF381F6353}"/>
              </a:ext>
            </a:extLst>
          </p:cNvPr>
          <p:cNvSpPr txBox="1"/>
          <p:nvPr/>
        </p:nvSpPr>
        <p:spPr>
          <a:xfrm>
            <a:off x="339638" y="2071942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Rewards</a:t>
            </a:r>
            <a:endParaRPr lang="en-IN" sz="1200">
              <a:latin typeface="Aptos" panose="020B0004020202020204" pitchFamily="34" charset="0"/>
            </a:endParaRPr>
          </a:p>
        </p:txBody>
      </p:sp>
      <p:sp>
        <p:nvSpPr>
          <p:cNvPr id="8" name="5-Point Star 63">
            <a:extLst>
              <a:ext uri="{FF2B5EF4-FFF2-40B4-BE49-F238E27FC236}">
                <a16:creationId xmlns:a16="http://schemas.microsoft.com/office/drawing/2014/main" id="{8B6E2BFB-51BA-F73C-1EEB-C55B2565C3CD}"/>
              </a:ext>
            </a:extLst>
          </p:cNvPr>
          <p:cNvSpPr/>
          <p:nvPr/>
        </p:nvSpPr>
        <p:spPr>
          <a:xfrm>
            <a:off x="2506292" y="207976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663DD-2259-24B9-8E22-83D594A9D5F4}"/>
              </a:ext>
            </a:extLst>
          </p:cNvPr>
          <p:cNvSpPr/>
          <p:nvPr/>
        </p:nvSpPr>
        <p:spPr>
          <a:xfrm>
            <a:off x="2527115" y="2001127"/>
            <a:ext cx="331505" cy="409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B927D-47C4-5E18-BE59-0CA206B1F436}"/>
              </a:ext>
            </a:extLst>
          </p:cNvPr>
          <p:cNvSpPr txBox="1"/>
          <p:nvPr/>
        </p:nvSpPr>
        <p:spPr>
          <a:xfrm>
            <a:off x="339638" y="2484121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Fees</a:t>
            </a:r>
            <a:endParaRPr lang="en-IN" sz="120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7BE36-D2E5-062E-018A-F9A8BD9A06E5}"/>
              </a:ext>
            </a:extLst>
          </p:cNvPr>
          <p:cNvSpPr txBox="1"/>
          <p:nvPr/>
        </p:nvSpPr>
        <p:spPr>
          <a:xfrm>
            <a:off x="339638" y="2873219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Brand Trust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F7496-582B-CA01-1E00-C133C65F991C}"/>
              </a:ext>
            </a:extLst>
          </p:cNvPr>
          <p:cNvSpPr txBox="1"/>
          <p:nvPr/>
        </p:nvSpPr>
        <p:spPr>
          <a:xfrm>
            <a:off x="347207" y="3277634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Lounge Access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FF1816-FD3D-35CA-D222-3FC8B2F2B6CA}"/>
              </a:ext>
            </a:extLst>
          </p:cNvPr>
          <p:cNvSpPr txBox="1"/>
          <p:nvPr/>
        </p:nvSpPr>
        <p:spPr>
          <a:xfrm>
            <a:off x="339638" y="3700337"/>
            <a:ext cx="1545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International Usage</a:t>
            </a:r>
          </a:p>
        </p:txBody>
      </p:sp>
      <p:sp>
        <p:nvSpPr>
          <p:cNvPr id="14" name="5-Point Star 63">
            <a:extLst>
              <a:ext uri="{FF2B5EF4-FFF2-40B4-BE49-F238E27FC236}">
                <a16:creationId xmlns:a16="http://schemas.microsoft.com/office/drawing/2014/main" id="{02EFCCB0-A699-FC0F-47F7-C7017E7F7400}"/>
              </a:ext>
            </a:extLst>
          </p:cNvPr>
          <p:cNvSpPr/>
          <p:nvPr/>
        </p:nvSpPr>
        <p:spPr>
          <a:xfrm>
            <a:off x="1956550" y="248690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5" name="5-Point Star 63">
            <a:extLst>
              <a:ext uri="{FF2B5EF4-FFF2-40B4-BE49-F238E27FC236}">
                <a16:creationId xmlns:a16="http://schemas.microsoft.com/office/drawing/2014/main" id="{577E0DBB-F3F1-7616-07D6-F4C35CAB3BE8}"/>
              </a:ext>
            </a:extLst>
          </p:cNvPr>
          <p:cNvSpPr/>
          <p:nvPr/>
        </p:nvSpPr>
        <p:spPr>
          <a:xfrm>
            <a:off x="2145227" y="248690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6" name="5-Point Star 63">
            <a:extLst>
              <a:ext uri="{FF2B5EF4-FFF2-40B4-BE49-F238E27FC236}">
                <a16:creationId xmlns:a16="http://schemas.microsoft.com/office/drawing/2014/main" id="{2E04F60F-4F4E-0A2D-EFEE-C1B513F24E6F}"/>
              </a:ext>
            </a:extLst>
          </p:cNvPr>
          <p:cNvSpPr/>
          <p:nvPr/>
        </p:nvSpPr>
        <p:spPr>
          <a:xfrm>
            <a:off x="2333788" y="248690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7" name="5-Point Star 63">
            <a:extLst>
              <a:ext uri="{FF2B5EF4-FFF2-40B4-BE49-F238E27FC236}">
                <a16:creationId xmlns:a16="http://schemas.microsoft.com/office/drawing/2014/main" id="{650FBF26-2DF3-1C07-3E7C-F7F24593B24A}"/>
              </a:ext>
            </a:extLst>
          </p:cNvPr>
          <p:cNvSpPr/>
          <p:nvPr/>
        </p:nvSpPr>
        <p:spPr>
          <a:xfrm>
            <a:off x="1953411" y="288987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18" name="5-Point Star 63">
            <a:extLst>
              <a:ext uri="{FF2B5EF4-FFF2-40B4-BE49-F238E27FC236}">
                <a16:creationId xmlns:a16="http://schemas.microsoft.com/office/drawing/2014/main" id="{7DF14958-390B-A4CF-DAAC-E9256165C79F}"/>
              </a:ext>
            </a:extLst>
          </p:cNvPr>
          <p:cNvSpPr/>
          <p:nvPr/>
        </p:nvSpPr>
        <p:spPr>
          <a:xfrm>
            <a:off x="2142088" y="288987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7" name="5-Point Star 63">
            <a:extLst>
              <a:ext uri="{FF2B5EF4-FFF2-40B4-BE49-F238E27FC236}">
                <a16:creationId xmlns:a16="http://schemas.microsoft.com/office/drawing/2014/main" id="{AAA8F3AF-CE1D-97BB-B4D2-AE9476F9BD01}"/>
              </a:ext>
            </a:extLst>
          </p:cNvPr>
          <p:cNvSpPr/>
          <p:nvPr/>
        </p:nvSpPr>
        <p:spPr>
          <a:xfrm>
            <a:off x="2330649" y="288987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8" name="5-Point Star 63">
            <a:extLst>
              <a:ext uri="{FF2B5EF4-FFF2-40B4-BE49-F238E27FC236}">
                <a16:creationId xmlns:a16="http://schemas.microsoft.com/office/drawing/2014/main" id="{62A75FEF-E209-75D7-F74E-4BAD9358A1AE}"/>
              </a:ext>
            </a:extLst>
          </p:cNvPr>
          <p:cNvSpPr/>
          <p:nvPr/>
        </p:nvSpPr>
        <p:spPr>
          <a:xfrm>
            <a:off x="1961484" y="3294292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59" name="5-Point Star 63">
            <a:extLst>
              <a:ext uri="{FF2B5EF4-FFF2-40B4-BE49-F238E27FC236}">
                <a16:creationId xmlns:a16="http://schemas.microsoft.com/office/drawing/2014/main" id="{431DFD08-E116-8291-FA29-787D1285BBDF}"/>
              </a:ext>
            </a:extLst>
          </p:cNvPr>
          <p:cNvSpPr/>
          <p:nvPr/>
        </p:nvSpPr>
        <p:spPr>
          <a:xfrm>
            <a:off x="2150161" y="3294292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0" name="5-Point Star 63">
            <a:extLst>
              <a:ext uri="{FF2B5EF4-FFF2-40B4-BE49-F238E27FC236}">
                <a16:creationId xmlns:a16="http://schemas.microsoft.com/office/drawing/2014/main" id="{6655D836-B2B2-15D6-E649-88DFA3C2A5EB}"/>
              </a:ext>
            </a:extLst>
          </p:cNvPr>
          <p:cNvSpPr/>
          <p:nvPr/>
        </p:nvSpPr>
        <p:spPr>
          <a:xfrm>
            <a:off x="2338722" y="3294292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1" name="5-Point Star 63">
            <a:extLst>
              <a:ext uri="{FF2B5EF4-FFF2-40B4-BE49-F238E27FC236}">
                <a16:creationId xmlns:a16="http://schemas.microsoft.com/office/drawing/2014/main" id="{12FB14B4-5265-EFA8-2CBE-A1ACA8CB9F85}"/>
              </a:ext>
            </a:extLst>
          </p:cNvPr>
          <p:cNvSpPr/>
          <p:nvPr/>
        </p:nvSpPr>
        <p:spPr>
          <a:xfrm>
            <a:off x="2531778" y="329864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2" name="5-Point Star 63">
            <a:extLst>
              <a:ext uri="{FF2B5EF4-FFF2-40B4-BE49-F238E27FC236}">
                <a16:creationId xmlns:a16="http://schemas.microsoft.com/office/drawing/2014/main" id="{FFAB8732-9D76-67E7-EC15-CBFD1AB3ED3C}"/>
              </a:ext>
            </a:extLst>
          </p:cNvPr>
          <p:cNvSpPr/>
          <p:nvPr/>
        </p:nvSpPr>
        <p:spPr>
          <a:xfrm>
            <a:off x="1958547" y="372095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63" name="5-Point Star 63">
            <a:extLst>
              <a:ext uri="{FF2B5EF4-FFF2-40B4-BE49-F238E27FC236}">
                <a16:creationId xmlns:a16="http://schemas.microsoft.com/office/drawing/2014/main" id="{5DD16239-300D-FB56-92BA-62E5FDB9BC74}"/>
              </a:ext>
            </a:extLst>
          </p:cNvPr>
          <p:cNvSpPr/>
          <p:nvPr/>
        </p:nvSpPr>
        <p:spPr>
          <a:xfrm>
            <a:off x="2147224" y="372095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48" name="5-Point Star 63">
            <a:extLst>
              <a:ext uri="{FF2B5EF4-FFF2-40B4-BE49-F238E27FC236}">
                <a16:creationId xmlns:a16="http://schemas.microsoft.com/office/drawing/2014/main" id="{C5DB9CE0-E863-21CE-5C1D-869949A8B462}"/>
              </a:ext>
            </a:extLst>
          </p:cNvPr>
          <p:cNvSpPr/>
          <p:nvPr/>
        </p:nvSpPr>
        <p:spPr>
          <a:xfrm>
            <a:off x="2335785" y="3720950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52" name="TextBox 2051">
            <a:extLst>
              <a:ext uri="{FF2B5EF4-FFF2-40B4-BE49-F238E27FC236}">
                <a16:creationId xmlns:a16="http://schemas.microsoft.com/office/drawing/2014/main" id="{BA3EA85B-49B6-0CB7-C7CA-D302ED1D3B10}"/>
              </a:ext>
            </a:extLst>
          </p:cNvPr>
          <p:cNvSpPr txBox="1"/>
          <p:nvPr/>
        </p:nvSpPr>
        <p:spPr>
          <a:xfrm>
            <a:off x="339706" y="4150472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EMI Option</a:t>
            </a:r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9E6D0786-1584-178D-A33D-F6D67DCB102F}"/>
              </a:ext>
            </a:extLst>
          </p:cNvPr>
          <p:cNvSpPr txBox="1"/>
          <p:nvPr/>
        </p:nvSpPr>
        <p:spPr>
          <a:xfrm>
            <a:off x="335469" y="4591336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Fuel Waiver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DC1565BC-566F-B28F-D43C-40D237A49545}"/>
              </a:ext>
            </a:extLst>
          </p:cNvPr>
          <p:cNvSpPr txBox="1"/>
          <p:nvPr/>
        </p:nvSpPr>
        <p:spPr>
          <a:xfrm>
            <a:off x="347207" y="5030942"/>
            <a:ext cx="1262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Aptos" panose="020B0004020202020204" pitchFamily="34" charset="0"/>
              </a:rPr>
              <a:t>Co-Branded Benefits</a:t>
            </a: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6BB677F2-89E2-C015-FCB0-9F79F3A551D4}"/>
              </a:ext>
            </a:extLst>
          </p:cNvPr>
          <p:cNvSpPr txBox="1"/>
          <p:nvPr/>
        </p:nvSpPr>
        <p:spPr>
          <a:xfrm>
            <a:off x="339637" y="6052297"/>
            <a:ext cx="1382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Customer Service</a:t>
            </a:r>
          </a:p>
        </p:txBody>
      </p:sp>
      <p:sp>
        <p:nvSpPr>
          <p:cNvPr id="2057" name="TextBox 2056">
            <a:extLst>
              <a:ext uri="{FF2B5EF4-FFF2-40B4-BE49-F238E27FC236}">
                <a16:creationId xmlns:a16="http://schemas.microsoft.com/office/drawing/2014/main" id="{8710121B-6448-B7D2-DB4F-BABCB91F0FBF}"/>
              </a:ext>
            </a:extLst>
          </p:cNvPr>
          <p:cNvSpPr txBox="1"/>
          <p:nvPr/>
        </p:nvSpPr>
        <p:spPr>
          <a:xfrm>
            <a:off x="347207" y="5672775"/>
            <a:ext cx="1262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Credit Limit</a:t>
            </a:r>
          </a:p>
        </p:txBody>
      </p:sp>
      <p:sp>
        <p:nvSpPr>
          <p:cNvPr id="2061" name="5-Point Star 63">
            <a:extLst>
              <a:ext uri="{FF2B5EF4-FFF2-40B4-BE49-F238E27FC236}">
                <a16:creationId xmlns:a16="http://schemas.microsoft.com/office/drawing/2014/main" id="{4CEFCFEC-A50E-CF67-B46F-612DF5F28B1E}"/>
              </a:ext>
            </a:extLst>
          </p:cNvPr>
          <p:cNvSpPr/>
          <p:nvPr/>
        </p:nvSpPr>
        <p:spPr>
          <a:xfrm>
            <a:off x="1957877" y="4185847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2" name="5-Point Star 63">
            <a:extLst>
              <a:ext uri="{FF2B5EF4-FFF2-40B4-BE49-F238E27FC236}">
                <a16:creationId xmlns:a16="http://schemas.microsoft.com/office/drawing/2014/main" id="{BB6A66F9-B95A-AD28-72A0-E5BA276F0426}"/>
              </a:ext>
            </a:extLst>
          </p:cNvPr>
          <p:cNvSpPr/>
          <p:nvPr/>
        </p:nvSpPr>
        <p:spPr>
          <a:xfrm>
            <a:off x="2140312" y="4185959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2F65EBA-58B9-CC3D-E204-36ADD0506302}"/>
              </a:ext>
            </a:extLst>
          </p:cNvPr>
          <p:cNvSpPr/>
          <p:nvPr/>
        </p:nvSpPr>
        <p:spPr>
          <a:xfrm>
            <a:off x="2240937" y="4200198"/>
            <a:ext cx="202277" cy="211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64" name="5-Point Star 63">
            <a:extLst>
              <a:ext uri="{FF2B5EF4-FFF2-40B4-BE49-F238E27FC236}">
                <a16:creationId xmlns:a16="http://schemas.microsoft.com/office/drawing/2014/main" id="{FD12338B-9296-3F61-62D3-69B7E18D2E57}"/>
              </a:ext>
            </a:extLst>
          </p:cNvPr>
          <p:cNvSpPr/>
          <p:nvPr/>
        </p:nvSpPr>
        <p:spPr>
          <a:xfrm>
            <a:off x="1945338" y="5101926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5" name="5-Point Star 63">
            <a:extLst>
              <a:ext uri="{FF2B5EF4-FFF2-40B4-BE49-F238E27FC236}">
                <a16:creationId xmlns:a16="http://schemas.microsoft.com/office/drawing/2014/main" id="{DA5BF0BE-A47C-FF79-411D-FE5DD5CF059C}"/>
              </a:ext>
            </a:extLst>
          </p:cNvPr>
          <p:cNvSpPr/>
          <p:nvPr/>
        </p:nvSpPr>
        <p:spPr>
          <a:xfrm>
            <a:off x="2134015" y="5101926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6" name="5-Point Star 63">
            <a:extLst>
              <a:ext uri="{FF2B5EF4-FFF2-40B4-BE49-F238E27FC236}">
                <a16:creationId xmlns:a16="http://schemas.microsoft.com/office/drawing/2014/main" id="{E8948F09-192E-AF9D-C5D3-10B3CE01A9EA}"/>
              </a:ext>
            </a:extLst>
          </p:cNvPr>
          <p:cNvSpPr/>
          <p:nvPr/>
        </p:nvSpPr>
        <p:spPr>
          <a:xfrm>
            <a:off x="2322576" y="5101926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7" name="5-Point Star 63">
            <a:extLst>
              <a:ext uri="{FF2B5EF4-FFF2-40B4-BE49-F238E27FC236}">
                <a16:creationId xmlns:a16="http://schemas.microsoft.com/office/drawing/2014/main" id="{953BA6CD-E023-78D7-7939-4E93A89B6C21}"/>
              </a:ext>
            </a:extLst>
          </p:cNvPr>
          <p:cNvSpPr/>
          <p:nvPr/>
        </p:nvSpPr>
        <p:spPr>
          <a:xfrm>
            <a:off x="1956550" y="6047075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8" name="5-Point Star 63">
            <a:extLst>
              <a:ext uri="{FF2B5EF4-FFF2-40B4-BE49-F238E27FC236}">
                <a16:creationId xmlns:a16="http://schemas.microsoft.com/office/drawing/2014/main" id="{6DB4B68E-8F03-796A-A74B-63ACE9D64230}"/>
              </a:ext>
            </a:extLst>
          </p:cNvPr>
          <p:cNvSpPr/>
          <p:nvPr/>
        </p:nvSpPr>
        <p:spPr>
          <a:xfrm>
            <a:off x="2145227" y="6047075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69" name="5-Point Star 63">
            <a:extLst>
              <a:ext uri="{FF2B5EF4-FFF2-40B4-BE49-F238E27FC236}">
                <a16:creationId xmlns:a16="http://schemas.microsoft.com/office/drawing/2014/main" id="{901B7224-8B76-80F5-BE9C-F23FFF347B9A}"/>
              </a:ext>
            </a:extLst>
          </p:cNvPr>
          <p:cNvSpPr/>
          <p:nvPr/>
        </p:nvSpPr>
        <p:spPr>
          <a:xfrm>
            <a:off x="2333788" y="6047075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0" name="5-Point Star 63">
            <a:extLst>
              <a:ext uri="{FF2B5EF4-FFF2-40B4-BE49-F238E27FC236}">
                <a16:creationId xmlns:a16="http://schemas.microsoft.com/office/drawing/2014/main" id="{D9C0E67C-4605-46E5-9B7D-9C718A91073E}"/>
              </a:ext>
            </a:extLst>
          </p:cNvPr>
          <p:cNvSpPr/>
          <p:nvPr/>
        </p:nvSpPr>
        <p:spPr>
          <a:xfrm>
            <a:off x="1952340" y="461023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1" name="5-Point Star 63">
            <a:extLst>
              <a:ext uri="{FF2B5EF4-FFF2-40B4-BE49-F238E27FC236}">
                <a16:creationId xmlns:a16="http://schemas.microsoft.com/office/drawing/2014/main" id="{6F1EC580-9CC9-E7DC-45D2-82F6BF6C3285}"/>
              </a:ext>
            </a:extLst>
          </p:cNvPr>
          <p:cNvSpPr/>
          <p:nvPr/>
        </p:nvSpPr>
        <p:spPr>
          <a:xfrm>
            <a:off x="2141017" y="461023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2" name="5-Point Star 63">
            <a:extLst>
              <a:ext uri="{FF2B5EF4-FFF2-40B4-BE49-F238E27FC236}">
                <a16:creationId xmlns:a16="http://schemas.microsoft.com/office/drawing/2014/main" id="{9F62A107-C1A2-1089-73C2-6C12CDD49162}"/>
              </a:ext>
            </a:extLst>
          </p:cNvPr>
          <p:cNvSpPr/>
          <p:nvPr/>
        </p:nvSpPr>
        <p:spPr>
          <a:xfrm>
            <a:off x="1952950" y="563369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073" name="5-Point Star 63">
            <a:extLst>
              <a:ext uri="{FF2B5EF4-FFF2-40B4-BE49-F238E27FC236}">
                <a16:creationId xmlns:a16="http://schemas.microsoft.com/office/drawing/2014/main" id="{D9765824-8282-538B-6949-6F3207681D66}"/>
              </a:ext>
            </a:extLst>
          </p:cNvPr>
          <p:cNvSpPr/>
          <p:nvPr/>
        </p:nvSpPr>
        <p:spPr>
          <a:xfrm>
            <a:off x="2141627" y="5633691"/>
            <a:ext cx="196634" cy="225936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7E8176-1934-73AE-CE36-721F5B3ED45C}"/>
              </a:ext>
            </a:extLst>
          </p:cNvPr>
          <p:cNvSpPr/>
          <p:nvPr/>
        </p:nvSpPr>
        <p:spPr>
          <a:xfrm>
            <a:off x="6709226" y="1418421"/>
            <a:ext cx="627529" cy="5827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08DAC16D-93D9-87E6-640A-113BE9D1CCE8}"/>
              </a:ext>
            </a:extLst>
          </p:cNvPr>
          <p:cNvSpPr/>
          <p:nvPr/>
        </p:nvSpPr>
        <p:spPr>
          <a:xfrm>
            <a:off x="9341665" y="1400476"/>
            <a:ext cx="627529" cy="5827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0" name="Left Bracket 2059">
            <a:extLst>
              <a:ext uri="{FF2B5EF4-FFF2-40B4-BE49-F238E27FC236}">
                <a16:creationId xmlns:a16="http://schemas.microsoft.com/office/drawing/2014/main" id="{C4B6BE27-5EE3-FD4E-6322-7CEF72C2084C}"/>
              </a:ext>
            </a:extLst>
          </p:cNvPr>
          <p:cNvSpPr/>
          <p:nvPr/>
        </p:nvSpPr>
        <p:spPr>
          <a:xfrm rot="5400000">
            <a:off x="5206415" y="72000"/>
            <a:ext cx="226700" cy="2783866"/>
          </a:xfrm>
          <a:prstGeom prst="leftBracket">
            <a:avLst/>
          </a:prstGeom>
          <a:ln>
            <a:solidFill>
              <a:srgbClr val="001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4" name="TextBox 2073">
            <a:extLst>
              <a:ext uri="{FF2B5EF4-FFF2-40B4-BE49-F238E27FC236}">
                <a16:creationId xmlns:a16="http://schemas.microsoft.com/office/drawing/2014/main" id="{D39F9D88-01A2-47F3-7A6D-CF695276668A}"/>
              </a:ext>
            </a:extLst>
          </p:cNvPr>
          <p:cNvSpPr txBox="1"/>
          <p:nvPr/>
        </p:nvSpPr>
        <p:spPr>
          <a:xfrm>
            <a:off x="4937872" y="1165244"/>
            <a:ext cx="12032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Aptos" panose="020B0004020202020204" pitchFamily="34" charset="0"/>
              </a:rPr>
              <a:t>Focus Group</a:t>
            </a:r>
          </a:p>
        </p:txBody>
      </p:sp>
      <p:pic>
        <p:nvPicPr>
          <p:cNvPr id="1032" name="Picture 8" descr="Generated image">
            <a:extLst>
              <a:ext uri="{FF2B5EF4-FFF2-40B4-BE49-F238E27FC236}">
                <a16:creationId xmlns:a16="http://schemas.microsoft.com/office/drawing/2014/main" id="{FFCBD953-128E-A398-6987-0BF208FA2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907" y="1507812"/>
            <a:ext cx="390144" cy="39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enerated image">
            <a:extLst>
              <a:ext uri="{FF2B5EF4-FFF2-40B4-BE49-F238E27FC236}">
                <a16:creationId xmlns:a16="http://schemas.microsoft.com/office/drawing/2014/main" id="{775CE4AA-C300-1EF9-C6BA-48FC09F21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808" y="1527048"/>
            <a:ext cx="366336" cy="36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5" name="Rectangle: Top Corners Rounded 2074">
            <a:extLst>
              <a:ext uri="{FF2B5EF4-FFF2-40B4-BE49-F238E27FC236}">
                <a16:creationId xmlns:a16="http://schemas.microsoft.com/office/drawing/2014/main" id="{3A19E166-2D9E-070A-AFC5-DD0238AF6DDB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2076" name="Rectangle: Top Corners Rounded 2075">
            <a:extLst>
              <a:ext uri="{FF2B5EF4-FFF2-40B4-BE49-F238E27FC236}">
                <a16:creationId xmlns:a16="http://schemas.microsoft.com/office/drawing/2014/main" id="{040EE0AF-D611-79F2-560F-D3DC5EE04444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2077" name="Rectangle: Top Corners Rounded 2076">
            <a:extLst>
              <a:ext uri="{FF2B5EF4-FFF2-40B4-BE49-F238E27FC236}">
                <a16:creationId xmlns:a16="http://schemas.microsoft.com/office/drawing/2014/main" id="{552E145E-56E8-244A-5625-894D2E33BCDE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2078" name="Arrow: Chevron 2077">
            <a:extLst>
              <a:ext uri="{FF2B5EF4-FFF2-40B4-BE49-F238E27FC236}">
                <a16:creationId xmlns:a16="http://schemas.microsoft.com/office/drawing/2014/main" id="{0CD3E805-A912-E58E-AC5B-A067AAC180D1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9" name="Rectangle: Top Corners Rounded 2078">
            <a:extLst>
              <a:ext uri="{FF2B5EF4-FFF2-40B4-BE49-F238E27FC236}">
                <a16:creationId xmlns:a16="http://schemas.microsoft.com/office/drawing/2014/main" id="{A6FA0CB7-498A-E034-AA8B-2212F8778708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2080" name="Rectangle: Top Corners Rounded 2079">
            <a:extLst>
              <a:ext uri="{FF2B5EF4-FFF2-40B4-BE49-F238E27FC236}">
                <a16:creationId xmlns:a16="http://schemas.microsoft.com/office/drawing/2014/main" id="{89B77D3E-CED9-3B96-00EE-834770EC483A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2081" name="Rectangle: Top Corners Rounded 2080">
            <a:extLst>
              <a:ext uri="{FF2B5EF4-FFF2-40B4-BE49-F238E27FC236}">
                <a16:creationId xmlns:a16="http://schemas.microsoft.com/office/drawing/2014/main" id="{9C012334-7CD5-9360-062D-07F342E6CC7F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2082" name="Arrow: Chevron 2081">
            <a:extLst>
              <a:ext uri="{FF2B5EF4-FFF2-40B4-BE49-F238E27FC236}">
                <a16:creationId xmlns:a16="http://schemas.microsoft.com/office/drawing/2014/main" id="{6526834E-0274-B4B3-992D-3D8F61126779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3" name="Arrow: Chevron 2082">
            <a:extLst>
              <a:ext uri="{FF2B5EF4-FFF2-40B4-BE49-F238E27FC236}">
                <a16:creationId xmlns:a16="http://schemas.microsoft.com/office/drawing/2014/main" id="{8EEEECA2-E15B-B16B-0443-213F356BFC50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4" name="Arrow: Chevron 2083">
            <a:extLst>
              <a:ext uri="{FF2B5EF4-FFF2-40B4-BE49-F238E27FC236}">
                <a16:creationId xmlns:a16="http://schemas.microsoft.com/office/drawing/2014/main" id="{0C85F7F4-A86B-F897-8085-48D4E76F97F7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5" name="Rectangle: Top Corners Rounded 2084">
            <a:extLst>
              <a:ext uri="{FF2B5EF4-FFF2-40B4-BE49-F238E27FC236}">
                <a16:creationId xmlns:a16="http://schemas.microsoft.com/office/drawing/2014/main" id="{9500B89F-E9A2-567B-83FD-E759A95E4B32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2086" name="Arrow: Chevron 2085">
            <a:extLst>
              <a:ext uri="{FF2B5EF4-FFF2-40B4-BE49-F238E27FC236}">
                <a16:creationId xmlns:a16="http://schemas.microsoft.com/office/drawing/2014/main" id="{A17CD0C9-B5DF-CCD2-C934-A05D2A2CA468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7" name="Arrow: Chevron 2086">
            <a:extLst>
              <a:ext uri="{FF2B5EF4-FFF2-40B4-BE49-F238E27FC236}">
                <a16:creationId xmlns:a16="http://schemas.microsoft.com/office/drawing/2014/main" id="{AFDAF56B-46FE-639E-8D54-38CE06D3025B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8" name="Arrow: Chevron 2087">
            <a:extLst>
              <a:ext uri="{FF2B5EF4-FFF2-40B4-BE49-F238E27FC236}">
                <a16:creationId xmlns:a16="http://schemas.microsoft.com/office/drawing/2014/main" id="{A9D59A8C-C2E0-6260-6AF9-20D2B817D5A5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21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6CFF7A-13AA-86D9-4698-8669404E3DBD}"/>
              </a:ext>
            </a:extLst>
          </p:cNvPr>
          <p:cNvSpPr/>
          <p:nvPr/>
        </p:nvSpPr>
        <p:spPr>
          <a:xfrm>
            <a:off x="334882" y="1202973"/>
            <a:ext cx="11632999" cy="54846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3307E-3D02-0D3D-FCAA-3E54F543B10D}"/>
              </a:ext>
            </a:extLst>
          </p:cNvPr>
          <p:cNvSpPr/>
          <p:nvPr/>
        </p:nvSpPr>
        <p:spPr>
          <a:xfrm>
            <a:off x="1476350" y="1392502"/>
            <a:ext cx="1440000" cy="302816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Researching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E68D7-0BB3-C774-11AD-0E3AB1AA96CB}"/>
              </a:ext>
            </a:extLst>
          </p:cNvPr>
          <p:cNvSpPr/>
          <p:nvPr/>
        </p:nvSpPr>
        <p:spPr>
          <a:xfrm>
            <a:off x="2917151" y="1392502"/>
            <a:ext cx="1440000" cy="302816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Comparing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D712D-8ABA-D7E1-02CE-95AF025F1993}"/>
              </a:ext>
            </a:extLst>
          </p:cNvPr>
          <p:cNvSpPr/>
          <p:nvPr/>
        </p:nvSpPr>
        <p:spPr>
          <a:xfrm>
            <a:off x="4357952" y="1392502"/>
            <a:ext cx="1440000" cy="302816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FA8F47-094B-D478-99CF-FE2D979B28D5}"/>
              </a:ext>
            </a:extLst>
          </p:cNvPr>
          <p:cNvSpPr/>
          <p:nvPr/>
        </p:nvSpPr>
        <p:spPr>
          <a:xfrm>
            <a:off x="5798753" y="1392502"/>
            <a:ext cx="1440000" cy="302816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Onboarding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7D8A-3935-1E43-C824-B49CB7181A0D}"/>
              </a:ext>
            </a:extLst>
          </p:cNvPr>
          <p:cNvSpPr/>
          <p:nvPr/>
        </p:nvSpPr>
        <p:spPr>
          <a:xfrm>
            <a:off x="7239554" y="1392502"/>
            <a:ext cx="1440000" cy="302816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Payment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A7D97-0E16-DB0D-BD52-4217FF729C92}"/>
              </a:ext>
            </a:extLst>
          </p:cNvPr>
          <p:cNvSpPr/>
          <p:nvPr/>
        </p:nvSpPr>
        <p:spPr>
          <a:xfrm>
            <a:off x="8680355" y="1392502"/>
            <a:ext cx="1440000" cy="302816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Support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1FAD92-D06E-74BE-438D-86DBCA2B5254}"/>
              </a:ext>
            </a:extLst>
          </p:cNvPr>
          <p:cNvSpPr/>
          <p:nvPr/>
        </p:nvSpPr>
        <p:spPr>
          <a:xfrm>
            <a:off x="10121156" y="1392502"/>
            <a:ext cx="1440000" cy="302816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Rewards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758F3F-73BB-994E-5A65-4490F76BF6E3}"/>
              </a:ext>
            </a:extLst>
          </p:cNvPr>
          <p:cNvSpPr/>
          <p:nvPr/>
        </p:nvSpPr>
        <p:spPr>
          <a:xfrm>
            <a:off x="1539106" y="1936375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Looking for credit card options based on needs and lifestyle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6DEAB1-7DBB-A0E7-BF2B-6C09FD7B4D60}"/>
              </a:ext>
            </a:extLst>
          </p:cNvPr>
          <p:cNvSpPr/>
          <p:nvPr/>
        </p:nvSpPr>
        <p:spPr>
          <a:xfrm>
            <a:off x="2977317" y="1936375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Shortlisting cards based on features, fees, and offers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CEFBE3-2408-A189-28A3-EFA66D0DC913}"/>
              </a:ext>
            </a:extLst>
          </p:cNvPr>
          <p:cNvSpPr/>
          <p:nvPr/>
        </p:nvSpPr>
        <p:spPr>
          <a:xfrm>
            <a:off x="5853739" y="1936375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Receiving card, activating it, setting PIN, learning app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4B983-7270-D25E-B56A-41D6AE7D8338}"/>
              </a:ext>
            </a:extLst>
          </p:cNvPr>
          <p:cNvSpPr/>
          <p:nvPr/>
        </p:nvSpPr>
        <p:spPr>
          <a:xfrm>
            <a:off x="10168373" y="1936375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Checking points, accessing rewards, redeeming offers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650A8D-9634-3498-64DB-25C2A01E67A5}"/>
              </a:ext>
            </a:extLst>
          </p:cNvPr>
          <p:cNvSpPr/>
          <p:nvPr/>
        </p:nvSpPr>
        <p:spPr>
          <a:xfrm>
            <a:off x="4415528" y="1936375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Filling out application form, KYC, uploading documents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FEC3AB-3DE0-F02F-FE55-FC6A84EE1105}"/>
              </a:ext>
            </a:extLst>
          </p:cNvPr>
          <p:cNvSpPr/>
          <p:nvPr/>
        </p:nvSpPr>
        <p:spPr>
          <a:xfrm>
            <a:off x="7291950" y="1936375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Making purchases, paying bills, viewing statements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93FB40-416A-0ECB-4D20-C4051F6A98BC}"/>
              </a:ext>
            </a:extLst>
          </p:cNvPr>
          <p:cNvSpPr/>
          <p:nvPr/>
        </p:nvSpPr>
        <p:spPr>
          <a:xfrm>
            <a:off x="8730161" y="1936375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Contacting bank for queries, blocking card, or complaints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4CEFE3-05B5-1DEB-2A61-676B1E70C12A}"/>
              </a:ext>
            </a:extLst>
          </p:cNvPr>
          <p:cNvSpPr/>
          <p:nvPr/>
        </p:nvSpPr>
        <p:spPr>
          <a:xfrm>
            <a:off x="1539106" y="4238324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Search engines, influencers, Instagram/ YouTube, Friends/Family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23ED6F-4C0E-9D81-D21D-506446CAF5BB}"/>
              </a:ext>
            </a:extLst>
          </p:cNvPr>
          <p:cNvSpPr/>
          <p:nvPr/>
        </p:nvSpPr>
        <p:spPr>
          <a:xfrm>
            <a:off x="2977317" y="4238324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Comparison websites, bank websites, YouTube reviews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5BC9BE-070E-CA69-487D-27C0951FB10F}"/>
              </a:ext>
            </a:extLst>
          </p:cNvPr>
          <p:cNvSpPr/>
          <p:nvPr/>
        </p:nvSpPr>
        <p:spPr>
          <a:xfrm>
            <a:off x="5853739" y="4238324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Mobile app, welcome kit, SMS/email instructions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DF5DFB-DBB7-1A46-DAC7-38F8732FFBDB}"/>
              </a:ext>
            </a:extLst>
          </p:cNvPr>
          <p:cNvSpPr/>
          <p:nvPr/>
        </p:nvSpPr>
        <p:spPr>
          <a:xfrm>
            <a:off x="10168373" y="4238324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Mobile app, partner websites, customer support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1F4D0B-57BC-AB2B-52EB-23F1547B42E1}"/>
              </a:ext>
            </a:extLst>
          </p:cNvPr>
          <p:cNvSpPr/>
          <p:nvPr/>
        </p:nvSpPr>
        <p:spPr>
          <a:xfrm>
            <a:off x="4415528" y="4238324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Bank apps/websites, physical branches,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telecallers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D9CCF3-51F2-DD00-8AD1-5E9A6781012F}"/>
              </a:ext>
            </a:extLst>
          </p:cNvPr>
          <p:cNvSpPr/>
          <p:nvPr/>
        </p:nvSpPr>
        <p:spPr>
          <a:xfrm>
            <a:off x="7291950" y="4238324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Mobile app, autopay, email reminders, billers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B3B55B-EE5B-6AE9-78B3-21E53B121BCF}"/>
              </a:ext>
            </a:extLst>
          </p:cNvPr>
          <p:cNvSpPr/>
          <p:nvPr/>
        </p:nvSpPr>
        <p:spPr>
          <a:xfrm>
            <a:off x="8730161" y="4238324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Call center, chatbot, mobile app, branch visit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C1594AB-7297-E3DB-A51C-5408445B0364}"/>
              </a:ext>
            </a:extLst>
          </p:cNvPr>
          <p:cNvSpPr/>
          <p:nvPr/>
        </p:nvSpPr>
        <p:spPr>
          <a:xfrm>
            <a:off x="1539106" y="5465498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Overwhelming options, lack of clarity, biased info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BA839D-1C46-78FF-8B2A-5612A647A37A}"/>
              </a:ext>
            </a:extLst>
          </p:cNvPr>
          <p:cNvSpPr/>
          <p:nvPr/>
        </p:nvSpPr>
        <p:spPr>
          <a:xfrm>
            <a:off x="2977317" y="5465498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Hidden charges, difficult comparisons, non-standard formats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DE818A-04CF-A845-4564-33751AF02E30}"/>
              </a:ext>
            </a:extLst>
          </p:cNvPr>
          <p:cNvSpPr/>
          <p:nvPr/>
        </p:nvSpPr>
        <p:spPr>
          <a:xfrm>
            <a:off x="5853739" y="5465498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Delayed delivery, confusing activation, poor onboarding UX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C72D75-3EC7-9E8A-D978-D2C19968815C}"/>
              </a:ext>
            </a:extLst>
          </p:cNvPr>
          <p:cNvSpPr/>
          <p:nvPr/>
        </p:nvSpPr>
        <p:spPr>
          <a:xfrm>
            <a:off x="10168373" y="5465498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Complicated redemption rules, limited catalog, expiration of points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CFD17C-121B-CCE1-D0A8-BCC5D8C2C917}"/>
              </a:ext>
            </a:extLst>
          </p:cNvPr>
          <p:cNvSpPr/>
          <p:nvPr/>
        </p:nvSpPr>
        <p:spPr>
          <a:xfrm>
            <a:off x="4415528" y="5465498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Complex process, KYC failures, unclear documentation needs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C84803-B9E6-0C67-E408-0B9CDED08565}"/>
              </a:ext>
            </a:extLst>
          </p:cNvPr>
          <p:cNvSpPr/>
          <p:nvPr/>
        </p:nvSpPr>
        <p:spPr>
          <a:xfrm>
            <a:off x="7291950" y="5465498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Interest charges confusion, missed due dates, UX issues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75B319-1ACD-B6A0-8B6E-1F0287B25B36}"/>
              </a:ext>
            </a:extLst>
          </p:cNvPr>
          <p:cNvSpPr/>
          <p:nvPr/>
        </p:nvSpPr>
        <p:spPr>
          <a:xfrm>
            <a:off x="8730161" y="5465498"/>
            <a:ext cx="1302706" cy="9412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Long wait times, poor issue resolution, lack of follow-up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6758F-4659-57B1-5863-EE870B32268D}"/>
              </a:ext>
            </a:extLst>
          </p:cNvPr>
          <p:cNvSpPr txBox="1"/>
          <p:nvPr/>
        </p:nvSpPr>
        <p:spPr>
          <a:xfrm rot="16200000">
            <a:off x="587171" y="2253133"/>
            <a:ext cx="73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E2A0D6-C708-9ECF-7799-2326FB5819EC}"/>
              </a:ext>
            </a:extLst>
          </p:cNvPr>
          <p:cNvSpPr txBox="1"/>
          <p:nvPr/>
        </p:nvSpPr>
        <p:spPr>
          <a:xfrm rot="16200000">
            <a:off x="340612" y="3259098"/>
            <a:ext cx="127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Satisfaction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B915C3-3C16-8D2E-4155-A386B387A78F}"/>
              </a:ext>
            </a:extLst>
          </p:cNvPr>
          <p:cNvSpPr txBox="1"/>
          <p:nvPr/>
        </p:nvSpPr>
        <p:spPr>
          <a:xfrm rot="16200000">
            <a:off x="338578" y="4467005"/>
            <a:ext cx="127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Touchpoint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185774-043F-3B82-67B1-78A8232ED5EA}"/>
              </a:ext>
            </a:extLst>
          </p:cNvPr>
          <p:cNvSpPr txBox="1"/>
          <p:nvPr/>
        </p:nvSpPr>
        <p:spPr>
          <a:xfrm rot="16200000">
            <a:off x="389779" y="5647088"/>
            <a:ext cx="1276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Painpoints</a:t>
            </a:r>
          </a:p>
        </p:txBody>
      </p:sp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08B25055-CF38-13B3-9D8F-4E0ECEC4DD6D}"/>
              </a:ext>
            </a:extLst>
          </p:cNvPr>
          <p:cNvGraphicFramePr/>
          <p:nvPr/>
        </p:nvGraphicFramePr>
        <p:xfrm>
          <a:off x="1124138" y="2906454"/>
          <a:ext cx="10735452" cy="1500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EA0AF669-B855-B594-AE0C-C68B5DA7B115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FFFF">
                    <a:lumMod val="50000"/>
                  </a:srgbClr>
                </a:solidFill>
                <a:latin typeface="Aptos" panose="020B0004020202020204" pitchFamily="34" charset="0"/>
              </a:rPr>
              <a:t>Consumer Journey indicates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there is scope to improve onboarding process and a need to make credit card research easier for consumer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262EE1D7-04B9-06BF-941C-BC07062D36A7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54" name="Rectangle: Top Corners Rounded 53">
            <a:extLst>
              <a:ext uri="{FF2B5EF4-FFF2-40B4-BE49-F238E27FC236}">
                <a16:creationId xmlns:a16="http://schemas.microsoft.com/office/drawing/2014/main" id="{1C9C1CE3-9504-371B-E586-6B2810F4D1C6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E86E2C9E-4650-E415-22F6-E4E28F0BFFE5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56" name="Arrow: Chevron 55">
            <a:extLst>
              <a:ext uri="{FF2B5EF4-FFF2-40B4-BE49-F238E27FC236}">
                <a16:creationId xmlns:a16="http://schemas.microsoft.com/office/drawing/2014/main" id="{B1BE8EBB-EB7E-5F17-9345-7E9A6548A45F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Top Corners Rounded 56">
            <a:extLst>
              <a:ext uri="{FF2B5EF4-FFF2-40B4-BE49-F238E27FC236}">
                <a16:creationId xmlns:a16="http://schemas.microsoft.com/office/drawing/2014/main" id="{C1BDD6CD-BD2A-DBB3-292E-8C696DA61A5D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58" name="Rectangle: Top Corners Rounded 57">
            <a:extLst>
              <a:ext uri="{FF2B5EF4-FFF2-40B4-BE49-F238E27FC236}">
                <a16:creationId xmlns:a16="http://schemas.microsoft.com/office/drawing/2014/main" id="{C0D67DA9-CA13-7519-723C-E684B2A10720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59" name="Rectangle: Top Corners Rounded 58">
            <a:extLst>
              <a:ext uri="{FF2B5EF4-FFF2-40B4-BE49-F238E27FC236}">
                <a16:creationId xmlns:a16="http://schemas.microsoft.com/office/drawing/2014/main" id="{4E2E6FF9-6F92-AE99-A004-2AE1898D9B34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2D053B96-9F3F-5573-893D-99A798E1EB9A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Arrow: Chevron 60">
            <a:extLst>
              <a:ext uri="{FF2B5EF4-FFF2-40B4-BE49-F238E27FC236}">
                <a16:creationId xmlns:a16="http://schemas.microsoft.com/office/drawing/2014/main" id="{457F035A-EDFF-D4C2-6B6E-28C5A99367C6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0AEEF3A0-B6E3-26F3-B2FE-68CEA452995C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: Top Corners Rounded 62">
            <a:extLst>
              <a:ext uri="{FF2B5EF4-FFF2-40B4-BE49-F238E27FC236}">
                <a16:creationId xmlns:a16="http://schemas.microsoft.com/office/drawing/2014/main" id="{589932D9-DEFF-00B1-BA9F-5794919128B0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64" name="Arrow: Chevron 63">
            <a:extLst>
              <a:ext uri="{FF2B5EF4-FFF2-40B4-BE49-F238E27FC236}">
                <a16:creationId xmlns:a16="http://schemas.microsoft.com/office/drawing/2014/main" id="{6CE4119A-4E83-3AEA-0102-54507859279E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Arrow: Chevron 64">
            <a:extLst>
              <a:ext uri="{FF2B5EF4-FFF2-40B4-BE49-F238E27FC236}">
                <a16:creationId xmlns:a16="http://schemas.microsoft.com/office/drawing/2014/main" id="{038E721B-266D-76A5-F6D6-D0F3EC4CC271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215C6269-FB71-CD47-0EA5-5EB3B9F9C532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66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8E62-5909-B1C3-57F4-C3D3B72D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65660D8-8D00-2AA0-BA61-F2527008E7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8313692"/>
              </p:ext>
            </p:extLst>
          </p:nvPr>
        </p:nvGraphicFramePr>
        <p:xfrm>
          <a:off x="339635" y="4241519"/>
          <a:ext cx="5443061" cy="2574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3A10FCA-A22E-0449-3C42-6D9B5C845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5315743"/>
              </p:ext>
            </p:extLst>
          </p:nvPr>
        </p:nvGraphicFramePr>
        <p:xfrm>
          <a:off x="6290914" y="1515776"/>
          <a:ext cx="5443062" cy="2574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A49DBF8-D916-2B82-88CF-ACF4EDF6BC9F}"/>
              </a:ext>
            </a:extLst>
          </p:cNvPr>
          <p:cNvSpPr/>
          <p:nvPr/>
        </p:nvSpPr>
        <p:spPr>
          <a:xfrm>
            <a:off x="6237516" y="1145212"/>
            <a:ext cx="5496460" cy="407141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>
                <a:solidFill>
                  <a:prstClr val="white"/>
                </a:solidFill>
                <a:latin typeface="Calibri" panose="020F0502020204030204"/>
              </a:rPr>
              <a:t>Market share by Credit Card Issuers 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2ED34C-751B-787F-1960-D632F0362762}"/>
              </a:ext>
            </a:extLst>
          </p:cNvPr>
          <p:cNvSpPr/>
          <p:nvPr/>
        </p:nvSpPr>
        <p:spPr>
          <a:xfrm>
            <a:off x="339636" y="3846594"/>
            <a:ext cx="5443062" cy="419286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Credit Cards Issued</a:t>
            </a: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F1CEB498-16BE-72EE-7ACB-FF9CBF477C8A}"/>
              </a:ext>
            </a:extLst>
          </p:cNvPr>
          <p:cNvSpPr/>
          <p:nvPr/>
        </p:nvSpPr>
        <p:spPr>
          <a:xfrm>
            <a:off x="1371600" y="4660805"/>
            <a:ext cx="2063746" cy="569563"/>
          </a:xfrm>
          <a:prstGeom prst="wedgeRectCallout">
            <a:avLst>
              <a:gd name="adj1" fmla="val 46753"/>
              <a:gd name="adj2" fmla="val 95943"/>
            </a:avLst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i="1" dirty="0">
                <a:solidFill>
                  <a:schemeClr val="tx1"/>
                </a:solidFill>
              </a:rPr>
              <a:t>Steady growth anticipated but at a conservative rate accounting for surge of UPI in India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3927D0-2A8F-4169-6430-D407A30E84EF}"/>
              </a:ext>
            </a:extLst>
          </p:cNvPr>
          <p:cNvSpPr/>
          <p:nvPr/>
        </p:nvSpPr>
        <p:spPr>
          <a:xfrm>
            <a:off x="339635" y="1609344"/>
            <a:ext cx="5443061" cy="21315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63500">
              <a:srgbClr val="00206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</a:rPr>
              <a:t>Rising Consumer Spending and E-commerce Growth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 dirty="0">
                <a:solidFill>
                  <a:schemeClr val="tx1"/>
                </a:solidFill>
                <a:latin typeface="Aptos" panose="020B0004020202020204" pitchFamily="34" charset="0"/>
              </a:rPr>
              <a:t>As disposable incomes rise, especially in emerging markets, credit card usage for online shopping and subscriptions will increase with more penetration in new segments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</a:rPr>
              <a:t>Credit Awareness and Credit Score Building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 dirty="0">
                <a:solidFill>
                  <a:schemeClr val="tx1"/>
                </a:solidFill>
                <a:latin typeface="Aptos" panose="020B0004020202020204" pitchFamily="34" charset="0"/>
              </a:rPr>
              <a:t>Growing understanding of the importance of credit scores (CIBIL, Experian) is encouraging young users to adopt credit cards</a:t>
            </a:r>
            <a:endParaRPr kumimoji="0" lang="en-IN" sz="10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N" sz="1200" dirty="0">
                <a:solidFill>
                  <a:schemeClr val="tx1"/>
                </a:solidFill>
                <a:latin typeface="Aptos" panose="020B0004020202020204" pitchFamily="34" charset="0"/>
              </a:rPr>
              <a:t>BNPL and shifting consumer mindset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i="1" dirty="0">
                <a:solidFill>
                  <a:schemeClr val="tx1"/>
                </a:solidFill>
                <a:latin typeface="Aptos" panose="020B0004020202020204" pitchFamily="34" charset="0"/>
              </a:rPr>
              <a:t>Millennials and Gen Z prefer flexible, short-term credit — credit cards with EMI options or linked BNPL services bridge this demand.</a:t>
            </a:r>
            <a:endParaRPr kumimoji="0" lang="en-IN" sz="10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FC44C4-A613-1F1C-F5D6-3FADB6FD014A}"/>
              </a:ext>
            </a:extLst>
          </p:cNvPr>
          <p:cNvSpPr/>
          <p:nvPr/>
        </p:nvSpPr>
        <p:spPr>
          <a:xfrm>
            <a:off x="339636" y="1145212"/>
            <a:ext cx="5443060" cy="407141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prstClr val="white"/>
                </a:solidFill>
                <a:latin typeface="Calibri" panose="020F0502020204030204"/>
              </a:rPr>
              <a:t>What are the major Growth Drivers for Credit Cards?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371082-8290-C805-C928-5315EEC8C558}"/>
              </a:ext>
            </a:extLst>
          </p:cNvPr>
          <p:cNvSpPr txBox="1"/>
          <p:nvPr/>
        </p:nvSpPr>
        <p:spPr>
          <a:xfrm>
            <a:off x="6433974" y="4322477"/>
            <a:ext cx="2596075" cy="36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435B83"/>
                </a:solidFill>
                <a:latin typeface="Aptos" panose="020B0004020202020204" pitchFamily="34" charset="0"/>
              </a:rPr>
              <a:t>Opportunities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E82D98-FB49-E6AC-B51F-FD79F9FB5338}"/>
              </a:ext>
            </a:extLst>
          </p:cNvPr>
          <p:cNvSpPr txBox="1"/>
          <p:nvPr/>
        </p:nvSpPr>
        <p:spPr>
          <a:xfrm>
            <a:off x="6433974" y="5647855"/>
            <a:ext cx="2596075" cy="36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435B83"/>
                </a:solidFill>
                <a:latin typeface="Aptos" panose="020B0004020202020204" pitchFamily="34" charset="0"/>
              </a:rPr>
              <a:t>Threats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248FB1-18C9-BF06-8C01-59E04D02DD32}"/>
              </a:ext>
            </a:extLst>
          </p:cNvPr>
          <p:cNvCxnSpPr/>
          <p:nvPr/>
        </p:nvCxnSpPr>
        <p:spPr>
          <a:xfrm>
            <a:off x="6547104" y="5495544"/>
            <a:ext cx="4630922" cy="0"/>
          </a:xfrm>
          <a:prstGeom prst="line">
            <a:avLst/>
          </a:prstGeom>
          <a:ln>
            <a:solidFill>
              <a:srgbClr val="435B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CF4542A-899C-8DAA-0825-B304663A3114}"/>
              </a:ext>
            </a:extLst>
          </p:cNvPr>
          <p:cNvSpPr/>
          <p:nvPr/>
        </p:nvSpPr>
        <p:spPr>
          <a:xfrm>
            <a:off x="6522866" y="4690871"/>
            <a:ext cx="5210465" cy="6217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Shift from cash to digital payment adoption 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Aptos" panose="020B0004020202020204" pitchFamily="34" charset="0"/>
              </a:rPr>
              <a:t>Increasing need of personalization and niche cards with premium offerings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EED8FA-DC15-511E-FCB4-4E40446F3748}"/>
              </a:ext>
            </a:extLst>
          </p:cNvPr>
          <p:cNvSpPr/>
          <p:nvPr/>
        </p:nvSpPr>
        <p:spPr>
          <a:xfrm>
            <a:off x="6522865" y="5995124"/>
            <a:ext cx="5210465" cy="6217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Rising competition from UPI and other BNPL products</a:t>
            </a:r>
          </a:p>
          <a:p>
            <a:pPr marL="115888" marR="0" lvl="0" indent="-1158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Aptos" panose="020B0004020202020204" pitchFamily="34" charset="0"/>
              </a:rPr>
              <a:t>Interchange Fee pressure from merchants and regulators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912B48-F70F-3480-B39C-9D55DE556056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Credit card market is still underpenetrated and will see steady growth in India but with significant risk from substitutes like UPI Payments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33D6D516-231D-2DA2-AA26-C309F72FF253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1904CB2E-F423-6C8F-E611-44192FFF9FE1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749A5A0-067B-5999-C8DF-3CAD24E8B4BC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A8BEC47A-CF9F-6D77-5DEC-014F70D1292E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F219A730-B454-C009-F45A-228BD186A7C7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EEC0CEA1-CA24-1F6B-54F1-133D212A5F27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B4F59CD5-7005-BB61-AAEC-0B6B48DC9341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E9EEE02B-DC69-A81C-8CA9-B34801B51F02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5B945569-389F-962F-BA77-BED8FC8C6B82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6BCAF9A9-1D16-A0D2-9469-F7BC7C521897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84DD1043-720E-9595-85D2-C6813052726B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154596F7-329B-D2A3-E25E-5BCACA56BE44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C067FBA3-716C-8C5C-BF16-CEA042957777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3BED9FFA-10FE-F9FA-E20C-B0D7809AB8B6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55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0785-B4A8-9315-C402-8D0C4AF1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18">
            <a:extLst>
              <a:ext uri="{FF2B5EF4-FFF2-40B4-BE49-F238E27FC236}">
                <a16:creationId xmlns:a16="http://schemas.microsoft.com/office/drawing/2014/main" id="{4B8EF492-C70C-6015-5906-F675962C4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559299"/>
              </p:ext>
            </p:extLst>
          </p:nvPr>
        </p:nvGraphicFramePr>
        <p:xfrm>
          <a:off x="599679" y="2320936"/>
          <a:ext cx="11108163" cy="791011"/>
        </p:xfrm>
        <a:graphic>
          <a:graphicData uri="http://schemas.openxmlformats.org/drawingml/2006/table">
            <a:tbl>
              <a:tblPr firstRow="1" bandRow="1"/>
              <a:tblGrid>
                <a:gridCol w="856242">
                  <a:extLst>
                    <a:ext uri="{9D8B030D-6E8A-4147-A177-3AD203B41FA5}">
                      <a16:colId xmlns:a16="http://schemas.microsoft.com/office/drawing/2014/main" val="3031300729"/>
                    </a:ext>
                  </a:extLst>
                </a:gridCol>
                <a:gridCol w="2005237">
                  <a:extLst>
                    <a:ext uri="{9D8B030D-6E8A-4147-A177-3AD203B41FA5}">
                      <a16:colId xmlns:a16="http://schemas.microsoft.com/office/drawing/2014/main" val="1023840564"/>
                    </a:ext>
                  </a:extLst>
                </a:gridCol>
                <a:gridCol w="2082814">
                  <a:extLst>
                    <a:ext uri="{9D8B030D-6E8A-4147-A177-3AD203B41FA5}">
                      <a16:colId xmlns:a16="http://schemas.microsoft.com/office/drawing/2014/main" val="399874311"/>
                    </a:ext>
                  </a:extLst>
                </a:gridCol>
                <a:gridCol w="2295343">
                  <a:extLst>
                    <a:ext uri="{9D8B030D-6E8A-4147-A177-3AD203B41FA5}">
                      <a16:colId xmlns:a16="http://schemas.microsoft.com/office/drawing/2014/main" val="1591646591"/>
                    </a:ext>
                  </a:extLst>
                </a:gridCol>
                <a:gridCol w="1883399">
                  <a:extLst>
                    <a:ext uri="{9D8B030D-6E8A-4147-A177-3AD203B41FA5}">
                      <a16:colId xmlns:a16="http://schemas.microsoft.com/office/drawing/2014/main" val="1319340216"/>
                    </a:ext>
                  </a:extLst>
                </a:gridCol>
                <a:gridCol w="1985128">
                  <a:extLst>
                    <a:ext uri="{9D8B030D-6E8A-4147-A177-3AD203B41FA5}">
                      <a16:colId xmlns:a16="http://schemas.microsoft.com/office/drawing/2014/main" val="1663573720"/>
                    </a:ext>
                  </a:extLst>
                </a:gridCol>
              </a:tblGrid>
              <a:tr h="791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IN" sz="110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Rewards</a:t>
                      </a:r>
                    </a:p>
                  </a:txBody>
                  <a:tcPr marL="45720" marR="45720" vert="vert27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538627"/>
                  </a:ext>
                </a:extLst>
              </a:tr>
            </a:tbl>
          </a:graphicData>
        </a:graphic>
      </p:graphicFrame>
      <p:graphicFrame>
        <p:nvGraphicFramePr>
          <p:cNvPr id="73" name="Table 18">
            <a:extLst>
              <a:ext uri="{FF2B5EF4-FFF2-40B4-BE49-F238E27FC236}">
                <a16:creationId xmlns:a16="http://schemas.microsoft.com/office/drawing/2014/main" id="{A77A624B-1900-8A75-D327-74FB52378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094256"/>
              </p:ext>
            </p:extLst>
          </p:nvPr>
        </p:nvGraphicFramePr>
        <p:xfrm>
          <a:off x="599679" y="3216374"/>
          <a:ext cx="11108163" cy="791011"/>
        </p:xfrm>
        <a:graphic>
          <a:graphicData uri="http://schemas.openxmlformats.org/drawingml/2006/table">
            <a:tbl>
              <a:tblPr firstRow="1" bandRow="1"/>
              <a:tblGrid>
                <a:gridCol w="856242">
                  <a:extLst>
                    <a:ext uri="{9D8B030D-6E8A-4147-A177-3AD203B41FA5}">
                      <a16:colId xmlns:a16="http://schemas.microsoft.com/office/drawing/2014/main" val="3031300729"/>
                    </a:ext>
                  </a:extLst>
                </a:gridCol>
                <a:gridCol w="2005237">
                  <a:extLst>
                    <a:ext uri="{9D8B030D-6E8A-4147-A177-3AD203B41FA5}">
                      <a16:colId xmlns:a16="http://schemas.microsoft.com/office/drawing/2014/main" val="1023840564"/>
                    </a:ext>
                  </a:extLst>
                </a:gridCol>
                <a:gridCol w="2082814">
                  <a:extLst>
                    <a:ext uri="{9D8B030D-6E8A-4147-A177-3AD203B41FA5}">
                      <a16:colId xmlns:a16="http://schemas.microsoft.com/office/drawing/2014/main" val="399874311"/>
                    </a:ext>
                  </a:extLst>
                </a:gridCol>
                <a:gridCol w="2295343">
                  <a:extLst>
                    <a:ext uri="{9D8B030D-6E8A-4147-A177-3AD203B41FA5}">
                      <a16:colId xmlns:a16="http://schemas.microsoft.com/office/drawing/2014/main" val="1591646591"/>
                    </a:ext>
                  </a:extLst>
                </a:gridCol>
                <a:gridCol w="1883399">
                  <a:extLst>
                    <a:ext uri="{9D8B030D-6E8A-4147-A177-3AD203B41FA5}">
                      <a16:colId xmlns:a16="http://schemas.microsoft.com/office/drawing/2014/main" val="1319340216"/>
                    </a:ext>
                  </a:extLst>
                </a:gridCol>
                <a:gridCol w="1985128">
                  <a:extLst>
                    <a:ext uri="{9D8B030D-6E8A-4147-A177-3AD203B41FA5}">
                      <a16:colId xmlns:a16="http://schemas.microsoft.com/office/drawing/2014/main" val="1663573720"/>
                    </a:ext>
                  </a:extLst>
                </a:gridCol>
              </a:tblGrid>
              <a:tr h="791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IN" sz="110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Acceptance</a:t>
                      </a:r>
                    </a:p>
                  </a:txBody>
                  <a:tcPr marL="45720" marR="45720" vert="vert27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538627"/>
                  </a:ext>
                </a:extLst>
              </a:tr>
            </a:tbl>
          </a:graphicData>
        </a:graphic>
      </p:graphicFrame>
      <p:graphicFrame>
        <p:nvGraphicFramePr>
          <p:cNvPr id="75" name="Table 18">
            <a:extLst>
              <a:ext uri="{FF2B5EF4-FFF2-40B4-BE49-F238E27FC236}">
                <a16:creationId xmlns:a16="http://schemas.microsoft.com/office/drawing/2014/main" id="{01FE7548-000E-EF51-B9B1-806C96442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28251"/>
              </p:ext>
            </p:extLst>
          </p:nvPr>
        </p:nvGraphicFramePr>
        <p:xfrm>
          <a:off x="599679" y="4111812"/>
          <a:ext cx="11108163" cy="791011"/>
        </p:xfrm>
        <a:graphic>
          <a:graphicData uri="http://schemas.openxmlformats.org/drawingml/2006/table">
            <a:tbl>
              <a:tblPr firstRow="1" bandRow="1"/>
              <a:tblGrid>
                <a:gridCol w="856242">
                  <a:extLst>
                    <a:ext uri="{9D8B030D-6E8A-4147-A177-3AD203B41FA5}">
                      <a16:colId xmlns:a16="http://schemas.microsoft.com/office/drawing/2014/main" val="3031300729"/>
                    </a:ext>
                  </a:extLst>
                </a:gridCol>
                <a:gridCol w="2005237">
                  <a:extLst>
                    <a:ext uri="{9D8B030D-6E8A-4147-A177-3AD203B41FA5}">
                      <a16:colId xmlns:a16="http://schemas.microsoft.com/office/drawing/2014/main" val="1023840564"/>
                    </a:ext>
                  </a:extLst>
                </a:gridCol>
                <a:gridCol w="2082814">
                  <a:extLst>
                    <a:ext uri="{9D8B030D-6E8A-4147-A177-3AD203B41FA5}">
                      <a16:colId xmlns:a16="http://schemas.microsoft.com/office/drawing/2014/main" val="399874311"/>
                    </a:ext>
                  </a:extLst>
                </a:gridCol>
                <a:gridCol w="2295343">
                  <a:extLst>
                    <a:ext uri="{9D8B030D-6E8A-4147-A177-3AD203B41FA5}">
                      <a16:colId xmlns:a16="http://schemas.microsoft.com/office/drawing/2014/main" val="1591646591"/>
                    </a:ext>
                  </a:extLst>
                </a:gridCol>
                <a:gridCol w="1883399">
                  <a:extLst>
                    <a:ext uri="{9D8B030D-6E8A-4147-A177-3AD203B41FA5}">
                      <a16:colId xmlns:a16="http://schemas.microsoft.com/office/drawing/2014/main" val="1319340216"/>
                    </a:ext>
                  </a:extLst>
                </a:gridCol>
                <a:gridCol w="1985128">
                  <a:extLst>
                    <a:ext uri="{9D8B030D-6E8A-4147-A177-3AD203B41FA5}">
                      <a16:colId xmlns:a16="http://schemas.microsoft.com/office/drawing/2014/main" val="1663573720"/>
                    </a:ext>
                  </a:extLst>
                </a:gridCol>
              </a:tblGrid>
              <a:tr h="791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IN" sz="110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Annual Fees</a:t>
                      </a:r>
                    </a:p>
                  </a:txBody>
                  <a:tcPr marL="45720" marR="45720" vert="vert27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538627"/>
                  </a:ext>
                </a:extLst>
              </a:tr>
            </a:tbl>
          </a:graphicData>
        </a:graphic>
      </p:graphicFrame>
      <p:graphicFrame>
        <p:nvGraphicFramePr>
          <p:cNvPr id="76" name="Table 18">
            <a:extLst>
              <a:ext uri="{FF2B5EF4-FFF2-40B4-BE49-F238E27FC236}">
                <a16:creationId xmlns:a16="http://schemas.microsoft.com/office/drawing/2014/main" id="{55ADBD91-4A11-DBE2-D07D-34B69ACC7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220074"/>
              </p:ext>
            </p:extLst>
          </p:nvPr>
        </p:nvGraphicFramePr>
        <p:xfrm>
          <a:off x="599678" y="5007250"/>
          <a:ext cx="11108163" cy="791011"/>
        </p:xfrm>
        <a:graphic>
          <a:graphicData uri="http://schemas.openxmlformats.org/drawingml/2006/table">
            <a:tbl>
              <a:tblPr firstRow="1" bandRow="1"/>
              <a:tblGrid>
                <a:gridCol w="856242">
                  <a:extLst>
                    <a:ext uri="{9D8B030D-6E8A-4147-A177-3AD203B41FA5}">
                      <a16:colId xmlns:a16="http://schemas.microsoft.com/office/drawing/2014/main" val="3031300729"/>
                    </a:ext>
                  </a:extLst>
                </a:gridCol>
                <a:gridCol w="2005237">
                  <a:extLst>
                    <a:ext uri="{9D8B030D-6E8A-4147-A177-3AD203B41FA5}">
                      <a16:colId xmlns:a16="http://schemas.microsoft.com/office/drawing/2014/main" val="1023840564"/>
                    </a:ext>
                  </a:extLst>
                </a:gridCol>
                <a:gridCol w="2082814">
                  <a:extLst>
                    <a:ext uri="{9D8B030D-6E8A-4147-A177-3AD203B41FA5}">
                      <a16:colId xmlns:a16="http://schemas.microsoft.com/office/drawing/2014/main" val="399874311"/>
                    </a:ext>
                  </a:extLst>
                </a:gridCol>
                <a:gridCol w="2295343">
                  <a:extLst>
                    <a:ext uri="{9D8B030D-6E8A-4147-A177-3AD203B41FA5}">
                      <a16:colId xmlns:a16="http://schemas.microsoft.com/office/drawing/2014/main" val="1591646591"/>
                    </a:ext>
                  </a:extLst>
                </a:gridCol>
                <a:gridCol w="1883399">
                  <a:extLst>
                    <a:ext uri="{9D8B030D-6E8A-4147-A177-3AD203B41FA5}">
                      <a16:colId xmlns:a16="http://schemas.microsoft.com/office/drawing/2014/main" val="1319340216"/>
                    </a:ext>
                  </a:extLst>
                </a:gridCol>
                <a:gridCol w="1985128">
                  <a:extLst>
                    <a:ext uri="{9D8B030D-6E8A-4147-A177-3AD203B41FA5}">
                      <a16:colId xmlns:a16="http://schemas.microsoft.com/office/drawing/2014/main" val="1663573720"/>
                    </a:ext>
                  </a:extLst>
                </a:gridCol>
              </a:tblGrid>
              <a:tr h="791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IN" sz="110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Travel Benefits</a:t>
                      </a:r>
                    </a:p>
                  </a:txBody>
                  <a:tcPr marL="45720" marR="45720" vert="vert27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538627"/>
                  </a:ext>
                </a:extLst>
              </a:tr>
            </a:tbl>
          </a:graphicData>
        </a:graphic>
      </p:graphicFrame>
      <p:graphicFrame>
        <p:nvGraphicFramePr>
          <p:cNvPr id="77" name="Table 18">
            <a:extLst>
              <a:ext uri="{FF2B5EF4-FFF2-40B4-BE49-F238E27FC236}">
                <a16:creationId xmlns:a16="http://schemas.microsoft.com/office/drawing/2014/main" id="{54F09A10-4527-27BB-539F-8699EF41D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08963"/>
              </p:ext>
            </p:extLst>
          </p:nvPr>
        </p:nvGraphicFramePr>
        <p:xfrm>
          <a:off x="599678" y="5902688"/>
          <a:ext cx="11108163" cy="791011"/>
        </p:xfrm>
        <a:graphic>
          <a:graphicData uri="http://schemas.openxmlformats.org/drawingml/2006/table">
            <a:tbl>
              <a:tblPr firstRow="1" bandRow="1"/>
              <a:tblGrid>
                <a:gridCol w="856242">
                  <a:extLst>
                    <a:ext uri="{9D8B030D-6E8A-4147-A177-3AD203B41FA5}">
                      <a16:colId xmlns:a16="http://schemas.microsoft.com/office/drawing/2014/main" val="3031300729"/>
                    </a:ext>
                  </a:extLst>
                </a:gridCol>
                <a:gridCol w="2005237">
                  <a:extLst>
                    <a:ext uri="{9D8B030D-6E8A-4147-A177-3AD203B41FA5}">
                      <a16:colId xmlns:a16="http://schemas.microsoft.com/office/drawing/2014/main" val="1023840564"/>
                    </a:ext>
                  </a:extLst>
                </a:gridCol>
                <a:gridCol w="2082814">
                  <a:extLst>
                    <a:ext uri="{9D8B030D-6E8A-4147-A177-3AD203B41FA5}">
                      <a16:colId xmlns:a16="http://schemas.microsoft.com/office/drawing/2014/main" val="399874311"/>
                    </a:ext>
                  </a:extLst>
                </a:gridCol>
                <a:gridCol w="2295343">
                  <a:extLst>
                    <a:ext uri="{9D8B030D-6E8A-4147-A177-3AD203B41FA5}">
                      <a16:colId xmlns:a16="http://schemas.microsoft.com/office/drawing/2014/main" val="1591646591"/>
                    </a:ext>
                  </a:extLst>
                </a:gridCol>
                <a:gridCol w="1883399">
                  <a:extLst>
                    <a:ext uri="{9D8B030D-6E8A-4147-A177-3AD203B41FA5}">
                      <a16:colId xmlns:a16="http://schemas.microsoft.com/office/drawing/2014/main" val="1319340216"/>
                    </a:ext>
                  </a:extLst>
                </a:gridCol>
                <a:gridCol w="1985128">
                  <a:extLst>
                    <a:ext uri="{9D8B030D-6E8A-4147-A177-3AD203B41FA5}">
                      <a16:colId xmlns:a16="http://schemas.microsoft.com/office/drawing/2014/main" val="1663573720"/>
                    </a:ext>
                  </a:extLst>
                </a:gridCol>
              </a:tblGrid>
              <a:tr h="7910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IN" sz="110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Foreign Benefits</a:t>
                      </a:r>
                    </a:p>
                  </a:txBody>
                  <a:tcPr marL="45720" marR="45720" vert="vert27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IN" sz="1100" b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538627"/>
                  </a:ext>
                </a:extLst>
              </a:tr>
            </a:tbl>
          </a:graphicData>
        </a:graphic>
      </p:graphicFrame>
      <p:grpSp>
        <p:nvGrpSpPr>
          <p:cNvPr id="94" name="Group 93">
            <a:extLst>
              <a:ext uri="{FF2B5EF4-FFF2-40B4-BE49-F238E27FC236}">
                <a16:creationId xmlns:a16="http://schemas.microsoft.com/office/drawing/2014/main" id="{6338540E-0039-A7AA-371A-0AFE34058C18}"/>
              </a:ext>
            </a:extLst>
          </p:cNvPr>
          <p:cNvGrpSpPr/>
          <p:nvPr/>
        </p:nvGrpSpPr>
        <p:grpSpPr>
          <a:xfrm>
            <a:off x="1974796" y="2372979"/>
            <a:ext cx="1246949" cy="354419"/>
            <a:chOff x="1947087" y="2337880"/>
            <a:chExt cx="1246949" cy="354419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A54F259E-6FA8-FDAF-AE07-EEC4DAB6AC7B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8A03167-BF1A-BAED-638D-7EA5812A40C2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D3F75CE3-AB09-FD3F-5FB8-4E669F89EB01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97B617F-A7F9-1B43-D0A1-E1A8320AAE21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A69EB1D-01C8-9189-36D7-A229FF172AB4}"/>
              </a:ext>
            </a:extLst>
          </p:cNvPr>
          <p:cNvSpPr txBox="1"/>
          <p:nvPr/>
        </p:nvSpPr>
        <p:spPr>
          <a:xfrm>
            <a:off x="1919379" y="2037771"/>
            <a:ext cx="1017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HDFC Diners</a:t>
            </a:r>
            <a:endParaRPr lang="en-IN" sz="1000" b="1">
              <a:latin typeface="Aptos" panose="020B00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9B4933-3D56-A833-766F-59E9D9C33A8B}"/>
              </a:ext>
            </a:extLst>
          </p:cNvPr>
          <p:cNvSpPr txBox="1"/>
          <p:nvPr/>
        </p:nvSpPr>
        <p:spPr>
          <a:xfrm>
            <a:off x="3648364" y="2037770"/>
            <a:ext cx="2088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American Express Platina</a:t>
            </a:r>
            <a:endParaRPr lang="en-IN" sz="1000" b="1">
              <a:latin typeface="Aptos" panose="020B00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00B9C2-B7C4-04E3-5436-5A6CBF30DBD6}"/>
              </a:ext>
            </a:extLst>
          </p:cNvPr>
          <p:cNvSpPr txBox="1"/>
          <p:nvPr/>
        </p:nvSpPr>
        <p:spPr>
          <a:xfrm>
            <a:off x="6217259" y="2063171"/>
            <a:ext cx="2088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ICICI Emerald</a:t>
            </a:r>
            <a:endParaRPr lang="en-IN" sz="1000" b="1">
              <a:latin typeface="Aptos" panose="020B00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8573A2D-D2A2-4808-7F39-9872931031F3}"/>
              </a:ext>
            </a:extLst>
          </p:cNvPr>
          <p:cNvSpPr txBox="1"/>
          <p:nvPr/>
        </p:nvSpPr>
        <p:spPr>
          <a:xfrm>
            <a:off x="8145149" y="2065477"/>
            <a:ext cx="2088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Axis Bank Burgundy</a:t>
            </a:r>
            <a:endParaRPr lang="en-IN" sz="1000" b="1">
              <a:latin typeface="Aptos" panose="020B00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8A2F28A-08CF-FF40-9D34-2796C9120691}"/>
              </a:ext>
            </a:extLst>
          </p:cNvPr>
          <p:cNvSpPr txBox="1"/>
          <p:nvPr/>
        </p:nvSpPr>
        <p:spPr>
          <a:xfrm>
            <a:off x="10475666" y="1907395"/>
            <a:ext cx="2088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latin typeface="Aptos" panose="020B0004020202020204" pitchFamily="34" charset="0"/>
              </a:rPr>
              <a:t>Yes Private </a:t>
            </a:r>
            <a:endParaRPr lang="en-IN" sz="1000" b="1">
              <a:latin typeface="Aptos" panose="020B0004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8C8033-3ECC-430E-38E4-804DCD697B2F}"/>
              </a:ext>
            </a:extLst>
          </p:cNvPr>
          <p:cNvSpPr txBox="1"/>
          <p:nvPr/>
        </p:nvSpPr>
        <p:spPr>
          <a:xfrm>
            <a:off x="1440029" y="2776394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Great rewards on travel &amp; dining</a:t>
            </a:r>
          </a:p>
        </p:txBody>
      </p:sp>
      <p:pic>
        <p:nvPicPr>
          <p:cNvPr id="1026" name="Picture 2" descr="Black Card: Apply for Diners Club Black Credit Card | HDFC Bank">
            <a:extLst>
              <a:ext uri="{FF2B5EF4-FFF2-40B4-BE49-F238E27FC236}">
                <a16:creationId xmlns:a16="http://schemas.microsoft.com/office/drawing/2014/main" id="{6B5EE989-5DA1-026F-8E79-8A91DCAE7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04" y="1222647"/>
            <a:ext cx="1272452" cy="80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Platinum Card® by American Express - Explore Elevated Benefits">
            <a:extLst>
              <a:ext uri="{FF2B5EF4-FFF2-40B4-BE49-F238E27FC236}">
                <a16:creationId xmlns:a16="http://schemas.microsoft.com/office/drawing/2014/main" id="{06C07E04-89B8-C6D5-3797-887B96DF1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620" y="1186834"/>
            <a:ext cx="1335011" cy="84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ICI Bank Emeralde Private Metal Credit Card Review 2025">
            <a:extLst>
              <a:ext uri="{FF2B5EF4-FFF2-40B4-BE49-F238E27FC236}">
                <a16:creationId xmlns:a16="http://schemas.microsoft.com/office/drawing/2014/main" id="{091DB57A-CEBE-D277-B86B-4EC7560D2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595" y="1272846"/>
            <a:ext cx="1247651" cy="79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BF558B3-ED73-2E0D-F105-353317B80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858" y="1123946"/>
            <a:ext cx="1753152" cy="11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Yes Private Prime CreditCard">
            <a:extLst>
              <a:ext uri="{FF2B5EF4-FFF2-40B4-BE49-F238E27FC236}">
                <a16:creationId xmlns:a16="http://schemas.microsoft.com/office/drawing/2014/main" id="{C4EEA17C-462C-55ED-5C33-0EE1C672E6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6" b="8081"/>
          <a:stretch/>
        </p:blipFill>
        <p:spPr bwMode="auto">
          <a:xfrm>
            <a:off x="10068671" y="1249884"/>
            <a:ext cx="1479943" cy="865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CB02079-59B4-8080-E90E-F3E30404D558}"/>
              </a:ext>
            </a:extLst>
          </p:cNvPr>
          <p:cNvGrpSpPr/>
          <p:nvPr/>
        </p:nvGrpSpPr>
        <p:grpSpPr>
          <a:xfrm>
            <a:off x="4124416" y="2374715"/>
            <a:ext cx="1246949" cy="354419"/>
            <a:chOff x="1947087" y="2337880"/>
            <a:chExt cx="1246949" cy="354419"/>
          </a:xfrm>
        </p:grpSpPr>
        <p:sp>
          <p:nvSpPr>
            <p:cNvPr id="19" name="Rectangle: Rounded Corners 95">
              <a:extLst>
                <a:ext uri="{FF2B5EF4-FFF2-40B4-BE49-F238E27FC236}">
                  <a16:creationId xmlns:a16="http://schemas.microsoft.com/office/drawing/2014/main" id="{FB20C0DF-C071-7A1B-C59A-A91575C3304C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Rounded Corners 96">
              <a:extLst>
                <a:ext uri="{FF2B5EF4-FFF2-40B4-BE49-F238E27FC236}">
                  <a16:creationId xmlns:a16="http://schemas.microsoft.com/office/drawing/2014/main" id="{3EA81933-D348-FC6B-A3B6-A5A68D9CC34B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: Rounded Corners 97">
              <a:extLst>
                <a:ext uri="{FF2B5EF4-FFF2-40B4-BE49-F238E27FC236}">
                  <a16:creationId xmlns:a16="http://schemas.microsoft.com/office/drawing/2014/main" id="{B1A3D66E-890E-1B80-4A94-2240FFFB3614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FC46FF-20A4-8AD1-B9B7-CA713B810693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B44E20-CC2E-32FC-2B8F-29F958EE64A6}"/>
              </a:ext>
            </a:extLst>
          </p:cNvPr>
          <p:cNvGrpSpPr/>
          <p:nvPr/>
        </p:nvGrpSpPr>
        <p:grpSpPr>
          <a:xfrm>
            <a:off x="6274599" y="2386144"/>
            <a:ext cx="874666" cy="355291"/>
            <a:chOff x="2462925" y="2108932"/>
            <a:chExt cx="874666" cy="355291"/>
          </a:xfrm>
        </p:grpSpPr>
        <p:sp>
          <p:nvSpPr>
            <p:cNvPr id="24" name="Rectangle: Rounded Corners 88">
              <a:extLst>
                <a:ext uri="{FF2B5EF4-FFF2-40B4-BE49-F238E27FC236}">
                  <a16:creationId xmlns:a16="http://schemas.microsoft.com/office/drawing/2014/main" id="{BBD1EC67-FDA7-F9CC-440D-5AA645D329ED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: Rounded Corners 89">
              <a:extLst>
                <a:ext uri="{FF2B5EF4-FFF2-40B4-BE49-F238E27FC236}">
                  <a16:creationId xmlns:a16="http://schemas.microsoft.com/office/drawing/2014/main" id="{E77F7F9A-FDA5-CA8A-BFCD-EFEB4F388648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: Rounded Corners 90">
              <a:extLst>
                <a:ext uri="{FF2B5EF4-FFF2-40B4-BE49-F238E27FC236}">
                  <a16:creationId xmlns:a16="http://schemas.microsoft.com/office/drawing/2014/main" id="{07D9B21A-10D2-7BEC-F5EE-74B3A6256FD9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FE977E-47F2-9479-6362-B970791C2D8C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4E2258E-BD99-B2A9-9C78-A0FDAD0C93F6}"/>
              </a:ext>
            </a:extLst>
          </p:cNvPr>
          <p:cNvGrpSpPr/>
          <p:nvPr/>
        </p:nvGrpSpPr>
        <p:grpSpPr>
          <a:xfrm>
            <a:off x="8424782" y="2383592"/>
            <a:ext cx="874666" cy="355291"/>
            <a:chOff x="2462925" y="2108932"/>
            <a:chExt cx="874666" cy="355291"/>
          </a:xfrm>
        </p:grpSpPr>
        <p:sp>
          <p:nvSpPr>
            <p:cNvPr id="29" name="Rectangle: Rounded Corners 88">
              <a:extLst>
                <a:ext uri="{FF2B5EF4-FFF2-40B4-BE49-F238E27FC236}">
                  <a16:creationId xmlns:a16="http://schemas.microsoft.com/office/drawing/2014/main" id="{63604EE3-E916-1E1C-7AC7-3EAC3FD98EA2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89">
              <a:extLst>
                <a:ext uri="{FF2B5EF4-FFF2-40B4-BE49-F238E27FC236}">
                  <a16:creationId xmlns:a16="http://schemas.microsoft.com/office/drawing/2014/main" id="{8C0D1021-8D31-53E2-548B-750CFBDD420D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90">
              <a:extLst>
                <a:ext uri="{FF2B5EF4-FFF2-40B4-BE49-F238E27FC236}">
                  <a16:creationId xmlns:a16="http://schemas.microsoft.com/office/drawing/2014/main" id="{EB9047D4-4CEA-3A2B-2975-06066D4E18CA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59F2206-3E50-12CF-C97E-8C422FF2576B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3D1BCE-D620-554D-912F-4ECF48D3AFB3}"/>
              </a:ext>
            </a:extLst>
          </p:cNvPr>
          <p:cNvGrpSpPr/>
          <p:nvPr/>
        </p:nvGrpSpPr>
        <p:grpSpPr>
          <a:xfrm>
            <a:off x="10350675" y="2372152"/>
            <a:ext cx="1246949" cy="354419"/>
            <a:chOff x="1947087" y="2337880"/>
            <a:chExt cx="1246949" cy="354419"/>
          </a:xfrm>
        </p:grpSpPr>
        <p:sp>
          <p:nvSpPr>
            <p:cNvPr id="34" name="Rectangle: Rounded Corners 95">
              <a:extLst>
                <a:ext uri="{FF2B5EF4-FFF2-40B4-BE49-F238E27FC236}">
                  <a16:creationId xmlns:a16="http://schemas.microsoft.com/office/drawing/2014/main" id="{73306C59-16B1-580A-1341-16EBB3DBB39C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: Rounded Corners 96">
              <a:extLst>
                <a:ext uri="{FF2B5EF4-FFF2-40B4-BE49-F238E27FC236}">
                  <a16:creationId xmlns:a16="http://schemas.microsoft.com/office/drawing/2014/main" id="{854194DF-CFC8-4DA6-398B-292B9EAB5D11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: Rounded Corners 97">
              <a:extLst>
                <a:ext uri="{FF2B5EF4-FFF2-40B4-BE49-F238E27FC236}">
                  <a16:creationId xmlns:a16="http://schemas.microsoft.com/office/drawing/2014/main" id="{15F27180-1401-1CA8-7F6F-346AA29AC5CB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AA7E6FF-87C7-EA72-4E53-744D85095244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B69A322-328B-6767-9E70-9991A5AAC6A0}"/>
              </a:ext>
            </a:extLst>
          </p:cNvPr>
          <p:cNvSpPr txBox="1"/>
          <p:nvPr/>
        </p:nvSpPr>
        <p:spPr>
          <a:xfrm>
            <a:off x="3655991" y="2776393"/>
            <a:ext cx="1808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Premium rewards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415398A-87C8-B1DE-F18D-9B8F27F00E77}"/>
              </a:ext>
            </a:extLst>
          </p:cNvPr>
          <p:cNvGrpSpPr/>
          <p:nvPr/>
        </p:nvGrpSpPr>
        <p:grpSpPr>
          <a:xfrm>
            <a:off x="1974796" y="3238363"/>
            <a:ext cx="1246949" cy="354419"/>
            <a:chOff x="1947087" y="2337880"/>
            <a:chExt cx="1246949" cy="354419"/>
          </a:xfrm>
        </p:grpSpPr>
        <p:sp>
          <p:nvSpPr>
            <p:cNvPr id="40" name="Rectangle: Rounded Corners 95">
              <a:extLst>
                <a:ext uri="{FF2B5EF4-FFF2-40B4-BE49-F238E27FC236}">
                  <a16:creationId xmlns:a16="http://schemas.microsoft.com/office/drawing/2014/main" id="{9D2A4904-A366-B6AD-8F07-ED57B54434A1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: Rounded Corners 96">
              <a:extLst>
                <a:ext uri="{FF2B5EF4-FFF2-40B4-BE49-F238E27FC236}">
                  <a16:creationId xmlns:a16="http://schemas.microsoft.com/office/drawing/2014/main" id="{8DA101CB-D75E-6580-CB8B-8CC87F8AD13F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: Rounded Corners 97">
              <a:extLst>
                <a:ext uri="{FF2B5EF4-FFF2-40B4-BE49-F238E27FC236}">
                  <a16:creationId xmlns:a16="http://schemas.microsoft.com/office/drawing/2014/main" id="{6803866D-4353-2B6D-2989-23E5783C852C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E3C4290-8FCE-22E0-E3E6-16F13E121E11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7855B2B-11A4-93FE-8666-9F599E317337}"/>
              </a:ext>
            </a:extLst>
          </p:cNvPr>
          <p:cNvGrpSpPr/>
          <p:nvPr/>
        </p:nvGrpSpPr>
        <p:grpSpPr>
          <a:xfrm>
            <a:off x="6274599" y="3238363"/>
            <a:ext cx="1246949" cy="354419"/>
            <a:chOff x="1947087" y="2337880"/>
            <a:chExt cx="1246949" cy="354419"/>
          </a:xfrm>
        </p:grpSpPr>
        <p:sp>
          <p:nvSpPr>
            <p:cNvPr id="45" name="Rectangle: Rounded Corners 95">
              <a:extLst>
                <a:ext uri="{FF2B5EF4-FFF2-40B4-BE49-F238E27FC236}">
                  <a16:creationId xmlns:a16="http://schemas.microsoft.com/office/drawing/2014/main" id="{9E55F143-287D-1126-C238-6F4DAEAA00E4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: Rounded Corners 96">
              <a:extLst>
                <a:ext uri="{FF2B5EF4-FFF2-40B4-BE49-F238E27FC236}">
                  <a16:creationId xmlns:a16="http://schemas.microsoft.com/office/drawing/2014/main" id="{97ED43D8-D626-8AA8-A180-EE25F68498A0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Rectangle: Rounded Corners 97">
              <a:extLst>
                <a:ext uri="{FF2B5EF4-FFF2-40B4-BE49-F238E27FC236}">
                  <a16:creationId xmlns:a16="http://schemas.microsoft.com/office/drawing/2014/main" id="{051B8AEF-7B97-3F6C-693F-D497CDC47C84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11753DC-96E1-7A5F-5129-C5DD56F13865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D28C5CA-6340-2CA7-9FE2-5E2973D1DA46}"/>
              </a:ext>
            </a:extLst>
          </p:cNvPr>
          <p:cNvGrpSpPr/>
          <p:nvPr/>
        </p:nvGrpSpPr>
        <p:grpSpPr>
          <a:xfrm>
            <a:off x="8424782" y="3238363"/>
            <a:ext cx="1246949" cy="354419"/>
            <a:chOff x="1947087" y="2337880"/>
            <a:chExt cx="1246949" cy="354419"/>
          </a:xfrm>
        </p:grpSpPr>
        <p:sp>
          <p:nvSpPr>
            <p:cNvPr id="52" name="Rectangle: Rounded Corners 95">
              <a:extLst>
                <a:ext uri="{FF2B5EF4-FFF2-40B4-BE49-F238E27FC236}">
                  <a16:creationId xmlns:a16="http://schemas.microsoft.com/office/drawing/2014/main" id="{B6858076-AB60-9CD2-D3B5-2C3E8D4E80C9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: Rounded Corners 96">
              <a:extLst>
                <a:ext uri="{FF2B5EF4-FFF2-40B4-BE49-F238E27FC236}">
                  <a16:creationId xmlns:a16="http://schemas.microsoft.com/office/drawing/2014/main" id="{1B102644-BDC1-6E8B-D6E8-9CF0557E0D32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: Rounded Corners 97">
              <a:extLst>
                <a:ext uri="{FF2B5EF4-FFF2-40B4-BE49-F238E27FC236}">
                  <a16:creationId xmlns:a16="http://schemas.microsoft.com/office/drawing/2014/main" id="{DFCCF2CC-3AA6-9CF0-8D9E-05998DA39195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BDC477-68CD-D45A-ED97-C61DD7B9FB41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2ECE343-D74A-4E3E-5742-F1067E14BAE0}"/>
              </a:ext>
            </a:extLst>
          </p:cNvPr>
          <p:cNvGrpSpPr/>
          <p:nvPr/>
        </p:nvGrpSpPr>
        <p:grpSpPr>
          <a:xfrm>
            <a:off x="10353344" y="3250076"/>
            <a:ext cx="1246949" cy="354419"/>
            <a:chOff x="1947087" y="2337880"/>
            <a:chExt cx="1246949" cy="354419"/>
          </a:xfrm>
        </p:grpSpPr>
        <p:sp>
          <p:nvSpPr>
            <p:cNvPr id="57" name="Rectangle: Rounded Corners 95">
              <a:extLst>
                <a:ext uri="{FF2B5EF4-FFF2-40B4-BE49-F238E27FC236}">
                  <a16:creationId xmlns:a16="http://schemas.microsoft.com/office/drawing/2014/main" id="{DBF55E00-19A9-E338-32F8-773C0265C188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: Rounded Corners 96">
              <a:extLst>
                <a:ext uri="{FF2B5EF4-FFF2-40B4-BE49-F238E27FC236}">
                  <a16:creationId xmlns:a16="http://schemas.microsoft.com/office/drawing/2014/main" id="{0BB094B1-C313-13A7-260A-20A24211DA9F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: Rounded Corners 97">
              <a:extLst>
                <a:ext uri="{FF2B5EF4-FFF2-40B4-BE49-F238E27FC236}">
                  <a16:creationId xmlns:a16="http://schemas.microsoft.com/office/drawing/2014/main" id="{2C157EF2-252A-1626-DFD2-7450DBC8B3B1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525A9F8-44FC-91E4-4468-81BB401ACD35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6F91BA-0BAB-2026-E161-60F85F43C05D}"/>
              </a:ext>
            </a:extLst>
          </p:cNvPr>
          <p:cNvGrpSpPr/>
          <p:nvPr/>
        </p:nvGrpSpPr>
        <p:grpSpPr>
          <a:xfrm>
            <a:off x="4123102" y="3232487"/>
            <a:ext cx="874666" cy="355291"/>
            <a:chOff x="2462925" y="2108932"/>
            <a:chExt cx="874666" cy="355291"/>
          </a:xfrm>
        </p:grpSpPr>
        <p:sp>
          <p:nvSpPr>
            <p:cNvPr id="62" name="Rectangle: Rounded Corners 88">
              <a:extLst>
                <a:ext uri="{FF2B5EF4-FFF2-40B4-BE49-F238E27FC236}">
                  <a16:creationId xmlns:a16="http://schemas.microsoft.com/office/drawing/2014/main" id="{48898BDD-C47E-D401-AA1B-B5D9280C940E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: Rounded Corners 89">
              <a:extLst>
                <a:ext uri="{FF2B5EF4-FFF2-40B4-BE49-F238E27FC236}">
                  <a16:creationId xmlns:a16="http://schemas.microsoft.com/office/drawing/2014/main" id="{0566EDF3-0241-45B5-3DD0-D653588DDDB3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: Rounded Corners 90">
              <a:extLst>
                <a:ext uri="{FF2B5EF4-FFF2-40B4-BE49-F238E27FC236}">
                  <a16:creationId xmlns:a16="http://schemas.microsoft.com/office/drawing/2014/main" id="{F3305C9B-89C8-F7E0-C1CD-4DE9F54CC09C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55E68C-ADE0-33CA-256C-AAEFE51AC2CE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08D2F82-1990-1A08-6C79-332D261684FC}"/>
              </a:ext>
            </a:extLst>
          </p:cNvPr>
          <p:cNvGrpSpPr/>
          <p:nvPr/>
        </p:nvGrpSpPr>
        <p:grpSpPr>
          <a:xfrm>
            <a:off x="1940297" y="4146145"/>
            <a:ext cx="874666" cy="355291"/>
            <a:chOff x="2462925" y="2108932"/>
            <a:chExt cx="874666" cy="355291"/>
          </a:xfrm>
        </p:grpSpPr>
        <p:sp>
          <p:nvSpPr>
            <p:cNvPr id="67" name="Rectangle: Rounded Corners 88">
              <a:extLst>
                <a:ext uri="{FF2B5EF4-FFF2-40B4-BE49-F238E27FC236}">
                  <a16:creationId xmlns:a16="http://schemas.microsoft.com/office/drawing/2014/main" id="{929EA3B3-B2B3-3AD4-437E-773FE5D13226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: Rounded Corners 89">
              <a:extLst>
                <a:ext uri="{FF2B5EF4-FFF2-40B4-BE49-F238E27FC236}">
                  <a16:creationId xmlns:a16="http://schemas.microsoft.com/office/drawing/2014/main" id="{9F803957-D58C-537E-9CC7-6101A6AA61AC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: Rounded Corners 90">
              <a:extLst>
                <a:ext uri="{FF2B5EF4-FFF2-40B4-BE49-F238E27FC236}">
                  <a16:creationId xmlns:a16="http://schemas.microsoft.com/office/drawing/2014/main" id="{3826BC0C-F143-7C73-EE30-80E87D4DA8F3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A1EF5B7-8866-226E-BEA9-AD2CF89D0812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AE96F764-D48F-BA64-2DF5-60F442C91A78}"/>
              </a:ext>
            </a:extLst>
          </p:cNvPr>
          <p:cNvSpPr txBox="1"/>
          <p:nvPr/>
        </p:nvSpPr>
        <p:spPr>
          <a:xfrm>
            <a:off x="5634735" y="2776575"/>
            <a:ext cx="2095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Decent rewards on select spends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600676-D288-8E73-A9FF-9C897780B362}"/>
              </a:ext>
            </a:extLst>
          </p:cNvPr>
          <p:cNvSpPr txBox="1"/>
          <p:nvPr/>
        </p:nvSpPr>
        <p:spPr>
          <a:xfrm>
            <a:off x="7751433" y="2776393"/>
            <a:ext cx="2095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Reward rate is average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E4CD25D-55D7-9D45-E7DC-1475688E570C}"/>
              </a:ext>
            </a:extLst>
          </p:cNvPr>
          <p:cNvSpPr txBox="1"/>
          <p:nvPr/>
        </p:nvSpPr>
        <p:spPr>
          <a:xfrm>
            <a:off x="9656010" y="2781781"/>
            <a:ext cx="2095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Strong reward program for HNIs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3FBB505-FC1F-5FE6-8FF1-768403F54A63}"/>
              </a:ext>
            </a:extLst>
          </p:cNvPr>
          <p:cNvSpPr txBox="1"/>
          <p:nvPr/>
        </p:nvSpPr>
        <p:spPr>
          <a:xfrm>
            <a:off x="1450288" y="3660028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Widely accepted globally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33776B9-3090-CD5A-61E5-69E10BAEFCCF}"/>
              </a:ext>
            </a:extLst>
          </p:cNvPr>
          <p:cNvSpPr txBox="1"/>
          <p:nvPr/>
        </p:nvSpPr>
        <p:spPr>
          <a:xfrm>
            <a:off x="3575356" y="3607275"/>
            <a:ext cx="1910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Limited acceptance </a:t>
            </a:r>
          </a:p>
          <a:p>
            <a:pPr algn="ctr"/>
            <a:r>
              <a:rPr lang="en-IN" sz="1000">
                <a:latin typeface="Aptos" panose="020B0004020202020204" pitchFamily="34" charset="0"/>
              </a:rPr>
              <a:t>outside major cities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CBF807C-4E54-4FEA-9DE5-5AAE9B5927DA}"/>
              </a:ext>
            </a:extLst>
          </p:cNvPr>
          <p:cNvSpPr txBox="1"/>
          <p:nvPr/>
        </p:nvSpPr>
        <p:spPr>
          <a:xfrm>
            <a:off x="5634735" y="3658502"/>
            <a:ext cx="2268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Mastercard/Visa network support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1176D1E-36B9-43E9-93F0-2765457AC468}"/>
              </a:ext>
            </a:extLst>
          </p:cNvPr>
          <p:cNvSpPr txBox="1"/>
          <p:nvPr/>
        </p:nvSpPr>
        <p:spPr>
          <a:xfrm>
            <a:off x="7863445" y="3599271"/>
            <a:ext cx="1976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Excellent acceptance </a:t>
            </a:r>
          </a:p>
          <a:p>
            <a:pPr algn="ctr"/>
            <a:r>
              <a:rPr lang="en-IN" sz="1000">
                <a:latin typeface="Aptos" panose="020B0004020202020204" pitchFamily="34" charset="0"/>
              </a:rPr>
              <a:t>across platforms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2247EAD-E4C1-8613-4851-F2FF2A6911DD}"/>
              </a:ext>
            </a:extLst>
          </p:cNvPr>
          <p:cNvSpPr txBox="1"/>
          <p:nvPr/>
        </p:nvSpPr>
        <p:spPr>
          <a:xfrm>
            <a:off x="9820399" y="3676215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Globally accepted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AD76FAD-066C-5E12-4184-597A36AE9BC8}"/>
              </a:ext>
            </a:extLst>
          </p:cNvPr>
          <p:cNvGrpSpPr/>
          <p:nvPr/>
        </p:nvGrpSpPr>
        <p:grpSpPr>
          <a:xfrm>
            <a:off x="4113674" y="4135610"/>
            <a:ext cx="1347077" cy="371707"/>
            <a:chOff x="8574334" y="3891847"/>
            <a:chExt cx="1259204" cy="371707"/>
          </a:xfrm>
        </p:grpSpPr>
        <p:sp>
          <p:nvSpPr>
            <p:cNvPr id="120" name="Rectangle: Rounded Corners 83">
              <a:extLst>
                <a:ext uri="{FF2B5EF4-FFF2-40B4-BE49-F238E27FC236}">
                  <a16:creationId xmlns:a16="http://schemas.microsoft.com/office/drawing/2014/main" id="{F4AC451F-C0A8-1512-24EC-ED139B8D4FE8}"/>
                </a:ext>
              </a:extLst>
            </p:cNvPr>
            <p:cNvSpPr/>
            <p:nvPr/>
          </p:nvSpPr>
          <p:spPr>
            <a:xfrm>
              <a:off x="8574334" y="4162886"/>
              <a:ext cx="268448" cy="100668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Rectangle: Rounded Corners 84">
              <a:extLst>
                <a:ext uri="{FF2B5EF4-FFF2-40B4-BE49-F238E27FC236}">
                  <a16:creationId xmlns:a16="http://schemas.microsoft.com/office/drawing/2014/main" id="{872E8876-C41A-F36D-D315-C57881F35CDB}"/>
                </a:ext>
              </a:extLst>
            </p:cNvPr>
            <p:cNvSpPr/>
            <p:nvPr/>
          </p:nvSpPr>
          <p:spPr>
            <a:xfrm>
              <a:off x="9180552" y="4162886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34DE588-1B20-2857-3828-E3890EBAF0D1}"/>
                </a:ext>
              </a:extLst>
            </p:cNvPr>
            <p:cNvSpPr txBox="1"/>
            <p:nvPr/>
          </p:nvSpPr>
          <p:spPr>
            <a:xfrm>
              <a:off x="8820523" y="3891847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Low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Rectangle: Rounded Corners 86">
              <a:extLst>
                <a:ext uri="{FF2B5EF4-FFF2-40B4-BE49-F238E27FC236}">
                  <a16:creationId xmlns:a16="http://schemas.microsoft.com/office/drawing/2014/main" id="{C0452F60-AACF-5C3F-7B96-91EAF81B9A53}"/>
                </a:ext>
              </a:extLst>
            </p:cNvPr>
            <p:cNvSpPr/>
            <p:nvPr/>
          </p:nvSpPr>
          <p:spPr>
            <a:xfrm>
              <a:off x="8877443" y="4162886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D92CCBD-46A8-DF39-905C-A36D08349064}"/>
              </a:ext>
            </a:extLst>
          </p:cNvPr>
          <p:cNvGrpSpPr/>
          <p:nvPr/>
        </p:nvGrpSpPr>
        <p:grpSpPr>
          <a:xfrm>
            <a:off x="6314488" y="4152898"/>
            <a:ext cx="1246949" cy="354419"/>
            <a:chOff x="1947087" y="2337880"/>
            <a:chExt cx="1246949" cy="354419"/>
          </a:xfrm>
        </p:grpSpPr>
        <p:sp>
          <p:nvSpPr>
            <p:cNvPr id="125" name="Rectangle: Rounded Corners 95">
              <a:extLst>
                <a:ext uri="{FF2B5EF4-FFF2-40B4-BE49-F238E27FC236}">
                  <a16:creationId xmlns:a16="http://schemas.microsoft.com/office/drawing/2014/main" id="{64F068D8-A651-7AF1-B113-5C5AB4408A15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Rectangle: Rounded Corners 96">
              <a:extLst>
                <a:ext uri="{FF2B5EF4-FFF2-40B4-BE49-F238E27FC236}">
                  <a16:creationId xmlns:a16="http://schemas.microsoft.com/office/drawing/2014/main" id="{09453840-6F4E-F9FB-44B6-92FEDCE49959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Rectangle: Rounded Corners 97">
              <a:extLst>
                <a:ext uri="{FF2B5EF4-FFF2-40B4-BE49-F238E27FC236}">
                  <a16:creationId xmlns:a16="http://schemas.microsoft.com/office/drawing/2014/main" id="{8640A415-13FC-E82E-C7F8-A850FA19D823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F3204DC9-3535-6ACB-BF14-FAE39F457FEE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656B77FF-DAC3-55C2-094E-E86DD7BC829A}"/>
              </a:ext>
            </a:extLst>
          </p:cNvPr>
          <p:cNvGrpSpPr/>
          <p:nvPr/>
        </p:nvGrpSpPr>
        <p:grpSpPr>
          <a:xfrm>
            <a:off x="8409061" y="4152898"/>
            <a:ext cx="1246949" cy="354419"/>
            <a:chOff x="1947087" y="2337880"/>
            <a:chExt cx="1246949" cy="354419"/>
          </a:xfrm>
        </p:grpSpPr>
        <p:sp>
          <p:nvSpPr>
            <p:cNvPr id="1027" name="Rectangle: Rounded Corners 95">
              <a:extLst>
                <a:ext uri="{FF2B5EF4-FFF2-40B4-BE49-F238E27FC236}">
                  <a16:creationId xmlns:a16="http://schemas.microsoft.com/office/drawing/2014/main" id="{DA0D2C56-9657-D749-59ED-690294CF059C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Rectangle: Rounded Corners 96">
              <a:extLst>
                <a:ext uri="{FF2B5EF4-FFF2-40B4-BE49-F238E27FC236}">
                  <a16:creationId xmlns:a16="http://schemas.microsoft.com/office/drawing/2014/main" id="{423FE032-5D53-A550-1DBF-E0DA4A141A10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1" name="Rectangle: Rounded Corners 97">
              <a:extLst>
                <a:ext uri="{FF2B5EF4-FFF2-40B4-BE49-F238E27FC236}">
                  <a16:creationId xmlns:a16="http://schemas.microsoft.com/office/drawing/2014/main" id="{0CEE130A-5AD5-4A4C-1DAD-4DEF8D314244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F06E4FDE-2B0A-9192-173F-744FE87D49B4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874C833B-2226-0488-C33A-F91C93AE45C5}"/>
              </a:ext>
            </a:extLst>
          </p:cNvPr>
          <p:cNvGrpSpPr/>
          <p:nvPr/>
        </p:nvGrpSpPr>
        <p:grpSpPr>
          <a:xfrm>
            <a:off x="10333117" y="4141070"/>
            <a:ext cx="1259204" cy="371707"/>
            <a:chOff x="8574334" y="3891847"/>
            <a:chExt cx="1259204" cy="371707"/>
          </a:xfrm>
        </p:grpSpPr>
        <p:sp>
          <p:nvSpPr>
            <p:cNvPr id="1037" name="Rectangle: Rounded Corners 83">
              <a:extLst>
                <a:ext uri="{FF2B5EF4-FFF2-40B4-BE49-F238E27FC236}">
                  <a16:creationId xmlns:a16="http://schemas.microsoft.com/office/drawing/2014/main" id="{74C1017A-F6FB-D622-9DE3-E6267089381A}"/>
                </a:ext>
              </a:extLst>
            </p:cNvPr>
            <p:cNvSpPr/>
            <p:nvPr/>
          </p:nvSpPr>
          <p:spPr>
            <a:xfrm>
              <a:off x="8574334" y="4162886"/>
              <a:ext cx="268448" cy="100668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8" name="Rectangle: Rounded Corners 84">
              <a:extLst>
                <a:ext uri="{FF2B5EF4-FFF2-40B4-BE49-F238E27FC236}">
                  <a16:creationId xmlns:a16="http://schemas.microsoft.com/office/drawing/2014/main" id="{385E5AB5-24B0-5679-6968-6B338E07CCE2}"/>
                </a:ext>
              </a:extLst>
            </p:cNvPr>
            <p:cNvSpPr/>
            <p:nvPr/>
          </p:nvSpPr>
          <p:spPr>
            <a:xfrm>
              <a:off x="9180552" y="4162886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98434348-252A-90B3-76B6-89D22DC4C6F9}"/>
                </a:ext>
              </a:extLst>
            </p:cNvPr>
            <p:cNvSpPr txBox="1"/>
            <p:nvPr/>
          </p:nvSpPr>
          <p:spPr>
            <a:xfrm>
              <a:off x="8820523" y="3891847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Low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040" name="Rectangle: Rounded Corners 86">
              <a:extLst>
                <a:ext uri="{FF2B5EF4-FFF2-40B4-BE49-F238E27FC236}">
                  <a16:creationId xmlns:a16="http://schemas.microsoft.com/office/drawing/2014/main" id="{76521C74-41C0-244F-129D-9E53A8C855AE}"/>
                </a:ext>
              </a:extLst>
            </p:cNvPr>
            <p:cNvSpPr/>
            <p:nvPr/>
          </p:nvSpPr>
          <p:spPr>
            <a:xfrm>
              <a:off x="8877443" y="4162886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41" name="TextBox 1040">
            <a:extLst>
              <a:ext uri="{FF2B5EF4-FFF2-40B4-BE49-F238E27FC236}">
                <a16:creationId xmlns:a16="http://schemas.microsoft.com/office/drawing/2014/main" id="{4CC6F301-EE0B-23EC-5A99-9002F71E212D}"/>
              </a:ext>
            </a:extLst>
          </p:cNvPr>
          <p:cNvSpPr txBox="1"/>
          <p:nvPr/>
        </p:nvSpPr>
        <p:spPr>
          <a:xfrm>
            <a:off x="1450288" y="4560451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₹10,000 (waived on spend)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90B97AE0-0A72-5CD6-EE2D-579CBCCD5F3D}"/>
              </a:ext>
            </a:extLst>
          </p:cNvPr>
          <p:cNvSpPr txBox="1"/>
          <p:nvPr/>
        </p:nvSpPr>
        <p:spPr>
          <a:xfrm>
            <a:off x="3561860" y="4560452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₹60,000/year, non-waivable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AB4278E6-2DF8-1BB0-85A8-18D299DF7125}"/>
              </a:ext>
            </a:extLst>
          </p:cNvPr>
          <p:cNvSpPr txBox="1"/>
          <p:nvPr/>
        </p:nvSpPr>
        <p:spPr>
          <a:xfrm>
            <a:off x="5694177" y="4563508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Nominal fees with spend waiver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55D4EF2A-426E-2574-17F1-75BF3977759A}"/>
              </a:ext>
            </a:extLst>
          </p:cNvPr>
          <p:cNvSpPr txBox="1"/>
          <p:nvPr/>
        </p:nvSpPr>
        <p:spPr>
          <a:xfrm>
            <a:off x="7843914" y="4560453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Free for Burgundy clients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5E56827B-9692-C7DE-0785-202700A6BAF8}"/>
              </a:ext>
            </a:extLst>
          </p:cNvPr>
          <p:cNvSpPr txBox="1"/>
          <p:nvPr/>
        </p:nvSpPr>
        <p:spPr>
          <a:xfrm>
            <a:off x="9510469" y="4570649"/>
            <a:ext cx="23724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Premium pricing for elite clientele</a:t>
            </a: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5A175835-7C00-BCB7-71C8-74A1D1925E6F}"/>
              </a:ext>
            </a:extLst>
          </p:cNvPr>
          <p:cNvGrpSpPr/>
          <p:nvPr/>
        </p:nvGrpSpPr>
        <p:grpSpPr>
          <a:xfrm>
            <a:off x="1919379" y="5036902"/>
            <a:ext cx="1246949" cy="354419"/>
            <a:chOff x="1947087" y="2337880"/>
            <a:chExt cx="1246949" cy="354419"/>
          </a:xfrm>
        </p:grpSpPr>
        <p:sp>
          <p:nvSpPr>
            <p:cNvPr id="1047" name="Rectangle: Rounded Corners 95">
              <a:extLst>
                <a:ext uri="{FF2B5EF4-FFF2-40B4-BE49-F238E27FC236}">
                  <a16:creationId xmlns:a16="http://schemas.microsoft.com/office/drawing/2014/main" id="{3AE90E6F-217C-B8F8-4FD9-C503491C86D1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8" name="Rectangle: Rounded Corners 96">
              <a:extLst>
                <a:ext uri="{FF2B5EF4-FFF2-40B4-BE49-F238E27FC236}">
                  <a16:creationId xmlns:a16="http://schemas.microsoft.com/office/drawing/2014/main" id="{2A3B6B26-1B71-62B0-A6C8-6BBC20DC32A0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9" name="Rectangle: Rounded Corners 97">
              <a:extLst>
                <a:ext uri="{FF2B5EF4-FFF2-40B4-BE49-F238E27FC236}">
                  <a16:creationId xmlns:a16="http://schemas.microsoft.com/office/drawing/2014/main" id="{8C5AEBBF-8552-1E90-58BC-F52691B138C4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A3C0D60C-F7C1-B543-D8B8-80A6F7BA3093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8441C993-7884-CAD3-8903-8977857C5599}"/>
              </a:ext>
            </a:extLst>
          </p:cNvPr>
          <p:cNvGrpSpPr/>
          <p:nvPr/>
        </p:nvGrpSpPr>
        <p:grpSpPr>
          <a:xfrm>
            <a:off x="4069002" y="5048336"/>
            <a:ext cx="1246949" cy="354419"/>
            <a:chOff x="1947087" y="2337880"/>
            <a:chExt cx="1246949" cy="354419"/>
          </a:xfrm>
        </p:grpSpPr>
        <p:sp>
          <p:nvSpPr>
            <p:cNvPr id="1052" name="Rectangle: Rounded Corners 95">
              <a:extLst>
                <a:ext uri="{FF2B5EF4-FFF2-40B4-BE49-F238E27FC236}">
                  <a16:creationId xmlns:a16="http://schemas.microsoft.com/office/drawing/2014/main" id="{E3A1DB04-E342-79D2-C680-27B88FAFDE98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3" name="Rectangle: Rounded Corners 96">
              <a:extLst>
                <a:ext uri="{FF2B5EF4-FFF2-40B4-BE49-F238E27FC236}">
                  <a16:creationId xmlns:a16="http://schemas.microsoft.com/office/drawing/2014/main" id="{D38D45CB-11F5-1212-75CA-46A11676CFE7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Rectangle: Rounded Corners 97">
              <a:extLst>
                <a:ext uri="{FF2B5EF4-FFF2-40B4-BE49-F238E27FC236}">
                  <a16:creationId xmlns:a16="http://schemas.microsoft.com/office/drawing/2014/main" id="{840F0DBD-7619-94E1-9106-C1767BFE0C9C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001E661B-10D9-6BD8-805B-B59EA9F269E0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9126903C-B38F-9784-929F-570E21F4F95B}"/>
              </a:ext>
            </a:extLst>
          </p:cNvPr>
          <p:cNvGrpSpPr/>
          <p:nvPr/>
        </p:nvGrpSpPr>
        <p:grpSpPr>
          <a:xfrm>
            <a:off x="6331463" y="5036795"/>
            <a:ext cx="874666" cy="355291"/>
            <a:chOff x="2462925" y="2108932"/>
            <a:chExt cx="874666" cy="355291"/>
          </a:xfrm>
        </p:grpSpPr>
        <p:sp>
          <p:nvSpPr>
            <p:cNvPr id="1057" name="Rectangle: Rounded Corners 88">
              <a:extLst>
                <a:ext uri="{FF2B5EF4-FFF2-40B4-BE49-F238E27FC236}">
                  <a16:creationId xmlns:a16="http://schemas.microsoft.com/office/drawing/2014/main" id="{38B47511-DB32-1976-7FCF-2E8244C61E51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8" name="Rectangle: Rounded Corners 89">
              <a:extLst>
                <a:ext uri="{FF2B5EF4-FFF2-40B4-BE49-F238E27FC236}">
                  <a16:creationId xmlns:a16="http://schemas.microsoft.com/office/drawing/2014/main" id="{BA74CEC1-D537-5D67-0F39-F390DA51334A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9" name="Rectangle: Rounded Corners 90">
              <a:extLst>
                <a:ext uri="{FF2B5EF4-FFF2-40B4-BE49-F238E27FC236}">
                  <a16:creationId xmlns:a16="http://schemas.microsoft.com/office/drawing/2014/main" id="{E82CD3B6-5DDE-A5EF-4A2A-9131C88F7DC4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87BEDCB5-53CC-FAC8-AC85-521F5D4E8900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E722DD5A-BC64-D63C-63DE-2E01AEC17E8C}"/>
              </a:ext>
            </a:extLst>
          </p:cNvPr>
          <p:cNvGrpSpPr/>
          <p:nvPr/>
        </p:nvGrpSpPr>
        <p:grpSpPr>
          <a:xfrm>
            <a:off x="8394823" y="5047464"/>
            <a:ext cx="874666" cy="355291"/>
            <a:chOff x="2462925" y="2108932"/>
            <a:chExt cx="874666" cy="355291"/>
          </a:xfrm>
        </p:grpSpPr>
        <p:sp>
          <p:nvSpPr>
            <p:cNvPr id="1062" name="Rectangle: Rounded Corners 88">
              <a:extLst>
                <a:ext uri="{FF2B5EF4-FFF2-40B4-BE49-F238E27FC236}">
                  <a16:creationId xmlns:a16="http://schemas.microsoft.com/office/drawing/2014/main" id="{68400AB8-B611-F04A-14A0-66CA8E28B7DF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3" name="Rectangle: Rounded Corners 89">
              <a:extLst>
                <a:ext uri="{FF2B5EF4-FFF2-40B4-BE49-F238E27FC236}">
                  <a16:creationId xmlns:a16="http://schemas.microsoft.com/office/drawing/2014/main" id="{290753CD-2FC5-0E33-4D16-B71F0F1B8AD7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4" name="Rectangle: Rounded Corners 90">
              <a:extLst>
                <a:ext uri="{FF2B5EF4-FFF2-40B4-BE49-F238E27FC236}">
                  <a16:creationId xmlns:a16="http://schemas.microsoft.com/office/drawing/2014/main" id="{9A8D4694-FE8E-DB08-2573-A6EB17567233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2E6CA310-11AC-5FD4-7681-30712B3F347F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35A05993-246C-6FFE-AB87-940554920586}"/>
              </a:ext>
            </a:extLst>
          </p:cNvPr>
          <p:cNvGrpSpPr/>
          <p:nvPr/>
        </p:nvGrpSpPr>
        <p:grpSpPr>
          <a:xfrm>
            <a:off x="10340209" y="5048336"/>
            <a:ext cx="1246949" cy="354419"/>
            <a:chOff x="1947087" y="2337880"/>
            <a:chExt cx="1246949" cy="354419"/>
          </a:xfrm>
        </p:grpSpPr>
        <p:sp>
          <p:nvSpPr>
            <p:cNvPr id="1067" name="Rectangle: Rounded Corners 95">
              <a:extLst>
                <a:ext uri="{FF2B5EF4-FFF2-40B4-BE49-F238E27FC236}">
                  <a16:creationId xmlns:a16="http://schemas.microsoft.com/office/drawing/2014/main" id="{94CBB5EA-FEC4-2EBA-104F-8EC39165C782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8" name="Rectangle: Rounded Corners 96">
              <a:extLst>
                <a:ext uri="{FF2B5EF4-FFF2-40B4-BE49-F238E27FC236}">
                  <a16:creationId xmlns:a16="http://schemas.microsoft.com/office/drawing/2014/main" id="{D0A57A7C-79DC-4646-F1D6-D714A79C6991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9" name="Rectangle: Rounded Corners 97">
              <a:extLst>
                <a:ext uri="{FF2B5EF4-FFF2-40B4-BE49-F238E27FC236}">
                  <a16:creationId xmlns:a16="http://schemas.microsoft.com/office/drawing/2014/main" id="{82DFF8F4-C309-05FB-1D20-5338BD6D6729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C2518AF7-3D2A-2AC7-D4EF-8F71D72ADB8A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BB149131-736D-FBDF-985A-ECA0D7BCB7AD}"/>
              </a:ext>
            </a:extLst>
          </p:cNvPr>
          <p:cNvGrpSpPr/>
          <p:nvPr/>
        </p:nvGrpSpPr>
        <p:grpSpPr>
          <a:xfrm>
            <a:off x="1919379" y="5942902"/>
            <a:ext cx="874666" cy="355291"/>
            <a:chOff x="2462925" y="2108932"/>
            <a:chExt cx="874666" cy="355291"/>
          </a:xfrm>
        </p:grpSpPr>
        <p:sp>
          <p:nvSpPr>
            <p:cNvPr id="1072" name="Rectangle: Rounded Corners 88">
              <a:extLst>
                <a:ext uri="{FF2B5EF4-FFF2-40B4-BE49-F238E27FC236}">
                  <a16:creationId xmlns:a16="http://schemas.microsoft.com/office/drawing/2014/main" id="{40D05D82-EB86-C8F7-CD3B-25A88049B19A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3" name="Rectangle: Rounded Corners 89">
              <a:extLst>
                <a:ext uri="{FF2B5EF4-FFF2-40B4-BE49-F238E27FC236}">
                  <a16:creationId xmlns:a16="http://schemas.microsoft.com/office/drawing/2014/main" id="{53FB7345-0264-9F9C-2158-25AE97733422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4" name="Rectangle: Rounded Corners 90">
              <a:extLst>
                <a:ext uri="{FF2B5EF4-FFF2-40B4-BE49-F238E27FC236}">
                  <a16:creationId xmlns:a16="http://schemas.microsoft.com/office/drawing/2014/main" id="{1D8394A6-9AC3-B5C4-DE82-6058E73A706B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2D8A25A5-BE6C-3595-4314-80FB6324B6A6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0156C78C-C9C0-02CE-FE13-53965BD76674}"/>
              </a:ext>
            </a:extLst>
          </p:cNvPr>
          <p:cNvGrpSpPr/>
          <p:nvPr/>
        </p:nvGrpSpPr>
        <p:grpSpPr>
          <a:xfrm>
            <a:off x="6331463" y="5942902"/>
            <a:ext cx="874666" cy="355291"/>
            <a:chOff x="2462925" y="2108932"/>
            <a:chExt cx="874666" cy="355291"/>
          </a:xfrm>
        </p:grpSpPr>
        <p:sp>
          <p:nvSpPr>
            <p:cNvPr id="1077" name="Rectangle: Rounded Corners 88">
              <a:extLst>
                <a:ext uri="{FF2B5EF4-FFF2-40B4-BE49-F238E27FC236}">
                  <a16:creationId xmlns:a16="http://schemas.microsoft.com/office/drawing/2014/main" id="{D96C4832-CC62-F082-CC2A-2403631B7DA2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8" name="Rectangle: Rounded Corners 89">
              <a:extLst>
                <a:ext uri="{FF2B5EF4-FFF2-40B4-BE49-F238E27FC236}">
                  <a16:creationId xmlns:a16="http://schemas.microsoft.com/office/drawing/2014/main" id="{651FF4E2-9301-5EF0-F897-E4D43CD55CC6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9" name="Rectangle: Rounded Corners 90">
              <a:extLst>
                <a:ext uri="{FF2B5EF4-FFF2-40B4-BE49-F238E27FC236}">
                  <a16:creationId xmlns:a16="http://schemas.microsoft.com/office/drawing/2014/main" id="{2A3513FD-05BE-78B3-E351-5B6470F9F604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0A484A7D-753F-BD69-E2A3-7C159646F5C4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F22F020D-76F5-344F-4D10-CECDA19DA440}"/>
              </a:ext>
            </a:extLst>
          </p:cNvPr>
          <p:cNvGrpSpPr/>
          <p:nvPr/>
        </p:nvGrpSpPr>
        <p:grpSpPr>
          <a:xfrm>
            <a:off x="8414354" y="5943232"/>
            <a:ext cx="874666" cy="355291"/>
            <a:chOff x="2462925" y="2108932"/>
            <a:chExt cx="874666" cy="355291"/>
          </a:xfrm>
        </p:grpSpPr>
        <p:sp>
          <p:nvSpPr>
            <p:cNvPr id="1082" name="Rectangle: Rounded Corners 88">
              <a:extLst>
                <a:ext uri="{FF2B5EF4-FFF2-40B4-BE49-F238E27FC236}">
                  <a16:creationId xmlns:a16="http://schemas.microsoft.com/office/drawing/2014/main" id="{E6E4D6D0-0007-F295-E655-919D39E1C374}"/>
                </a:ext>
              </a:extLst>
            </p:cNvPr>
            <p:cNvSpPr/>
            <p:nvPr/>
          </p:nvSpPr>
          <p:spPr>
            <a:xfrm>
              <a:off x="2462925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3" name="Rectangle: Rounded Corners 89">
              <a:extLst>
                <a:ext uri="{FF2B5EF4-FFF2-40B4-BE49-F238E27FC236}">
                  <a16:creationId xmlns:a16="http://schemas.microsoft.com/office/drawing/2014/main" id="{189187A7-CD37-0E51-C23F-6B4BD365C207}"/>
                </a:ext>
              </a:extLst>
            </p:cNvPr>
            <p:cNvSpPr/>
            <p:nvPr/>
          </p:nvSpPr>
          <p:spPr>
            <a:xfrm>
              <a:off x="2766034" y="2363555"/>
              <a:ext cx="268448" cy="100668"/>
            </a:xfrm>
            <a:prstGeom prst="round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4" name="Rectangle: Rounded Corners 90">
              <a:extLst>
                <a:ext uri="{FF2B5EF4-FFF2-40B4-BE49-F238E27FC236}">
                  <a16:creationId xmlns:a16="http://schemas.microsoft.com/office/drawing/2014/main" id="{531B9648-CCEC-C5F6-0EBC-51C78CF15274}"/>
                </a:ext>
              </a:extLst>
            </p:cNvPr>
            <p:cNvSpPr/>
            <p:nvPr/>
          </p:nvSpPr>
          <p:spPr>
            <a:xfrm>
              <a:off x="3069143" y="2363555"/>
              <a:ext cx="268448" cy="100668"/>
            </a:xfrm>
            <a:prstGeom prst="roundRect">
              <a:avLst/>
            </a:prstGeom>
            <a:noFill/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30583AC8-62A6-3C4D-1C75-4DC49BB5D928}"/>
                </a:ext>
              </a:extLst>
            </p:cNvPr>
            <p:cNvSpPr txBox="1"/>
            <p:nvPr/>
          </p:nvSpPr>
          <p:spPr>
            <a:xfrm>
              <a:off x="2562636" y="2108932"/>
              <a:ext cx="728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Medium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6D19510A-563F-AEB0-1922-AE478B78F9C5}"/>
              </a:ext>
            </a:extLst>
          </p:cNvPr>
          <p:cNvGrpSpPr/>
          <p:nvPr/>
        </p:nvGrpSpPr>
        <p:grpSpPr>
          <a:xfrm>
            <a:off x="4069002" y="5943774"/>
            <a:ext cx="1246949" cy="354419"/>
            <a:chOff x="1947087" y="2337880"/>
            <a:chExt cx="1246949" cy="354419"/>
          </a:xfrm>
        </p:grpSpPr>
        <p:sp>
          <p:nvSpPr>
            <p:cNvPr id="1087" name="Rectangle: Rounded Corners 95">
              <a:extLst>
                <a:ext uri="{FF2B5EF4-FFF2-40B4-BE49-F238E27FC236}">
                  <a16:creationId xmlns:a16="http://schemas.microsoft.com/office/drawing/2014/main" id="{291AD227-6BCF-43D8-959F-088A910F56ED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8" name="Rectangle: Rounded Corners 96">
              <a:extLst>
                <a:ext uri="{FF2B5EF4-FFF2-40B4-BE49-F238E27FC236}">
                  <a16:creationId xmlns:a16="http://schemas.microsoft.com/office/drawing/2014/main" id="{DA306B6E-72F3-8D69-4462-015F474C348C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9" name="Rectangle: Rounded Corners 97">
              <a:extLst>
                <a:ext uri="{FF2B5EF4-FFF2-40B4-BE49-F238E27FC236}">
                  <a16:creationId xmlns:a16="http://schemas.microsoft.com/office/drawing/2014/main" id="{5991E793-6E54-8EE8-97C4-F867D21805EB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ED02B73-0CFB-0501-3B70-21C27B951EB6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88F7E4B9-80F6-7209-5F4E-CD6BEE95BE39}"/>
              </a:ext>
            </a:extLst>
          </p:cNvPr>
          <p:cNvGrpSpPr/>
          <p:nvPr/>
        </p:nvGrpSpPr>
        <p:grpSpPr>
          <a:xfrm>
            <a:off x="10345373" y="5943774"/>
            <a:ext cx="1246949" cy="354419"/>
            <a:chOff x="1947087" y="2337880"/>
            <a:chExt cx="1246949" cy="354419"/>
          </a:xfrm>
        </p:grpSpPr>
        <p:sp>
          <p:nvSpPr>
            <p:cNvPr id="1092" name="Rectangle: Rounded Corners 95">
              <a:extLst>
                <a:ext uri="{FF2B5EF4-FFF2-40B4-BE49-F238E27FC236}">
                  <a16:creationId xmlns:a16="http://schemas.microsoft.com/office/drawing/2014/main" id="{1417337C-6E42-2F60-8607-4B5AFDF9C189}"/>
                </a:ext>
              </a:extLst>
            </p:cNvPr>
            <p:cNvSpPr/>
            <p:nvPr/>
          </p:nvSpPr>
          <p:spPr>
            <a:xfrm>
              <a:off x="1947087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3" name="Rectangle: Rounded Corners 96">
              <a:extLst>
                <a:ext uri="{FF2B5EF4-FFF2-40B4-BE49-F238E27FC236}">
                  <a16:creationId xmlns:a16="http://schemas.microsoft.com/office/drawing/2014/main" id="{63F9B6F8-A60E-6E4A-7584-8034BC265C51}"/>
                </a:ext>
              </a:extLst>
            </p:cNvPr>
            <p:cNvSpPr/>
            <p:nvPr/>
          </p:nvSpPr>
          <p:spPr>
            <a:xfrm>
              <a:off x="2250196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4" name="Rectangle: Rounded Corners 97">
              <a:extLst>
                <a:ext uri="{FF2B5EF4-FFF2-40B4-BE49-F238E27FC236}">
                  <a16:creationId xmlns:a16="http://schemas.microsoft.com/office/drawing/2014/main" id="{8DC42387-4CDD-6D29-A094-7022545664E8}"/>
                </a:ext>
              </a:extLst>
            </p:cNvPr>
            <p:cNvSpPr/>
            <p:nvPr/>
          </p:nvSpPr>
          <p:spPr>
            <a:xfrm>
              <a:off x="2553305" y="2592311"/>
              <a:ext cx="268448" cy="99988"/>
            </a:xfrm>
            <a:prstGeom prst="round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040E2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5" name="TextBox 1094">
              <a:extLst>
                <a:ext uri="{FF2B5EF4-FFF2-40B4-BE49-F238E27FC236}">
                  <a16:creationId xmlns:a16="http://schemas.microsoft.com/office/drawing/2014/main" id="{B5D943AE-FB9D-8566-3746-515361D6B2C5}"/>
                </a:ext>
              </a:extLst>
            </p:cNvPr>
            <p:cNvSpPr txBox="1"/>
            <p:nvPr/>
          </p:nvSpPr>
          <p:spPr>
            <a:xfrm>
              <a:off x="2181021" y="2337880"/>
              <a:ext cx="10130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37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High</a:t>
              </a:r>
              <a:endParaRPr kumimoji="0" lang="en-IN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01" name="TextBox 1100">
            <a:extLst>
              <a:ext uri="{FF2B5EF4-FFF2-40B4-BE49-F238E27FC236}">
                <a16:creationId xmlns:a16="http://schemas.microsoft.com/office/drawing/2014/main" id="{4E3FB2BD-14EF-E6A1-08DA-3E8094A78022}"/>
              </a:ext>
            </a:extLst>
          </p:cNvPr>
          <p:cNvSpPr txBox="1"/>
          <p:nvPr/>
        </p:nvSpPr>
        <p:spPr>
          <a:xfrm>
            <a:off x="1389387" y="5481143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Lounge access + concierge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DCB1A018-A14B-4B93-AEB5-14C44C37A5B1}"/>
              </a:ext>
            </a:extLst>
          </p:cNvPr>
          <p:cNvSpPr txBox="1"/>
          <p:nvPr/>
        </p:nvSpPr>
        <p:spPr>
          <a:xfrm>
            <a:off x="1389387" y="6354768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Forex markup ~2%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AF355730-9A20-13FE-3809-36ACDE8E216E}"/>
              </a:ext>
            </a:extLst>
          </p:cNvPr>
          <p:cNvSpPr txBox="1"/>
          <p:nvPr/>
        </p:nvSpPr>
        <p:spPr>
          <a:xfrm>
            <a:off x="3457807" y="5481142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Global lounges, hotel perks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99AD5F10-C1FB-8EBF-0619-6272E89FF87A}"/>
              </a:ext>
            </a:extLst>
          </p:cNvPr>
          <p:cNvSpPr txBox="1"/>
          <p:nvPr/>
        </p:nvSpPr>
        <p:spPr>
          <a:xfrm>
            <a:off x="5694176" y="5483299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Access to select lounges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E1DBFCA3-2ED8-C2F4-90A1-8428220EAFAB}"/>
              </a:ext>
            </a:extLst>
          </p:cNvPr>
          <p:cNvSpPr txBox="1"/>
          <p:nvPr/>
        </p:nvSpPr>
        <p:spPr>
          <a:xfrm>
            <a:off x="7762810" y="5483521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Decent travel support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72D2A4D0-6C60-9632-3436-BDC28C89957C}"/>
              </a:ext>
            </a:extLst>
          </p:cNvPr>
          <p:cNvSpPr txBox="1"/>
          <p:nvPr/>
        </p:nvSpPr>
        <p:spPr>
          <a:xfrm>
            <a:off x="9609072" y="5496204"/>
            <a:ext cx="22289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Access to top-tier lounges globally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372C96D5-6A8F-2FE2-C12A-59D8E4E6E29C}"/>
              </a:ext>
            </a:extLst>
          </p:cNvPr>
          <p:cNvSpPr txBox="1"/>
          <p:nvPr/>
        </p:nvSpPr>
        <p:spPr>
          <a:xfrm>
            <a:off x="3542511" y="6291268"/>
            <a:ext cx="1976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0% forex markup, strong </a:t>
            </a:r>
          </a:p>
          <a:p>
            <a:pPr algn="ctr"/>
            <a:r>
              <a:rPr lang="en-IN" sz="1000">
                <a:latin typeface="Aptos" panose="020B0004020202020204" pitchFamily="34" charset="0"/>
              </a:rPr>
              <a:t>global benefits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707DF9BF-EFB1-F89E-1703-D7AAF1A698E2}"/>
              </a:ext>
            </a:extLst>
          </p:cNvPr>
          <p:cNvSpPr txBox="1"/>
          <p:nvPr/>
        </p:nvSpPr>
        <p:spPr>
          <a:xfrm>
            <a:off x="5684763" y="6355205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2% forex, some overseas perks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3290EC49-DAC4-04F2-F4B3-E48EF8F2AEC1}"/>
              </a:ext>
            </a:extLst>
          </p:cNvPr>
          <p:cNvSpPr txBox="1"/>
          <p:nvPr/>
        </p:nvSpPr>
        <p:spPr>
          <a:xfrm>
            <a:off x="7838101" y="6355205"/>
            <a:ext cx="1976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Moderate forex charges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029F1D6-B92B-826A-208A-9B4C1B00E3CF}"/>
              </a:ext>
            </a:extLst>
          </p:cNvPr>
          <p:cNvSpPr txBox="1"/>
          <p:nvPr/>
        </p:nvSpPr>
        <p:spPr>
          <a:xfrm>
            <a:off x="9874571" y="6303515"/>
            <a:ext cx="1806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>
                <a:latin typeface="Aptos" panose="020B0004020202020204" pitchFamily="34" charset="0"/>
              </a:rPr>
              <a:t>Forex markup waived, </a:t>
            </a:r>
          </a:p>
          <a:p>
            <a:pPr algn="ctr"/>
            <a:r>
              <a:rPr lang="en-IN" sz="1000">
                <a:latin typeface="Aptos" panose="020B0004020202020204" pitchFamily="34" charset="0"/>
              </a:rPr>
              <a:t>luxury perks abroad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32C4B4-4988-80C9-F5F5-53A3877D98CA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FFFF">
                    <a:lumMod val="50000"/>
                  </a:srgbClr>
                </a:solidFill>
                <a:latin typeface="Aptos" panose="020B0004020202020204" pitchFamily="34" charset="0"/>
              </a:rPr>
              <a:t>Analyzed the premium cards in the market to benchmark and understand the best practices in the industry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4" name="Rectangle: Top Corners Rounded 73">
            <a:extLst>
              <a:ext uri="{FF2B5EF4-FFF2-40B4-BE49-F238E27FC236}">
                <a16:creationId xmlns:a16="http://schemas.microsoft.com/office/drawing/2014/main" id="{7C813274-9400-B891-B1A2-BE98238AC74A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84" name="Rectangle: Top Corners Rounded 83">
            <a:extLst>
              <a:ext uri="{FF2B5EF4-FFF2-40B4-BE49-F238E27FC236}">
                <a16:creationId xmlns:a16="http://schemas.microsoft.com/office/drawing/2014/main" id="{75D578CB-F7E6-4557-9BA1-871F2A387529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85" name="Rectangle: Top Corners Rounded 84">
            <a:extLst>
              <a:ext uri="{FF2B5EF4-FFF2-40B4-BE49-F238E27FC236}">
                <a16:creationId xmlns:a16="http://schemas.microsoft.com/office/drawing/2014/main" id="{DE23AFD1-6366-36E7-4A28-619EA2632EBF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E3FB7150-930B-A1AF-ED97-ABCB4E201DF6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: Top Corners Rounded 86">
            <a:extLst>
              <a:ext uri="{FF2B5EF4-FFF2-40B4-BE49-F238E27FC236}">
                <a16:creationId xmlns:a16="http://schemas.microsoft.com/office/drawing/2014/main" id="{1BC2EF1D-E319-722D-CCDC-67F0C4EC4806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88" name="Rectangle: Top Corners Rounded 87">
            <a:extLst>
              <a:ext uri="{FF2B5EF4-FFF2-40B4-BE49-F238E27FC236}">
                <a16:creationId xmlns:a16="http://schemas.microsoft.com/office/drawing/2014/main" id="{4CBBAD43-9CD9-0946-B742-2B95D5604AF2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89" name="Rectangle: Top Corners Rounded 88">
            <a:extLst>
              <a:ext uri="{FF2B5EF4-FFF2-40B4-BE49-F238E27FC236}">
                <a16:creationId xmlns:a16="http://schemas.microsoft.com/office/drawing/2014/main" id="{F0A001D0-B04A-9F4A-26D5-76716D8D2E7A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90" name="Arrow: Chevron 89">
            <a:extLst>
              <a:ext uri="{FF2B5EF4-FFF2-40B4-BE49-F238E27FC236}">
                <a16:creationId xmlns:a16="http://schemas.microsoft.com/office/drawing/2014/main" id="{69F59B2A-E4C8-F617-CE06-E9698F8C5B79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Arrow: Chevron 90">
            <a:extLst>
              <a:ext uri="{FF2B5EF4-FFF2-40B4-BE49-F238E27FC236}">
                <a16:creationId xmlns:a16="http://schemas.microsoft.com/office/drawing/2014/main" id="{08CF6C05-9DB0-5F6C-CA3A-90296C1001EB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Arrow: Chevron 91">
            <a:extLst>
              <a:ext uri="{FF2B5EF4-FFF2-40B4-BE49-F238E27FC236}">
                <a16:creationId xmlns:a16="http://schemas.microsoft.com/office/drawing/2014/main" id="{0E085488-9C2B-880C-A46D-404F43B5A711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Top Corners Rounded 92">
            <a:extLst>
              <a:ext uri="{FF2B5EF4-FFF2-40B4-BE49-F238E27FC236}">
                <a16:creationId xmlns:a16="http://schemas.microsoft.com/office/drawing/2014/main" id="{A6C97EA6-FFE0-63A5-0C10-C72FACF18477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95" name="Arrow: Chevron 94">
            <a:extLst>
              <a:ext uri="{FF2B5EF4-FFF2-40B4-BE49-F238E27FC236}">
                <a16:creationId xmlns:a16="http://schemas.microsoft.com/office/drawing/2014/main" id="{C8885EEE-E2E4-CF3B-BCF9-13897313ABFE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Arrow: Chevron 95">
            <a:extLst>
              <a:ext uri="{FF2B5EF4-FFF2-40B4-BE49-F238E27FC236}">
                <a16:creationId xmlns:a16="http://schemas.microsoft.com/office/drawing/2014/main" id="{2C0B4560-5193-77EC-34EB-A4076F7A6DCB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Arrow: Chevron 96">
            <a:extLst>
              <a:ext uri="{FF2B5EF4-FFF2-40B4-BE49-F238E27FC236}">
                <a16:creationId xmlns:a16="http://schemas.microsoft.com/office/drawing/2014/main" id="{4BF04A6E-B4BE-3E4E-FE1B-DDC3D711D6B5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74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54">
            <a:extLst>
              <a:ext uri="{FF2B5EF4-FFF2-40B4-BE49-F238E27FC236}">
                <a16:creationId xmlns:a16="http://schemas.microsoft.com/office/drawing/2014/main" id="{85C5F194-197C-45AE-B987-A6C5A535AB0A}"/>
              </a:ext>
            </a:extLst>
          </p:cNvPr>
          <p:cNvSpPr>
            <a:spLocks/>
          </p:cNvSpPr>
          <p:nvPr/>
        </p:nvSpPr>
        <p:spPr bwMode="auto">
          <a:xfrm>
            <a:off x="2902226" y="1495519"/>
            <a:ext cx="8571201" cy="3907902"/>
          </a:xfrm>
          <a:custGeom>
            <a:avLst/>
            <a:gdLst>
              <a:gd name="T0" fmla="*/ 0 w 1923"/>
              <a:gd name="T1" fmla="*/ 0 h 1434"/>
              <a:gd name="T2" fmla="*/ 7 w 1923"/>
              <a:gd name="T3" fmla="*/ 64 h 1434"/>
              <a:gd name="T4" fmla="*/ 10 w 1923"/>
              <a:gd name="T5" fmla="*/ 149 h 1434"/>
              <a:gd name="T6" fmla="*/ 14 w 1923"/>
              <a:gd name="T7" fmla="*/ 216 h 1434"/>
              <a:gd name="T8" fmla="*/ 17 w 1923"/>
              <a:gd name="T9" fmla="*/ 292 h 1434"/>
              <a:gd name="T10" fmla="*/ 27 w 1923"/>
              <a:gd name="T11" fmla="*/ 368 h 1434"/>
              <a:gd name="T12" fmla="*/ 40 w 1923"/>
              <a:gd name="T13" fmla="*/ 450 h 1434"/>
              <a:gd name="T14" fmla="*/ 57 w 1923"/>
              <a:gd name="T15" fmla="*/ 547 h 1434"/>
              <a:gd name="T16" fmla="*/ 83 w 1923"/>
              <a:gd name="T17" fmla="*/ 669 h 1434"/>
              <a:gd name="T18" fmla="*/ 116 w 1923"/>
              <a:gd name="T19" fmla="*/ 760 h 1434"/>
              <a:gd name="T20" fmla="*/ 156 w 1923"/>
              <a:gd name="T21" fmla="*/ 857 h 1434"/>
              <a:gd name="T22" fmla="*/ 213 w 1923"/>
              <a:gd name="T23" fmla="*/ 951 h 1434"/>
              <a:gd name="T24" fmla="*/ 272 w 1923"/>
              <a:gd name="T25" fmla="*/ 1027 h 1434"/>
              <a:gd name="T26" fmla="*/ 325 w 1923"/>
              <a:gd name="T27" fmla="*/ 1076 h 1434"/>
              <a:gd name="T28" fmla="*/ 388 w 1923"/>
              <a:gd name="T29" fmla="*/ 1131 h 1434"/>
              <a:gd name="T30" fmla="*/ 455 w 1923"/>
              <a:gd name="T31" fmla="*/ 1173 h 1434"/>
              <a:gd name="T32" fmla="*/ 527 w 1923"/>
              <a:gd name="T33" fmla="*/ 1210 h 1434"/>
              <a:gd name="T34" fmla="*/ 617 w 1923"/>
              <a:gd name="T35" fmla="*/ 1249 h 1434"/>
              <a:gd name="T36" fmla="*/ 696 w 1923"/>
              <a:gd name="T37" fmla="*/ 1273 h 1434"/>
              <a:gd name="T38" fmla="*/ 769 w 1923"/>
              <a:gd name="T39" fmla="*/ 1298 h 1434"/>
              <a:gd name="T40" fmla="*/ 849 w 1923"/>
              <a:gd name="T41" fmla="*/ 1316 h 1434"/>
              <a:gd name="T42" fmla="*/ 962 w 1923"/>
              <a:gd name="T43" fmla="*/ 1337 h 1434"/>
              <a:gd name="T44" fmla="*/ 1054 w 1923"/>
              <a:gd name="T45" fmla="*/ 1355 h 1434"/>
              <a:gd name="T46" fmla="*/ 1167 w 1923"/>
              <a:gd name="T47" fmla="*/ 1371 h 1434"/>
              <a:gd name="T48" fmla="*/ 1266 w 1923"/>
              <a:gd name="T49" fmla="*/ 1386 h 1434"/>
              <a:gd name="T50" fmla="*/ 1349 w 1923"/>
              <a:gd name="T51" fmla="*/ 1392 h 1434"/>
              <a:gd name="T52" fmla="*/ 1465 w 1923"/>
              <a:gd name="T53" fmla="*/ 1404 h 1434"/>
              <a:gd name="T54" fmla="*/ 1568 w 1923"/>
              <a:gd name="T55" fmla="*/ 1413 h 1434"/>
              <a:gd name="T56" fmla="*/ 1657 w 1923"/>
              <a:gd name="T57" fmla="*/ 1422 h 1434"/>
              <a:gd name="T58" fmla="*/ 1774 w 1923"/>
              <a:gd name="T59" fmla="*/ 1428 h 1434"/>
              <a:gd name="T60" fmla="*/ 1846 w 1923"/>
              <a:gd name="T61" fmla="*/ 1434 h 1434"/>
              <a:gd name="T62" fmla="*/ 1923 w 1923"/>
              <a:gd name="T63" fmla="*/ 1434 h 1434"/>
              <a:gd name="T64" fmla="*/ 1923 w 1923"/>
              <a:gd name="T65" fmla="*/ 3 h 1434"/>
              <a:gd name="T66" fmla="*/ 0 w 1923"/>
              <a:gd name="T67" fmla="*/ 0 h 143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923"/>
              <a:gd name="T103" fmla="*/ 0 h 1434"/>
              <a:gd name="T104" fmla="*/ 1923 w 1923"/>
              <a:gd name="T105" fmla="*/ 1434 h 143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923" h="1434">
                <a:moveTo>
                  <a:pt x="0" y="0"/>
                </a:moveTo>
                <a:lnTo>
                  <a:pt x="7" y="64"/>
                </a:lnTo>
                <a:lnTo>
                  <a:pt x="10" y="149"/>
                </a:lnTo>
                <a:lnTo>
                  <a:pt x="14" y="216"/>
                </a:lnTo>
                <a:lnTo>
                  <a:pt x="17" y="292"/>
                </a:lnTo>
                <a:lnTo>
                  <a:pt x="27" y="368"/>
                </a:lnTo>
                <a:lnTo>
                  <a:pt x="40" y="450"/>
                </a:lnTo>
                <a:lnTo>
                  <a:pt x="57" y="547"/>
                </a:lnTo>
                <a:lnTo>
                  <a:pt x="83" y="669"/>
                </a:lnTo>
                <a:lnTo>
                  <a:pt x="116" y="760"/>
                </a:lnTo>
                <a:lnTo>
                  <a:pt x="156" y="857"/>
                </a:lnTo>
                <a:lnTo>
                  <a:pt x="213" y="951"/>
                </a:lnTo>
                <a:lnTo>
                  <a:pt x="272" y="1027"/>
                </a:lnTo>
                <a:lnTo>
                  <a:pt x="325" y="1076"/>
                </a:lnTo>
                <a:lnTo>
                  <a:pt x="388" y="1131"/>
                </a:lnTo>
                <a:lnTo>
                  <a:pt x="455" y="1173"/>
                </a:lnTo>
                <a:lnTo>
                  <a:pt x="527" y="1210"/>
                </a:lnTo>
                <a:lnTo>
                  <a:pt x="617" y="1249"/>
                </a:lnTo>
                <a:lnTo>
                  <a:pt x="696" y="1273"/>
                </a:lnTo>
                <a:lnTo>
                  <a:pt x="769" y="1298"/>
                </a:lnTo>
                <a:lnTo>
                  <a:pt x="849" y="1316"/>
                </a:lnTo>
                <a:lnTo>
                  <a:pt x="962" y="1337"/>
                </a:lnTo>
                <a:lnTo>
                  <a:pt x="1054" y="1355"/>
                </a:lnTo>
                <a:lnTo>
                  <a:pt x="1167" y="1371"/>
                </a:lnTo>
                <a:lnTo>
                  <a:pt x="1266" y="1386"/>
                </a:lnTo>
                <a:lnTo>
                  <a:pt x="1349" y="1392"/>
                </a:lnTo>
                <a:lnTo>
                  <a:pt x="1465" y="1404"/>
                </a:lnTo>
                <a:lnTo>
                  <a:pt x="1568" y="1413"/>
                </a:lnTo>
                <a:lnTo>
                  <a:pt x="1657" y="1422"/>
                </a:lnTo>
                <a:lnTo>
                  <a:pt x="1774" y="1428"/>
                </a:lnTo>
                <a:lnTo>
                  <a:pt x="1846" y="1434"/>
                </a:lnTo>
                <a:lnTo>
                  <a:pt x="1923" y="1434"/>
                </a:lnTo>
                <a:lnTo>
                  <a:pt x="1923" y="3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5875" cap="rnd">
            <a:noFill/>
            <a:round/>
            <a:headEnd/>
            <a:tailEnd/>
          </a:ln>
        </p:spPr>
        <p:txBody>
          <a:bodyPr anchor="ctr"/>
          <a:lstStyle/>
          <a:p>
            <a:pPr marL="93616" marR="0" lvl="0" indent="-93616" algn="ctr" defTabSz="767181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99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sp>
        <p:nvSpPr>
          <p:cNvPr id="35" name="Freeform 54">
            <a:extLst>
              <a:ext uri="{FF2B5EF4-FFF2-40B4-BE49-F238E27FC236}">
                <a16:creationId xmlns:a16="http://schemas.microsoft.com/office/drawing/2014/main" id="{170A7040-CB49-4DA8-B4D5-54AE6233F91B}"/>
              </a:ext>
            </a:extLst>
          </p:cNvPr>
          <p:cNvSpPr>
            <a:spLocks/>
          </p:cNvSpPr>
          <p:nvPr/>
        </p:nvSpPr>
        <p:spPr bwMode="auto">
          <a:xfrm>
            <a:off x="6843254" y="1495617"/>
            <a:ext cx="4630174" cy="2361775"/>
          </a:xfrm>
          <a:custGeom>
            <a:avLst/>
            <a:gdLst>
              <a:gd name="T0" fmla="*/ 0 w 1923"/>
              <a:gd name="T1" fmla="*/ 0 h 1434"/>
              <a:gd name="T2" fmla="*/ 7 w 1923"/>
              <a:gd name="T3" fmla="*/ 64 h 1434"/>
              <a:gd name="T4" fmla="*/ 10 w 1923"/>
              <a:gd name="T5" fmla="*/ 149 h 1434"/>
              <a:gd name="T6" fmla="*/ 14 w 1923"/>
              <a:gd name="T7" fmla="*/ 216 h 1434"/>
              <a:gd name="T8" fmla="*/ 17 w 1923"/>
              <a:gd name="T9" fmla="*/ 292 h 1434"/>
              <a:gd name="T10" fmla="*/ 27 w 1923"/>
              <a:gd name="T11" fmla="*/ 368 h 1434"/>
              <a:gd name="T12" fmla="*/ 40 w 1923"/>
              <a:gd name="T13" fmla="*/ 450 h 1434"/>
              <a:gd name="T14" fmla="*/ 57 w 1923"/>
              <a:gd name="T15" fmla="*/ 547 h 1434"/>
              <a:gd name="T16" fmla="*/ 83 w 1923"/>
              <a:gd name="T17" fmla="*/ 669 h 1434"/>
              <a:gd name="T18" fmla="*/ 116 w 1923"/>
              <a:gd name="T19" fmla="*/ 760 h 1434"/>
              <a:gd name="T20" fmla="*/ 156 w 1923"/>
              <a:gd name="T21" fmla="*/ 857 h 1434"/>
              <a:gd name="T22" fmla="*/ 213 w 1923"/>
              <a:gd name="T23" fmla="*/ 951 h 1434"/>
              <a:gd name="T24" fmla="*/ 272 w 1923"/>
              <a:gd name="T25" fmla="*/ 1027 h 1434"/>
              <a:gd name="T26" fmla="*/ 325 w 1923"/>
              <a:gd name="T27" fmla="*/ 1076 h 1434"/>
              <a:gd name="T28" fmla="*/ 388 w 1923"/>
              <a:gd name="T29" fmla="*/ 1131 h 1434"/>
              <a:gd name="T30" fmla="*/ 455 w 1923"/>
              <a:gd name="T31" fmla="*/ 1173 h 1434"/>
              <a:gd name="T32" fmla="*/ 527 w 1923"/>
              <a:gd name="T33" fmla="*/ 1210 h 1434"/>
              <a:gd name="T34" fmla="*/ 617 w 1923"/>
              <a:gd name="T35" fmla="*/ 1249 h 1434"/>
              <a:gd name="T36" fmla="*/ 696 w 1923"/>
              <a:gd name="T37" fmla="*/ 1273 h 1434"/>
              <a:gd name="T38" fmla="*/ 769 w 1923"/>
              <a:gd name="T39" fmla="*/ 1298 h 1434"/>
              <a:gd name="T40" fmla="*/ 849 w 1923"/>
              <a:gd name="T41" fmla="*/ 1316 h 1434"/>
              <a:gd name="T42" fmla="*/ 962 w 1923"/>
              <a:gd name="T43" fmla="*/ 1337 h 1434"/>
              <a:gd name="T44" fmla="*/ 1054 w 1923"/>
              <a:gd name="T45" fmla="*/ 1355 h 1434"/>
              <a:gd name="T46" fmla="*/ 1167 w 1923"/>
              <a:gd name="T47" fmla="*/ 1371 h 1434"/>
              <a:gd name="T48" fmla="*/ 1266 w 1923"/>
              <a:gd name="T49" fmla="*/ 1386 h 1434"/>
              <a:gd name="T50" fmla="*/ 1349 w 1923"/>
              <a:gd name="T51" fmla="*/ 1392 h 1434"/>
              <a:gd name="T52" fmla="*/ 1465 w 1923"/>
              <a:gd name="T53" fmla="*/ 1404 h 1434"/>
              <a:gd name="T54" fmla="*/ 1568 w 1923"/>
              <a:gd name="T55" fmla="*/ 1413 h 1434"/>
              <a:gd name="T56" fmla="*/ 1657 w 1923"/>
              <a:gd name="T57" fmla="*/ 1422 h 1434"/>
              <a:gd name="T58" fmla="*/ 1774 w 1923"/>
              <a:gd name="T59" fmla="*/ 1428 h 1434"/>
              <a:gd name="T60" fmla="*/ 1846 w 1923"/>
              <a:gd name="T61" fmla="*/ 1434 h 1434"/>
              <a:gd name="T62" fmla="*/ 1923 w 1923"/>
              <a:gd name="T63" fmla="*/ 1434 h 1434"/>
              <a:gd name="T64" fmla="*/ 1923 w 1923"/>
              <a:gd name="T65" fmla="*/ 3 h 1434"/>
              <a:gd name="T66" fmla="*/ 0 w 1923"/>
              <a:gd name="T67" fmla="*/ 0 h 143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923"/>
              <a:gd name="T103" fmla="*/ 0 h 1434"/>
              <a:gd name="T104" fmla="*/ 1923 w 1923"/>
              <a:gd name="T105" fmla="*/ 1434 h 143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923" h="1434">
                <a:moveTo>
                  <a:pt x="0" y="0"/>
                </a:moveTo>
                <a:lnTo>
                  <a:pt x="7" y="64"/>
                </a:lnTo>
                <a:lnTo>
                  <a:pt x="10" y="149"/>
                </a:lnTo>
                <a:lnTo>
                  <a:pt x="14" y="216"/>
                </a:lnTo>
                <a:lnTo>
                  <a:pt x="17" y="292"/>
                </a:lnTo>
                <a:lnTo>
                  <a:pt x="27" y="368"/>
                </a:lnTo>
                <a:lnTo>
                  <a:pt x="40" y="450"/>
                </a:lnTo>
                <a:lnTo>
                  <a:pt x="57" y="547"/>
                </a:lnTo>
                <a:lnTo>
                  <a:pt x="83" y="669"/>
                </a:lnTo>
                <a:lnTo>
                  <a:pt x="116" y="760"/>
                </a:lnTo>
                <a:lnTo>
                  <a:pt x="156" y="857"/>
                </a:lnTo>
                <a:lnTo>
                  <a:pt x="213" y="951"/>
                </a:lnTo>
                <a:lnTo>
                  <a:pt x="272" y="1027"/>
                </a:lnTo>
                <a:lnTo>
                  <a:pt x="325" y="1076"/>
                </a:lnTo>
                <a:lnTo>
                  <a:pt x="388" y="1131"/>
                </a:lnTo>
                <a:lnTo>
                  <a:pt x="455" y="1173"/>
                </a:lnTo>
                <a:lnTo>
                  <a:pt x="527" y="1210"/>
                </a:lnTo>
                <a:lnTo>
                  <a:pt x="617" y="1249"/>
                </a:lnTo>
                <a:lnTo>
                  <a:pt x="696" y="1273"/>
                </a:lnTo>
                <a:lnTo>
                  <a:pt x="769" y="1298"/>
                </a:lnTo>
                <a:lnTo>
                  <a:pt x="849" y="1316"/>
                </a:lnTo>
                <a:lnTo>
                  <a:pt x="962" y="1337"/>
                </a:lnTo>
                <a:lnTo>
                  <a:pt x="1054" y="1355"/>
                </a:lnTo>
                <a:lnTo>
                  <a:pt x="1167" y="1371"/>
                </a:lnTo>
                <a:lnTo>
                  <a:pt x="1266" y="1386"/>
                </a:lnTo>
                <a:lnTo>
                  <a:pt x="1349" y="1392"/>
                </a:lnTo>
                <a:lnTo>
                  <a:pt x="1465" y="1404"/>
                </a:lnTo>
                <a:lnTo>
                  <a:pt x="1568" y="1413"/>
                </a:lnTo>
                <a:lnTo>
                  <a:pt x="1657" y="1422"/>
                </a:lnTo>
                <a:lnTo>
                  <a:pt x="1774" y="1428"/>
                </a:lnTo>
                <a:lnTo>
                  <a:pt x="1846" y="1434"/>
                </a:lnTo>
                <a:lnTo>
                  <a:pt x="1923" y="1434"/>
                </a:lnTo>
                <a:lnTo>
                  <a:pt x="1923" y="3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5875" cap="rnd">
            <a:noFill/>
            <a:round/>
            <a:headEnd/>
            <a:tailEnd/>
          </a:ln>
        </p:spPr>
        <p:txBody>
          <a:bodyPr anchor="ctr"/>
          <a:lstStyle/>
          <a:p>
            <a:pPr marL="93616" marR="0" lvl="0" indent="-93616" algn="ctr" defTabSz="767181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99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691E917E-968B-4CBC-B85A-FC81CAC3F43C}"/>
              </a:ext>
            </a:extLst>
          </p:cNvPr>
          <p:cNvSpPr txBox="1"/>
          <p:nvPr/>
        </p:nvSpPr>
        <p:spPr>
          <a:xfrm>
            <a:off x="11824981" y="6573307"/>
            <a:ext cx="300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CEC023-3B93-43B5-9073-24CBAACB4000}"/>
              </a:ext>
            </a:extLst>
          </p:cNvPr>
          <p:cNvGrpSpPr/>
          <p:nvPr/>
        </p:nvGrpSpPr>
        <p:grpSpPr>
          <a:xfrm>
            <a:off x="369923" y="1462204"/>
            <a:ext cx="301446" cy="4638845"/>
            <a:chOff x="706252" y="1138672"/>
            <a:chExt cx="264451" cy="516336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ACFF6E-69A6-4CFE-9D39-FF455F62714B}"/>
                </a:ext>
              </a:extLst>
            </p:cNvPr>
            <p:cNvSpPr/>
            <p:nvPr/>
          </p:nvSpPr>
          <p:spPr>
            <a:xfrm>
              <a:off x="710995" y="1138672"/>
              <a:ext cx="233022" cy="580247"/>
            </a:xfrm>
            <a:prstGeom prst="rect">
              <a:avLst/>
            </a:prstGeom>
            <a:noFill/>
            <a:ln w="28575" cap="flat" cmpd="sng" algn="ctr">
              <a:noFill/>
              <a:prstDash val="solid"/>
            </a:ln>
            <a:effectLst/>
          </p:spPr>
          <p:txBody>
            <a:bodyPr vert="vert27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99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High</a:t>
              </a:r>
              <a:endParaRPr kumimoji="0" lang="en-IN" sz="11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E121F3-C65E-4DA6-A811-1D78C062CFDD}"/>
                </a:ext>
              </a:extLst>
            </p:cNvPr>
            <p:cNvSpPr/>
            <p:nvPr/>
          </p:nvSpPr>
          <p:spPr>
            <a:xfrm>
              <a:off x="706252" y="5766942"/>
              <a:ext cx="264451" cy="535094"/>
            </a:xfrm>
            <a:prstGeom prst="rect">
              <a:avLst/>
            </a:prstGeom>
            <a:noFill/>
            <a:ln w="28575" cap="flat" cmpd="sng" algn="ctr">
              <a:noFill/>
              <a:prstDash val="solid"/>
            </a:ln>
            <a:effectLst/>
          </p:spPr>
          <p:txBody>
            <a:bodyPr vert="vert27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99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Low</a:t>
              </a:r>
              <a:endParaRPr kumimoji="0" lang="en-IN" sz="11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Text Box 59">
            <a:extLst>
              <a:ext uri="{FF2B5EF4-FFF2-40B4-BE49-F238E27FC236}">
                <a16:creationId xmlns:a16="http://schemas.microsoft.com/office/drawing/2014/main" id="{012149EA-E367-487C-987C-B18F0B610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853" y="6124706"/>
            <a:ext cx="3270444" cy="307648"/>
          </a:xfrm>
          <a:prstGeom prst="rect">
            <a:avLst/>
          </a:prstGeom>
          <a:solidFill>
            <a:srgbClr val="00162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/>
                <a:sym typeface="Segoe UI"/>
              </a:rPr>
              <a:t>Feasibility and Ease of Implementation</a:t>
            </a:r>
          </a:p>
        </p:txBody>
      </p:sp>
      <p:sp>
        <p:nvSpPr>
          <p:cNvPr id="27" name="Text Box 59">
            <a:extLst>
              <a:ext uri="{FF2B5EF4-FFF2-40B4-BE49-F238E27FC236}">
                <a16:creationId xmlns:a16="http://schemas.microsoft.com/office/drawing/2014/main" id="{8A7887B0-9605-4A17-B4B2-802F9E1C485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814814" y="3788744"/>
            <a:ext cx="2518459" cy="307647"/>
          </a:xfrm>
          <a:prstGeom prst="rect">
            <a:avLst/>
          </a:prstGeom>
          <a:solidFill>
            <a:srgbClr val="00162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37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9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/>
                <a:sym typeface="Segoe UI"/>
              </a:rPr>
              <a:t>Benefit to Consumers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92516C-B158-4F24-881A-AE6DB306D951}"/>
              </a:ext>
            </a:extLst>
          </p:cNvPr>
          <p:cNvGrpSpPr/>
          <p:nvPr/>
        </p:nvGrpSpPr>
        <p:grpSpPr>
          <a:xfrm>
            <a:off x="715480" y="1514075"/>
            <a:ext cx="10757947" cy="4554631"/>
            <a:chOff x="834620" y="1523677"/>
            <a:chExt cx="8707737" cy="4037865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CEBB21-4A3E-4162-B557-9C0D6EEFA0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620" y="1523677"/>
              <a:ext cx="0" cy="403786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AAB505-9E4D-4664-A000-D033E702C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620" y="5561453"/>
              <a:ext cx="8707737" cy="1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33A1F6B-F049-4E98-B90E-601529AC5331}"/>
              </a:ext>
            </a:extLst>
          </p:cNvPr>
          <p:cNvGrpSpPr/>
          <p:nvPr/>
        </p:nvGrpSpPr>
        <p:grpSpPr>
          <a:xfrm rot="5400000">
            <a:off x="5947748" y="789810"/>
            <a:ext cx="377331" cy="10910003"/>
            <a:chOff x="669520" y="1041822"/>
            <a:chExt cx="264451" cy="574213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EE25739-EE84-4DDA-B24D-AFCD0FC42DA6}"/>
                </a:ext>
              </a:extLst>
            </p:cNvPr>
            <p:cNvSpPr/>
            <p:nvPr/>
          </p:nvSpPr>
          <p:spPr>
            <a:xfrm>
              <a:off x="678323" y="1041822"/>
              <a:ext cx="254964" cy="521630"/>
            </a:xfrm>
            <a:prstGeom prst="rect">
              <a:avLst/>
            </a:prstGeom>
            <a:noFill/>
            <a:ln w="28575" cap="flat" cmpd="sng" algn="ctr">
              <a:noFill/>
              <a:prstDash val="solid"/>
            </a:ln>
            <a:effectLst/>
          </p:spPr>
          <p:txBody>
            <a:bodyPr vert="vert27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99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High</a:t>
              </a:r>
              <a:endParaRPr kumimoji="0" lang="en-IN" sz="11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52C1F2-BB45-4B9E-955C-A4BC96E3CA17}"/>
                </a:ext>
              </a:extLst>
            </p:cNvPr>
            <p:cNvSpPr/>
            <p:nvPr/>
          </p:nvSpPr>
          <p:spPr>
            <a:xfrm>
              <a:off x="669520" y="6248859"/>
              <a:ext cx="264451" cy="535094"/>
            </a:xfrm>
            <a:prstGeom prst="rect">
              <a:avLst/>
            </a:prstGeom>
            <a:noFill/>
            <a:ln w="28575" cap="flat" cmpd="sng" algn="ctr">
              <a:noFill/>
              <a:prstDash val="solid"/>
            </a:ln>
            <a:effectLst/>
          </p:spPr>
          <p:txBody>
            <a:bodyPr vert="vert27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99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Low</a:t>
              </a:r>
              <a:endParaRPr kumimoji="0" lang="en-IN" sz="11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1A0D97D-AD14-4183-B2D3-7D405885FF21}"/>
              </a:ext>
            </a:extLst>
          </p:cNvPr>
          <p:cNvSpPr txBox="1"/>
          <p:nvPr/>
        </p:nvSpPr>
        <p:spPr>
          <a:xfrm>
            <a:off x="8728735" y="1195742"/>
            <a:ext cx="969753" cy="276999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First Priority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484E5F5-6DEF-4DD6-9063-EEA4F4C58A2F}"/>
              </a:ext>
            </a:extLst>
          </p:cNvPr>
          <p:cNvSpPr txBox="1"/>
          <p:nvPr/>
        </p:nvSpPr>
        <p:spPr>
          <a:xfrm>
            <a:off x="4682395" y="1206065"/>
            <a:ext cx="1158522" cy="276999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Priority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EEB6CFE-C3FE-4D05-8DFB-C39E14ADDB47}"/>
              </a:ext>
            </a:extLst>
          </p:cNvPr>
          <p:cNvSpPr txBox="1"/>
          <p:nvPr/>
        </p:nvSpPr>
        <p:spPr>
          <a:xfrm>
            <a:off x="1315933" y="1237076"/>
            <a:ext cx="1026115" cy="276999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Least Priority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26899F-0857-1BCF-CC30-5857EAF78B91}"/>
              </a:ext>
            </a:extLst>
          </p:cNvPr>
          <p:cNvSpPr txBox="1"/>
          <p:nvPr/>
        </p:nvSpPr>
        <p:spPr>
          <a:xfrm>
            <a:off x="9497478" y="5085384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Customizable card design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6AE683-6A94-F44E-F034-805AAB4BC9A3}"/>
              </a:ext>
            </a:extLst>
          </p:cNvPr>
          <p:cNvSpPr txBox="1"/>
          <p:nvPr/>
        </p:nvSpPr>
        <p:spPr>
          <a:xfrm>
            <a:off x="9017773" y="4574451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Impact Rewards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1E1B5A-4C6E-9F1D-FA50-75EFFB3E1E7A}"/>
              </a:ext>
            </a:extLst>
          </p:cNvPr>
          <p:cNvSpPr txBox="1"/>
          <p:nvPr/>
        </p:nvSpPr>
        <p:spPr>
          <a:xfrm>
            <a:off x="8288660" y="3952826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Power Rewards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0B895C-0FB6-CAEB-C089-8B091AFBDEA4}"/>
              </a:ext>
            </a:extLst>
          </p:cNvPr>
          <p:cNvSpPr txBox="1"/>
          <p:nvPr/>
        </p:nvSpPr>
        <p:spPr>
          <a:xfrm>
            <a:off x="4915471" y="5063297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Alternative Use Cards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99D5FE6-B4B2-4E56-8168-8C35CAA4769B}"/>
              </a:ext>
            </a:extLst>
          </p:cNvPr>
          <p:cNvSpPr txBox="1"/>
          <p:nvPr/>
        </p:nvSpPr>
        <p:spPr>
          <a:xfrm>
            <a:off x="1498621" y="2235775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Hyper Personalized Reward Engine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F9E1684-58EB-D8AF-373F-8D8DB3D5B57E}"/>
              </a:ext>
            </a:extLst>
          </p:cNvPr>
          <p:cNvSpPr txBox="1"/>
          <p:nvPr/>
        </p:nvSpPr>
        <p:spPr>
          <a:xfrm>
            <a:off x="8045916" y="1946000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Gamified Rewards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B8150784-88A9-79D1-CB24-8F59C55B9FE3}"/>
              </a:ext>
            </a:extLst>
          </p:cNvPr>
          <p:cNvSpPr txBox="1"/>
          <p:nvPr/>
        </p:nvSpPr>
        <p:spPr>
          <a:xfrm>
            <a:off x="7814253" y="3178118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Personalized Support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99B9897C-CE62-C5DF-3BEB-DD6437D603EE}"/>
              </a:ext>
            </a:extLst>
          </p:cNvPr>
          <p:cNvSpPr txBox="1"/>
          <p:nvPr/>
        </p:nvSpPr>
        <p:spPr>
          <a:xfrm>
            <a:off x="9861102" y="2859065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Spend Analytics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F53E9AD6-AA8E-6982-5294-4421EA0A9F7F}"/>
              </a:ext>
            </a:extLst>
          </p:cNvPr>
          <p:cNvSpPr txBox="1"/>
          <p:nvPr/>
        </p:nvSpPr>
        <p:spPr>
          <a:xfrm>
            <a:off x="1303939" y="4127528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Community Co-Creation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367C2F0-B33A-78D6-01C2-1F9D5BDD37E2}"/>
              </a:ext>
            </a:extLst>
          </p:cNvPr>
          <p:cNvSpPr txBox="1"/>
          <p:nvPr/>
        </p:nvSpPr>
        <p:spPr>
          <a:xfrm>
            <a:off x="7511130" y="5400112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Credit Score Trainer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9439FADD-98EA-2357-D83D-2C207AB1695D}"/>
              </a:ext>
            </a:extLst>
          </p:cNvPr>
          <p:cNvSpPr txBox="1"/>
          <p:nvPr/>
        </p:nvSpPr>
        <p:spPr>
          <a:xfrm>
            <a:off x="4690849" y="3652890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Premium Experience Day Invite 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DCB484A8-CAEF-328D-B163-08840D29FF1F}"/>
              </a:ext>
            </a:extLst>
          </p:cNvPr>
          <p:cNvSpPr txBox="1"/>
          <p:nvPr/>
        </p:nvSpPr>
        <p:spPr>
          <a:xfrm>
            <a:off x="6210565" y="2344280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Global Lounge with guest passes</a:t>
            </a:r>
            <a:endParaRPr lang="en-IN" sz="1200" b="1">
              <a:latin typeface="Aptos" panose="020B0004020202020204" pitchFamily="34" charset="0"/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47BC1337-0F1B-4DE4-6394-23A92F14F812}"/>
              </a:ext>
            </a:extLst>
          </p:cNvPr>
          <p:cNvSpPr txBox="1"/>
          <p:nvPr/>
        </p:nvSpPr>
        <p:spPr>
          <a:xfrm>
            <a:off x="3709034" y="2911009"/>
            <a:ext cx="280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ptos" panose="020B0004020202020204" pitchFamily="34" charset="0"/>
              </a:rPr>
              <a:t>Travel Fasttrack across major airports</a:t>
            </a:r>
            <a:endParaRPr lang="en-IN" sz="1200" b="1">
              <a:latin typeface="Aptos" panose="020B0004020202020204" pitchFamily="34" charset="0"/>
            </a:endParaRPr>
          </a:p>
        </p:txBody>
      </p:sp>
      <p:pic>
        <p:nvPicPr>
          <p:cNvPr id="1026" name="Picture 2" descr="Analysis ">
            <a:extLst>
              <a:ext uri="{FF2B5EF4-FFF2-40B4-BE49-F238E27FC236}">
                <a16:creationId xmlns:a16="http://schemas.microsoft.com/office/drawing/2014/main" id="{69CBE643-27DD-CC8F-D5AA-4FF523F98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142" y="2608845"/>
            <a:ext cx="276999" cy="27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ecommendation ">
            <a:hlinkClick r:id="rId4" tooltip="Recommendation"/>
            <a:extLst>
              <a:ext uri="{FF2B5EF4-FFF2-40B4-BE49-F238E27FC236}">
                <a16:creationId xmlns:a16="http://schemas.microsoft.com/office/drawing/2014/main" id="{E397F1AC-8312-69E8-8E36-D42F30DE8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472" y="1863104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mmunity ">
            <a:hlinkClick r:id="rId6" tooltip="Community"/>
            <a:extLst>
              <a:ext uri="{FF2B5EF4-FFF2-40B4-BE49-F238E27FC236}">
                <a16:creationId xmlns:a16="http://schemas.microsoft.com/office/drawing/2014/main" id="{DD31F14C-F808-1EE1-88B0-36E6849E8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627" y="3721029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irplane ">
            <a:hlinkClick r:id="rId8" tooltip="Airplane"/>
            <a:extLst>
              <a:ext uri="{FF2B5EF4-FFF2-40B4-BE49-F238E27FC236}">
                <a16:creationId xmlns:a16="http://schemas.microsoft.com/office/drawing/2014/main" id="{F362ECD5-3A30-41A2-4137-D894C47A4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84" y="2498157"/>
            <a:ext cx="443429" cy="44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embership ">
            <a:hlinkClick r:id="rId10" tooltip="Membership"/>
            <a:extLst>
              <a:ext uri="{FF2B5EF4-FFF2-40B4-BE49-F238E27FC236}">
                <a16:creationId xmlns:a16="http://schemas.microsoft.com/office/drawing/2014/main" id="{76AC50A3-916D-D974-796A-9D28416AB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220" y="1997000"/>
            <a:ext cx="461837" cy="46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ersonalized support ">
            <a:hlinkClick r:id="rId12" tooltip="Personalized support"/>
            <a:extLst>
              <a:ext uri="{FF2B5EF4-FFF2-40B4-BE49-F238E27FC236}">
                <a16:creationId xmlns:a16="http://schemas.microsoft.com/office/drawing/2014/main" id="{84298F0D-ECB7-0B1F-1A24-98602DAD3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047" y="2812373"/>
            <a:ext cx="383941" cy="38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ward ">
            <a:hlinkClick r:id="rId14" tooltip="Reward"/>
            <a:extLst>
              <a:ext uri="{FF2B5EF4-FFF2-40B4-BE49-F238E27FC236}">
                <a16:creationId xmlns:a16="http://schemas.microsoft.com/office/drawing/2014/main" id="{71DB183C-991E-3DAB-682F-8BECA7322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275" y="158113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nvitation ">
            <a:hlinkClick r:id="rId16" tooltip="Invitation"/>
            <a:extLst>
              <a:ext uri="{FF2B5EF4-FFF2-40B4-BE49-F238E27FC236}">
                <a16:creationId xmlns:a16="http://schemas.microsoft.com/office/drawing/2014/main" id="{194408CB-5C23-B8FD-70C7-2A998BCF8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591" y="3382860"/>
            <a:ext cx="309942" cy="30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Badge ">
            <a:hlinkClick r:id="rId18" tooltip="Badge"/>
            <a:extLst>
              <a:ext uri="{FF2B5EF4-FFF2-40B4-BE49-F238E27FC236}">
                <a16:creationId xmlns:a16="http://schemas.microsoft.com/office/drawing/2014/main" id="{CCF67C90-88FA-9B2D-61FD-063F2F0B0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4958" y="3630789"/>
            <a:ext cx="357288" cy="35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EFBB5-E785-4A7E-3EC6-6318CD0FFD3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40913" y="4685139"/>
            <a:ext cx="421761" cy="421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9EDB8-A3D2-D533-7330-F86DAEC999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33591" y="4285541"/>
            <a:ext cx="327511" cy="327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B4C8A9-2BB1-E270-577C-B6266E4ADDB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21377" y="4759334"/>
            <a:ext cx="435877" cy="435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EBDE0A-F51C-13CF-A15D-6A572F1A0A2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2969" y="4986811"/>
            <a:ext cx="429970" cy="42997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242C11D-FCE8-0F2B-729F-C01538A9606B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FFFF">
                    <a:lumMod val="50000"/>
                  </a:srgbClr>
                </a:solidFill>
                <a:latin typeface="Aptos" panose="020B0004020202020204" pitchFamily="34" charset="0"/>
              </a:rPr>
              <a:t>Multiple initiatives are identified and would focus on the most feasible solutions that have potential to provide maximum benefit to consumers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4400705C-BC2D-5A13-B011-D28E055D2249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C5474216-A914-BFAF-994C-5E7292D768AD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0B3AAF28-5EBF-BC2E-29A2-7A24DFFEC2E4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36E9A100-8957-A906-3981-9A0B206CC687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7CF82DE3-9D90-71D1-900E-210B5944BACC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13782E0C-B39A-6A83-13E6-8BB5EB40B164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44" name="Rectangle: Top Corners Rounded 43">
            <a:extLst>
              <a:ext uri="{FF2B5EF4-FFF2-40B4-BE49-F238E27FC236}">
                <a16:creationId xmlns:a16="http://schemas.microsoft.com/office/drawing/2014/main" id="{8DC24ABE-7348-A2D5-BEE3-0212BCE8C5BC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A4FA27CE-814A-1AD1-7AB0-3612EB629A28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Arrow: Chevron 45">
            <a:extLst>
              <a:ext uri="{FF2B5EF4-FFF2-40B4-BE49-F238E27FC236}">
                <a16:creationId xmlns:a16="http://schemas.microsoft.com/office/drawing/2014/main" id="{33A2D5E0-4F74-1DD2-B6C5-99AED0C8D86B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B837A187-96DF-677C-8004-40340EBA239A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: Top Corners Rounded 49">
            <a:extLst>
              <a:ext uri="{FF2B5EF4-FFF2-40B4-BE49-F238E27FC236}">
                <a16:creationId xmlns:a16="http://schemas.microsoft.com/office/drawing/2014/main" id="{B9AB373A-AC4C-7C34-EA51-A564909218C1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837AFA09-32CC-9F79-D8CA-464511000EE3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Arrow: Chevron 51">
            <a:extLst>
              <a:ext uri="{FF2B5EF4-FFF2-40B4-BE49-F238E27FC236}">
                <a16:creationId xmlns:a16="http://schemas.microsoft.com/office/drawing/2014/main" id="{9C9B0A4E-FD8D-F446-2BA5-B8C7008450B9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B97A9446-E277-4A3B-5610-1F2D521AABEF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52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C1C82A-F3EE-0170-9334-C9D395CACFC6}"/>
              </a:ext>
            </a:extLst>
          </p:cNvPr>
          <p:cNvSpPr/>
          <p:nvPr/>
        </p:nvSpPr>
        <p:spPr>
          <a:xfrm>
            <a:off x="385356" y="1169494"/>
            <a:ext cx="5496460" cy="308254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>
                <a:solidFill>
                  <a:prstClr val="white"/>
                </a:solidFill>
                <a:latin typeface="Calibri" panose="020F0502020204030204"/>
              </a:rPr>
              <a:t>Gamified Rewards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41FA23-5ECE-8061-0013-D86926CC065B}"/>
              </a:ext>
            </a:extLst>
          </p:cNvPr>
          <p:cNvSpPr/>
          <p:nvPr/>
        </p:nvSpPr>
        <p:spPr>
          <a:xfrm>
            <a:off x="6355904" y="1169494"/>
            <a:ext cx="5496460" cy="308254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>
                <a:solidFill>
                  <a:prstClr val="white"/>
                </a:solidFill>
                <a:latin typeface="Calibri" panose="020F0502020204030204"/>
              </a:rPr>
              <a:t>Spend Analytics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2CF45-B08A-D5E4-A6BA-24817923F828}"/>
              </a:ext>
            </a:extLst>
          </p:cNvPr>
          <p:cNvSpPr/>
          <p:nvPr/>
        </p:nvSpPr>
        <p:spPr>
          <a:xfrm>
            <a:off x="385356" y="3938776"/>
            <a:ext cx="5496460" cy="3096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prstClr val="white"/>
                </a:solidFill>
                <a:latin typeface="Calibri" panose="020F0502020204030204"/>
              </a:rPr>
              <a:t>Global Lounge Pass with Free Guest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42833A-769F-64D5-86A2-F5FA8432D713}"/>
              </a:ext>
            </a:extLst>
          </p:cNvPr>
          <p:cNvSpPr/>
          <p:nvPr/>
        </p:nvSpPr>
        <p:spPr>
          <a:xfrm>
            <a:off x="6355904" y="3938776"/>
            <a:ext cx="5496460" cy="309600"/>
          </a:xfrm>
          <a:prstGeom prst="rect">
            <a:avLst/>
          </a:prstGeom>
          <a:solidFill>
            <a:srgbClr val="0016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prstClr val="white"/>
                </a:solidFill>
                <a:latin typeface="Calibri" panose="020F0502020204030204"/>
              </a:rPr>
              <a:t>Personalized Support</a:t>
            </a:r>
            <a:endParaRPr kumimoji="0" lang="en-I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30" name="Picture 6" descr="Generated image">
            <a:extLst>
              <a:ext uri="{FF2B5EF4-FFF2-40B4-BE49-F238E27FC236}">
                <a16:creationId xmlns:a16="http://schemas.microsoft.com/office/drawing/2014/main" id="{01EC82D5-EAA9-9A14-F96C-DB27BEC41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795" y="1486892"/>
            <a:ext cx="1620013" cy="243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enerated image">
            <a:extLst>
              <a:ext uri="{FF2B5EF4-FFF2-40B4-BE49-F238E27FC236}">
                <a16:creationId xmlns:a16="http://schemas.microsoft.com/office/drawing/2014/main" id="{286D4FBD-A702-6824-2F93-BF55EDB1D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5561" y="1517199"/>
            <a:ext cx="1528788" cy="229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enerated image">
            <a:extLst>
              <a:ext uri="{FF2B5EF4-FFF2-40B4-BE49-F238E27FC236}">
                <a16:creationId xmlns:a16="http://schemas.microsoft.com/office/drawing/2014/main" id="{FCF22864-08E9-12EF-B669-7CEA966B9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720" y="4267197"/>
            <a:ext cx="1555088" cy="233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BAA60341-5A16-ED18-DFAF-A4F302BF7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1" y="4291053"/>
            <a:ext cx="1555088" cy="233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object 16">
            <a:extLst>
              <a:ext uri="{FF2B5EF4-FFF2-40B4-BE49-F238E27FC236}">
                <a16:creationId xmlns:a16="http://schemas.microsoft.com/office/drawing/2014/main" id="{D20A2E46-4CE9-F9CB-90D9-C7AAEFDD82A6}"/>
              </a:ext>
            </a:extLst>
          </p:cNvPr>
          <p:cNvSpPr/>
          <p:nvPr/>
        </p:nvSpPr>
        <p:spPr>
          <a:xfrm>
            <a:off x="385356" y="1477748"/>
            <a:ext cx="982073" cy="2461028"/>
          </a:xfrm>
          <a:custGeom>
            <a:avLst/>
            <a:gdLst/>
            <a:ahLst/>
            <a:cxnLst/>
            <a:rect l="l" t="t" r="r" b="b"/>
            <a:pathLst>
              <a:path w="1812289" h="3286760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162F"/>
          </a:solidFill>
        </p:spPr>
        <p:txBody>
          <a:bodyPr wrap="square" lIns="0" tIns="0" rIns="0" bIns="0" rtlCol="0" anchor="ctr"/>
          <a:lstStyle/>
          <a:p>
            <a:pPr algn="ctr" defTabSz="495513"/>
            <a:r>
              <a:rPr lang="en-IN" sz="5000" b="1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  <a:endParaRPr sz="5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EB79C00-7458-E1D3-EDAC-03591F767D8A}"/>
              </a:ext>
            </a:extLst>
          </p:cNvPr>
          <p:cNvSpPr/>
          <p:nvPr/>
        </p:nvSpPr>
        <p:spPr>
          <a:xfrm>
            <a:off x="385355" y="4237942"/>
            <a:ext cx="982073" cy="2461028"/>
          </a:xfrm>
          <a:custGeom>
            <a:avLst/>
            <a:gdLst/>
            <a:ahLst/>
            <a:cxnLst/>
            <a:rect l="l" t="t" r="r" b="b"/>
            <a:pathLst>
              <a:path w="1812289" h="3286760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162F"/>
          </a:solidFill>
        </p:spPr>
        <p:txBody>
          <a:bodyPr wrap="square" lIns="0" tIns="0" rIns="0" bIns="0" rtlCol="0" anchor="ctr"/>
          <a:lstStyle/>
          <a:p>
            <a:pPr algn="ctr" defTabSz="495513"/>
            <a:r>
              <a:rPr lang="en-IN" sz="5000" b="1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endParaRPr sz="5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67A0BF-716C-52F2-FB22-802139DAE1A4}"/>
              </a:ext>
            </a:extLst>
          </p:cNvPr>
          <p:cNvSpPr/>
          <p:nvPr/>
        </p:nvSpPr>
        <p:spPr>
          <a:xfrm>
            <a:off x="1367428" y="1477748"/>
            <a:ext cx="2610212" cy="2461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10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IN" sz="1100" i="1" dirty="0">
                <a:solidFill>
                  <a:schemeClr val="tx1"/>
                </a:solidFill>
                <a:latin typeface="Aptos" panose="020B0004020202020204" pitchFamily="34" charset="0"/>
              </a:rPr>
              <a:t>Gamified Rewards to feel involved in the reward collection process</a:t>
            </a:r>
          </a:p>
          <a:p>
            <a:endParaRPr lang="en-IN" sz="110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 dirty="0">
                <a:solidFill>
                  <a:schemeClr val="tx1"/>
                </a:solidFill>
                <a:latin typeface="Aptos" panose="020B0004020202020204" pitchFamily="34" charset="0"/>
              </a:rPr>
              <a:t>Split your reward points collection across categories. More reward points on flights this month instead of hotels? Switch the allocation! </a:t>
            </a:r>
            <a:br>
              <a:rPr lang="en-IN" sz="1100" i="1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IN" sz="110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 dirty="0">
                <a:solidFill>
                  <a:schemeClr val="tx1"/>
                </a:solidFill>
                <a:latin typeface="Aptos" panose="020B0004020202020204" pitchFamily="34" charset="0"/>
              </a:rPr>
              <a:t>Earn badges and loyalty points to unlock better rewards as you level up!</a:t>
            </a: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3D71E16F-0936-6B62-F9BD-319506042F27}"/>
              </a:ext>
            </a:extLst>
          </p:cNvPr>
          <p:cNvSpPr/>
          <p:nvPr/>
        </p:nvSpPr>
        <p:spPr>
          <a:xfrm>
            <a:off x="6355904" y="1471388"/>
            <a:ext cx="982073" cy="2480646"/>
          </a:xfrm>
          <a:custGeom>
            <a:avLst/>
            <a:gdLst/>
            <a:ahLst/>
            <a:cxnLst/>
            <a:rect l="l" t="t" r="r" b="b"/>
            <a:pathLst>
              <a:path w="1812289" h="3286760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162F"/>
          </a:solidFill>
        </p:spPr>
        <p:txBody>
          <a:bodyPr wrap="square" lIns="0" tIns="0" rIns="0" bIns="0" rtlCol="0" anchor="ctr"/>
          <a:lstStyle/>
          <a:p>
            <a:pPr algn="ctr" defTabSz="495513"/>
            <a:r>
              <a:rPr lang="en-IN" sz="5000" b="1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endParaRPr sz="5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F92AADA7-9908-F258-E4AA-0EA38F314A5B}"/>
              </a:ext>
            </a:extLst>
          </p:cNvPr>
          <p:cNvSpPr/>
          <p:nvPr/>
        </p:nvSpPr>
        <p:spPr>
          <a:xfrm>
            <a:off x="6355904" y="4142566"/>
            <a:ext cx="982073" cy="2556403"/>
          </a:xfrm>
          <a:custGeom>
            <a:avLst/>
            <a:gdLst/>
            <a:ahLst/>
            <a:cxnLst/>
            <a:rect l="l" t="t" r="r" b="b"/>
            <a:pathLst>
              <a:path w="1812289" h="3286760">
                <a:moveTo>
                  <a:pt x="1811874" y="0"/>
                </a:moveTo>
                <a:lnTo>
                  <a:pt x="0" y="0"/>
                </a:lnTo>
                <a:lnTo>
                  <a:pt x="0" y="3286432"/>
                </a:lnTo>
                <a:lnTo>
                  <a:pt x="1811874" y="3286432"/>
                </a:lnTo>
                <a:lnTo>
                  <a:pt x="1811874" y="0"/>
                </a:lnTo>
                <a:close/>
              </a:path>
            </a:pathLst>
          </a:custGeom>
          <a:solidFill>
            <a:srgbClr val="00162F"/>
          </a:solidFill>
        </p:spPr>
        <p:txBody>
          <a:bodyPr wrap="square" lIns="0" tIns="0" rIns="0" bIns="0" rtlCol="0" anchor="ctr"/>
          <a:lstStyle/>
          <a:p>
            <a:pPr algn="ctr" defTabSz="495513"/>
            <a:r>
              <a:rPr lang="en-IN" sz="5000" b="1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  <a:endParaRPr sz="5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20EC1E-728A-BA1F-A530-3422A6C86EA6}"/>
              </a:ext>
            </a:extLst>
          </p:cNvPr>
          <p:cNvSpPr/>
          <p:nvPr/>
        </p:nvSpPr>
        <p:spPr>
          <a:xfrm>
            <a:off x="5881816" y="1070607"/>
            <a:ext cx="474088" cy="57289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100" i="1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BB8C38-E3DF-ACC5-4837-864AAEA24A47}"/>
              </a:ext>
            </a:extLst>
          </p:cNvPr>
          <p:cNvSpPr/>
          <p:nvPr/>
        </p:nvSpPr>
        <p:spPr>
          <a:xfrm>
            <a:off x="1374316" y="4247848"/>
            <a:ext cx="2610212" cy="2461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10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IN" sz="1100" i="1" dirty="0">
                <a:solidFill>
                  <a:schemeClr val="tx1"/>
                </a:solidFill>
                <a:latin typeface="Aptos" panose="020B0004020202020204" pitchFamily="34" charset="0"/>
              </a:rPr>
              <a:t>Global Lounge Access with 1 free pass every quarter to make travel hassle free!</a:t>
            </a:r>
          </a:p>
          <a:p>
            <a:endParaRPr lang="en-IN" sz="110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 dirty="0">
                <a:solidFill>
                  <a:schemeClr val="tx1"/>
                </a:solidFill>
                <a:latin typeface="Aptos" panose="020B0004020202020204" pitchFamily="34" charset="0"/>
              </a:rPr>
              <a:t>3 international lounge access with 1 free pass every quarter to make international travel easier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 dirty="0">
                <a:solidFill>
                  <a:schemeClr val="tx1"/>
                </a:solidFill>
                <a:latin typeface="Aptos" panose="020B0004020202020204" pitchFamily="34" charset="0"/>
              </a:rPr>
              <a:t>Enjoy premium lounge services on higher spending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B7ED08-DCAC-74EB-E48C-7DD09C727CE0}"/>
              </a:ext>
            </a:extLst>
          </p:cNvPr>
          <p:cNvSpPr/>
          <p:nvPr/>
        </p:nvSpPr>
        <p:spPr>
          <a:xfrm>
            <a:off x="7337019" y="1484377"/>
            <a:ext cx="2610212" cy="24610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100" i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IN" sz="1100" i="1">
                <a:solidFill>
                  <a:schemeClr val="tx1"/>
                </a:solidFill>
                <a:latin typeface="Aptos" panose="020B0004020202020204" pitchFamily="34" charset="0"/>
              </a:rPr>
              <a:t>Spend Analytics to always stay on top of your finance </a:t>
            </a:r>
          </a:p>
          <a:p>
            <a:endParaRPr lang="en-IN" sz="1100" i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>
                <a:solidFill>
                  <a:schemeClr val="tx1"/>
                </a:solidFill>
                <a:latin typeface="Aptos" panose="020B0004020202020204" pitchFamily="34" charset="0"/>
              </a:rPr>
              <a:t>Explore spend analytics and avail invoices of all your spends in a dashboard for easy download (receipt submission at office is easier than before!)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i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>
                <a:solidFill>
                  <a:schemeClr val="tx1"/>
                </a:solidFill>
                <a:latin typeface="Aptos" panose="020B0004020202020204" pitchFamily="34" charset="0"/>
              </a:rPr>
              <a:t>Recommendations on spend insights to improve your budgeting and forecast upcoming expenses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92AB62-74AC-226E-3CE9-9943DD0AAE68}"/>
              </a:ext>
            </a:extLst>
          </p:cNvPr>
          <p:cNvSpPr/>
          <p:nvPr/>
        </p:nvSpPr>
        <p:spPr>
          <a:xfrm>
            <a:off x="7337019" y="4258053"/>
            <a:ext cx="2610212" cy="24389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100" i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IN" sz="1100" i="1">
                <a:solidFill>
                  <a:schemeClr val="tx1"/>
                </a:solidFill>
                <a:latin typeface="Aptos" panose="020B0004020202020204" pitchFamily="34" charset="0"/>
              </a:rPr>
              <a:t>Personalized Support and concierge services</a:t>
            </a:r>
          </a:p>
          <a:p>
            <a:endParaRPr lang="en-IN" sz="1100" i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>
                <a:solidFill>
                  <a:schemeClr val="tx1"/>
                </a:solidFill>
                <a:latin typeface="Aptos" panose="020B0004020202020204" pitchFamily="34" charset="0"/>
              </a:rPr>
              <a:t>24/7 personalized support to make your bookings and travel easy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i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i="1">
                <a:solidFill>
                  <a:schemeClr val="tx1"/>
                </a:solidFill>
                <a:latin typeface="Aptos" panose="020B0004020202020204" pitchFamily="34" charset="0"/>
              </a:rPr>
              <a:t> Avail concierge services at major airports and selected hotels </a:t>
            </a:r>
          </a:p>
        </p:txBody>
      </p:sp>
      <p:sp>
        <p:nvSpPr>
          <p:cNvPr id="24" name="Rectangle 41">
            <a:extLst>
              <a:ext uri="{FF2B5EF4-FFF2-40B4-BE49-F238E27FC236}">
                <a16:creationId xmlns:a16="http://schemas.microsoft.com/office/drawing/2014/main" id="{EEEAD24A-0902-5977-4E10-AA33182108CB}"/>
              </a:ext>
            </a:extLst>
          </p:cNvPr>
          <p:cNvSpPr/>
          <p:nvPr/>
        </p:nvSpPr>
        <p:spPr>
          <a:xfrm rot="16200000">
            <a:off x="2796055" y="2582428"/>
            <a:ext cx="2803861" cy="187358"/>
          </a:xfrm>
          <a:custGeom>
            <a:avLst/>
            <a:gdLst>
              <a:gd name="connsiteX0" fmla="*/ 0 w 2136913"/>
              <a:gd name="connsiteY0" fmla="*/ 0 h 218439"/>
              <a:gd name="connsiteX1" fmla="*/ 2136913 w 2136913"/>
              <a:gd name="connsiteY1" fmla="*/ 0 h 218439"/>
              <a:gd name="connsiteX2" fmla="*/ 2136913 w 2136913"/>
              <a:gd name="connsiteY2" fmla="*/ 218439 h 218439"/>
              <a:gd name="connsiteX3" fmla="*/ 0 w 2136913"/>
              <a:gd name="connsiteY3" fmla="*/ 218439 h 218439"/>
              <a:gd name="connsiteX4" fmla="*/ 0 w 2136913"/>
              <a:gd name="connsiteY4" fmla="*/ 0 h 21843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394031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278715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5728473"/>
              <a:gd name="connsiteY0" fmla="*/ 0 h 226059"/>
              <a:gd name="connsiteX1" fmla="*/ 3940313 w 5728473"/>
              <a:gd name="connsiteY1" fmla="*/ 0 h 226059"/>
              <a:gd name="connsiteX2" fmla="*/ 5728473 w 5728473"/>
              <a:gd name="connsiteY2" fmla="*/ 226059 h 226059"/>
              <a:gd name="connsiteX3" fmla="*/ 0 w 5728473"/>
              <a:gd name="connsiteY3" fmla="*/ 223519 h 226059"/>
              <a:gd name="connsiteX4" fmla="*/ 1803400 w 5728473"/>
              <a:gd name="connsiteY4" fmla="*/ 0 h 226059"/>
              <a:gd name="connsiteX0" fmla="*/ 0 w 3925073"/>
              <a:gd name="connsiteY0" fmla="*/ 0 h 226059"/>
              <a:gd name="connsiteX1" fmla="*/ 2136913 w 3925073"/>
              <a:gd name="connsiteY1" fmla="*/ 0 h 226059"/>
              <a:gd name="connsiteX2" fmla="*/ 3925073 w 3925073"/>
              <a:gd name="connsiteY2" fmla="*/ 226059 h 226059"/>
              <a:gd name="connsiteX3" fmla="*/ 1137920 w 3925073"/>
              <a:gd name="connsiteY3" fmla="*/ 223519 h 226059"/>
              <a:gd name="connsiteX4" fmla="*/ 0 w 3925073"/>
              <a:gd name="connsiteY4" fmla="*/ 0 h 226059"/>
              <a:gd name="connsiteX0" fmla="*/ 1833880 w 5758953"/>
              <a:gd name="connsiteY0" fmla="*/ 0 h 226059"/>
              <a:gd name="connsiteX1" fmla="*/ 3970793 w 5758953"/>
              <a:gd name="connsiteY1" fmla="*/ 0 h 226059"/>
              <a:gd name="connsiteX2" fmla="*/ 5758953 w 5758953"/>
              <a:gd name="connsiteY2" fmla="*/ 226059 h 226059"/>
              <a:gd name="connsiteX3" fmla="*/ 0 w 5758953"/>
              <a:gd name="connsiteY3" fmla="*/ 223519 h 226059"/>
              <a:gd name="connsiteX4" fmla="*/ 1833880 w 5758953"/>
              <a:gd name="connsiteY4" fmla="*/ 0 h 226059"/>
              <a:gd name="connsiteX0" fmla="*/ 1388110 w 5758953"/>
              <a:gd name="connsiteY0" fmla="*/ 0 h 237489"/>
              <a:gd name="connsiteX1" fmla="*/ 3970793 w 5758953"/>
              <a:gd name="connsiteY1" fmla="*/ 11430 h 237489"/>
              <a:gd name="connsiteX2" fmla="*/ 5758953 w 5758953"/>
              <a:gd name="connsiteY2" fmla="*/ 237489 h 237489"/>
              <a:gd name="connsiteX3" fmla="*/ 0 w 5758953"/>
              <a:gd name="connsiteY3" fmla="*/ 234949 h 237489"/>
              <a:gd name="connsiteX4" fmla="*/ 1388110 w 5758953"/>
              <a:gd name="connsiteY4" fmla="*/ 0 h 237489"/>
              <a:gd name="connsiteX0" fmla="*/ 1388110 w 5758953"/>
              <a:gd name="connsiteY0" fmla="*/ 3810 h 241299"/>
              <a:gd name="connsiteX1" fmla="*/ 425654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381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635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6350 h 24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8953" h="241299">
                <a:moveTo>
                  <a:pt x="1388110" y="6350"/>
                </a:moveTo>
                <a:lnTo>
                  <a:pt x="4203203" y="0"/>
                </a:lnTo>
                <a:lnTo>
                  <a:pt x="5758953" y="241299"/>
                </a:lnTo>
                <a:lnTo>
                  <a:pt x="0" y="238759"/>
                </a:lnTo>
                <a:lnTo>
                  <a:pt x="1388110" y="635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rgbClr val="00162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41">
            <a:extLst>
              <a:ext uri="{FF2B5EF4-FFF2-40B4-BE49-F238E27FC236}">
                <a16:creationId xmlns:a16="http://schemas.microsoft.com/office/drawing/2014/main" id="{AB84E166-9D7C-8D59-2403-B9CC608E5739}"/>
              </a:ext>
            </a:extLst>
          </p:cNvPr>
          <p:cNvSpPr/>
          <p:nvPr/>
        </p:nvSpPr>
        <p:spPr>
          <a:xfrm rot="16200000">
            <a:off x="2819641" y="5440417"/>
            <a:ext cx="2803861" cy="187358"/>
          </a:xfrm>
          <a:custGeom>
            <a:avLst/>
            <a:gdLst>
              <a:gd name="connsiteX0" fmla="*/ 0 w 2136913"/>
              <a:gd name="connsiteY0" fmla="*/ 0 h 218439"/>
              <a:gd name="connsiteX1" fmla="*/ 2136913 w 2136913"/>
              <a:gd name="connsiteY1" fmla="*/ 0 h 218439"/>
              <a:gd name="connsiteX2" fmla="*/ 2136913 w 2136913"/>
              <a:gd name="connsiteY2" fmla="*/ 218439 h 218439"/>
              <a:gd name="connsiteX3" fmla="*/ 0 w 2136913"/>
              <a:gd name="connsiteY3" fmla="*/ 218439 h 218439"/>
              <a:gd name="connsiteX4" fmla="*/ 0 w 2136913"/>
              <a:gd name="connsiteY4" fmla="*/ 0 h 21843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394031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278715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5728473"/>
              <a:gd name="connsiteY0" fmla="*/ 0 h 226059"/>
              <a:gd name="connsiteX1" fmla="*/ 3940313 w 5728473"/>
              <a:gd name="connsiteY1" fmla="*/ 0 h 226059"/>
              <a:gd name="connsiteX2" fmla="*/ 5728473 w 5728473"/>
              <a:gd name="connsiteY2" fmla="*/ 226059 h 226059"/>
              <a:gd name="connsiteX3" fmla="*/ 0 w 5728473"/>
              <a:gd name="connsiteY3" fmla="*/ 223519 h 226059"/>
              <a:gd name="connsiteX4" fmla="*/ 1803400 w 5728473"/>
              <a:gd name="connsiteY4" fmla="*/ 0 h 226059"/>
              <a:gd name="connsiteX0" fmla="*/ 0 w 3925073"/>
              <a:gd name="connsiteY0" fmla="*/ 0 h 226059"/>
              <a:gd name="connsiteX1" fmla="*/ 2136913 w 3925073"/>
              <a:gd name="connsiteY1" fmla="*/ 0 h 226059"/>
              <a:gd name="connsiteX2" fmla="*/ 3925073 w 3925073"/>
              <a:gd name="connsiteY2" fmla="*/ 226059 h 226059"/>
              <a:gd name="connsiteX3" fmla="*/ 1137920 w 3925073"/>
              <a:gd name="connsiteY3" fmla="*/ 223519 h 226059"/>
              <a:gd name="connsiteX4" fmla="*/ 0 w 3925073"/>
              <a:gd name="connsiteY4" fmla="*/ 0 h 226059"/>
              <a:gd name="connsiteX0" fmla="*/ 1833880 w 5758953"/>
              <a:gd name="connsiteY0" fmla="*/ 0 h 226059"/>
              <a:gd name="connsiteX1" fmla="*/ 3970793 w 5758953"/>
              <a:gd name="connsiteY1" fmla="*/ 0 h 226059"/>
              <a:gd name="connsiteX2" fmla="*/ 5758953 w 5758953"/>
              <a:gd name="connsiteY2" fmla="*/ 226059 h 226059"/>
              <a:gd name="connsiteX3" fmla="*/ 0 w 5758953"/>
              <a:gd name="connsiteY3" fmla="*/ 223519 h 226059"/>
              <a:gd name="connsiteX4" fmla="*/ 1833880 w 5758953"/>
              <a:gd name="connsiteY4" fmla="*/ 0 h 226059"/>
              <a:gd name="connsiteX0" fmla="*/ 1388110 w 5758953"/>
              <a:gd name="connsiteY0" fmla="*/ 0 h 237489"/>
              <a:gd name="connsiteX1" fmla="*/ 3970793 w 5758953"/>
              <a:gd name="connsiteY1" fmla="*/ 11430 h 237489"/>
              <a:gd name="connsiteX2" fmla="*/ 5758953 w 5758953"/>
              <a:gd name="connsiteY2" fmla="*/ 237489 h 237489"/>
              <a:gd name="connsiteX3" fmla="*/ 0 w 5758953"/>
              <a:gd name="connsiteY3" fmla="*/ 234949 h 237489"/>
              <a:gd name="connsiteX4" fmla="*/ 1388110 w 5758953"/>
              <a:gd name="connsiteY4" fmla="*/ 0 h 237489"/>
              <a:gd name="connsiteX0" fmla="*/ 1388110 w 5758953"/>
              <a:gd name="connsiteY0" fmla="*/ 3810 h 241299"/>
              <a:gd name="connsiteX1" fmla="*/ 425654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381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635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6350 h 24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8953" h="241299">
                <a:moveTo>
                  <a:pt x="1388110" y="6350"/>
                </a:moveTo>
                <a:lnTo>
                  <a:pt x="4203203" y="0"/>
                </a:lnTo>
                <a:lnTo>
                  <a:pt x="5758953" y="241299"/>
                </a:lnTo>
                <a:lnTo>
                  <a:pt x="0" y="238759"/>
                </a:lnTo>
                <a:lnTo>
                  <a:pt x="1388110" y="635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rgbClr val="00162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41">
            <a:extLst>
              <a:ext uri="{FF2B5EF4-FFF2-40B4-BE49-F238E27FC236}">
                <a16:creationId xmlns:a16="http://schemas.microsoft.com/office/drawing/2014/main" id="{978559C8-D8E0-F783-59E5-0DA27DDBD30E}"/>
              </a:ext>
            </a:extLst>
          </p:cNvPr>
          <p:cNvSpPr/>
          <p:nvPr/>
        </p:nvSpPr>
        <p:spPr>
          <a:xfrm rot="16200000">
            <a:off x="8800030" y="2621212"/>
            <a:ext cx="2803861" cy="187358"/>
          </a:xfrm>
          <a:custGeom>
            <a:avLst/>
            <a:gdLst>
              <a:gd name="connsiteX0" fmla="*/ 0 w 2136913"/>
              <a:gd name="connsiteY0" fmla="*/ 0 h 218439"/>
              <a:gd name="connsiteX1" fmla="*/ 2136913 w 2136913"/>
              <a:gd name="connsiteY1" fmla="*/ 0 h 218439"/>
              <a:gd name="connsiteX2" fmla="*/ 2136913 w 2136913"/>
              <a:gd name="connsiteY2" fmla="*/ 218439 h 218439"/>
              <a:gd name="connsiteX3" fmla="*/ 0 w 2136913"/>
              <a:gd name="connsiteY3" fmla="*/ 218439 h 218439"/>
              <a:gd name="connsiteX4" fmla="*/ 0 w 2136913"/>
              <a:gd name="connsiteY4" fmla="*/ 0 h 21843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394031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278715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5728473"/>
              <a:gd name="connsiteY0" fmla="*/ 0 h 226059"/>
              <a:gd name="connsiteX1" fmla="*/ 3940313 w 5728473"/>
              <a:gd name="connsiteY1" fmla="*/ 0 h 226059"/>
              <a:gd name="connsiteX2" fmla="*/ 5728473 w 5728473"/>
              <a:gd name="connsiteY2" fmla="*/ 226059 h 226059"/>
              <a:gd name="connsiteX3" fmla="*/ 0 w 5728473"/>
              <a:gd name="connsiteY3" fmla="*/ 223519 h 226059"/>
              <a:gd name="connsiteX4" fmla="*/ 1803400 w 5728473"/>
              <a:gd name="connsiteY4" fmla="*/ 0 h 226059"/>
              <a:gd name="connsiteX0" fmla="*/ 0 w 3925073"/>
              <a:gd name="connsiteY0" fmla="*/ 0 h 226059"/>
              <a:gd name="connsiteX1" fmla="*/ 2136913 w 3925073"/>
              <a:gd name="connsiteY1" fmla="*/ 0 h 226059"/>
              <a:gd name="connsiteX2" fmla="*/ 3925073 w 3925073"/>
              <a:gd name="connsiteY2" fmla="*/ 226059 h 226059"/>
              <a:gd name="connsiteX3" fmla="*/ 1137920 w 3925073"/>
              <a:gd name="connsiteY3" fmla="*/ 223519 h 226059"/>
              <a:gd name="connsiteX4" fmla="*/ 0 w 3925073"/>
              <a:gd name="connsiteY4" fmla="*/ 0 h 226059"/>
              <a:gd name="connsiteX0" fmla="*/ 1833880 w 5758953"/>
              <a:gd name="connsiteY0" fmla="*/ 0 h 226059"/>
              <a:gd name="connsiteX1" fmla="*/ 3970793 w 5758953"/>
              <a:gd name="connsiteY1" fmla="*/ 0 h 226059"/>
              <a:gd name="connsiteX2" fmla="*/ 5758953 w 5758953"/>
              <a:gd name="connsiteY2" fmla="*/ 226059 h 226059"/>
              <a:gd name="connsiteX3" fmla="*/ 0 w 5758953"/>
              <a:gd name="connsiteY3" fmla="*/ 223519 h 226059"/>
              <a:gd name="connsiteX4" fmla="*/ 1833880 w 5758953"/>
              <a:gd name="connsiteY4" fmla="*/ 0 h 226059"/>
              <a:gd name="connsiteX0" fmla="*/ 1388110 w 5758953"/>
              <a:gd name="connsiteY0" fmla="*/ 0 h 237489"/>
              <a:gd name="connsiteX1" fmla="*/ 3970793 w 5758953"/>
              <a:gd name="connsiteY1" fmla="*/ 11430 h 237489"/>
              <a:gd name="connsiteX2" fmla="*/ 5758953 w 5758953"/>
              <a:gd name="connsiteY2" fmla="*/ 237489 h 237489"/>
              <a:gd name="connsiteX3" fmla="*/ 0 w 5758953"/>
              <a:gd name="connsiteY3" fmla="*/ 234949 h 237489"/>
              <a:gd name="connsiteX4" fmla="*/ 1388110 w 5758953"/>
              <a:gd name="connsiteY4" fmla="*/ 0 h 237489"/>
              <a:gd name="connsiteX0" fmla="*/ 1388110 w 5758953"/>
              <a:gd name="connsiteY0" fmla="*/ 3810 h 241299"/>
              <a:gd name="connsiteX1" fmla="*/ 425654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381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635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6350 h 24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8953" h="241299">
                <a:moveTo>
                  <a:pt x="1388110" y="6350"/>
                </a:moveTo>
                <a:lnTo>
                  <a:pt x="4203203" y="0"/>
                </a:lnTo>
                <a:lnTo>
                  <a:pt x="5758953" y="241299"/>
                </a:lnTo>
                <a:lnTo>
                  <a:pt x="0" y="238759"/>
                </a:lnTo>
                <a:lnTo>
                  <a:pt x="1388110" y="635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rgbClr val="00162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41">
            <a:extLst>
              <a:ext uri="{FF2B5EF4-FFF2-40B4-BE49-F238E27FC236}">
                <a16:creationId xmlns:a16="http://schemas.microsoft.com/office/drawing/2014/main" id="{6634BAC7-CB96-1A0D-0CF5-AF3C4F6BE5A9}"/>
              </a:ext>
            </a:extLst>
          </p:cNvPr>
          <p:cNvSpPr/>
          <p:nvPr/>
        </p:nvSpPr>
        <p:spPr>
          <a:xfrm rot="16200000">
            <a:off x="8800029" y="5414242"/>
            <a:ext cx="2803861" cy="187358"/>
          </a:xfrm>
          <a:custGeom>
            <a:avLst/>
            <a:gdLst>
              <a:gd name="connsiteX0" fmla="*/ 0 w 2136913"/>
              <a:gd name="connsiteY0" fmla="*/ 0 h 218439"/>
              <a:gd name="connsiteX1" fmla="*/ 2136913 w 2136913"/>
              <a:gd name="connsiteY1" fmla="*/ 0 h 218439"/>
              <a:gd name="connsiteX2" fmla="*/ 2136913 w 2136913"/>
              <a:gd name="connsiteY2" fmla="*/ 218439 h 218439"/>
              <a:gd name="connsiteX3" fmla="*/ 0 w 2136913"/>
              <a:gd name="connsiteY3" fmla="*/ 218439 h 218439"/>
              <a:gd name="connsiteX4" fmla="*/ 0 w 2136913"/>
              <a:gd name="connsiteY4" fmla="*/ 0 h 21843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394031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3940313"/>
              <a:gd name="connsiteY0" fmla="*/ 0 h 223519"/>
              <a:gd name="connsiteX1" fmla="*/ 3940313 w 3940313"/>
              <a:gd name="connsiteY1" fmla="*/ 0 h 223519"/>
              <a:gd name="connsiteX2" fmla="*/ 2787153 w 3940313"/>
              <a:gd name="connsiteY2" fmla="*/ 218439 h 223519"/>
              <a:gd name="connsiteX3" fmla="*/ 0 w 3940313"/>
              <a:gd name="connsiteY3" fmla="*/ 223519 h 223519"/>
              <a:gd name="connsiteX4" fmla="*/ 1803400 w 3940313"/>
              <a:gd name="connsiteY4" fmla="*/ 0 h 223519"/>
              <a:gd name="connsiteX0" fmla="*/ 1803400 w 5728473"/>
              <a:gd name="connsiteY0" fmla="*/ 0 h 226059"/>
              <a:gd name="connsiteX1" fmla="*/ 3940313 w 5728473"/>
              <a:gd name="connsiteY1" fmla="*/ 0 h 226059"/>
              <a:gd name="connsiteX2" fmla="*/ 5728473 w 5728473"/>
              <a:gd name="connsiteY2" fmla="*/ 226059 h 226059"/>
              <a:gd name="connsiteX3" fmla="*/ 0 w 5728473"/>
              <a:gd name="connsiteY3" fmla="*/ 223519 h 226059"/>
              <a:gd name="connsiteX4" fmla="*/ 1803400 w 5728473"/>
              <a:gd name="connsiteY4" fmla="*/ 0 h 226059"/>
              <a:gd name="connsiteX0" fmla="*/ 0 w 3925073"/>
              <a:gd name="connsiteY0" fmla="*/ 0 h 226059"/>
              <a:gd name="connsiteX1" fmla="*/ 2136913 w 3925073"/>
              <a:gd name="connsiteY1" fmla="*/ 0 h 226059"/>
              <a:gd name="connsiteX2" fmla="*/ 3925073 w 3925073"/>
              <a:gd name="connsiteY2" fmla="*/ 226059 h 226059"/>
              <a:gd name="connsiteX3" fmla="*/ 1137920 w 3925073"/>
              <a:gd name="connsiteY3" fmla="*/ 223519 h 226059"/>
              <a:gd name="connsiteX4" fmla="*/ 0 w 3925073"/>
              <a:gd name="connsiteY4" fmla="*/ 0 h 226059"/>
              <a:gd name="connsiteX0" fmla="*/ 1833880 w 5758953"/>
              <a:gd name="connsiteY0" fmla="*/ 0 h 226059"/>
              <a:gd name="connsiteX1" fmla="*/ 3970793 w 5758953"/>
              <a:gd name="connsiteY1" fmla="*/ 0 h 226059"/>
              <a:gd name="connsiteX2" fmla="*/ 5758953 w 5758953"/>
              <a:gd name="connsiteY2" fmla="*/ 226059 h 226059"/>
              <a:gd name="connsiteX3" fmla="*/ 0 w 5758953"/>
              <a:gd name="connsiteY3" fmla="*/ 223519 h 226059"/>
              <a:gd name="connsiteX4" fmla="*/ 1833880 w 5758953"/>
              <a:gd name="connsiteY4" fmla="*/ 0 h 226059"/>
              <a:gd name="connsiteX0" fmla="*/ 1388110 w 5758953"/>
              <a:gd name="connsiteY0" fmla="*/ 0 h 237489"/>
              <a:gd name="connsiteX1" fmla="*/ 3970793 w 5758953"/>
              <a:gd name="connsiteY1" fmla="*/ 11430 h 237489"/>
              <a:gd name="connsiteX2" fmla="*/ 5758953 w 5758953"/>
              <a:gd name="connsiteY2" fmla="*/ 237489 h 237489"/>
              <a:gd name="connsiteX3" fmla="*/ 0 w 5758953"/>
              <a:gd name="connsiteY3" fmla="*/ 234949 h 237489"/>
              <a:gd name="connsiteX4" fmla="*/ 1388110 w 5758953"/>
              <a:gd name="connsiteY4" fmla="*/ 0 h 237489"/>
              <a:gd name="connsiteX0" fmla="*/ 1388110 w 5758953"/>
              <a:gd name="connsiteY0" fmla="*/ 3810 h 241299"/>
              <a:gd name="connsiteX1" fmla="*/ 425654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381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3810 h 241299"/>
              <a:gd name="connsiteX0" fmla="*/ 1388110 w 5758953"/>
              <a:gd name="connsiteY0" fmla="*/ 6350 h 241299"/>
              <a:gd name="connsiteX1" fmla="*/ 4203203 w 5758953"/>
              <a:gd name="connsiteY1" fmla="*/ 0 h 241299"/>
              <a:gd name="connsiteX2" fmla="*/ 5758953 w 5758953"/>
              <a:gd name="connsiteY2" fmla="*/ 241299 h 241299"/>
              <a:gd name="connsiteX3" fmla="*/ 0 w 5758953"/>
              <a:gd name="connsiteY3" fmla="*/ 238759 h 241299"/>
              <a:gd name="connsiteX4" fmla="*/ 1388110 w 5758953"/>
              <a:gd name="connsiteY4" fmla="*/ 6350 h 24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8953" h="241299">
                <a:moveTo>
                  <a:pt x="1388110" y="6350"/>
                </a:moveTo>
                <a:lnTo>
                  <a:pt x="4203203" y="0"/>
                </a:lnTo>
                <a:lnTo>
                  <a:pt x="5758953" y="241299"/>
                </a:lnTo>
                <a:lnTo>
                  <a:pt x="0" y="238759"/>
                </a:lnTo>
                <a:lnTo>
                  <a:pt x="1388110" y="6350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rgbClr val="00162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03943F-64F5-7BA3-4B45-B34E90D53693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FFFF">
                    <a:lumMod val="50000"/>
                  </a:srgbClr>
                </a:solidFill>
                <a:latin typeface="Aptos" panose="020B0004020202020204" pitchFamily="34" charset="0"/>
              </a:rPr>
              <a:t>Based on the needs analysis, 4 key features are identified for the high-income professionals that will help acquire and retain users 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9646BE61-46F5-7913-3ECA-2318F0A45187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1D5D65E4-8382-64CE-CA3C-ADF4931EB89C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E2E777BA-14EA-F13D-1B15-E0E8ADFA8164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73391D04-B49A-38B4-CE20-5B89E5819594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FF611318-A497-704E-76E6-000A1E6686E8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B7868F26-D8AF-5E98-6A38-233C10D0DDF5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ACC7B98D-D7FF-AFB8-DBF0-B9F227883FF5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6E9086E2-652D-0857-A6AD-6BDF603159CE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9BEA708B-E68A-F80D-84DF-5B4442768094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9C6CBBDE-6151-4C5F-606F-847E24CA3FE8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: Top Corners Rounded 43">
            <a:extLst>
              <a:ext uri="{FF2B5EF4-FFF2-40B4-BE49-F238E27FC236}">
                <a16:creationId xmlns:a16="http://schemas.microsoft.com/office/drawing/2014/main" id="{086981AF-0C7B-C300-D84B-DAB20A9D6289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3D922E6E-CA37-6D03-3126-B89AF50AF545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Arrow: Chevron 45">
            <a:extLst>
              <a:ext uri="{FF2B5EF4-FFF2-40B4-BE49-F238E27FC236}">
                <a16:creationId xmlns:a16="http://schemas.microsoft.com/office/drawing/2014/main" id="{827376FB-245E-3F0A-748F-49314F7DDD83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6035359F-11C2-B8DC-52D3-561E3F7A39DC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94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3E4E7AA9-5836-266E-2455-B2EFD8F55166}"/>
              </a:ext>
            </a:extLst>
          </p:cNvPr>
          <p:cNvSpPr/>
          <p:nvPr/>
        </p:nvSpPr>
        <p:spPr>
          <a:xfrm>
            <a:off x="6919596" y="1331227"/>
            <a:ext cx="5048287" cy="5371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IN" sz="1100" i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066321A-2F6A-2161-5918-A77DED025102}"/>
              </a:ext>
            </a:extLst>
          </p:cNvPr>
          <p:cNvSpPr/>
          <p:nvPr/>
        </p:nvSpPr>
        <p:spPr>
          <a:xfrm>
            <a:off x="4544093" y="2233619"/>
            <a:ext cx="2890683" cy="1032387"/>
          </a:xfrm>
          <a:custGeom>
            <a:avLst/>
            <a:gdLst>
              <a:gd name="connsiteX0" fmla="*/ 1331287 w 2838739"/>
              <a:gd name="connsiteY0" fmla="*/ 0 h 1590688"/>
              <a:gd name="connsiteX1" fmla="*/ 2009945 w 2838739"/>
              <a:gd name="connsiteY1" fmla="*/ 0 h 1590688"/>
              <a:gd name="connsiteX2" fmla="*/ 2838739 w 2838739"/>
              <a:gd name="connsiteY2" fmla="*/ 0 h 1590688"/>
              <a:gd name="connsiteX3" fmla="*/ 2838739 w 2838739"/>
              <a:gd name="connsiteY3" fmla="*/ 558301 h 1590688"/>
              <a:gd name="connsiteX4" fmla="*/ 1624100 w 2838739"/>
              <a:gd name="connsiteY4" fmla="*/ 558301 h 1590688"/>
              <a:gd name="connsiteX5" fmla="*/ 1296456 w 2838739"/>
              <a:gd name="connsiteY5" fmla="*/ 1032387 h 1590688"/>
              <a:gd name="connsiteX6" fmla="*/ 1953836 w 2838739"/>
              <a:gd name="connsiteY6" fmla="*/ 1032387 h 1590688"/>
              <a:gd name="connsiteX7" fmla="*/ 1953836 w 2838739"/>
              <a:gd name="connsiteY7" fmla="*/ 1590688 h 1590688"/>
              <a:gd name="connsiteX8" fmla="*/ 0 w 2838739"/>
              <a:gd name="connsiteY8" fmla="*/ 1590688 h 1590688"/>
              <a:gd name="connsiteX9" fmla="*/ 0 w 2838739"/>
              <a:gd name="connsiteY9" fmla="*/ 1032387 h 1590688"/>
              <a:gd name="connsiteX10" fmla="*/ 617796 w 2838739"/>
              <a:gd name="connsiteY10" fmla="*/ 1032387 h 1590688"/>
              <a:gd name="connsiteX11" fmla="*/ 617797 w 2838739"/>
              <a:gd name="connsiteY11" fmla="*/ 1032387 h 1590688"/>
              <a:gd name="connsiteX12" fmla="*/ 945442 w 2838739"/>
              <a:gd name="connsiteY12" fmla="*/ 558301 h 1590688"/>
              <a:gd name="connsiteX13" fmla="*/ 945441 w 2838739"/>
              <a:gd name="connsiteY13" fmla="*/ 558301 h 1590688"/>
              <a:gd name="connsiteX0" fmla="*/ 1953836 w 2838739"/>
              <a:gd name="connsiteY0" fmla="*/ 1590688 h 1682128"/>
              <a:gd name="connsiteX1" fmla="*/ 0 w 2838739"/>
              <a:gd name="connsiteY1" fmla="*/ 1590688 h 1682128"/>
              <a:gd name="connsiteX2" fmla="*/ 0 w 2838739"/>
              <a:gd name="connsiteY2" fmla="*/ 1032387 h 1682128"/>
              <a:gd name="connsiteX3" fmla="*/ 617796 w 2838739"/>
              <a:gd name="connsiteY3" fmla="*/ 1032387 h 1682128"/>
              <a:gd name="connsiteX4" fmla="*/ 617797 w 2838739"/>
              <a:gd name="connsiteY4" fmla="*/ 1032387 h 1682128"/>
              <a:gd name="connsiteX5" fmla="*/ 945442 w 2838739"/>
              <a:gd name="connsiteY5" fmla="*/ 558301 h 1682128"/>
              <a:gd name="connsiteX6" fmla="*/ 945441 w 2838739"/>
              <a:gd name="connsiteY6" fmla="*/ 558301 h 1682128"/>
              <a:gd name="connsiteX7" fmla="*/ 1331287 w 2838739"/>
              <a:gd name="connsiteY7" fmla="*/ 0 h 1682128"/>
              <a:gd name="connsiteX8" fmla="*/ 2009945 w 2838739"/>
              <a:gd name="connsiteY8" fmla="*/ 0 h 1682128"/>
              <a:gd name="connsiteX9" fmla="*/ 2838739 w 2838739"/>
              <a:gd name="connsiteY9" fmla="*/ 0 h 1682128"/>
              <a:gd name="connsiteX10" fmla="*/ 2838739 w 2838739"/>
              <a:gd name="connsiteY10" fmla="*/ 558301 h 1682128"/>
              <a:gd name="connsiteX11" fmla="*/ 1624100 w 2838739"/>
              <a:gd name="connsiteY11" fmla="*/ 558301 h 1682128"/>
              <a:gd name="connsiteX12" fmla="*/ 1296456 w 2838739"/>
              <a:gd name="connsiteY12" fmla="*/ 1032387 h 1682128"/>
              <a:gd name="connsiteX13" fmla="*/ 1953836 w 2838739"/>
              <a:gd name="connsiteY13" fmla="*/ 1032387 h 1682128"/>
              <a:gd name="connsiteX14" fmla="*/ 2045276 w 2838739"/>
              <a:gd name="connsiteY14" fmla="*/ 1682128 h 1682128"/>
              <a:gd name="connsiteX0" fmla="*/ 0 w 2838739"/>
              <a:gd name="connsiteY0" fmla="*/ 1590688 h 1682128"/>
              <a:gd name="connsiteX1" fmla="*/ 0 w 2838739"/>
              <a:gd name="connsiteY1" fmla="*/ 1032387 h 1682128"/>
              <a:gd name="connsiteX2" fmla="*/ 617796 w 2838739"/>
              <a:gd name="connsiteY2" fmla="*/ 1032387 h 1682128"/>
              <a:gd name="connsiteX3" fmla="*/ 617797 w 2838739"/>
              <a:gd name="connsiteY3" fmla="*/ 1032387 h 1682128"/>
              <a:gd name="connsiteX4" fmla="*/ 945442 w 2838739"/>
              <a:gd name="connsiteY4" fmla="*/ 558301 h 1682128"/>
              <a:gd name="connsiteX5" fmla="*/ 945441 w 2838739"/>
              <a:gd name="connsiteY5" fmla="*/ 558301 h 1682128"/>
              <a:gd name="connsiteX6" fmla="*/ 1331287 w 2838739"/>
              <a:gd name="connsiteY6" fmla="*/ 0 h 1682128"/>
              <a:gd name="connsiteX7" fmla="*/ 2009945 w 2838739"/>
              <a:gd name="connsiteY7" fmla="*/ 0 h 1682128"/>
              <a:gd name="connsiteX8" fmla="*/ 2838739 w 2838739"/>
              <a:gd name="connsiteY8" fmla="*/ 0 h 1682128"/>
              <a:gd name="connsiteX9" fmla="*/ 2838739 w 2838739"/>
              <a:gd name="connsiteY9" fmla="*/ 558301 h 1682128"/>
              <a:gd name="connsiteX10" fmla="*/ 1624100 w 2838739"/>
              <a:gd name="connsiteY10" fmla="*/ 558301 h 1682128"/>
              <a:gd name="connsiteX11" fmla="*/ 1296456 w 2838739"/>
              <a:gd name="connsiteY11" fmla="*/ 1032387 h 1682128"/>
              <a:gd name="connsiteX12" fmla="*/ 1953836 w 2838739"/>
              <a:gd name="connsiteY12" fmla="*/ 1032387 h 1682128"/>
              <a:gd name="connsiteX13" fmla="*/ 2045276 w 2838739"/>
              <a:gd name="connsiteY13" fmla="*/ 1682128 h 168212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11" fmla="*/ 1296456 w 2838739"/>
              <a:gd name="connsiteY11" fmla="*/ 1032387 h 1590688"/>
              <a:gd name="connsiteX12" fmla="*/ 1953836 w 2838739"/>
              <a:gd name="connsiteY12" fmla="*/ 1032387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11" fmla="*/ 1296456 w 2838739"/>
              <a:gd name="connsiteY11" fmla="*/ 1032387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838739 w 2838739"/>
              <a:gd name="connsiteY7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1331287 w 2838739"/>
              <a:gd name="connsiteY5" fmla="*/ 0 h 1590688"/>
              <a:gd name="connsiteX6" fmla="*/ 2838739 w 2838739"/>
              <a:gd name="connsiteY6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1331287 w 2838739"/>
              <a:gd name="connsiteY4" fmla="*/ 0 h 1590688"/>
              <a:gd name="connsiteX5" fmla="*/ 2838739 w 2838739"/>
              <a:gd name="connsiteY5" fmla="*/ 0 h 1590688"/>
              <a:gd name="connsiteX0" fmla="*/ 0 w 2838739"/>
              <a:gd name="connsiteY0" fmla="*/ 1032387 h 1032387"/>
              <a:gd name="connsiteX1" fmla="*/ 617796 w 2838739"/>
              <a:gd name="connsiteY1" fmla="*/ 1032387 h 1032387"/>
              <a:gd name="connsiteX2" fmla="*/ 617797 w 2838739"/>
              <a:gd name="connsiteY2" fmla="*/ 1032387 h 1032387"/>
              <a:gd name="connsiteX3" fmla="*/ 1331287 w 2838739"/>
              <a:gd name="connsiteY3" fmla="*/ 0 h 1032387"/>
              <a:gd name="connsiteX4" fmla="*/ 2838739 w 2838739"/>
              <a:gd name="connsiteY4" fmla="*/ 0 h 103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8739" h="1032387">
                <a:moveTo>
                  <a:pt x="0" y="1032387"/>
                </a:moveTo>
                <a:lnTo>
                  <a:pt x="617796" y="1032387"/>
                </a:lnTo>
                <a:lnTo>
                  <a:pt x="617797" y="1032387"/>
                </a:lnTo>
                <a:lnTo>
                  <a:pt x="1331287" y="0"/>
                </a:lnTo>
                <a:lnTo>
                  <a:pt x="2838739" y="0"/>
                </a:lnTo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39BC87-916F-6B48-48B1-B199821E3F20}"/>
              </a:ext>
            </a:extLst>
          </p:cNvPr>
          <p:cNvSpPr/>
          <p:nvPr/>
        </p:nvSpPr>
        <p:spPr>
          <a:xfrm>
            <a:off x="4025994" y="3984951"/>
            <a:ext cx="3460104" cy="629189"/>
          </a:xfrm>
          <a:custGeom>
            <a:avLst/>
            <a:gdLst>
              <a:gd name="connsiteX0" fmla="*/ 1331287 w 2838739"/>
              <a:gd name="connsiteY0" fmla="*/ 0 h 1590688"/>
              <a:gd name="connsiteX1" fmla="*/ 2009945 w 2838739"/>
              <a:gd name="connsiteY1" fmla="*/ 0 h 1590688"/>
              <a:gd name="connsiteX2" fmla="*/ 2838739 w 2838739"/>
              <a:gd name="connsiteY2" fmla="*/ 0 h 1590688"/>
              <a:gd name="connsiteX3" fmla="*/ 2838739 w 2838739"/>
              <a:gd name="connsiteY3" fmla="*/ 558301 h 1590688"/>
              <a:gd name="connsiteX4" fmla="*/ 1624100 w 2838739"/>
              <a:gd name="connsiteY4" fmla="*/ 558301 h 1590688"/>
              <a:gd name="connsiteX5" fmla="*/ 1296456 w 2838739"/>
              <a:gd name="connsiteY5" fmla="*/ 1032387 h 1590688"/>
              <a:gd name="connsiteX6" fmla="*/ 1953836 w 2838739"/>
              <a:gd name="connsiteY6" fmla="*/ 1032387 h 1590688"/>
              <a:gd name="connsiteX7" fmla="*/ 1953836 w 2838739"/>
              <a:gd name="connsiteY7" fmla="*/ 1590688 h 1590688"/>
              <a:gd name="connsiteX8" fmla="*/ 0 w 2838739"/>
              <a:gd name="connsiteY8" fmla="*/ 1590688 h 1590688"/>
              <a:gd name="connsiteX9" fmla="*/ 0 w 2838739"/>
              <a:gd name="connsiteY9" fmla="*/ 1032387 h 1590688"/>
              <a:gd name="connsiteX10" fmla="*/ 617796 w 2838739"/>
              <a:gd name="connsiteY10" fmla="*/ 1032387 h 1590688"/>
              <a:gd name="connsiteX11" fmla="*/ 617797 w 2838739"/>
              <a:gd name="connsiteY11" fmla="*/ 1032387 h 1590688"/>
              <a:gd name="connsiteX12" fmla="*/ 945442 w 2838739"/>
              <a:gd name="connsiteY12" fmla="*/ 558301 h 1590688"/>
              <a:gd name="connsiteX13" fmla="*/ 945441 w 2838739"/>
              <a:gd name="connsiteY13" fmla="*/ 558301 h 1590688"/>
              <a:gd name="connsiteX0" fmla="*/ 1953836 w 2838739"/>
              <a:gd name="connsiteY0" fmla="*/ 1590688 h 1682128"/>
              <a:gd name="connsiteX1" fmla="*/ 0 w 2838739"/>
              <a:gd name="connsiteY1" fmla="*/ 1590688 h 1682128"/>
              <a:gd name="connsiteX2" fmla="*/ 0 w 2838739"/>
              <a:gd name="connsiteY2" fmla="*/ 1032387 h 1682128"/>
              <a:gd name="connsiteX3" fmla="*/ 617796 w 2838739"/>
              <a:gd name="connsiteY3" fmla="*/ 1032387 h 1682128"/>
              <a:gd name="connsiteX4" fmla="*/ 617797 w 2838739"/>
              <a:gd name="connsiteY4" fmla="*/ 1032387 h 1682128"/>
              <a:gd name="connsiteX5" fmla="*/ 945442 w 2838739"/>
              <a:gd name="connsiteY5" fmla="*/ 558301 h 1682128"/>
              <a:gd name="connsiteX6" fmla="*/ 945441 w 2838739"/>
              <a:gd name="connsiteY6" fmla="*/ 558301 h 1682128"/>
              <a:gd name="connsiteX7" fmla="*/ 1331287 w 2838739"/>
              <a:gd name="connsiteY7" fmla="*/ 0 h 1682128"/>
              <a:gd name="connsiteX8" fmla="*/ 2009945 w 2838739"/>
              <a:gd name="connsiteY8" fmla="*/ 0 h 1682128"/>
              <a:gd name="connsiteX9" fmla="*/ 2838739 w 2838739"/>
              <a:gd name="connsiteY9" fmla="*/ 0 h 1682128"/>
              <a:gd name="connsiteX10" fmla="*/ 2838739 w 2838739"/>
              <a:gd name="connsiteY10" fmla="*/ 558301 h 1682128"/>
              <a:gd name="connsiteX11" fmla="*/ 1624100 w 2838739"/>
              <a:gd name="connsiteY11" fmla="*/ 558301 h 1682128"/>
              <a:gd name="connsiteX12" fmla="*/ 1296456 w 2838739"/>
              <a:gd name="connsiteY12" fmla="*/ 1032387 h 1682128"/>
              <a:gd name="connsiteX13" fmla="*/ 1953836 w 2838739"/>
              <a:gd name="connsiteY13" fmla="*/ 1032387 h 1682128"/>
              <a:gd name="connsiteX14" fmla="*/ 2045276 w 2838739"/>
              <a:gd name="connsiteY14" fmla="*/ 1682128 h 1682128"/>
              <a:gd name="connsiteX0" fmla="*/ 0 w 2838739"/>
              <a:gd name="connsiteY0" fmla="*/ 1590688 h 1682128"/>
              <a:gd name="connsiteX1" fmla="*/ 0 w 2838739"/>
              <a:gd name="connsiteY1" fmla="*/ 1032387 h 1682128"/>
              <a:gd name="connsiteX2" fmla="*/ 617796 w 2838739"/>
              <a:gd name="connsiteY2" fmla="*/ 1032387 h 1682128"/>
              <a:gd name="connsiteX3" fmla="*/ 617797 w 2838739"/>
              <a:gd name="connsiteY3" fmla="*/ 1032387 h 1682128"/>
              <a:gd name="connsiteX4" fmla="*/ 945442 w 2838739"/>
              <a:gd name="connsiteY4" fmla="*/ 558301 h 1682128"/>
              <a:gd name="connsiteX5" fmla="*/ 945441 w 2838739"/>
              <a:gd name="connsiteY5" fmla="*/ 558301 h 1682128"/>
              <a:gd name="connsiteX6" fmla="*/ 1331287 w 2838739"/>
              <a:gd name="connsiteY6" fmla="*/ 0 h 1682128"/>
              <a:gd name="connsiteX7" fmla="*/ 2009945 w 2838739"/>
              <a:gd name="connsiteY7" fmla="*/ 0 h 1682128"/>
              <a:gd name="connsiteX8" fmla="*/ 2838739 w 2838739"/>
              <a:gd name="connsiteY8" fmla="*/ 0 h 1682128"/>
              <a:gd name="connsiteX9" fmla="*/ 2838739 w 2838739"/>
              <a:gd name="connsiteY9" fmla="*/ 558301 h 1682128"/>
              <a:gd name="connsiteX10" fmla="*/ 1624100 w 2838739"/>
              <a:gd name="connsiteY10" fmla="*/ 558301 h 1682128"/>
              <a:gd name="connsiteX11" fmla="*/ 1296456 w 2838739"/>
              <a:gd name="connsiteY11" fmla="*/ 1032387 h 1682128"/>
              <a:gd name="connsiteX12" fmla="*/ 1953836 w 2838739"/>
              <a:gd name="connsiteY12" fmla="*/ 1032387 h 1682128"/>
              <a:gd name="connsiteX13" fmla="*/ 2045276 w 2838739"/>
              <a:gd name="connsiteY13" fmla="*/ 1682128 h 168212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11" fmla="*/ 1296456 w 2838739"/>
              <a:gd name="connsiteY11" fmla="*/ 1032387 h 1590688"/>
              <a:gd name="connsiteX12" fmla="*/ 1953836 w 2838739"/>
              <a:gd name="connsiteY12" fmla="*/ 1032387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11" fmla="*/ 1296456 w 2838739"/>
              <a:gd name="connsiteY11" fmla="*/ 1032387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838739 w 2838739"/>
              <a:gd name="connsiteY7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1331287 w 2838739"/>
              <a:gd name="connsiteY5" fmla="*/ 0 h 1590688"/>
              <a:gd name="connsiteX6" fmla="*/ 2838739 w 2838739"/>
              <a:gd name="connsiteY6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1331287 w 2838739"/>
              <a:gd name="connsiteY4" fmla="*/ 0 h 1590688"/>
              <a:gd name="connsiteX5" fmla="*/ 2838739 w 2838739"/>
              <a:gd name="connsiteY5" fmla="*/ 0 h 1590688"/>
              <a:gd name="connsiteX0" fmla="*/ 0 w 2838739"/>
              <a:gd name="connsiteY0" fmla="*/ 1032387 h 1032387"/>
              <a:gd name="connsiteX1" fmla="*/ 617796 w 2838739"/>
              <a:gd name="connsiteY1" fmla="*/ 1032387 h 1032387"/>
              <a:gd name="connsiteX2" fmla="*/ 617797 w 2838739"/>
              <a:gd name="connsiteY2" fmla="*/ 1032387 h 1032387"/>
              <a:gd name="connsiteX3" fmla="*/ 1331287 w 2838739"/>
              <a:gd name="connsiteY3" fmla="*/ 0 h 1032387"/>
              <a:gd name="connsiteX4" fmla="*/ 2838739 w 2838739"/>
              <a:gd name="connsiteY4" fmla="*/ 0 h 1032387"/>
              <a:gd name="connsiteX0" fmla="*/ 0 w 2838739"/>
              <a:gd name="connsiteY0" fmla="*/ 1032387 h 1032387"/>
              <a:gd name="connsiteX1" fmla="*/ 617796 w 2838739"/>
              <a:gd name="connsiteY1" fmla="*/ 1032387 h 1032387"/>
              <a:gd name="connsiteX2" fmla="*/ 617797 w 2838739"/>
              <a:gd name="connsiteY2" fmla="*/ 1032387 h 1032387"/>
              <a:gd name="connsiteX3" fmla="*/ 1062112 w 2838739"/>
              <a:gd name="connsiteY3" fmla="*/ 403198 h 1032387"/>
              <a:gd name="connsiteX4" fmla="*/ 1331287 w 2838739"/>
              <a:gd name="connsiteY4" fmla="*/ 0 h 1032387"/>
              <a:gd name="connsiteX5" fmla="*/ 2838739 w 2838739"/>
              <a:gd name="connsiteY5" fmla="*/ 0 h 1032387"/>
              <a:gd name="connsiteX0" fmla="*/ 0 w 2877361"/>
              <a:gd name="connsiteY0" fmla="*/ 1032387 h 1032387"/>
              <a:gd name="connsiteX1" fmla="*/ 617796 w 2877361"/>
              <a:gd name="connsiteY1" fmla="*/ 1032387 h 1032387"/>
              <a:gd name="connsiteX2" fmla="*/ 617797 w 2877361"/>
              <a:gd name="connsiteY2" fmla="*/ 1032387 h 1032387"/>
              <a:gd name="connsiteX3" fmla="*/ 1062112 w 2877361"/>
              <a:gd name="connsiteY3" fmla="*/ 403198 h 1032387"/>
              <a:gd name="connsiteX4" fmla="*/ 1331287 w 2877361"/>
              <a:gd name="connsiteY4" fmla="*/ 0 h 1032387"/>
              <a:gd name="connsiteX5" fmla="*/ 2877361 w 2877361"/>
              <a:gd name="connsiteY5" fmla="*/ 501445 h 1032387"/>
              <a:gd name="connsiteX0" fmla="*/ 0 w 2877361"/>
              <a:gd name="connsiteY0" fmla="*/ 629189 h 629189"/>
              <a:gd name="connsiteX1" fmla="*/ 617796 w 2877361"/>
              <a:gd name="connsiteY1" fmla="*/ 629189 h 629189"/>
              <a:gd name="connsiteX2" fmla="*/ 617797 w 2877361"/>
              <a:gd name="connsiteY2" fmla="*/ 629189 h 629189"/>
              <a:gd name="connsiteX3" fmla="*/ 1062112 w 2877361"/>
              <a:gd name="connsiteY3" fmla="*/ 0 h 629189"/>
              <a:gd name="connsiteX4" fmla="*/ 2877361 w 2877361"/>
              <a:gd name="connsiteY4" fmla="*/ 98247 h 629189"/>
              <a:gd name="connsiteX0" fmla="*/ 0 w 2838739"/>
              <a:gd name="connsiteY0" fmla="*/ 629189 h 629189"/>
              <a:gd name="connsiteX1" fmla="*/ 617796 w 2838739"/>
              <a:gd name="connsiteY1" fmla="*/ 629189 h 629189"/>
              <a:gd name="connsiteX2" fmla="*/ 617797 w 2838739"/>
              <a:gd name="connsiteY2" fmla="*/ 629189 h 629189"/>
              <a:gd name="connsiteX3" fmla="*/ 1062112 w 2838739"/>
              <a:gd name="connsiteY3" fmla="*/ 0 h 629189"/>
              <a:gd name="connsiteX4" fmla="*/ 2838739 w 2838739"/>
              <a:gd name="connsiteY4" fmla="*/ 19589 h 629189"/>
              <a:gd name="connsiteX0" fmla="*/ 0 w 2836018"/>
              <a:gd name="connsiteY0" fmla="*/ 629189 h 629189"/>
              <a:gd name="connsiteX1" fmla="*/ 617796 w 2836018"/>
              <a:gd name="connsiteY1" fmla="*/ 629189 h 629189"/>
              <a:gd name="connsiteX2" fmla="*/ 617797 w 2836018"/>
              <a:gd name="connsiteY2" fmla="*/ 629189 h 629189"/>
              <a:gd name="connsiteX3" fmla="*/ 1062112 w 2836018"/>
              <a:gd name="connsiteY3" fmla="*/ 0 h 629189"/>
              <a:gd name="connsiteX4" fmla="*/ 2836018 w 2836018"/>
              <a:gd name="connsiteY4" fmla="*/ 27902 h 629189"/>
              <a:gd name="connsiteX0" fmla="*/ 0 w 2830576"/>
              <a:gd name="connsiteY0" fmla="*/ 629189 h 629189"/>
              <a:gd name="connsiteX1" fmla="*/ 617796 w 2830576"/>
              <a:gd name="connsiteY1" fmla="*/ 629189 h 629189"/>
              <a:gd name="connsiteX2" fmla="*/ 617797 w 2830576"/>
              <a:gd name="connsiteY2" fmla="*/ 629189 h 629189"/>
              <a:gd name="connsiteX3" fmla="*/ 1062112 w 2830576"/>
              <a:gd name="connsiteY3" fmla="*/ 0 h 629189"/>
              <a:gd name="connsiteX4" fmla="*/ 2830576 w 2830576"/>
              <a:gd name="connsiteY4" fmla="*/ 2964 h 629189"/>
              <a:gd name="connsiteX0" fmla="*/ 0 w 3397929"/>
              <a:gd name="connsiteY0" fmla="*/ 625032 h 629189"/>
              <a:gd name="connsiteX1" fmla="*/ 1185149 w 3397929"/>
              <a:gd name="connsiteY1" fmla="*/ 629189 h 629189"/>
              <a:gd name="connsiteX2" fmla="*/ 1185150 w 3397929"/>
              <a:gd name="connsiteY2" fmla="*/ 629189 h 629189"/>
              <a:gd name="connsiteX3" fmla="*/ 1629465 w 3397929"/>
              <a:gd name="connsiteY3" fmla="*/ 0 h 629189"/>
              <a:gd name="connsiteX4" fmla="*/ 3397929 w 3397929"/>
              <a:gd name="connsiteY4" fmla="*/ 2964 h 629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7929" h="629189">
                <a:moveTo>
                  <a:pt x="0" y="625032"/>
                </a:moveTo>
                <a:lnTo>
                  <a:pt x="1185149" y="629189"/>
                </a:lnTo>
                <a:lnTo>
                  <a:pt x="1185150" y="629189"/>
                </a:lnTo>
                <a:lnTo>
                  <a:pt x="1629465" y="0"/>
                </a:lnTo>
                <a:lnTo>
                  <a:pt x="3397929" y="2964"/>
                </a:lnTo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AC965A1-3243-E297-BD1B-70D53AB78D8C}"/>
              </a:ext>
            </a:extLst>
          </p:cNvPr>
          <p:cNvSpPr/>
          <p:nvPr/>
        </p:nvSpPr>
        <p:spPr>
          <a:xfrm>
            <a:off x="3448381" y="5800345"/>
            <a:ext cx="4086847" cy="139995"/>
          </a:xfrm>
          <a:custGeom>
            <a:avLst/>
            <a:gdLst>
              <a:gd name="connsiteX0" fmla="*/ 1331287 w 2838739"/>
              <a:gd name="connsiteY0" fmla="*/ 0 h 1590688"/>
              <a:gd name="connsiteX1" fmla="*/ 2009945 w 2838739"/>
              <a:gd name="connsiteY1" fmla="*/ 0 h 1590688"/>
              <a:gd name="connsiteX2" fmla="*/ 2838739 w 2838739"/>
              <a:gd name="connsiteY2" fmla="*/ 0 h 1590688"/>
              <a:gd name="connsiteX3" fmla="*/ 2838739 w 2838739"/>
              <a:gd name="connsiteY3" fmla="*/ 558301 h 1590688"/>
              <a:gd name="connsiteX4" fmla="*/ 1624100 w 2838739"/>
              <a:gd name="connsiteY4" fmla="*/ 558301 h 1590688"/>
              <a:gd name="connsiteX5" fmla="*/ 1296456 w 2838739"/>
              <a:gd name="connsiteY5" fmla="*/ 1032387 h 1590688"/>
              <a:gd name="connsiteX6" fmla="*/ 1953836 w 2838739"/>
              <a:gd name="connsiteY6" fmla="*/ 1032387 h 1590688"/>
              <a:gd name="connsiteX7" fmla="*/ 1953836 w 2838739"/>
              <a:gd name="connsiteY7" fmla="*/ 1590688 h 1590688"/>
              <a:gd name="connsiteX8" fmla="*/ 0 w 2838739"/>
              <a:gd name="connsiteY8" fmla="*/ 1590688 h 1590688"/>
              <a:gd name="connsiteX9" fmla="*/ 0 w 2838739"/>
              <a:gd name="connsiteY9" fmla="*/ 1032387 h 1590688"/>
              <a:gd name="connsiteX10" fmla="*/ 617796 w 2838739"/>
              <a:gd name="connsiteY10" fmla="*/ 1032387 h 1590688"/>
              <a:gd name="connsiteX11" fmla="*/ 617797 w 2838739"/>
              <a:gd name="connsiteY11" fmla="*/ 1032387 h 1590688"/>
              <a:gd name="connsiteX12" fmla="*/ 945442 w 2838739"/>
              <a:gd name="connsiteY12" fmla="*/ 558301 h 1590688"/>
              <a:gd name="connsiteX13" fmla="*/ 945441 w 2838739"/>
              <a:gd name="connsiteY13" fmla="*/ 558301 h 1590688"/>
              <a:gd name="connsiteX0" fmla="*/ 1953836 w 2838739"/>
              <a:gd name="connsiteY0" fmla="*/ 1590688 h 1682128"/>
              <a:gd name="connsiteX1" fmla="*/ 0 w 2838739"/>
              <a:gd name="connsiteY1" fmla="*/ 1590688 h 1682128"/>
              <a:gd name="connsiteX2" fmla="*/ 0 w 2838739"/>
              <a:gd name="connsiteY2" fmla="*/ 1032387 h 1682128"/>
              <a:gd name="connsiteX3" fmla="*/ 617796 w 2838739"/>
              <a:gd name="connsiteY3" fmla="*/ 1032387 h 1682128"/>
              <a:gd name="connsiteX4" fmla="*/ 617797 w 2838739"/>
              <a:gd name="connsiteY4" fmla="*/ 1032387 h 1682128"/>
              <a:gd name="connsiteX5" fmla="*/ 945442 w 2838739"/>
              <a:gd name="connsiteY5" fmla="*/ 558301 h 1682128"/>
              <a:gd name="connsiteX6" fmla="*/ 945441 w 2838739"/>
              <a:gd name="connsiteY6" fmla="*/ 558301 h 1682128"/>
              <a:gd name="connsiteX7" fmla="*/ 1331287 w 2838739"/>
              <a:gd name="connsiteY7" fmla="*/ 0 h 1682128"/>
              <a:gd name="connsiteX8" fmla="*/ 2009945 w 2838739"/>
              <a:gd name="connsiteY8" fmla="*/ 0 h 1682128"/>
              <a:gd name="connsiteX9" fmla="*/ 2838739 w 2838739"/>
              <a:gd name="connsiteY9" fmla="*/ 0 h 1682128"/>
              <a:gd name="connsiteX10" fmla="*/ 2838739 w 2838739"/>
              <a:gd name="connsiteY10" fmla="*/ 558301 h 1682128"/>
              <a:gd name="connsiteX11" fmla="*/ 1624100 w 2838739"/>
              <a:gd name="connsiteY11" fmla="*/ 558301 h 1682128"/>
              <a:gd name="connsiteX12" fmla="*/ 1296456 w 2838739"/>
              <a:gd name="connsiteY12" fmla="*/ 1032387 h 1682128"/>
              <a:gd name="connsiteX13" fmla="*/ 1953836 w 2838739"/>
              <a:gd name="connsiteY13" fmla="*/ 1032387 h 1682128"/>
              <a:gd name="connsiteX14" fmla="*/ 2045276 w 2838739"/>
              <a:gd name="connsiteY14" fmla="*/ 1682128 h 1682128"/>
              <a:gd name="connsiteX0" fmla="*/ 0 w 2838739"/>
              <a:gd name="connsiteY0" fmla="*/ 1590688 h 1682128"/>
              <a:gd name="connsiteX1" fmla="*/ 0 w 2838739"/>
              <a:gd name="connsiteY1" fmla="*/ 1032387 h 1682128"/>
              <a:gd name="connsiteX2" fmla="*/ 617796 w 2838739"/>
              <a:gd name="connsiteY2" fmla="*/ 1032387 h 1682128"/>
              <a:gd name="connsiteX3" fmla="*/ 617797 w 2838739"/>
              <a:gd name="connsiteY3" fmla="*/ 1032387 h 1682128"/>
              <a:gd name="connsiteX4" fmla="*/ 945442 w 2838739"/>
              <a:gd name="connsiteY4" fmla="*/ 558301 h 1682128"/>
              <a:gd name="connsiteX5" fmla="*/ 945441 w 2838739"/>
              <a:gd name="connsiteY5" fmla="*/ 558301 h 1682128"/>
              <a:gd name="connsiteX6" fmla="*/ 1331287 w 2838739"/>
              <a:gd name="connsiteY6" fmla="*/ 0 h 1682128"/>
              <a:gd name="connsiteX7" fmla="*/ 2009945 w 2838739"/>
              <a:gd name="connsiteY7" fmla="*/ 0 h 1682128"/>
              <a:gd name="connsiteX8" fmla="*/ 2838739 w 2838739"/>
              <a:gd name="connsiteY8" fmla="*/ 0 h 1682128"/>
              <a:gd name="connsiteX9" fmla="*/ 2838739 w 2838739"/>
              <a:gd name="connsiteY9" fmla="*/ 558301 h 1682128"/>
              <a:gd name="connsiteX10" fmla="*/ 1624100 w 2838739"/>
              <a:gd name="connsiteY10" fmla="*/ 558301 h 1682128"/>
              <a:gd name="connsiteX11" fmla="*/ 1296456 w 2838739"/>
              <a:gd name="connsiteY11" fmla="*/ 1032387 h 1682128"/>
              <a:gd name="connsiteX12" fmla="*/ 1953836 w 2838739"/>
              <a:gd name="connsiteY12" fmla="*/ 1032387 h 1682128"/>
              <a:gd name="connsiteX13" fmla="*/ 2045276 w 2838739"/>
              <a:gd name="connsiteY13" fmla="*/ 1682128 h 168212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11" fmla="*/ 1296456 w 2838739"/>
              <a:gd name="connsiteY11" fmla="*/ 1032387 h 1590688"/>
              <a:gd name="connsiteX12" fmla="*/ 1953836 w 2838739"/>
              <a:gd name="connsiteY12" fmla="*/ 1032387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11" fmla="*/ 1296456 w 2838739"/>
              <a:gd name="connsiteY11" fmla="*/ 1032387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10" fmla="*/ 1624100 w 2838739"/>
              <a:gd name="connsiteY10" fmla="*/ 558301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9" fmla="*/ 2838739 w 2838739"/>
              <a:gd name="connsiteY9" fmla="*/ 558301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009945 w 2838739"/>
              <a:gd name="connsiteY7" fmla="*/ 0 h 1590688"/>
              <a:gd name="connsiteX8" fmla="*/ 2838739 w 2838739"/>
              <a:gd name="connsiteY8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945441 w 2838739"/>
              <a:gd name="connsiteY5" fmla="*/ 558301 h 1590688"/>
              <a:gd name="connsiteX6" fmla="*/ 1331287 w 2838739"/>
              <a:gd name="connsiteY6" fmla="*/ 0 h 1590688"/>
              <a:gd name="connsiteX7" fmla="*/ 2838739 w 2838739"/>
              <a:gd name="connsiteY7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945442 w 2838739"/>
              <a:gd name="connsiteY4" fmla="*/ 558301 h 1590688"/>
              <a:gd name="connsiteX5" fmla="*/ 1331287 w 2838739"/>
              <a:gd name="connsiteY5" fmla="*/ 0 h 1590688"/>
              <a:gd name="connsiteX6" fmla="*/ 2838739 w 2838739"/>
              <a:gd name="connsiteY6" fmla="*/ 0 h 1590688"/>
              <a:gd name="connsiteX0" fmla="*/ 0 w 2838739"/>
              <a:gd name="connsiteY0" fmla="*/ 1590688 h 1590688"/>
              <a:gd name="connsiteX1" fmla="*/ 0 w 2838739"/>
              <a:gd name="connsiteY1" fmla="*/ 1032387 h 1590688"/>
              <a:gd name="connsiteX2" fmla="*/ 617796 w 2838739"/>
              <a:gd name="connsiteY2" fmla="*/ 1032387 h 1590688"/>
              <a:gd name="connsiteX3" fmla="*/ 617797 w 2838739"/>
              <a:gd name="connsiteY3" fmla="*/ 1032387 h 1590688"/>
              <a:gd name="connsiteX4" fmla="*/ 1331287 w 2838739"/>
              <a:gd name="connsiteY4" fmla="*/ 0 h 1590688"/>
              <a:gd name="connsiteX5" fmla="*/ 2838739 w 2838739"/>
              <a:gd name="connsiteY5" fmla="*/ 0 h 1590688"/>
              <a:gd name="connsiteX0" fmla="*/ 0 w 2838739"/>
              <a:gd name="connsiteY0" fmla="*/ 1032387 h 1032387"/>
              <a:gd name="connsiteX1" fmla="*/ 617796 w 2838739"/>
              <a:gd name="connsiteY1" fmla="*/ 1032387 h 1032387"/>
              <a:gd name="connsiteX2" fmla="*/ 617797 w 2838739"/>
              <a:gd name="connsiteY2" fmla="*/ 1032387 h 1032387"/>
              <a:gd name="connsiteX3" fmla="*/ 1331287 w 2838739"/>
              <a:gd name="connsiteY3" fmla="*/ 0 h 1032387"/>
              <a:gd name="connsiteX4" fmla="*/ 2838739 w 2838739"/>
              <a:gd name="connsiteY4" fmla="*/ 0 h 1032387"/>
              <a:gd name="connsiteX0" fmla="*/ 0 w 2838739"/>
              <a:gd name="connsiteY0" fmla="*/ 1032387 h 1032387"/>
              <a:gd name="connsiteX1" fmla="*/ 617796 w 2838739"/>
              <a:gd name="connsiteY1" fmla="*/ 1032387 h 1032387"/>
              <a:gd name="connsiteX2" fmla="*/ 617797 w 2838739"/>
              <a:gd name="connsiteY2" fmla="*/ 1032387 h 1032387"/>
              <a:gd name="connsiteX3" fmla="*/ 1062112 w 2838739"/>
              <a:gd name="connsiteY3" fmla="*/ 403198 h 1032387"/>
              <a:gd name="connsiteX4" fmla="*/ 1331287 w 2838739"/>
              <a:gd name="connsiteY4" fmla="*/ 0 h 1032387"/>
              <a:gd name="connsiteX5" fmla="*/ 2838739 w 2838739"/>
              <a:gd name="connsiteY5" fmla="*/ 0 h 1032387"/>
              <a:gd name="connsiteX0" fmla="*/ 0 w 2877361"/>
              <a:gd name="connsiteY0" fmla="*/ 1032387 h 1032387"/>
              <a:gd name="connsiteX1" fmla="*/ 617796 w 2877361"/>
              <a:gd name="connsiteY1" fmla="*/ 1032387 h 1032387"/>
              <a:gd name="connsiteX2" fmla="*/ 617797 w 2877361"/>
              <a:gd name="connsiteY2" fmla="*/ 1032387 h 1032387"/>
              <a:gd name="connsiteX3" fmla="*/ 1062112 w 2877361"/>
              <a:gd name="connsiteY3" fmla="*/ 403198 h 1032387"/>
              <a:gd name="connsiteX4" fmla="*/ 1331287 w 2877361"/>
              <a:gd name="connsiteY4" fmla="*/ 0 h 1032387"/>
              <a:gd name="connsiteX5" fmla="*/ 2877361 w 2877361"/>
              <a:gd name="connsiteY5" fmla="*/ 501445 h 1032387"/>
              <a:gd name="connsiteX0" fmla="*/ 0 w 2877361"/>
              <a:gd name="connsiteY0" fmla="*/ 629189 h 629189"/>
              <a:gd name="connsiteX1" fmla="*/ 617796 w 2877361"/>
              <a:gd name="connsiteY1" fmla="*/ 629189 h 629189"/>
              <a:gd name="connsiteX2" fmla="*/ 617797 w 2877361"/>
              <a:gd name="connsiteY2" fmla="*/ 629189 h 629189"/>
              <a:gd name="connsiteX3" fmla="*/ 1062112 w 2877361"/>
              <a:gd name="connsiteY3" fmla="*/ 0 h 629189"/>
              <a:gd name="connsiteX4" fmla="*/ 2877361 w 2877361"/>
              <a:gd name="connsiteY4" fmla="*/ 98247 h 629189"/>
              <a:gd name="connsiteX0" fmla="*/ 0 w 2838739"/>
              <a:gd name="connsiteY0" fmla="*/ 629189 h 629189"/>
              <a:gd name="connsiteX1" fmla="*/ 617796 w 2838739"/>
              <a:gd name="connsiteY1" fmla="*/ 629189 h 629189"/>
              <a:gd name="connsiteX2" fmla="*/ 617797 w 2838739"/>
              <a:gd name="connsiteY2" fmla="*/ 629189 h 629189"/>
              <a:gd name="connsiteX3" fmla="*/ 1062112 w 2838739"/>
              <a:gd name="connsiteY3" fmla="*/ 0 h 629189"/>
              <a:gd name="connsiteX4" fmla="*/ 2838739 w 2838739"/>
              <a:gd name="connsiteY4" fmla="*/ 19589 h 629189"/>
              <a:gd name="connsiteX0" fmla="*/ 0 w 2836018"/>
              <a:gd name="connsiteY0" fmla="*/ 629189 h 629189"/>
              <a:gd name="connsiteX1" fmla="*/ 617796 w 2836018"/>
              <a:gd name="connsiteY1" fmla="*/ 629189 h 629189"/>
              <a:gd name="connsiteX2" fmla="*/ 617797 w 2836018"/>
              <a:gd name="connsiteY2" fmla="*/ 629189 h 629189"/>
              <a:gd name="connsiteX3" fmla="*/ 1062112 w 2836018"/>
              <a:gd name="connsiteY3" fmla="*/ 0 h 629189"/>
              <a:gd name="connsiteX4" fmla="*/ 2836018 w 2836018"/>
              <a:gd name="connsiteY4" fmla="*/ 27902 h 629189"/>
              <a:gd name="connsiteX0" fmla="*/ 0 w 2830576"/>
              <a:gd name="connsiteY0" fmla="*/ 629189 h 629189"/>
              <a:gd name="connsiteX1" fmla="*/ 617796 w 2830576"/>
              <a:gd name="connsiteY1" fmla="*/ 629189 h 629189"/>
              <a:gd name="connsiteX2" fmla="*/ 617797 w 2830576"/>
              <a:gd name="connsiteY2" fmla="*/ 629189 h 629189"/>
              <a:gd name="connsiteX3" fmla="*/ 1062112 w 2830576"/>
              <a:gd name="connsiteY3" fmla="*/ 0 h 629189"/>
              <a:gd name="connsiteX4" fmla="*/ 2830576 w 2830576"/>
              <a:gd name="connsiteY4" fmla="*/ 2964 h 629189"/>
              <a:gd name="connsiteX0" fmla="*/ 0 w 3397929"/>
              <a:gd name="connsiteY0" fmla="*/ 625032 h 629189"/>
              <a:gd name="connsiteX1" fmla="*/ 1185149 w 3397929"/>
              <a:gd name="connsiteY1" fmla="*/ 629189 h 629189"/>
              <a:gd name="connsiteX2" fmla="*/ 1185150 w 3397929"/>
              <a:gd name="connsiteY2" fmla="*/ 629189 h 629189"/>
              <a:gd name="connsiteX3" fmla="*/ 1629465 w 3397929"/>
              <a:gd name="connsiteY3" fmla="*/ 0 h 629189"/>
              <a:gd name="connsiteX4" fmla="*/ 3397929 w 3397929"/>
              <a:gd name="connsiteY4" fmla="*/ 2964 h 629189"/>
              <a:gd name="connsiteX0" fmla="*/ 0 w 3397929"/>
              <a:gd name="connsiteY0" fmla="*/ 625032 h 629189"/>
              <a:gd name="connsiteX1" fmla="*/ 1185149 w 3397929"/>
              <a:gd name="connsiteY1" fmla="*/ 629189 h 629189"/>
              <a:gd name="connsiteX2" fmla="*/ 1185150 w 3397929"/>
              <a:gd name="connsiteY2" fmla="*/ 629189 h 629189"/>
              <a:gd name="connsiteX3" fmla="*/ 1349435 w 3397929"/>
              <a:gd name="connsiteY3" fmla="*/ 367203 h 629189"/>
              <a:gd name="connsiteX4" fmla="*/ 1629465 w 3397929"/>
              <a:gd name="connsiteY4" fmla="*/ 0 h 629189"/>
              <a:gd name="connsiteX5" fmla="*/ 3397929 w 3397929"/>
              <a:gd name="connsiteY5" fmla="*/ 2964 h 629189"/>
              <a:gd name="connsiteX0" fmla="*/ 0 w 3397929"/>
              <a:gd name="connsiteY0" fmla="*/ 622068 h 626225"/>
              <a:gd name="connsiteX1" fmla="*/ 1185149 w 3397929"/>
              <a:gd name="connsiteY1" fmla="*/ 626225 h 626225"/>
              <a:gd name="connsiteX2" fmla="*/ 1185150 w 3397929"/>
              <a:gd name="connsiteY2" fmla="*/ 626225 h 626225"/>
              <a:gd name="connsiteX3" fmla="*/ 1349435 w 3397929"/>
              <a:gd name="connsiteY3" fmla="*/ 364239 h 626225"/>
              <a:gd name="connsiteX4" fmla="*/ 3397929 w 3397929"/>
              <a:gd name="connsiteY4" fmla="*/ 0 h 626225"/>
              <a:gd name="connsiteX0" fmla="*/ 0 w 3762105"/>
              <a:gd name="connsiteY0" fmla="*/ 257829 h 261986"/>
              <a:gd name="connsiteX1" fmla="*/ 1185149 w 3762105"/>
              <a:gd name="connsiteY1" fmla="*/ 261986 h 261986"/>
              <a:gd name="connsiteX2" fmla="*/ 1185150 w 3762105"/>
              <a:gd name="connsiteY2" fmla="*/ 261986 h 261986"/>
              <a:gd name="connsiteX3" fmla="*/ 1349435 w 3762105"/>
              <a:gd name="connsiteY3" fmla="*/ 0 h 261986"/>
              <a:gd name="connsiteX4" fmla="*/ 3762105 w 3762105"/>
              <a:gd name="connsiteY4" fmla="*/ 143761 h 261986"/>
              <a:gd name="connsiteX0" fmla="*/ 0 w 4046462"/>
              <a:gd name="connsiteY0" fmla="*/ 257829 h 261986"/>
              <a:gd name="connsiteX1" fmla="*/ 1185149 w 4046462"/>
              <a:gd name="connsiteY1" fmla="*/ 261986 h 261986"/>
              <a:gd name="connsiteX2" fmla="*/ 1185150 w 4046462"/>
              <a:gd name="connsiteY2" fmla="*/ 261986 h 261986"/>
              <a:gd name="connsiteX3" fmla="*/ 1349435 w 4046462"/>
              <a:gd name="connsiteY3" fmla="*/ 0 h 261986"/>
              <a:gd name="connsiteX4" fmla="*/ 4046462 w 4046462"/>
              <a:gd name="connsiteY4" fmla="*/ 138681 h 261986"/>
              <a:gd name="connsiteX0" fmla="*/ 0 w 4046462"/>
              <a:gd name="connsiteY0" fmla="*/ 156229 h 160386"/>
              <a:gd name="connsiteX1" fmla="*/ 1185149 w 4046462"/>
              <a:gd name="connsiteY1" fmla="*/ 160386 h 160386"/>
              <a:gd name="connsiteX2" fmla="*/ 1185150 w 4046462"/>
              <a:gd name="connsiteY2" fmla="*/ 160386 h 160386"/>
              <a:gd name="connsiteX3" fmla="*/ 1299548 w 4046462"/>
              <a:gd name="connsiteY3" fmla="*/ 0 h 160386"/>
              <a:gd name="connsiteX4" fmla="*/ 4046462 w 4046462"/>
              <a:gd name="connsiteY4" fmla="*/ 37081 h 160386"/>
              <a:gd name="connsiteX0" fmla="*/ 0 w 4046462"/>
              <a:gd name="connsiteY0" fmla="*/ 125749 h 129906"/>
              <a:gd name="connsiteX1" fmla="*/ 1185149 w 4046462"/>
              <a:gd name="connsiteY1" fmla="*/ 129906 h 129906"/>
              <a:gd name="connsiteX2" fmla="*/ 1185150 w 4046462"/>
              <a:gd name="connsiteY2" fmla="*/ 129906 h 129906"/>
              <a:gd name="connsiteX3" fmla="*/ 1299548 w 4046462"/>
              <a:gd name="connsiteY3" fmla="*/ 0 h 129906"/>
              <a:gd name="connsiteX4" fmla="*/ 4046462 w 4046462"/>
              <a:gd name="connsiteY4" fmla="*/ 6601 h 129906"/>
              <a:gd name="connsiteX0" fmla="*/ 0 w 4041473"/>
              <a:gd name="connsiteY0" fmla="*/ 130829 h 130829"/>
              <a:gd name="connsiteX1" fmla="*/ 1180160 w 4041473"/>
              <a:gd name="connsiteY1" fmla="*/ 129906 h 130829"/>
              <a:gd name="connsiteX2" fmla="*/ 1180161 w 4041473"/>
              <a:gd name="connsiteY2" fmla="*/ 129906 h 130829"/>
              <a:gd name="connsiteX3" fmla="*/ 1294559 w 4041473"/>
              <a:gd name="connsiteY3" fmla="*/ 0 h 130829"/>
              <a:gd name="connsiteX4" fmla="*/ 4041473 w 4041473"/>
              <a:gd name="connsiteY4" fmla="*/ 6601 h 130829"/>
              <a:gd name="connsiteX0" fmla="*/ 0 w 4600209"/>
              <a:gd name="connsiteY0" fmla="*/ 135543 h 135543"/>
              <a:gd name="connsiteX1" fmla="*/ 1738896 w 4600209"/>
              <a:gd name="connsiteY1" fmla="*/ 129906 h 135543"/>
              <a:gd name="connsiteX2" fmla="*/ 1738897 w 4600209"/>
              <a:gd name="connsiteY2" fmla="*/ 129906 h 135543"/>
              <a:gd name="connsiteX3" fmla="*/ 1853295 w 4600209"/>
              <a:gd name="connsiteY3" fmla="*/ 0 h 135543"/>
              <a:gd name="connsiteX4" fmla="*/ 4600209 w 4600209"/>
              <a:gd name="connsiteY4" fmla="*/ 6601 h 135543"/>
              <a:gd name="connsiteX0" fmla="*/ 0 w 4580254"/>
              <a:gd name="connsiteY0" fmla="*/ 135543 h 135543"/>
              <a:gd name="connsiteX1" fmla="*/ 1718941 w 4580254"/>
              <a:gd name="connsiteY1" fmla="*/ 129906 h 135543"/>
              <a:gd name="connsiteX2" fmla="*/ 1718942 w 4580254"/>
              <a:gd name="connsiteY2" fmla="*/ 129906 h 135543"/>
              <a:gd name="connsiteX3" fmla="*/ 1833340 w 4580254"/>
              <a:gd name="connsiteY3" fmla="*/ 0 h 135543"/>
              <a:gd name="connsiteX4" fmla="*/ 4580254 w 4580254"/>
              <a:gd name="connsiteY4" fmla="*/ 6601 h 135543"/>
              <a:gd name="connsiteX0" fmla="*/ 0 w 4615175"/>
              <a:gd name="connsiteY0" fmla="*/ 126115 h 129906"/>
              <a:gd name="connsiteX1" fmla="*/ 1753862 w 4615175"/>
              <a:gd name="connsiteY1" fmla="*/ 129906 h 129906"/>
              <a:gd name="connsiteX2" fmla="*/ 1753863 w 4615175"/>
              <a:gd name="connsiteY2" fmla="*/ 129906 h 129906"/>
              <a:gd name="connsiteX3" fmla="*/ 1868261 w 4615175"/>
              <a:gd name="connsiteY3" fmla="*/ 0 h 129906"/>
              <a:gd name="connsiteX4" fmla="*/ 4615175 w 4615175"/>
              <a:gd name="connsiteY4" fmla="*/ 6601 h 129906"/>
              <a:gd name="connsiteX0" fmla="*/ 0 w 4615175"/>
              <a:gd name="connsiteY0" fmla="*/ 126115 h 129906"/>
              <a:gd name="connsiteX1" fmla="*/ 1753862 w 4615175"/>
              <a:gd name="connsiteY1" fmla="*/ 129906 h 129906"/>
              <a:gd name="connsiteX2" fmla="*/ 1753863 w 4615175"/>
              <a:gd name="connsiteY2" fmla="*/ 129906 h 129906"/>
              <a:gd name="connsiteX3" fmla="*/ 1868261 w 4615175"/>
              <a:gd name="connsiteY3" fmla="*/ 0 h 129906"/>
              <a:gd name="connsiteX4" fmla="*/ 3993454 w 4615175"/>
              <a:gd name="connsiteY4" fmla="*/ 4714 h 129906"/>
              <a:gd name="connsiteX5" fmla="*/ 4615175 w 4615175"/>
              <a:gd name="connsiteY5" fmla="*/ 6601 h 129906"/>
              <a:gd name="connsiteX0" fmla="*/ 0 w 3993454"/>
              <a:gd name="connsiteY0" fmla="*/ 126115 h 129906"/>
              <a:gd name="connsiteX1" fmla="*/ 1753862 w 3993454"/>
              <a:gd name="connsiteY1" fmla="*/ 129906 h 129906"/>
              <a:gd name="connsiteX2" fmla="*/ 1753863 w 3993454"/>
              <a:gd name="connsiteY2" fmla="*/ 129906 h 129906"/>
              <a:gd name="connsiteX3" fmla="*/ 1868261 w 3993454"/>
              <a:gd name="connsiteY3" fmla="*/ 0 h 129906"/>
              <a:gd name="connsiteX4" fmla="*/ 3993454 w 3993454"/>
              <a:gd name="connsiteY4" fmla="*/ 4714 h 129906"/>
              <a:gd name="connsiteX0" fmla="*/ 0 w 4013409"/>
              <a:gd name="connsiteY0" fmla="*/ 126115 h 129906"/>
              <a:gd name="connsiteX1" fmla="*/ 1773817 w 4013409"/>
              <a:gd name="connsiteY1" fmla="*/ 129906 h 129906"/>
              <a:gd name="connsiteX2" fmla="*/ 1773818 w 4013409"/>
              <a:gd name="connsiteY2" fmla="*/ 129906 h 129906"/>
              <a:gd name="connsiteX3" fmla="*/ 1888216 w 4013409"/>
              <a:gd name="connsiteY3" fmla="*/ 0 h 129906"/>
              <a:gd name="connsiteX4" fmla="*/ 4013409 w 4013409"/>
              <a:gd name="connsiteY4" fmla="*/ 4714 h 129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3409" h="129906">
                <a:moveTo>
                  <a:pt x="0" y="126115"/>
                </a:moveTo>
                <a:lnTo>
                  <a:pt x="1773817" y="129906"/>
                </a:lnTo>
                <a:lnTo>
                  <a:pt x="1773818" y="129906"/>
                </a:lnTo>
                <a:lnTo>
                  <a:pt x="1888216" y="0"/>
                </a:lnTo>
                <a:lnTo>
                  <a:pt x="4013409" y="4714"/>
                </a:lnTo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8E1506-E044-3FF4-2475-4422C6AC3B91}"/>
              </a:ext>
            </a:extLst>
          </p:cNvPr>
          <p:cNvGrpSpPr/>
          <p:nvPr/>
        </p:nvGrpSpPr>
        <p:grpSpPr>
          <a:xfrm>
            <a:off x="611029" y="1720877"/>
            <a:ext cx="4081486" cy="4559955"/>
            <a:chOff x="1045686" y="1624995"/>
            <a:chExt cx="4081486" cy="45599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27D7F5-4FCE-BDBB-B1C6-73ED6358A4F5}"/>
                </a:ext>
              </a:extLst>
            </p:cNvPr>
            <p:cNvGrpSpPr/>
            <p:nvPr/>
          </p:nvGrpSpPr>
          <p:grpSpPr>
            <a:xfrm>
              <a:off x="1045686" y="1624995"/>
              <a:ext cx="4081486" cy="4559955"/>
              <a:chOff x="2237672" y="1935271"/>
              <a:chExt cx="3526077" cy="393943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F006143-AC25-DBED-70A2-3A0194131E18}"/>
                  </a:ext>
                </a:extLst>
              </p:cNvPr>
              <p:cNvSpPr/>
              <p:nvPr/>
            </p:nvSpPr>
            <p:spPr>
              <a:xfrm>
                <a:off x="3067110" y="4314019"/>
                <a:ext cx="1864538" cy="688772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5B7EE7E-00C1-93CA-97F4-CCA943B941C6}"/>
                  </a:ext>
                </a:extLst>
              </p:cNvPr>
              <p:cNvSpPr/>
              <p:nvPr/>
            </p:nvSpPr>
            <p:spPr>
              <a:xfrm>
                <a:off x="3471916" y="5462403"/>
                <a:ext cx="1054539" cy="40402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6BF187F-BE98-CB55-1ED0-6FABC8A38A56}"/>
                  </a:ext>
                </a:extLst>
              </p:cNvPr>
              <p:cNvSpPr/>
              <p:nvPr/>
            </p:nvSpPr>
            <p:spPr>
              <a:xfrm>
                <a:off x="2237672" y="1935271"/>
                <a:ext cx="3526077" cy="1390389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48000"/>
                    </a:schemeClr>
                  </a:gs>
                  <a:gs pos="99000">
                    <a:schemeClr val="bg1">
                      <a:lumMod val="85000"/>
                      <a:alpha val="42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B827B7D-8078-04A9-F552-8CBF52D7505A}"/>
                  </a:ext>
                </a:extLst>
              </p:cNvPr>
              <p:cNvSpPr/>
              <p:nvPr/>
            </p:nvSpPr>
            <p:spPr>
              <a:xfrm>
                <a:off x="2658239" y="3090664"/>
                <a:ext cx="2684942" cy="105871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9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43CDB23-0E92-851B-DEB7-4C94DF690802}"/>
                  </a:ext>
                </a:extLst>
              </p:cNvPr>
              <p:cNvSpPr/>
              <p:nvPr/>
            </p:nvSpPr>
            <p:spPr>
              <a:xfrm>
                <a:off x="3146193" y="4877065"/>
                <a:ext cx="1709895" cy="997642"/>
              </a:xfrm>
              <a:custGeom>
                <a:avLst/>
                <a:gdLst>
                  <a:gd name="connsiteX0" fmla="*/ 1709895 w 1709895"/>
                  <a:gd name="connsiteY0" fmla="*/ 0 h 997642"/>
                  <a:gd name="connsiteX1" fmla="*/ 1381306 w 1709895"/>
                  <a:gd name="connsiteY1" fmla="*/ 803485 h 997642"/>
                  <a:gd name="connsiteX2" fmla="*/ 1379911 w 1709895"/>
                  <a:gd name="connsiteY2" fmla="*/ 803494 h 997642"/>
                  <a:gd name="connsiteX3" fmla="*/ 1372864 w 1709895"/>
                  <a:gd name="connsiteY3" fmla="*/ 831058 h 997642"/>
                  <a:gd name="connsiteX4" fmla="*/ 854517 w 1709895"/>
                  <a:gd name="connsiteY4" fmla="*/ 997642 h 997642"/>
                  <a:gd name="connsiteX5" fmla="*/ 336170 w 1709895"/>
                  <a:gd name="connsiteY5" fmla="*/ 831058 h 997642"/>
                  <a:gd name="connsiteX6" fmla="*/ 330718 w 1709895"/>
                  <a:gd name="connsiteY6" fmla="*/ 809729 h 997642"/>
                  <a:gd name="connsiteX7" fmla="*/ 327728 w 1709895"/>
                  <a:gd name="connsiteY7" fmla="*/ 809747 h 997642"/>
                  <a:gd name="connsiteX8" fmla="*/ 0 w 1709895"/>
                  <a:gd name="connsiteY8" fmla="*/ 6694 h 997642"/>
                  <a:gd name="connsiteX9" fmla="*/ 12273 w 1709895"/>
                  <a:gd name="connsiteY9" fmla="*/ 19916 h 997642"/>
                  <a:gd name="connsiteX10" fmla="*/ 851841 w 1709895"/>
                  <a:gd name="connsiteY10" fmla="*/ 239354 h 997642"/>
                  <a:gd name="connsiteX11" fmla="*/ 1691409 w 1709895"/>
                  <a:gd name="connsiteY11" fmla="*/ 19916 h 997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09895" h="997642">
                    <a:moveTo>
                      <a:pt x="1709895" y="0"/>
                    </a:moveTo>
                    <a:lnTo>
                      <a:pt x="1381306" y="803485"/>
                    </a:lnTo>
                    <a:lnTo>
                      <a:pt x="1379911" y="803494"/>
                    </a:lnTo>
                    <a:lnTo>
                      <a:pt x="1372864" y="831058"/>
                    </a:lnTo>
                    <a:cubicBezTo>
                      <a:pt x="1323528" y="926128"/>
                      <a:pt x="1110203" y="997642"/>
                      <a:pt x="854517" y="997642"/>
                    </a:cubicBezTo>
                    <a:cubicBezTo>
                      <a:pt x="598832" y="997642"/>
                      <a:pt x="385507" y="926128"/>
                      <a:pt x="336170" y="831058"/>
                    </a:cubicBezTo>
                    <a:lnTo>
                      <a:pt x="330718" y="809729"/>
                    </a:lnTo>
                    <a:lnTo>
                      <a:pt x="327728" y="809747"/>
                    </a:lnTo>
                    <a:lnTo>
                      <a:pt x="0" y="6694"/>
                    </a:lnTo>
                    <a:lnTo>
                      <a:pt x="12273" y="19916"/>
                    </a:lnTo>
                    <a:cubicBezTo>
                      <a:pt x="150597" y="148870"/>
                      <a:pt x="474422" y="239354"/>
                      <a:pt x="851841" y="239354"/>
                    </a:cubicBezTo>
                    <a:cubicBezTo>
                      <a:pt x="1229261" y="239354"/>
                      <a:pt x="1553085" y="148870"/>
                      <a:pt x="1691409" y="19916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A2F3A00-EA3B-FC69-5F30-5E78AF5F000C}"/>
                  </a:ext>
                </a:extLst>
              </p:cNvPr>
              <p:cNvSpPr/>
              <p:nvPr/>
            </p:nvSpPr>
            <p:spPr>
              <a:xfrm>
                <a:off x="2301033" y="2812811"/>
                <a:ext cx="3399046" cy="1351759"/>
              </a:xfrm>
              <a:custGeom>
                <a:avLst/>
                <a:gdLst>
                  <a:gd name="connsiteX0" fmla="*/ 0 w 3399046"/>
                  <a:gd name="connsiteY0" fmla="*/ 0 h 1351759"/>
                  <a:gd name="connsiteX1" fmla="*/ 15901 w 3399046"/>
                  <a:gd name="connsiteY1" fmla="*/ 24384 h 1351759"/>
                  <a:gd name="connsiteX2" fmla="*/ 1699677 w 3399046"/>
                  <a:gd name="connsiteY2" fmla="*/ 512849 h 1351759"/>
                  <a:gd name="connsiteX3" fmla="*/ 3383453 w 3399046"/>
                  <a:gd name="connsiteY3" fmla="*/ 24384 h 1351759"/>
                  <a:gd name="connsiteX4" fmla="*/ 3399046 w 3399046"/>
                  <a:gd name="connsiteY4" fmla="*/ 471 h 1351759"/>
                  <a:gd name="connsiteX5" fmla="*/ 2989891 w 3399046"/>
                  <a:gd name="connsiteY5" fmla="*/ 1000963 h 1351759"/>
                  <a:gd name="connsiteX6" fmla="*/ 2981768 w 3399046"/>
                  <a:gd name="connsiteY6" fmla="*/ 1009970 h 1351759"/>
                  <a:gd name="connsiteX7" fmla="*/ 1699677 w 3399046"/>
                  <a:gd name="connsiteY7" fmla="*/ 1351759 h 1351759"/>
                  <a:gd name="connsiteX8" fmla="*/ 417586 w 3399046"/>
                  <a:gd name="connsiteY8" fmla="*/ 1009970 h 1351759"/>
                  <a:gd name="connsiteX9" fmla="*/ 407695 w 3399046"/>
                  <a:gd name="connsiteY9" fmla="*/ 999002 h 1351759"/>
                  <a:gd name="connsiteX10" fmla="*/ 0 w 3399046"/>
                  <a:gd name="connsiteY10" fmla="*/ 0 h 1351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99046" h="1351759">
                    <a:moveTo>
                      <a:pt x="0" y="0"/>
                    </a:moveTo>
                    <a:lnTo>
                      <a:pt x="15901" y="24384"/>
                    </a:lnTo>
                    <a:cubicBezTo>
                      <a:pt x="239122" y="307376"/>
                      <a:pt x="908546" y="512849"/>
                      <a:pt x="1699677" y="512849"/>
                    </a:cubicBezTo>
                    <a:cubicBezTo>
                      <a:pt x="2490808" y="512849"/>
                      <a:pt x="3160233" y="307376"/>
                      <a:pt x="3383453" y="24384"/>
                    </a:cubicBezTo>
                    <a:lnTo>
                      <a:pt x="3399046" y="471"/>
                    </a:lnTo>
                    <a:lnTo>
                      <a:pt x="2989891" y="1000963"/>
                    </a:lnTo>
                    <a:lnTo>
                      <a:pt x="2981768" y="1009970"/>
                    </a:lnTo>
                    <a:cubicBezTo>
                      <a:pt x="2777818" y="1210302"/>
                      <a:pt x="2280642" y="1351759"/>
                      <a:pt x="1699677" y="1351759"/>
                    </a:cubicBezTo>
                    <a:cubicBezTo>
                      <a:pt x="1118712" y="1351759"/>
                      <a:pt x="621536" y="1210302"/>
                      <a:pt x="417586" y="1009970"/>
                    </a:cubicBezTo>
                    <a:lnTo>
                      <a:pt x="407695" y="9990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162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17CC9B2-7E72-AD25-E6D3-A10BB7686EA3}"/>
                  </a:ext>
                </a:extLst>
              </p:cNvPr>
              <p:cNvSpPr/>
              <p:nvPr/>
            </p:nvSpPr>
            <p:spPr>
              <a:xfrm>
                <a:off x="2765068" y="3949864"/>
                <a:ext cx="2469608" cy="1065098"/>
              </a:xfrm>
              <a:custGeom>
                <a:avLst/>
                <a:gdLst>
                  <a:gd name="connsiteX0" fmla="*/ 0 w 2469608"/>
                  <a:gd name="connsiteY0" fmla="*/ 0 h 1065098"/>
                  <a:gd name="connsiteX1" fmla="*/ 46722 w 2469608"/>
                  <a:gd name="connsiteY1" fmla="*/ 40429 h 1065098"/>
                  <a:gd name="connsiteX2" fmla="*/ 1235643 w 2469608"/>
                  <a:gd name="connsiteY2" fmla="*/ 327183 h 1065098"/>
                  <a:gd name="connsiteX3" fmla="*/ 2424564 w 2469608"/>
                  <a:gd name="connsiteY3" fmla="*/ 40429 h 1065098"/>
                  <a:gd name="connsiteX4" fmla="*/ 2469608 w 2469608"/>
                  <a:gd name="connsiteY4" fmla="*/ 1452 h 1065098"/>
                  <a:gd name="connsiteX5" fmla="*/ 2143167 w 2469608"/>
                  <a:gd name="connsiteY5" fmla="*/ 799686 h 1065098"/>
                  <a:gd name="connsiteX6" fmla="*/ 2142790 w 2469608"/>
                  <a:gd name="connsiteY6" fmla="*/ 796743 h 1065098"/>
                  <a:gd name="connsiteX7" fmla="*/ 2139240 w 2469608"/>
                  <a:gd name="connsiteY7" fmla="*/ 802186 h 1065098"/>
                  <a:gd name="connsiteX8" fmla="*/ 1232965 w 2469608"/>
                  <a:gd name="connsiteY8" fmla="*/ 1065098 h 1065098"/>
                  <a:gd name="connsiteX9" fmla="*/ 382662 w 2469608"/>
                  <a:gd name="connsiteY9" fmla="*/ 857215 h 1065098"/>
                  <a:gd name="connsiteX10" fmla="*/ 327832 w 2469608"/>
                  <a:gd name="connsiteY10" fmla="*/ 803309 h 1065098"/>
                  <a:gd name="connsiteX11" fmla="*/ 0 w 2469608"/>
                  <a:gd name="connsiteY11" fmla="*/ 0 h 1065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69608" h="1065098">
                    <a:moveTo>
                      <a:pt x="0" y="0"/>
                    </a:moveTo>
                    <a:lnTo>
                      <a:pt x="46722" y="40429"/>
                    </a:lnTo>
                    <a:cubicBezTo>
                      <a:pt x="267856" y="210669"/>
                      <a:pt x="717242" y="327183"/>
                      <a:pt x="1235643" y="327183"/>
                    </a:cubicBezTo>
                    <a:cubicBezTo>
                      <a:pt x="1754044" y="327183"/>
                      <a:pt x="2203430" y="210669"/>
                      <a:pt x="2424564" y="40429"/>
                    </a:cubicBezTo>
                    <a:lnTo>
                      <a:pt x="2469608" y="1452"/>
                    </a:lnTo>
                    <a:lnTo>
                      <a:pt x="2143167" y="799686"/>
                    </a:lnTo>
                    <a:lnTo>
                      <a:pt x="2142790" y="796743"/>
                    </a:lnTo>
                    <a:lnTo>
                      <a:pt x="2139240" y="802186"/>
                    </a:lnTo>
                    <a:cubicBezTo>
                      <a:pt x="2019093" y="954504"/>
                      <a:pt x="1658783" y="1065098"/>
                      <a:pt x="1232965" y="1065098"/>
                    </a:cubicBezTo>
                    <a:cubicBezTo>
                      <a:pt x="860375" y="1065098"/>
                      <a:pt x="537938" y="980425"/>
                      <a:pt x="382662" y="857215"/>
                    </a:cubicBezTo>
                    <a:lnTo>
                      <a:pt x="327832" y="8033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113E624-D567-5703-ACCE-BF5B63EB7D12}"/>
                  </a:ext>
                </a:extLst>
              </p:cNvPr>
              <p:cNvSpPr/>
              <p:nvPr/>
            </p:nvSpPr>
            <p:spPr>
              <a:xfrm>
                <a:off x="5414816" y="3192374"/>
                <a:ext cx="161584" cy="161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38B8257-FA90-3921-CDA9-57CCD086ECAA}"/>
                  </a:ext>
                </a:extLst>
              </p:cNvPr>
              <p:cNvSpPr/>
              <p:nvPr/>
            </p:nvSpPr>
            <p:spPr>
              <a:xfrm>
                <a:off x="4956824" y="4338746"/>
                <a:ext cx="161584" cy="161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A1EA976-C200-BEC9-6FC3-48E91FDC4EAE}"/>
                  </a:ext>
                </a:extLst>
              </p:cNvPr>
              <p:cNvSpPr/>
              <p:nvPr/>
            </p:nvSpPr>
            <p:spPr>
              <a:xfrm>
                <a:off x="4475956" y="5485119"/>
                <a:ext cx="161584" cy="1615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08267A7-2C89-D231-5E2D-4D779FEB334D}"/>
                  </a:ext>
                </a:extLst>
              </p:cNvPr>
              <p:cNvSpPr/>
              <p:nvPr/>
            </p:nvSpPr>
            <p:spPr>
              <a:xfrm rot="18900000">
                <a:off x="3790878" y="2281126"/>
                <a:ext cx="419663" cy="419664"/>
              </a:xfrm>
              <a:custGeom>
                <a:avLst/>
                <a:gdLst>
                  <a:gd name="connsiteX0" fmla="*/ 363817 w 419663"/>
                  <a:gd name="connsiteY0" fmla="*/ 0 h 419664"/>
                  <a:gd name="connsiteX1" fmla="*/ 419663 w 419663"/>
                  <a:gd name="connsiteY1" fmla="*/ 55846 h 419664"/>
                  <a:gd name="connsiteX2" fmla="*/ 137482 w 419663"/>
                  <a:gd name="connsiteY2" fmla="*/ 338027 h 419664"/>
                  <a:gd name="connsiteX3" fmla="*/ 338587 w 419663"/>
                  <a:gd name="connsiteY3" fmla="*/ 338027 h 419664"/>
                  <a:gd name="connsiteX4" fmla="*/ 338587 w 419663"/>
                  <a:gd name="connsiteY4" fmla="*/ 419664 h 419664"/>
                  <a:gd name="connsiteX5" fmla="*/ 0 w 419663"/>
                  <a:gd name="connsiteY5" fmla="*/ 419664 h 419664"/>
                  <a:gd name="connsiteX6" fmla="*/ 0 w 419663"/>
                  <a:gd name="connsiteY6" fmla="*/ 81077 h 419664"/>
                  <a:gd name="connsiteX7" fmla="*/ 81007 w 419663"/>
                  <a:gd name="connsiteY7" fmla="*/ 81077 h 419664"/>
                  <a:gd name="connsiteX8" fmla="*/ 81007 w 419663"/>
                  <a:gd name="connsiteY8" fmla="*/ 282810 h 41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9663" h="419664">
                    <a:moveTo>
                      <a:pt x="363817" y="0"/>
                    </a:moveTo>
                    <a:lnTo>
                      <a:pt x="419663" y="55846"/>
                    </a:lnTo>
                    <a:lnTo>
                      <a:pt x="137482" y="338027"/>
                    </a:lnTo>
                    <a:lnTo>
                      <a:pt x="338587" y="338027"/>
                    </a:lnTo>
                    <a:lnTo>
                      <a:pt x="338587" y="419664"/>
                    </a:lnTo>
                    <a:lnTo>
                      <a:pt x="0" y="419664"/>
                    </a:lnTo>
                    <a:lnTo>
                      <a:pt x="0" y="81077"/>
                    </a:lnTo>
                    <a:lnTo>
                      <a:pt x="81007" y="81077"/>
                    </a:lnTo>
                    <a:lnTo>
                      <a:pt x="81007" y="282810"/>
                    </a:lnTo>
                    <a:close/>
                  </a:path>
                </a:pathLst>
              </a:custGeom>
              <a:gradFill flip="none" rotWithShape="1">
                <a:gsLst>
                  <a:gs pos="4000">
                    <a:schemeClr val="bg1">
                      <a:lumMod val="85000"/>
                      <a:alpha val="0"/>
                    </a:schemeClr>
                  </a:gs>
                  <a:gs pos="59000">
                    <a:schemeClr val="bg1">
                      <a:lumMod val="8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6D8A631-CD59-0856-34E1-2C35562DCE97}"/>
                  </a:ext>
                </a:extLst>
              </p:cNvPr>
              <p:cNvSpPr/>
              <p:nvPr/>
            </p:nvSpPr>
            <p:spPr>
              <a:xfrm rot="18900000">
                <a:off x="4534984" y="2134453"/>
                <a:ext cx="189921" cy="189921"/>
              </a:xfrm>
              <a:custGeom>
                <a:avLst/>
                <a:gdLst>
                  <a:gd name="connsiteX0" fmla="*/ 363817 w 419663"/>
                  <a:gd name="connsiteY0" fmla="*/ 0 h 419664"/>
                  <a:gd name="connsiteX1" fmla="*/ 419663 w 419663"/>
                  <a:gd name="connsiteY1" fmla="*/ 55846 h 419664"/>
                  <a:gd name="connsiteX2" fmla="*/ 137482 w 419663"/>
                  <a:gd name="connsiteY2" fmla="*/ 338027 h 419664"/>
                  <a:gd name="connsiteX3" fmla="*/ 338587 w 419663"/>
                  <a:gd name="connsiteY3" fmla="*/ 338027 h 419664"/>
                  <a:gd name="connsiteX4" fmla="*/ 338587 w 419663"/>
                  <a:gd name="connsiteY4" fmla="*/ 419664 h 419664"/>
                  <a:gd name="connsiteX5" fmla="*/ 0 w 419663"/>
                  <a:gd name="connsiteY5" fmla="*/ 419664 h 419664"/>
                  <a:gd name="connsiteX6" fmla="*/ 0 w 419663"/>
                  <a:gd name="connsiteY6" fmla="*/ 81077 h 419664"/>
                  <a:gd name="connsiteX7" fmla="*/ 81007 w 419663"/>
                  <a:gd name="connsiteY7" fmla="*/ 81077 h 419664"/>
                  <a:gd name="connsiteX8" fmla="*/ 81007 w 419663"/>
                  <a:gd name="connsiteY8" fmla="*/ 282810 h 41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9663" h="419664">
                    <a:moveTo>
                      <a:pt x="363817" y="0"/>
                    </a:moveTo>
                    <a:lnTo>
                      <a:pt x="419663" y="55846"/>
                    </a:lnTo>
                    <a:lnTo>
                      <a:pt x="137482" y="338027"/>
                    </a:lnTo>
                    <a:lnTo>
                      <a:pt x="338587" y="338027"/>
                    </a:lnTo>
                    <a:lnTo>
                      <a:pt x="338587" y="419664"/>
                    </a:lnTo>
                    <a:lnTo>
                      <a:pt x="0" y="419664"/>
                    </a:lnTo>
                    <a:lnTo>
                      <a:pt x="0" y="81077"/>
                    </a:lnTo>
                    <a:lnTo>
                      <a:pt x="81007" y="81077"/>
                    </a:lnTo>
                    <a:lnTo>
                      <a:pt x="81007" y="282810"/>
                    </a:lnTo>
                    <a:close/>
                  </a:path>
                </a:pathLst>
              </a:custGeom>
              <a:gradFill flip="none" rotWithShape="1">
                <a:gsLst>
                  <a:gs pos="4000">
                    <a:schemeClr val="bg1">
                      <a:lumMod val="85000"/>
                      <a:alpha val="0"/>
                    </a:schemeClr>
                  </a:gs>
                  <a:gs pos="59000">
                    <a:schemeClr val="bg1">
                      <a:lumMod val="8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3E21F32-16CE-CD76-01F2-B7CAAC53C827}"/>
                  </a:ext>
                </a:extLst>
              </p:cNvPr>
              <p:cNvSpPr/>
              <p:nvPr/>
            </p:nvSpPr>
            <p:spPr>
              <a:xfrm rot="18900000">
                <a:off x="4946967" y="2636869"/>
                <a:ext cx="189921" cy="189921"/>
              </a:xfrm>
              <a:custGeom>
                <a:avLst/>
                <a:gdLst>
                  <a:gd name="connsiteX0" fmla="*/ 363817 w 419663"/>
                  <a:gd name="connsiteY0" fmla="*/ 0 h 419664"/>
                  <a:gd name="connsiteX1" fmla="*/ 419663 w 419663"/>
                  <a:gd name="connsiteY1" fmla="*/ 55846 h 419664"/>
                  <a:gd name="connsiteX2" fmla="*/ 137482 w 419663"/>
                  <a:gd name="connsiteY2" fmla="*/ 338027 h 419664"/>
                  <a:gd name="connsiteX3" fmla="*/ 338587 w 419663"/>
                  <a:gd name="connsiteY3" fmla="*/ 338027 h 419664"/>
                  <a:gd name="connsiteX4" fmla="*/ 338587 w 419663"/>
                  <a:gd name="connsiteY4" fmla="*/ 419664 h 419664"/>
                  <a:gd name="connsiteX5" fmla="*/ 0 w 419663"/>
                  <a:gd name="connsiteY5" fmla="*/ 419664 h 419664"/>
                  <a:gd name="connsiteX6" fmla="*/ 0 w 419663"/>
                  <a:gd name="connsiteY6" fmla="*/ 81077 h 419664"/>
                  <a:gd name="connsiteX7" fmla="*/ 81007 w 419663"/>
                  <a:gd name="connsiteY7" fmla="*/ 81077 h 419664"/>
                  <a:gd name="connsiteX8" fmla="*/ 81007 w 419663"/>
                  <a:gd name="connsiteY8" fmla="*/ 282810 h 41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9663" h="419664">
                    <a:moveTo>
                      <a:pt x="363817" y="0"/>
                    </a:moveTo>
                    <a:lnTo>
                      <a:pt x="419663" y="55846"/>
                    </a:lnTo>
                    <a:lnTo>
                      <a:pt x="137482" y="338027"/>
                    </a:lnTo>
                    <a:lnTo>
                      <a:pt x="338587" y="338027"/>
                    </a:lnTo>
                    <a:lnTo>
                      <a:pt x="338587" y="419664"/>
                    </a:lnTo>
                    <a:lnTo>
                      <a:pt x="0" y="419664"/>
                    </a:lnTo>
                    <a:lnTo>
                      <a:pt x="0" y="81077"/>
                    </a:lnTo>
                    <a:lnTo>
                      <a:pt x="81007" y="81077"/>
                    </a:lnTo>
                    <a:lnTo>
                      <a:pt x="81007" y="282810"/>
                    </a:lnTo>
                    <a:close/>
                  </a:path>
                </a:pathLst>
              </a:custGeom>
              <a:gradFill flip="none" rotWithShape="1">
                <a:gsLst>
                  <a:gs pos="4000">
                    <a:schemeClr val="bg1">
                      <a:lumMod val="85000"/>
                      <a:alpha val="0"/>
                    </a:schemeClr>
                  </a:gs>
                  <a:gs pos="59000">
                    <a:schemeClr val="bg1">
                      <a:lumMod val="8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9B705B9-AD51-F6DD-CDAD-89A8516F32F9}"/>
                  </a:ext>
                </a:extLst>
              </p:cNvPr>
              <p:cNvSpPr/>
              <p:nvPr/>
            </p:nvSpPr>
            <p:spPr>
              <a:xfrm rot="18900000">
                <a:off x="3228698" y="2556485"/>
                <a:ext cx="189921" cy="189921"/>
              </a:xfrm>
              <a:custGeom>
                <a:avLst/>
                <a:gdLst>
                  <a:gd name="connsiteX0" fmla="*/ 363817 w 419663"/>
                  <a:gd name="connsiteY0" fmla="*/ 0 h 419664"/>
                  <a:gd name="connsiteX1" fmla="*/ 419663 w 419663"/>
                  <a:gd name="connsiteY1" fmla="*/ 55846 h 419664"/>
                  <a:gd name="connsiteX2" fmla="*/ 137482 w 419663"/>
                  <a:gd name="connsiteY2" fmla="*/ 338027 h 419664"/>
                  <a:gd name="connsiteX3" fmla="*/ 338587 w 419663"/>
                  <a:gd name="connsiteY3" fmla="*/ 338027 h 419664"/>
                  <a:gd name="connsiteX4" fmla="*/ 338587 w 419663"/>
                  <a:gd name="connsiteY4" fmla="*/ 419664 h 419664"/>
                  <a:gd name="connsiteX5" fmla="*/ 0 w 419663"/>
                  <a:gd name="connsiteY5" fmla="*/ 419664 h 419664"/>
                  <a:gd name="connsiteX6" fmla="*/ 0 w 419663"/>
                  <a:gd name="connsiteY6" fmla="*/ 81077 h 419664"/>
                  <a:gd name="connsiteX7" fmla="*/ 81007 w 419663"/>
                  <a:gd name="connsiteY7" fmla="*/ 81077 h 419664"/>
                  <a:gd name="connsiteX8" fmla="*/ 81007 w 419663"/>
                  <a:gd name="connsiteY8" fmla="*/ 282810 h 41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9663" h="419664">
                    <a:moveTo>
                      <a:pt x="363817" y="0"/>
                    </a:moveTo>
                    <a:lnTo>
                      <a:pt x="419663" y="55846"/>
                    </a:lnTo>
                    <a:lnTo>
                      <a:pt x="137482" y="338027"/>
                    </a:lnTo>
                    <a:lnTo>
                      <a:pt x="338587" y="338027"/>
                    </a:lnTo>
                    <a:lnTo>
                      <a:pt x="338587" y="419664"/>
                    </a:lnTo>
                    <a:lnTo>
                      <a:pt x="0" y="419664"/>
                    </a:lnTo>
                    <a:lnTo>
                      <a:pt x="0" y="81077"/>
                    </a:lnTo>
                    <a:lnTo>
                      <a:pt x="81007" y="81077"/>
                    </a:lnTo>
                    <a:lnTo>
                      <a:pt x="81007" y="282810"/>
                    </a:lnTo>
                    <a:close/>
                  </a:path>
                </a:pathLst>
              </a:custGeom>
              <a:gradFill flip="none" rotWithShape="1">
                <a:gsLst>
                  <a:gs pos="4000">
                    <a:schemeClr val="bg1">
                      <a:lumMod val="85000"/>
                      <a:alpha val="0"/>
                    </a:schemeClr>
                  </a:gs>
                  <a:gs pos="59000">
                    <a:schemeClr val="bg1">
                      <a:lumMod val="8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85C8666-BF25-24DC-008A-DB261DCD7B86}"/>
                  </a:ext>
                </a:extLst>
              </p:cNvPr>
              <p:cNvSpPr/>
              <p:nvPr/>
            </p:nvSpPr>
            <p:spPr>
              <a:xfrm rot="18900000">
                <a:off x="2877005" y="2255034"/>
                <a:ext cx="189921" cy="189921"/>
              </a:xfrm>
              <a:custGeom>
                <a:avLst/>
                <a:gdLst>
                  <a:gd name="connsiteX0" fmla="*/ 363817 w 419663"/>
                  <a:gd name="connsiteY0" fmla="*/ 0 h 419664"/>
                  <a:gd name="connsiteX1" fmla="*/ 419663 w 419663"/>
                  <a:gd name="connsiteY1" fmla="*/ 55846 h 419664"/>
                  <a:gd name="connsiteX2" fmla="*/ 137482 w 419663"/>
                  <a:gd name="connsiteY2" fmla="*/ 338027 h 419664"/>
                  <a:gd name="connsiteX3" fmla="*/ 338587 w 419663"/>
                  <a:gd name="connsiteY3" fmla="*/ 338027 h 419664"/>
                  <a:gd name="connsiteX4" fmla="*/ 338587 w 419663"/>
                  <a:gd name="connsiteY4" fmla="*/ 419664 h 419664"/>
                  <a:gd name="connsiteX5" fmla="*/ 0 w 419663"/>
                  <a:gd name="connsiteY5" fmla="*/ 419664 h 419664"/>
                  <a:gd name="connsiteX6" fmla="*/ 0 w 419663"/>
                  <a:gd name="connsiteY6" fmla="*/ 81077 h 419664"/>
                  <a:gd name="connsiteX7" fmla="*/ 81007 w 419663"/>
                  <a:gd name="connsiteY7" fmla="*/ 81077 h 419664"/>
                  <a:gd name="connsiteX8" fmla="*/ 81007 w 419663"/>
                  <a:gd name="connsiteY8" fmla="*/ 282810 h 41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9663" h="419664">
                    <a:moveTo>
                      <a:pt x="363817" y="0"/>
                    </a:moveTo>
                    <a:lnTo>
                      <a:pt x="419663" y="55846"/>
                    </a:lnTo>
                    <a:lnTo>
                      <a:pt x="137482" y="338027"/>
                    </a:lnTo>
                    <a:lnTo>
                      <a:pt x="338587" y="338027"/>
                    </a:lnTo>
                    <a:lnTo>
                      <a:pt x="338587" y="419664"/>
                    </a:lnTo>
                    <a:lnTo>
                      <a:pt x="0" y="419664"/>
                    </a:lnTo>
                    <a:lnTo>
                      <a:pt x="0" y="81077"/>
                    </a:lnTo>
                    <a:lnTo>
                      <a:pt x="81007" y="81077"/>
                    </a:lnTo>
                    <a:lnTo>
                      <a:pt x="81007" y="282810"/>
                    </a:lnTo>
                    <a:close/>
                  </a:path>
                </a:pathLst>
              </a:custGeom>
              <a:gradFill flip="none" rotWithShape="1">
                <a:gsLst>
                  <a:gs pos="4000">
                    <a:schemeClr val="bg1">
                      <a:lumMod val="85000"/>
                      <a:alpha val="0"/>
                    </a:schemeClr>
                  </a:gs>
                  <a:gs pos="59000">
                    <a:schemeClr val="bg1">
                      <a:lumMod val="85000"/>
                    </a:schemeClr>
                  </a:gs>
                </a:gsLst>
                <a:lin ang="90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121898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34C67B-97B3-A2AD-F526-3A454284616F}"/>
                </a:ext>
              </a:extLst>
            </p:cNvPr>
            <p:cNvSpPr txBox="1"/>
            <p:nvPr/>
          </p:nvSpPr>
          <p:spPr>
            <a:xfrm>
              <a:off x="2132614" y="3566946"/>
              <a:ext cx="18628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 pitchFamily="34" charset="0"/>
                </a:rPr>
                <a:t>Awareness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94110D-FE02-F953-CA70-E29F9FB3C2AD}"/>
                </a:ext>
              </a:extLst>
            </p:cNvPr>
            <p:cNvSpPr txBox="1"/>
            <p:nvPr/>
          </p:nvSpPr>
          <p:spPr>
            <a:xfrm>
              <a:off x="2304243" y="4562764"/>
              <a:ext cx="15643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 pitchFamily="34" charset="0"/>
                </a:rPr>
                <a:t>Acquisition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6892AA-9DA5-3EA6-3FB8-25EB97E13DE8}"/>
                </a:ext>
              </a:extLst>
            </p:cNvPr>
            <p:cNvSpPr txBox="1"/>
            <p:nvPr/>
          </p:nvSpPr>
          <p:spPr>
            <a:xfrm>
              <a:off x="2304243" y="5514912"/>
              <a:ext cx="15643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0B0004020202020204" pitchFamily="34" charset="0"/>
                </a:rPr>
                <a:t>Retention</a:t>
              </a: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8AB1858-3C67-ECEF-E7F2-E0E4B60353CE}"/>
              </a:ext>
            </a:extLst>
          </p:cNvPr>
          <p:cNvGrpSpPr/>
          <p:nvPr/>
        </p:nvGrpSpPr>
        <p:grpSpPr>
          <a:xfrm>
            <a:off x="7492634" y="1433500"/>
            <a:ext cx="4088338" cy="1559168"/>
            <a:chOff x="7491046" y="1160587"/>
            <a:chExt cx="4088338" cy="155916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266C2CC-B22E-3000-8B09-076B22C531F8}"/>
                </a:ext>
              </a:extLst>
            </p:cNvPr>
            <p:cNvSpPr/>
            <p:nvPr/>
          </p:nvSpPr>
          <p:spPr>
            <a:xfrm>
              <a:off x="7491046" y="1160587"/>
              <a:ext cx="4088338" cy="1559168"/>
            </a:xfrm>
            <a:prstGeom prst="roundRect">
              <a:avLst>
                <a:gd name="adj" fmla="val 91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D43D3AD-8B7A-D78B-6A73-42CEEB602789}"/>
                </a:ext>
              </a:extLst>
            </p:cNvPr>
            <p:cNvSpPr txBox="1"/>
            <p:nvPr/>
          </p:nvSpPr>
          <p:spPr>
            <a:xfrm flipH="1">
              <a:off x="7782127" y="1575680"/>
              <a:ext cx="2714018" cy="7461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171450" marR="0" lvl="0" indent="-17145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</a:rPr>
                <a:t>Hyper targeted digital outreach: Meta ads and collaboration with travel &amp; finance influencer</a:t>
              </a:r>
            </a:p>
            <a:p>
              <a:pPr marL="171450" marR="0" lvl="0" indent="-17145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  <a:p>
              <a:pPr marL="171450" marR="0" lvl="0" indent="-17145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100">
                  <a:latin typeface="Aptos" panose="020B0004020202020204" pitchFamily="34" charset="0"/>
                </a:rPr>
                <a:t>Articles and advertorials in top business publications, luxury magazines, and high‑traffic financial news sites.</a:t>
              </a:r>
              <a:endPara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FB7D00-B508-73B0-D3E6-1E88CF3D9890}"/>
                </a:ext>
              </a:extLst>
            </p:cNvPr>
            <p:cNvSpPr txBox="1"/>
            <p:nvPr/>
          </p:nvSpPr>
          <p:spPr>
            <a:xfrm flipH="1">
              <a:off x="7782129" y="1216250"/>
              <a:ext cx="2714018" cy="2696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>
                  <a:solidFill>
                    <a:prstClr val="black">
                      <a:lumMod val="85000"/>
                      <a:lumOff val="15000"/>
                    </a:prstClr>
                  </a:solidFill>
                  <a:latin typeface="Aptos" panose="020B0004020202020204" pitchFamily="34" charset="0"/>
                </a:rPr>
                <a:t>AWARENESS STRATEGY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B5AAF36-B093-0BF2-F01C-82B53890B164}"/>
              </a:ext>
            </a:extLst>
          </p:cNvPr>
          <p:cNvGrpSpPr/>
          <p:nvPr/>
        </p:nvGrpSpPr>
        <p:grpSpPr>
          <a:xfrm>
            <a:off x="7492634" y="3221269"/>
            <a:ext cx="4088338" cy="1559168"/>
            <a:chOff x="7491046" y="1160587"/>
            <a:chExt cx="4088338" cy="1559168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1E25148-9A13-F810-FEEE-512EC68E5696}"/>
                </a:ext>
              </a:extLst>
            </p:cNvPr>
            <p:cNvSpPr/>
            <p:nvPr/>
          </p:nvSpPr>
          <p:spPr>
            <a:xfrm>
              <a:off x="7491046" y="1160587"/>
              <a:ext cx="4088338" cy="1559168"/>
            </a:xfrm>
            <a:prstGeom prst="roundRect">
              <a:avLst>
                <a:gd name="adj" fmla="val 91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BF27DA-43F0-7122-1B8D-97331BA3F7C7}"/>
                </a:ext>
              </a:extLst>
            </p:cNvPr>
            <p:cNvSpPr txBox="1"/>
            <p:nvPr/>
          </p:nvSpPr>
          <p:spPr>
            <a:xfrm flipH="1">
              <a:off x="7782127" y="1621400"/>
              <a:ext cx="2714018" cy="7461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171450" indent="-171450" defTabSz="1218987"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prstClr val="black">
                      <a:lumMod val="85000"/>
                      <a:lumOff val="15000"/>
                    </a:prstClr>
                  </a:solidFill>
                  <a:latin typeface="Aptos" panose="020B0004020202020204" pitchFamily="34" charset="0"/>
                </a:rPr>
                <a:t>Co-branded Partner Offers: Exclusive signups with partner airlines/hotels</a:t>
              </a:r>
            </a:p>
            <a:p>
              <a:pPr marL="171450" indent="-171450" defTabSz="1218987">
                <a:buFont typeface="Arial" panose="020B0604020202020204" pitchFamily="34" charset="0"/>
                <a:buChar char="•"/>
                <a:defRPr/>
              </a:pPr>
              <a:endParaRPr lang="en-US" sz="500">
                <a:solidFill>
                  <a:prstClr val="black">
                    <a:lumMod val="85000"/>
                    <a:lumOff val="15000"/>
                  </a:prstClr>
                </a:solidFill>
                <a:latin typeface="Aptos" panose="020B0004020202020204" pitchFamily="34" charset="0"/>
              </a:endParaRPr>
            </a:p>
            <a:p>
              <a:pPr marL="171450" indent="-171450" defTabSz="1218987">
                <a:buFont typeface="Arial" panose="020B0604020202020204" pitchFamily="34" charset="0"/>
                <a:buChar char="•"/>
                <a:defRPr/>
              </a:pPr>
              <a:r>
                <a:rPr lang="en-US" sz="1100">
                  <a:solidFill>
                    <a:prstClr val="black">
                      <a:lumMod val="85000"/>
                      <a:lumOff val="15000"/>
                    </a:prstClr>
                  </a:solidFill>
                  <a:latin typeface="Aptos" panose="020B0004020202020204" pitchFamily="34" charset="0"/>
                </a:rPr>
                <a:t>Limited “Founding Member” invite system where existing cardholders earn elite rewards for every successful referral.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4EB1A14-4C67-A3E1-2D44-6BA725730A46}"/>
                </a:ext>
              </a:extLst>
            </p:cNvPr>
            <p:cNvSpPr txBox="1"/>
            <p:nvPr/>
          </p:nvSpPr>
          <p:spPr>
            <a:xfrm flipH="1">
              <a:off x="7782129" y="1243682"/>
              <a:ext cx="2714018" cy="2696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</a:rPr>
                <a:t>ACQUISTIION STRATEGY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047CA6A-6840-E51F-B9A0-414A15957420}"/>
              </a:ext>
            </a:extLst>
          </p:cNvPr>
          <p:cNvGrpSpPr/>
          <p:nvPr/>
        </p:nvGrpSpPr>
        <p:grpSpPr>
          <a:xfrm>
            <a:off x="7492634" y="5009038"/>
            <a:ext cx="4088338" cy="1559168"/>
            <a:chOff x="7491046" y="1160587"/>
            <a:chExt cx="4088338" cy="1559168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68A0D0C-D3CC-FEB3-FA5B-5516FD01BB2B}"/>
                </a:ext>
              </a:extLst>
            </p:cNvPr>
            <p:cNvSpPr/>
            <p:nvPr/>
          </p:nvSpPr>
          <p:spPr>
            <a:xfrm>
              <a:off x="7491046" y="1160587"/>
              <a:ext cx="4088338" cy="1559168"/>
            </a:xfrm>
            <a:prstGeom prst="roundRect">
              <a:avLst>
                <a:gd name="adj" fmla="val 91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B366FBD-6382-E354-C4E1-D9FDDC13207D}"/>
                </a:ext>
              </a:extLst>
            </p:cNvPr>
            <p:cNvSpPr txBox="1"/>
            <p:nvPr/>
          </p:nvSpPr>
          <p:spPr>
            <a:xfrm flipH="1">
              <a:off x="7782127" y="1667120"/>
              <a:ext cx="2714018" cy="7461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171450" marR="0" lvl="0" indent="-171450" defTabSz="1218987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100">
                  <a:solidFill>
                    <a:prstClr val="black">
                      <a:lumMod val="85000"/>
                      <a:lumOff val="15000"/>
                    </a:prstClr>
                  </a:solidFill>
                  <a:latin typeface="Aptos" panose="020B0004020202020204" pitchFamily="34" charset="0"/>
                </a:rPr>
                <a:t>Tiered Milestone benefits after crossing spending thresholds</a:t>
              </a:r>
            </a:p>
            <a:p>
              <a:pPr marL="171450" marR="0" lvl="0" indent="-171450" defTabSz="1218987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US" sz="500">
                <a:solidFill>
                  <a:prstClr val="black">
                    <a:lumMod val="85000"/>
                    <a:lumOff val="15000"/>
                  </a:prstClr>
                </a:solidFill>
                <a:latin typeface="Aptos" panose="020B0004020202020204" pitchFamily="34" charset="0"/>
              </a:endParaRPr>
            </a:p>
            <a:p>
              <a:pPr marL="171450" marR="0" lvl="0" indent="-171450" defTabSz="1218987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sz="1100">
                  <a:solidFill>
                    <a:prstClr val="black">
                      <a:lumMod val="85000"/>
                      <a:lumOff val="15000"/>
                    </a:prstClr>
                  </a:solidFill>
                  <a:latin typeface="Aptos" panose="020B0004020202020204" pitchFamily="34" charset="0"/>
                </a:rPr>
                <a:t>Invite‑only events, partner pop‑ups, or limited‑edition offers that only active users can access. </a:t>
              </a:r>
              <a:endParaRPr lang="en-IN" sz="1100">
                <a:solidFill>
                  <a:prstClr val="black">
                    <a:lumMod val="85000"/>
                    <a:lumOff val="15000"/>
                  </a:prstClr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FCFF023-6B55-89CF-85C3-073515D2B395}"/>
                </a:ext>
              </a:extLst>
            </p:cNvPr>
            <p:cNvSpPr txBox="1"/>
            <p:nvPr/>
          </p:nvSpPr>
          <p:spPr>
            <a:xfrm flipH="1">
              <a:off x="7782129" y="1271114"/>
              <a:ext cx="2714018" cy="2696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</a:rPr>
                <a:t>RETENTION STRATEGY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4E163D-980A-7173-CD46-364DC1601124}"/>
              </a:ext>
            </a:extLst>
          </p:cNvPr>
          <p:cNvGrpSpPr/>
          <p:nvPr/>
        </p:nvGrpSpPr>
        <p:grpSpPr>
          <a:xfrm>
            <a:off x="10704188" y="1881719"/>
            <a:ext cx="558518" cy="662732"/>
            <a:chOff x="10694167" y="1399072"/>
            <a:chExt cx="647794" cy="768667"/>
          </a:xfrm>
          <a:solidFill>
            <a:schemeClr val="accent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C3EE029-4B87-1933-FD31-009C9AE8B9CA}"/>
                </a:ext>
              </a:extLst>
            </p:cNvPr>
            <p:cNvSpPr/>
            <p:nvPr/>
          </p:nvSpPr>
          <p:spPr>
            <a:xfrm>
              <a:off x="10694167" y="1399072"/>
              <a:ext cx="647794" cy="768667"/>
            </a:xfrm>
            <a:custGeom>
              <a:avLst/>
              <a:gdLst>
                <a:gd name="connsiteX0" fmla="*/ 572453 w 647794"/>
                <a:gd name="connsiteY0" fmla="*/ 301943 h 768667"/>
                <a:gd name="connsiteX1" fmla="*/ 572453 w 647794"/>
                <a:gd name="connsiteY1" fmla="*/ 297180 h 768667"/>
                <a:gd name="connsiteX2" fmla="*/ 296228 w 647794"/>
                <a:gd name="connsiteY2" fmla="*/ 0 h 768667"/>
                <a:gd name="connsiteX3" fmla="*/ 285750 w 647794"/>
                <a:gd name="connsiteY3" fmla="*/ 0 h 768667"/>
                <a:gd name="connsiteX4" fmla="*/ 0 w 647794"/>
                <a:gd name="connsiteY4" fmla="*/ 276225 h 768667"/>
                <a:gd name="connsiteX5" fmla="*/ 0 w 647794"/>
                <a:gd name="connsiteY5" fmla="*/ 297180 h 768667"/>
                <a:gd name="connsiteX6" fmla="*/ 112395 w 647794"/>
                <a:gd name="connsiteY6" fmla="*/ 527685 h 768667"/>
                <a:gd name="connsiteX7" fmla="*/ 112395 w 647794"/>
                <a:gd name="connsiteY7" fmla="*/ 768668 h 768667"/>
                <a:gd name="connsiteX8" fmla="*/ 413385 w 647794"/>
                <a:gd name="connsiteY8" fmla="*/ 768668 h 768667"/>
                <a:gd name="connsiteX9" fmla="*/ 413385 w 647794"/>
                <a:gd name="connsiteY9" fmla="*/ 654368 h 768667"/>
                <a:gd name="connsiteX10" fmla="*/ 460058 w 647794"/>
                <a:gd name="connsiteY10" fmla="*/ 654368 h 768667"/>
                <a:gd name="connsiteX11" fmla="*/ 572453 w 647794"/>
                <a:gd name="connsiteY11" fmla="*/ 541973 h 768667"/>
                <a:gd name="connsiteX12" fmla="*/ 572453 w 647794"/>
                <a:gd name="connsiteY12" fmla="*/ 541973 h 768667"/>
                <a:gd name="connsiteX13" fmla="*/ 572453 w 647794"/>
                <a:gd name="connsiteY13" fmla="*/ 540068 h 768667"/>
                <a:gd name="connsiteX14" fmla="*/ 572453 w 647794"/>
                <a:gd name="connsiteY14" fmla="*/ 482918 h 768667"/>
                <a:gd name="connsiteX15" fmla="*/ 614363 w 647794"/>
                <a:gd name="connsiteY15" fmla="*/ 482918 h 768667"/>
                <a:gd name="connsiteX16" fmla="*/ 638175 w 647794"/>
                <a:gd name="connsiteY16" fmla="*/ 416243 h 768667"/>
                <a:gd name="connsiteX17" fmla="*/ 572453 w 647794"/>
                <a:gd name="connsiteY17" fmla="*/ 301943 h 768667"/>
                <a:gd name="connsiteX18" fmla="*/ 626745 w 647794"/>
                <a:gd name="connsiteY18" fmla="*/ 454343 h 768667"/>
                <a:gd name="connsiteX19" fmla="*/ 613410 w 647794"/>
                <a:gd name="connsiteY19" fmla="*/ 464820 h 768667"/>
                <a:gd name="connsiteX20" fmla="*/ 553403 w 647794"/>
                <a:gd name="connsiteY20" fmla="*/ 464820 h 768667"/>
                <a:gd name="connsiteX21" fmla="*/ 553403 w 647794"/>
                <a:gd name="connsiteY21" fmla="*/ 542925 h 768667"/>
                <a:gd name="connsiteX22" fmla="*/ 460058 w 647794"/>
                <a:gd name="connsiteY22" fmla="*/ 636270 h 768667"/>
                <a:gd name="connsiteX23" fmla="*/ 394335 w 647794"/>
                <a:gd name="connsiteY23" fmla="*/ 636270 h 768667"/>
                <a:gd name="connsiteX24" fmla="*/ 394335 w 647794"/>
                <a:gd name="connsiteY24" fmla="*/ 750570 h 768667"/>
                <a:gd name="connsiteX25" fmla="*/ 131445 w 647794"/>
                <a:gd name="connsiteY25" fmla="*/ 750570 h 768667"/>
                <a:gd name="connsiteX26" fmla="*/ 131445 w 647794"/>
                <a:gd name="connsiteY26" fmla="*/ 518160 h 768667"/>
                <a:gd name="connsiteX27" fmla="*/ 123825 w 647794"/>
                <a:gd name="connsiteY27" fmla="*/ 512445 h 768667"/>
                <a:gd name="connsiteX28" fmla="*/ 19050 w 647794"/>
                <a:gd name="connsiteY28" fmla="*/ 297180 h 768667"/>
                <a:gd name="connsiteX29" fmla="*/ 19050 w 647794"/>
                <a:gd name="connsiteY29" fmla="*/ 297180 h 768667"/>
                <a:gd name="connsiteX30" fmla="*/ 19050 w 647794"/>
                <a:gd name="connsiteY30" fmla="*/ 297180 h 768667"/>
                <a:gd name="connsiteX31" fmla="*/ 19050 w 647794"/>
                <a:gd name="connsiteY31" fmla="*/ 278130 h 768667"/>
                <a:gd name="connsiteX32" fmla="*/ 285750 w 647794"/>
                <a:gd name="connsiteY32" fmla="*/ 19050 h 768667"/>
                <a:gd name="connsiteX33" fmla="*/ 295275 w 647794"/>
                <a:gd name="connsiteY33" fmla="*/ 19050 h 768667"/>
                <a:gd name="connsiteX34" fmla="*/ 552450 w 647794"/>
                <a:gd name="connsiteY34" fmla="*/ 296228 h 768667"/>
                <a:gd name="connsiteX35" fmla="*/ 552450 w 647794"/>
                <a:gd name="connsiteY35" fmla="*/ 306705 h 768667"/>
                <a:gd name="connsiteX36" fmla="*/ 555308 w 647794"/>
                <a:gd name="connsiteY36" fmla="*/ 311468 h 768667"/>
                <a:gd name="connsiteX37" fmla="*/ 621030 w 647794"/>
                <a:gd name="connsiteY37" fmla="*/ 425768 h 768667"/>
                <a:gd name="connsiteX38" fmla="*/ 621030 w 647794"/>
                <a:gd name="connsiteY38" fmla="*/ 425768 h 768667"/>
                <a:gd name="connsiteX39" fmla="*/ 621030 w 647794"/>
                <a:gd name="connsiteY39" fmla="*/ 425768 h 768667"/>
                <a:gd name="connsiteX40" fmla="*/ 626745 w 647794"/>
                <a:gd name="connsiteY40" fmla="*/ 454343 h 768667"/>
                <a:gd name="connsiteX41" fmla="*/ 626745 w 647794"/>
                <a:gd name="connsiteY41" fmla="*/ 454343 h 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47794" h="768667">
                  <a:moveTo>
                    <a:pt x="572453" y="301943"/>
                  </a:moveTo>
                  <a:lnTo>
                    <a:pt x="572453" y="297180"/>
                  </a:lnTo>
                  <a:cubicBezTo>
                    <a:pt x="578168" y="139065"/>
                    <a:pt x="454343" y="6668"/>
                    <a:pt x="296228" y="0"/>
                  </a:cubicBezTo>
                  <a:cubicBezTo>
                    <a:pt x="292418" y="0"/>
                    <a:pt x="289560" y="0"/>
                    <a:pt x="285750" y="0"/>
                  </a:cubicBezTo>
                  <a:cubicBezTo>
                    <a:pt x="131445" y="0"/>
                    <a:pt x="5715" y="121920"/>
                    <a:pt x="0" y="276225"/>
                  </a:cubicBezTo>
                  <a:cubicBezTo>
                    <a:pt x="0" y="282893"/>
                    <a:pt x="0" y="290513"/>
                    <a:pt x="0" y="297180"/>
                  </a:cubicBezTo>
                  <a:cubicBezTo>
                    <a:pt x="0" y="387668"/>
                    <a:pt x="40957" y="472440"/>
                    <a:pt x="112395" y="527685"/>
                  </a:cubicBezTo>
                  <a:lnTo>
                    <a:pt x="112395" y="768668"/>
                  </a:lnTo>
                  <a:lnTo>
                    <a:pt x="413385" y="768668"/>
                  </a:lnTo>
                  <a:lnTo>
                    <a:pt x="413385" y="654368"/>
                  </a:lnTo>
                  <a:lnTo>
                    <a:pt x="460058" y="654368"/>
                  </a:lnTo>
                  <a:cubicBezTo>
                    <a:pt x="521970" y="654368"/>
                    <a:pt x="572453" y="603885"/>
                    <a:pt x="572453" y="541973"/>
                  </a:cubicBezTo>
                  <a:lnTo>
                    <a:pt x="572453" y="541973"/>
                  </a:lnTo>
                  <a:cubicBezTo>
                    <a:pt x="572453" y="541020"/>
                    <a:pt x="572453" y="541020"/>
                    <a:pt x="572453" y="540068"/>
                  </a:cubicBezTo>
                  <a:lnTo>
                    <a:pt x="572453" y="482918"/>
                  </a:lnTo>
                  <a:lnTo>
                    <a:pt x="614363" y="482918"/>
                  </a:lnTo>
                  <a:cubicBezTo>
                    <a:pt x="639128" y="480060"/>
                    <a:pt x="661035" y="451485"/>
                    <a:pt x="638175" y="416243"/>
                  </a:cubicBezTo>
                  <a:lnTo>
                    <a:pt x="572453" y="301943"/>
                  </a:lnTo>
                  <a:close/>
                  <a:moveTo>
                    <a:pt x="626745" y="454343"/>
                  </a:moveTo>
                  <a:cubicBezTo>
                    <a:pt x="623888" y="460058"/>
                    <a:pt x="619125" y="462915"/>
                    <a:pt x="613410" y="464820"/>
                  </a:cubicBezTo>
                  <a:lnTo>
                    <a:pt x="553403" y="464820"/>
                  </a:lnTo>
                  <a:lnTo>
                    <a:pt x="553403" y="542925"/>
                  </a:lnTo>
                  <a:cubicBezTo>
                    <a:pt x="553403" y="594360"/>
                    <a:pt x="511492" y="636270"/>
                    <a:pt x="460058" y="636270"/>
                  </a:cubicBezTo>
                  <a:lnTo>
                    <a:pt x="394335" y="636270"/>
                  </a:lnTo>
                  <a:lnTo>
                    <a:pt x="394335" y="750570"/>
                  </a:lnTo>
                  <a:lnTo>
                    <a:pt x="131445" y="750570"/>
                  </a:lnTo>
                  <a:lnTo>
                    <a:pt x="131445" y="518160"/>
                  </a:lnTo>
                  <a:lnTo>
                    <a:pt x="123825" y="512445"/>
                  </a:lnTo>
                  <a:cubicBezTo>
                    <a:pt x="57150" y="461010"/>
                    <a:pt x="19050" y="381000"/>
                    <a:pt x="19050" y="297180"/>
                  </a:cubicBezTo>
                  <a:lnTo>
                    <a:pt x="19050" y="297180"/>
                  </a:lnTo>
                  <a:lnTo>
                    <a:pt x="19050" y="297180"/>
                  </a:lnTo>
                  <a:cubicBezTo>
                    <a:pt x="19050" y="290513"/>
                    <a:pt x="19050" y="283845"/>
                    <a:pt x="19050" y="278130"/>
                  </a:cubicBezTo>
                  <a:cubicBezTo>
                    <a:pt x="23813" y="133350"/>
                    <a:pt x="141923" y="19050"/>
                    <a:pt x="285750" y="19050"/>
                  </a:cubicBezTo>
                  <a:cubicBezTo>
                    <a:pt x="288608" y="19050"/>
                    <a:pt x="292418" y="19050"/>
                    <a:pt x="295275" y="19050"/>
                  </a:cubicBezTo>
                  <a:cubicBezTo>
                    <a:pt x="442913" y="24765"/>
                    <a:pt x="558165" y="148590"/>
                    <a:pt x="552450" y="296228"/>
                  </a:cubicBezTo>
                  <a:lnTo>
                    <a:pt x="552450" y="306705"/>
                  </a:lnTo>
                  <a:lnTo>
                    <a:pt x="555308" y="311468"/>
                  </a:lnTo>
                  <a:lnTo>
                    <a:pt x="621030" y="425768"/>
                  </a:lnTo>
                  <a:lnTo>
                    <a:pt x="621030" y="425768"/>
                  </a:lnTo>
                  <a:lnTo>
                    <a:pt x="621030" y="425768"/>
                  </a:lnTo>
                  <a:cubicBezTo>
                    <a:pt x="628650" y="434340"/>
                    <a:pt x="630555" y="444818"/>
                    <a:pt x="626745" y="454343"/>
                  </a:cubicBezTo>
                  <a:cubicBezTo>
                    <a:pt x="626745" y="454343"/>
                    <a:pt x="626745" y="454343"/>
                    <a:pt x="626745" y="4543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2E8FB3C-FBBD-4AB4-4126-62D592421CA4}"/>
                </a:ext>
              </a:extLst>
            </p:cNvPr>
            <p:cNvSpPr/>
            <p:nvPr/>
          </p:nvSpPr>
          <p:spPr>
            <a:xfrm>
              <a:off x="10850700" y="1521111"/>
              <a:ext cx="274056" cy="190893"/>
            </a:xfrm>
            <a:custGeom>
              <a:avLst/>
              <a:gdLst>
                <a:gd name="connsiteX0" fmla="*/ 378342 w 738470"/>
                <a:gd name="connsiteY0" fmla="*/ 19052 h 514381"/>
                <a:gd name="connsiteX1" fmla="*/ 466353 w 738470"/>
                <a:gd name="connsiteY1" fmla="*/ 91690 h 514381"/>
                <a:gd name="connsiteX2" fmla="*/ 466496 w 738470"/>
                <a:gd name="connsiteY2" fmla="*/ 91747 h 514381"/>
                <a:gd name="connsiteX3" fmla="*/ 522084 w 738470"/>
                <a:gd name="connsiteY3" fmla="*/ 72964 h 514381"/>
                <a:gd name="connsiteX4" fmla="*/ 611914 w 738470"/>
                <a:gd name="connsiteY4" fmla="*/ 162822 h 514381"/>
                <a:gd name="connsiteX5" fmla="*/ 609267 w 738470"/>
                <a:gd name="connsiteY5" fmla="*/ 183339 h 514381"/>
                <a:gd name="connsiteX6" fmla="*/ 609338 w 738470"/>
                <a:gd name="connsiteY6" fmla="*/ 183454 h 514381"/>
                <a:gd name="connsiteX7" fmla="*/ 609381 w 738470"/>
                <a:gd name="connsiteY7" fmla="*/ 183454 h 514381"/>
                <a:gd name="connsiteX8" fmla="*/ 631060 w 738470"/>
                <a:gd name="connsiteY8" fmla="*/ 180806 h 514381"/>
                <a:gd name="connsiteX9" fmla="*/ 719607 w 738470"/>
                <a:gd name="connsiteY9" fmla="*/ 271957 h 514381"/>
                <a:gd name="connsiteX10" fmla="*/ 629888 w 738470"/>
                <a:gd name="connsiteY10" fmla="*/ 360514 h 514381"/>
                <a:gd name="connsiteX11" fmla="*/ 594074 w 738470"/>
                <a:gd name="connsiteY11" fmla="*/ 352484 h 514381"/>
                <a:gd name="connsiteX12" fmla="*/ 593959 w 738470"/>
                <a:gd name="connsiteY12" fmla="*/ 352522 h 514381"/>
                <a:gd name="connsiteX13" fmla="*/ 593950 w 738470"/>
                <a:gd name="connsiteY13" fmla="*/ 352570 h 514381"/>
                <a:gd name="connsiteX14" fmla="*/ 593950 w 738470"/>
                <a:gd name="connsiteY14" fmla="*/ 358628 h 514381"/>
                <a:gd name="connsiteX15" fmla="*/ 511159 w 738470"/>
                <a:gd name="connsiteY15" fmla="*/ 450068 h 514381"/>
                <a:gd name="connsiteX16" fmla="*/ 432378 w 738470"/>
                <a:gd name="connsiteY16" fmla="*/ 413673 h 514381"/>
                <a:gd name="connsiteX17" fmla="*/ 432257 w 738470"/>
                <a:gd name="connsiteY17" fmla="*/ 413659 h 514381"/>
                <a:gd name="connsiteX18" fmla="*/ 432225 w 738470"/>
                <a:gd name="connsiteY18" fmla="*/ 413720 h 514381"/>
                <a:gd name="connsiteX19" fmla="*/ 334119 w 738470"/>
                <a:gd name="connsiteY19" fmla="*/ 494874 h 514381"/>
                <a:gd name="connsiteX20" fmla="*/ 252565 w 738470"/>
                <a:gd name="connsiteY20" fmla="*/ 405405 h 514381"/>
                <a:gd name="connsiteX21" fmla="*/ 253422 w 738470"/>
                <a:gd name="connsiteY21" fmla="*/ 395737 h 514381"/>
                <a:gd name="connsiteX22" fmla="*/ 253393 w 738470"/>
                <a:gd name="connsiteY22" fmla="*/ 395632 h 514381"/>
                <a:gd name="connsiteX23" fmla="*/ 253289 w 738470"/>
                <a:gd name="connsiteY23" fmla="*/ 395661 h 514381"/>
                <a:gd name="connsiteX24" fmla="*/ 128055 w 738470"/>
                <a:gd name="connsiteY24" fmla="*/ 379829 h 514381"/>
                <a:gd name="connsiteX25" fmla="*/ 109728 w 738470"/>
                <a:gd name="connsiteY25" fmla="*/ 333558 h 514381"/>
                <a:gd name="connsiteX26" fmla="*/ 108823 w 738470"/>
                <a:gd name="connsiteY26" fmla="*/ 333558 h 514381"/>
                <a:gd name="connsiteX27" fmla="*/ 19095 w 738470"/>
                <a:gd name="connsiteY27" fmla="*/ 243569 h 514381"/>
                <a:gd name="connsiteX28" fmla="*/ 107651 w 738470"/>
                <a:gd name="connsiteY28" fmla="*/ 153850 h 514381"/>
                <a:gd name="connsiteX29" fmla="*/ 129330 w 738470"/>
                <a:gd name="connsiteY29" fmla="*/ 156498 h 514381"/>
                <a:gd name="connsiteX30" fmla="*/ 129454 w 738470"/>
                <a:gd name="connsiteY30" fmla="*/ 156417 h 514381"/>
                <a:gd name="connsiteX31" fmla="*/ 129454 w 738470"/>
                <a:gd name="connsiteY31" fmla="*/ 156374 h 514381"/>
                <a:gd name="connsiteX32" fmla="*/ 126816 w 738470"/>
                <a:gd name="connsiteY32" fmla="*/ 137762 h 514381"/>
                <a:gd name="connsiteX33" fmla="*/ 214145 w 738470"/>
                <a:gd name="connsiteY33" fmla="*/ 46074 h 514381"/>
                <a:gd name="connsiteX34" fmla="*/ 291093 w 738470"/>
                <a:gd name="connsiteY34" fmla="*/ 86327 h 514381"/>
                <a:gd name="connsiteX35" fmla="*/ 291209 w 738470"/>
                <a:gd name="connsiteY35" fmla="*/ 86364 h 514381"/>
                <a:gd name="connsiteX36" fmla="*/ 291246 w 738470"/>
                <a:gd name="connsiteY36" fmla="*/ 86327 h 514381"/>
                <a:gd name="connsiteX37" fmla="*/ 378342 w 738470"/>
                <a:gd name="connsiteY37" fmla="*/ 19052 h 514381"/>
                <a:gd name="connsiteX38" fmla="*/ 378342 w 738470"/>
                <a:gd name="connsiteY38" fmla="*/ 2 h 514381"/>
                <a:gd name="connsiteX39" fmla="*/ 285712 w 738470"/>
                <a:gd name="connsiteY39" fmla="*/ 52104 h 514381"/>
                <a:gd name="connsiteX40" fmla="*/ 216636 w 738470"/>
                <a:gd name="connsiteY40" fmla="*/ 26958 h 514381"/>
                <a:gd name="connsiteX41" fmla="*/ 107747 w 738470"/>
                <a:gd name="connsiteY41" fmla="*/ 134800 h 514381"/>
                <a:gd name="connsiteX42" fmla="*/ 6 w 738470"/>
                <a:gd name="connsiteY42" fmla="*/ 244884 h 514381"/>
                <a:gd name="connsiteX43" fmla="*/ 93554 w 738470"/>
                <a:gd name="connsiteY43" fmla="*/ 351541 h 514381"/>
                <a:gd name="connsiteX44" fmla="*/ 224877 w 738470"/>
                <a:gd name="connsiteY44" fmla="*/ 430226 h 514381"/>
                <a:gd name="connsiteX45" fmla="*/ 235648 w 738470"/>
                <a:gd name="connsiteY45" fmla="*/ 426922 h 514381"/>
                <a:gd name="connsiteX46" fmla="*/ 364184 w 738470"/>
                <a:gd name="connsiteY46" fmla="*/ 512194 h 514381"/>
                <a:gd name="connsiteX47" fmla="*/ 442093 w 738470"/>
                <a:gd name="connsiteY47" fmla="*/ 449877 h 514381"/>
                <a:gd name="connsiteX48" fmla="*/ 504111 w 738470"/>
                <a:gd name="connsiteY48" fmla="*/ 469423 h 514381"/>
                <a:gd name="connsiteX49" fmla="*/ 611638 w 738470"/>
                <a:gd name="connsiteY49" fmla="*/ 377735 h 514381"/>
                <a:gd name="connsiteX50" fmla="*/ 629888 w 738470"/>
                <a:gd name="connsiteY50" fmla="*/ 379564 h 514381"/>
                <a:gd name="connsiteX51" fmla="*/ 738470 w 738470"/>
                <a:gd name="connsiteY51" fmla="*/ 270329 h 514381"/>
                <a:gd name="connsiteX52" fmla="*/ 630964 w 738470"/>
                <a:gd name="connsiteY52" fmla="*/ 161756 h 514381"/>
                <a:gd name="connsiteX53" fmla="*/ 522084 w 738470"/>
                <a:gd name="connsiteY53" fmla="*/ 53914 h 514381"/>
                <a:gd name="connsiteX54" fmla="*/ 477441 w 738470"/>
                <a:gd name="connsiteY54" fmla="*/ 63353 h 514381"/>
                <a:gd name="connsiteX55" fmla="*/ 378342 w 738470"/>
                <a:gd name="connsiteY55" fmla="*/ 2 h 514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738470" h="514381">
                  <a:moveTo>
                    <a:pt x="378342" y="19052"/>
                  </a:moveTo>
                  <a:cubicBezTo>
                    <a:pt x="421387" y="18790"/>
                    <a:pt x="458448" y="49377"/>
                    <a:pt x="466353" y="91690"/>
                  </a:cubicBezTo>
                  <a:cubicBezTo>
                    <a:pt x="466353" y="91756"/>
                    <a:pt x="466439" y="91794"/>
                    <a:pt x="466496" y="91747"/>
                  </a:cubicBezTo>
                  <a:cubicBezTo>
                    <a:pt x="482496" y="79619"/>
                    <a:pt x="502007" y="73026"/>
                    <a:pt x="522084" y="72964"/>
                  </a:cubicBezTo>
                  <a:cubicBezTo>
                    <a:pt x="571642" y="73121"/>
                    <a:pt x="611773" y="113265"/>
                    <a:pt x="611914" y="162822"/>
                  </a:cubicBezTo>
                  <a:cubicBezTo>
                    <a:pt x="611963" y="169750"/>
                    <a:pt x="611072" y="176652"/>
                    <a:pt x="609267" y="183339"/>
                  </a:cubicBezTo>
                  <a:cubicBezTo>
                    <a:pt x="609255" y="183391"/>
                    <a:pt x="609287" y="183442"/>
                    <a:pt x="609338" y="183454"/>
                  </a:cubicBezTo>
                  <a:cubicBezTo>
                    <a:pt x="609352" y="183456"/>
                    <a:pt x="609367" y="183456"/>
                    <a:pt x="609381" y="183454"/>
                  </a:cubicBezTo>
                  <a:cubicBezTo>
                    <a:pt x="616454" y="181597"/>
                    <a:pt x="623747" y="180706"/>
                    <a:pt x="631060" y="180806"/>
                  </a:cubicBezTo>
                  <a:cubicBezTo>
                    <a:pt x="680682" y="181525"/>
                    <a:pt x="720326" y="222335"/>
                    <a:pt x="719607" y="271957"/>
                  </a:cubicBezTo>
                  <a:cubicBezTo>
                    <a:pt x="718896" y="321021"/>
                    <a:pt x="678957" y="360442"/>
                    <a:pt x="629888" y="360514"/>
                  </a:cubicBezTo>
                  <a:cubicBezTo>
                    <a:pt x="617543" y="360179"/>
                    <a:pt x="605380" y="357452"/>
                    <a:pt x="594074" y="352484"/>
                  </a:cubicBezTo>
                  <a:cubicBezTo>
                    <a:pt x="594032" y="352463"/>
                    <a:pt x="593980" y="352479"/>
                    <a:pt x="593959" y="352522"/>
                  </a:cubicBezTo>
                  <a:cubicBezTo>
                    <a:pt x="593951" y="352537"/>
                    <a:pt x="593948" y="352554"/>
                    <a:pt x="593950" y="352570"/>
                  </a:cubicBezTo>
                  <a:lnTo>
                    <a:pt x="593950" y="358628"/>
                  </a:lnTo>
                  <a:cubicBezTo>
                    <a:pt x="594340" y="406003"/>
                    <a:pt x="558340" y="445763"/>
                    <a:pt x="511159" y="450068"/>
                  </a:cubicBezTo>
                  <a:cubicBezTo>
                    <a:pt x="480332" y="452598"/>
                    <a:pt x="450434" y="438785"/>
                    <a:pt x="432378" y="413673"/>
                  </a:cubicBezTo>
                  <a:cubicBezTo>
                    <a:pt x="432348" y="413636"/>
                    <a:pt x="432294" y="413630"/>
                    <a:pt x="432257" y="413659"/>
                  </a:cubicBezTo>
                  <a:cubicBezTo>
                    <a:pt x="432239" y="413675"/>
                    <a:pt x="432227" y="413697"/>
                    <a:pt x="432225" y="413720"/>
                  </a:cubicBezTo>
                  <a:cubicBezTo>
                    <a:pt x="427544" y="463222"/>
                    <a:pt x="383620" y="499556"/>
                    <a:pt x="334119" y="494874"/>
                  </a:cubicBezTo>
                  <a:cubicBezTo>
                    <a:pt x="287947" y="490508"/>
                    <a:pt x="252648" y="451782"/>
                    <a:pt x="252565" y="405405"/>
                  </a:cubicBezTo>
                  <a:cubicBezTo>
                    <a:pt x="252557" y="402163"/>
                    <a:pt x="252845" y="398927"/>
                    <a:pt x="253422" y="395737"/>
                  </a:cubicBezTo>
                  <a:cubicBezTo>
                    <a:pt x="253443" y="395700"/>
                    <a:pt x="253431" y="395653"/>
                    <a:pt x="253393" y="395632"/>
                  </a:cubicBezTo>
                  <a:cubicBezTo>
                    <a:pt x="253356" y="395611"/>
                    <a:pt x="253310" y="395624"/>
                    <a:pt x="253289" y="395661"/>
                  </a:cubicBezTo>
                  <a:cubicBezTo>
                    <a:pt x="214334" y="425871"/>
                    <a:pt x="158265" y="418783"/>
                    <a:pt x="128055" y="379829"/>
                  </a:cubicBezTo>
                  <a:cubicBezTo>
                    <a:pt x="117682" y="366455"/>
                    <a:pt x="111326" y="350407"/>
                    <a:pt x="109728" y="333558"/>
                  </a:cubicBezTo>
                  <a:lnTo>
                    <a:pt x="108823" y="333558"/>
                  </a:lnTo>
                  <a:cubicBezTo>
                    <a:pt x="59196" y="333486"/>
                    <a:pt x="19022" y="293197"/>
                    <a:pt x="19095" y="243569"/>
                  </a:cubicBezTo>
                  <a:cubicBezTo>
                    <a:pt x="19166" y="194500"/>
                    <a:pt x="58587" y="154560"/>
                    <a:pt x="107651" y="153850"/>
                  </a:cubicBezTo>
                  <a:cubicBezTo>
                    <a:pt x="114964" y="153749"/>
                    <a:pt x="122257" y="154640"/>
                    <a:pt x="129330" y="156498"/>
                  </a:cubicBezTo>
                  <a:cubicBezTo>
                    <a:pt x="129387" y="156509"/>
                    <a:pt x="129443" y="156473"/>
                    <a:pt x="129454" y="156417"/>
                  </a:cubicBezTo>
                  <a:cubicBezTo>
                    <a:pt x="129457" y="156403"/>
                    <a:pt x="129457" y="156388"/>
                    <a:pt x="129454" y="156374"/>
                  </a:cubicBezTo>
                  <a:cubicBezTo>
                    <a:pt x="127862" y="150292"/>
                    <a:pt x="126977" y="144047"/>
                    <a:pt x="126816" y="137762"/>
                  </a:cubicBezTo>
                  <a:cubicBezTo>
                    <a:pt x="125612" y="88328"/>
                    <a:pt x="164710" y="47277"/>
                    <a:pt x="214145" y="46074"/>
                  </a:cubicBezTo>
                  <a:cubicBezTo>
                    <a:pt x="245020" y="45322"/>
                    <a:pt x="274103" y="60536"/>
                    <a:pt x="291093" y="86327"/>
                  </a:cubicBezTo>
                  <a:cubicBezTo>
                    <a:pt x="291115" y="86369"/>
                    <a:pt x="291167" y="86386"/>
                    <a:pt x="291209" y="86364"/>
                  </a:cubicBezTo>
                  <a:cubicBezTo>
                    <a:pt x="291225" y="86356"/>
                    <a:pt x="291237" y="86343"/>
                    <a:pt x="291246" y="86327"/>
                  </a:cubicBezTo>
                  <a:cubicBezTo>
                    <a:pt x="302001" y="46971"/>
                    <a:pt x="337546" y="19515"/>
                    <a:pt x="378342" y="19052"/>
                  </a:cubicBezTo>
                  <a:moveTo>
                    <a:pt x="378342" y="2"/>
                  </a:moveTo>
                  <a:cubicBezTo>
                    <a:pt x="340553" y="258"/>
                    <a:pt x="305555" y="19944"/>
                    <a:pt x="285712" y="52104"/>
                  </a:cubicBezTo>
                  <a:cubicBezTo>
                    <a:pt x="266344" y="35888"/>
                    <a:pt x="241897" y="26988"/>
                    <a:pt x="216636" y="26958"/>
                  </a:cubicBezTo>
                  <a:cubicBezTo>
                    <a:pt x="156937" y="27032"/>
                    <a:pt x="108398" y="75104"/>
                    <a:pt x="107747" y="134800"/>
                  </a:cubicBezTo>
                  <a:cubicBezTo>
                    <a:pt x="47596" y="135447"/>
                    <a:pt x="-641" y="184733"/>
                    <a:pt x="6" y="244884"/>
                  </a:cubicBezTo>
                  <a:cubicBezTo>
                    <a:pt x="585" y="298655"/>
                    <a:pt x="40318" y="343956"/>
                    <a:pt x="93554" y="351541"/>
                  </a:cubicBezTo>
                  <a:cubicBezTo>
                    <a:pt x="108090" y="409533"/>
                    <a:pt x="166885" y="444761"/>
                    <a:pt x="224877" y="430226"/>
                  </a:cubicBezTo>
                  <a:cubicBezTo>
                    <a:pt x="228522" y="429313"/>
                    <a:pt x="232117" y="428210"/>
                    <a:pt x="235648" y="426922"/>
                  </a:cubicBezTo>
                  <a:cubicBezTo>
                    <a:pt x="247596" y="485964"/>
                    <a:pt x="305144" y="524141"/>
                    <a:pt x="364184" y="512194"/>
                  </a:cubicBezTo>
                  <a:cubicBezTo>
                    <a:pt x="398689" y="505212"/>
                    <a:pt x="427702" y="482005"/>
                    <a:pt x="442093" y="449877"/>
                  </a:cubicBezTo>
                  <a:cubicBezTo>
                    <a:pt x="460225" y="462694"/>
                    <a:pt x="481907" y="469527"/>
                    <a:pt x="504111" y="469423"/>
                  </a:cubicBezTo>
                  <a:cubicBezTo>
                    <a:pt x="557585" y="469358"/>
                    <a:pt x="603124" y="430527"/>
                    <a:pt x="611638" y="377735"/>
                  </a:cubicBezTo>
                  <a:cubicBezTo>
                    <a:pt x="617649" y="378928"/>
                    <a:pt x="623761" y="379541"/>
                    <a:pt x="629888" y="379564"/>
                  </a:cubicBezTo>
                  <a:cubicBezTo>
                    <a:pt x="690037" y="379384"/>
                    <a:pt x="738650" y="330478"/>
                    <a:pt x="738470" y="270329"/>
                  </a:cubicBezTo>
                  <a:cubicBezTo>
                    <a:pt x="738291" y="210855"/>
                    <a:pt x="690434" y="162521"/>
                    <a:pt x="630964" y="161756"/>
                  </a:cubicBezTo>
                  <a:cubicBezTo>
                    <a:pt x="630313" y="102063"/>
                    <a:pt x="581780" y="53994"/>
                    <a:pt x="522084" y="53914"/>
                  </a:cubicBezTo>
                  <a:cubicBezTo>
                    <a:pt x="506711" y="53939"/>
                    <a:pt x="491509" y="57154"/>
                    <a:pt x="477441" y="63353"/>
                  </a:cubicBezTo>
                  <a:cubicBezTo>
                    <a:pt x="459782" y="24549"/>
                    <a:pt x="420974" y="-260"/>
                    <a:pt x="378342" y="2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00B79B4-FE73-2508-DEF4-DDCA48968D1D}"/>
                </a:ext>
              </a:extLst>
            </p:cNvPr>
            <p:cNvSpPr/>
            <p:nvPr/>
          </p:nvSpPr>
          <p:spPr>
            <a:xfrm>
              <a:off x="10867982" y="1706763"/>
              <a:ext cx="59300" cy="59300"/>
            </a:xfrm>
            <a:custGeom>
              <a:avLst/>
              <a:gdLst>
                <a:gd name="connsiteX0" fmla="*/ 57150 w 114300"/>
                <a:gd name="connsiteY0" fmla="*/ 19050 h 114299"/>
                <a:gd name="connsiteX1" fmla="*/ 95250 w 114300"/>
                <a:gd name="connsiteY1" fmla="*/ 57150 h 114299"/>
                <a:gd name="connsiteX2" fmla="*/ 57150 w 114300"/>
                <a:gd name="connsiteY2" fmla="*/ 95250 h 114299"/>
                <a:gd name="connsiteX3" fmla="*/ 19050 w 114300"/>
                <a:gd name="connsiteY3" fmla="*/ 57150 h 114299"/>
                <a:gd name="connsiteX4" fmla="*/ 57150 w 114300"/>
                <a:gd name="connsiteY4" fmla="*/ 19050 h 114299"/>
                <a:gd name="connsiteX5" fmla="*/ 57150 w 114300"/>
                <a:gd name="connsiteY5" fmla="*/ 0 h 114299"/>
                <a:gd name="connsiteX6" fmla="*/ 0 w 114300"/>
                <a:gd name="connsiteY6" fmla="*/ 57150 h 114299"/>
                <a:gd name="connsiteX7" fmla="*/ 57150 w 114300"/>
                <a:gd name="connsiteY7" fmla="*/ 114300 h 114299"/>
                <a:gd name="connsiteX8" fmla="*/ 114300 w 114300"/>
                <a:gd name="connsiteY8" fmla="*/ 57150 h 114299"/>
                <a:gd name="connsiteX9" fmla="*/ 57150 w 114300"/>
                <a:gd name="connsiteY9" fmla="*/ 0 h 1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" h="114299">
                  <a:moveTo>
                    <a:pt x="57150" y="19050"/>
                  </a:moveTo>
                  <a:cubicBezTo>
                    <a:pt x="78192" y="19050"/>
                    <a:pt x="95250" y="36108"/>
                    <a:pt x="95250" y="57150"/>
                  </a:cubicBezTo>
                  <a:cubicBezTo>
                    <a:pt x="95250" y="78192"/>
                    <a:pt x="78192" y="95250"/>
                    <a:pt x="57150" y="95250"/>
                  </a:cubicBezTo>
                  <a:cubicBezTo>
                    <a:pt x="36108" y="95250"/>
                    <a:pt x="19050" y="78192"/>
                    <a:pt x="19050" y="57150"/>
                  </a:cubicBezTo>
                  <a:cubicBezTo>
                    <a:pt x="19081" y="36121"/>
                    <a:pt x="36121" y="19081"/>
                    <a:pt x="57150" y="19050"/>
                  </a:cubicBezTo>
                  <a:moveTo>
                    <a:pt x="57150" y="0"/>
                  </a:moveTo>
                  <a:cubicBezTo>
                    <a:pt x="25587" y="0"/>
                    <a:pt x="0" y="25587"/>
                    <a:pt x="0" y="57150"/>
                  </a:cubicBez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C062446-CFFF-E122-43E5-E8F87E9E362B}"/>
                </a:ext>
              </a:extLst>
            </p:cNvPr>
            <p:cNvSpPr/>
            <p:nvPr/>
          </p:nvSpPr>
          <p:spPr>
            <a:xfrm>
              <a:off x="10820231" y="1753517"/>
              <a:ext cx="42418" cy="42418"/>
            </a:xfrm>
            <a:custGeom>
              <a:avLst/>
              <a:gdLst>
                <a:gd name="connsiteX0" fmla="*/ 57150 w 114300"/>
                <a:gd name="connsiteY0" fmla="*/ 19050 h 114299"/>
                <a:gd name="connsiteX1" fmla="*/ 95250 w 114300"/>
                <a:gd name="connsiteY1" fmla="*/ 57150 h 114299"/>
                <a:gd name="connsiteX2" fmla="*/ 57150 w 114300"/>
                <a:gd name="connsiteY2" fmla="*/ 95250 h 114299"/>
                <a:gd name="connsiteX3" fmla="*/ 19050 w 114300"/>
                <a:gd name="connsiteY3" fmla="*/ 57150 h 114299"/>
                <a:gd name="connsiteX4" fmla="*/ 57150 w 114300"/>
                <a:gd name="connsiteY4" fmla="*/ 19050 h 114299"/>
                <a:gd name="connsiteX5" fmla="*/ 57150 w 114300"/>
                <a:gd name="connsiteY5" fmla="*/ 0 h 114299"/>
                <a:gd name="connsiteX6" fmla="*/ 0 w 114300"/>
                <a:gd name="connsiteY6" fmla="*/ 57150 h 114299"/>
                <a:gd name="connsiteX7" fmla="*/ 57150 w 114300"/>
                <a:gd name="connsiteY7" fmla="*/ 114300 h 114299"/>
                <a:gd name="connsiteX8" fmla="*/ 114300 w 114300"/>
                <a:gd name="connsiteY8" fmla="*/ 57150 h 114299"/>
                <a:gd name="connsiteX9" fmla="*/ 57150 w 114300"/>
                <a:gd name="connsiteY9" fmla="*/ 0 h 1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300" h="114299">
                  <a:moveTo>
                    <a:pt x="57150" y="19050"/>
                  </a:moveTo>
                  <a:cubicBezTo>
                    <a:pt x="78192" y="19050"/>
                    <a:pt x="95250" y="36108"/>
                    <a:pt x="95250" y="57150"/>
                  </a:cubicBezTo>
                  <a:cubicBezTo>
                    <a:pt x="95250" y="78192"/>
                    <a:pt x="78192" y="95250"/>
                    <a:pt x="57150" y="95250"/>
                  </a:cubicBezTo>
                  <a:cubicBezTo>
                    <a:pt x="36108" y="95250"/>
                    <a:pt x="19050" y="78192"/>
                    <a:pt x="19050" y="57150"/>
                  </a:cubicBezTo>
                  <a:cubicBezTo>
                    <a:pt x="19081" y="36121"/>
                    <a:pt x="36121" y="19081"/>
                    <a:pt x="57150" y="19050"/>
                  </a:cubicBezTo>
                  <a:moveTo>
                    <a:pt x="57150" y="0"/>
                  </a:moveTo>
                  <a:cubicBezTo>
                    <a:pt x="25587" y="0"/>
                    <a:pt x="0" y="25587"/>
                    <a:pt x="0" y="57150"/>
                  </a:cubicBez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</p:grpSp>
      <p:pic>
        <p:nvPicPr>
          <p:cNvPr id="44" name="Graphic 43" descr="Head with gears outline">
            <a:extLst>
              <a:ext uri="{FF2B5EF4-FFF2-40B4-BE49-F238E27FC236}">
                <a16:creationId xmlns:a16="http://schemas.microsoft.com/office/drawing/2014/main" id="{9D4F82DF-7766-F7BC-2A86-E103BD3E4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9256" y="3606662"/>
            <a:ext cx="788382" cy="788382"/>
          </a:xfrm>
          <a:prstGeom prst="rect">
            <a:avLst/>
          </a:prstGeom>
        </p:spPr>
      </p:pic>
      <p:pic>
        <p:nvPicPr>
          <p:cNvPr id="45" name="Graphic 44" descr="Good Idea outline">
            <a:extLst>
              <a:ext uri="{FF2B5EF4-FFF2-40B4-BE49-F238E27FC236}">
                <a16:creationId xmlns:a16="http://schemas.microsoft.com/office/drawing/2014/main" id="{E7F58770-BE43-278E-E487-E8E07F051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9256" y="5394431"/>
            <a:ext cx="788382" cy="78838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C3AEDBF-7719-3552-6E5E-8292E21214DC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Hyper targeted outreach, exclusive offers for acquisition and a personalized reward system will allow a steady user funnel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691FB8FF-425B-8824-FA3C-6F5F72E868C6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48" name="Rectangle: Top Corners Rounded 47">
            <a:extLst>
              <a:ext uri="{FF2B5EF4-FFF2-40B4-BE49-F238E27FC236}">
                <a16:creationId xmlns:a16="http://schemas.microsoft.com/office/drawing/2014/main" id="{4253D0B7-6EFF-D228-95C0-7FDAF124D36F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20AD5CE6-9F0A-8D20-3F5B-A934A1570939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50" name="Arrow: Chevron 49">
            <a:extLst>
              <a:ext uri="{FF2B5EF4-FFF2-40B4-BE49-F238E27FC236}">
                <a16:creationId xmlns:a16="http://schemas.microsoft.com/office/drawing/2014/main" id="{BD66139D-B7DC-3CB8-B018-D14E4CCE884F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268BAA74-CCA2-4992-4FEE-599F3E980BEA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7BB5A6C1-7C2E-EB4E-B48A-49AC493C1D17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60B9911A-E3D9-2951-6761-DA7154271FBD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EBEE4D9C-A0AB-6406-6687-15830A9365B0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15657855-81B5-41DF-5CFD-91A86C14AC86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Arrow: Chevron 55">
            <a:extLst>
              <a:ext uri="{FF2B5EF4-FFF2-40B4-BE49-F238E27FC236}">
                <a16:creationId xmlns:a16="http://schemas.microsoft.com/office/drawing/2014/main" id="{5DE7842F-C5E8-E319-5113-A9A805BC338C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Top Corners Rounded 56">
            <a:extLst>
              <a:ext uri="{FF2B5EF4-FFF2-40B4-BE49-F238E27FC236}">
                <a16:creationId xmlns:a16="http://schemas.microsoft.com/office/drawing/2014/main" id="{08D380F8-7FA4-609F-9FC0-A60039B1C5EE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270FF27C-EF5A-AD73-0866-424B0BDA59E1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Arrow: Chevron 58">
            <a:extLst>
              <a:ext uri="{FF2B5EF4-FFF2-40B4-BE49-F238E27FC236}">
                <a16:creationId xmlns:a16="http://schemas.microsoft.com/office/drawing/2014/main" id="{B2BD07EA-C209-F0A5-D239-012E1B3B9DA7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36291A6B-B8FD-2191-CCC6-71C6330232B9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986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31052-292C-ED70-5519-93AA4148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0E5F27C7-5A35-1E07-B5F3-EFB703ED2491}"/>
              </a:ext>
            </a:extLst>
          </p:cNvPr>
          <p:cNvSpPr/>
          <p:nvPr/>
        </p:nvSpPr>
        <p:spPr>
          <a:xfrm>
            <a:off x="8310543" y="953017"/>
            <a:ext cx="3390676" cy="4482183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2CA23B3-62EC-C0E6-169A-54886A846632}"/>
              </a:ext>
            </a:extLst>
          </p:cNvPr>
          <p:cNvSpPr/>
          <p:nvPr/>
        </p:nvSpPr>
        <p:spPr>
          <a:xfrm>
            <a:off x="8776577" y="1239685"/>
            <a:ext cx="2490740" cy="249073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88900" dir="2100000">
              <a:prstClr val="black">
                <a:alpha val="1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3A13673-C6A4-888E-1FA3-ED4C9247654E}"/>
              </a:ext>
            </a:extLst>
          </p:cNvPr>
          <p:cNvSpPr/>
          <p:nvPr/>
        </p:nvSpPr>
        <p:spPr>
          <a:xfrm>
            <a:off x="2096604" y="1136470"/>
            <a:ext cx="2003084" cy="1789769"/>
          </a:xfrm>
          <a:prstGeom prst="roundRect">
            <a:avLst>
              <a:gd name="adj" fmla="val 10930"/>
            </a:avLst>
          </a:prstGeom>
          <a:solidFill>
            <a:schemeClr val="tx1">
              <a:alpha val="29000"/>
            </a:schemeClr>
          </a:solidFill>
          <a:ln w="12700">
            <a:noFill/>
          </a:ln>
          <a:effectLst>
            <a:softEdge rad="292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F0C1BFA-62EE-8137-CF28-9D902B67107C}"/>
              </a:ext>
            </a:extLst>
          </p:cNvPr>
          <p:cNvSpPr/>
          <p:nvPr/>
        </p:nvSpPr>
        <p:spPr>
          <a:xfrm>
            <a:off x="479377" y="1135897"/>
            <a:ext cx="1654991" cy="1478746"/>
          </a:xfrm>
          <a:prstGeom prst="roundRect">
            <a:avLst>
              <a:gd name="adj" fmla="val 10930"/>
            </a:avLst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933CB9E-7A7C-F0DA-8A52-51CA59D6BAC7}"/>
              </a:ext>
            </a:extLst>
          </p:cNvPr>
          <p:cNvSpPr/>
          <p:nvPr/>
        </p:nvSpPr>
        <p:spPr>
          <a:xfrm>
            <a:off x="2433274" y="1135897"/>
            <a:ext cx="1654991" cy="1478746"/>
          </a:xfrm>
          <a:prstGeom prst="roundRect">
            <a:avLst>
              <a:gd name="adj" fmla="val 1093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1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7885D9B-9B12-0882-C477-CA3305574FBD}"/>
              </a:ext>
            </a:extLst>
          </p:cNvPr>
          <p:cNvSpPr/>
          <p:nvPr/>
        </p:nvSpPr>
        <p:spPr>
          <a:xfrm>
            <a:off x="4387171" y="1135897"/>
            <a:ext cx="1654991" cy="1478746"/>
          </a:xfrm>
          <a:prstGeom prst="roundRect">
            <a:avLst>
              <a:gd name="adj" fmla="val 10930"/>
            </a:avLst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66050D2-D608-2290-DE9C-C0B0E9B3FADE}"/>
              </a:ext>
            </a:extLst>
          </p:cNvPr>
          <p:cNvSpPr/>
          <p:nvPr/>
        </p:nvSpPr>
        <p:spPr>
          <a:xfrm>
            <a:off x="6341067" y="1135897"/>
            <a:ext cx="1654991" cy="1478746"/>
          </a:xfrm>
          <a:prstGeom prst="roundRect">
            <a:avLst>
              <a:gd name="adj" fmla="val 10930"/>
            </a:avLst>
          </a:prstGeom>
          <a:solidFill>
            <a:schemeClr val="bg1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3B6087E-034C-D5FF-D36E-DF20F72CFA6E}"/>
              </a:ext>
            </a:extLst>
          </p:cNvPr>
          <p:cNvGrpSpPr/>
          <p:nvPr/>
        </p:nvGrpSpPr>
        <p:grpSpPr>
          <a:xfrm>
            <a:off x="2599519" y="1476359"/>
            <a:ext cx="1331735" cy="977108"/>
            <a:chOff x="2555959" y="1293479"/>
            <a:chExt cx="1415101" cy="977108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1BB63C7-E065-4007-7AFD-E65AE4D1B7CA}"/>
                </a:ext>
              </a:extLst>
            </p:cNvPr>
            <p:cNvSpPr txBox="1"/>
            <p:nvPr/>
          </p:nvSpPr>
          <p:spPr>
            <a:xfrm>
              <a:off x="2565772" y="1983346"/>
              <a:ext cx="1405288" cy="28724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7 years period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2EBEB8-9776-CEB9-66E2-1DB9D4ACE1BB}"/>
                </a:ext>
              </a:extLst>
            </p:cNvPr>
            <p:cNvSpPr txBox="1"/>
            <p:nvPr/>
          </p:nvSpPr>
          <p:spPr>
            <a:xfrm>
              <a:off x="2565772" y="1598976"/>
              <a:ext cx="1405288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9.8 cr</a:t>
              </a:r>
              <a:endPara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008E26B-6436-12CE-D2B2-8C3E459A0272}"/>
                </a:ext>
              </a:extLst>
            </p:cNvPr>
            <p:cNvSpPr txBox="1"/>
            <p:nvPr/>
          </p:nvSpPr>
          <p:spPr>
            <a:xfrm>
              <a:off x="2555959" y="1293479"/>
              <a:ext cx="1405288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NPV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2CC4306-657A-B179-7C40-260FA6AFA339}"/>
              </a:ext>
            </a:extLst>
          </p:cNvPr>
          <p:cNvGrpSpPr/>
          <p:nvPr/>
        </p:nvGrpSpPr>
        <p:grpSpPr>
          <a:xfrm>
            <a:off x="618279" y="1476597"/>
            <a:ext cx="1322504" cy="530700"/>
            <a:chOff x="573008" y="1156241"/>
            <a:chExt cx="1405292" cy="53070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257D8DC-5AB4-6E4D-C0C3-60FF51BBB239}"/>
                </a:ext>
              </a:extLst>
            </p:cNvPr>
            <p:cNvSpPr txBox="1"/>
            <p:nvPr/>
          </p:nvSpPr>
          <p:spPr>
            <a:xfrm>
              <a:off x="573008" y="1498392"/>
              <a:ext cx="1405291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99.6 cr</a:t>
              </a: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9D887B1-9ABF-FCB1-D27B-803AC0341B41}"/>
                </a:ext>
              </a:extLst>
            </p:cNvPr>
            <p:cNvSpPr txBox="1"/>
            <p:nvPr/>
          </p:nvSpPr>
          <p:spPr>
            <a:xfrm>
              <a:off x="573012" y="1156241"/>
              <a:ext cx="1405288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Total Revenue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513B009-A2D8-1F46-41DA-291BE21C3F5A}"/>
              </a:ext>
            </a:extLst>
          </p:cNvPr>
          <p:cNvGrpSpPr/>
          <p:nvPr/>
        </p:nvGrpSpPr>
        <p:grpSpPr>
          <a:xfrm>
            <a:off x="4553415" y="1476281"/>
            <a:ext cx="1322500" cy="977186"/>
            <a:chOff x="4505408" y="1293401"/>
            <a:chExt cx="1405288" cy="97718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9D25219-7E25-F1A8-9296-B58856F7E625}"/>
                </a:ext>
              </a:extLst>
            </p:cNvPr>
            <p:cNvSpPr txBox="1"/>
            <p:nvPr/>
          </p:nvSpPr>
          <p:spPr>
            <a:xfrm>
              <a:off x="4505408" y="1983346"/>
              <a:ext cx="1405288" cy="28724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7 years Cumulative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D1907DF-7E0F-F6CD-FB10-F60955EE81EE}"/>
                </a:ext>
              </a:extLst>
            </p:cNvPr>
            <p:cNvSpPr txBox="1"/>
            <p:nvPr/>
          </p:nvSpPr>
          <p:spPr>
            <a:xfrm>
              <a:off x="4505408" y="1631851"/>
              <a:ext cx="1405288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8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73.5 cr</a:t>
              </a:r>
              <a:endPara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8430EFE-07A7-9BCE-43E0-2A8F7B7C6B55}"/>
                </a:ext>
              </a:extLst>
            </p:cNvPr>
            <p:cNvSpPr txBox="1"/>
            <p:nvPr/>
          </p:nvSpPr>
          <p:spPr>
            <a:xfrm>
              <a:off x="4505408" y="1293401"/>
              <a:ext cx="1405288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Total Cost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641CF39-BE51-AF0E-E7EE-43E72856A563}"/>
              </a:ext>
            </a:extLst>
          </p:cNvPr>
          <p:cNvGrpSpPr/>
          <p:nvPr/>
        </p:nvGrpSpPr>
        <p:grpSpPr>
          <a:xfrm>
            <a:off x="6452448" y="1485425"/>
            <a:ext cx="1659929" cy="558329"/>
            <a:chOff x="4457079" y="1302545"/>
            <a:chExt cx="1462212" cy="55832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2C191DE-B05E-C383-2564-558F624ED74F}"/>
                </a:ext>
              </a:extLst>
            </p:cNvPr>
            <p:cNvSpPr txBox="1"/>
            <p:nvPr/>
          </p:nvSpPr>
          <p:spPr>
            <a:xfrm>
              <a:off x="4457079" y="1672325"/>
              <a:ext cx="1405288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6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5- 6 years</a:t>
              </a:r>
              <a:endPara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E867486-1F0C-25C4-A6B9-9FEEFEB96C98}"/>
                </a:ext>
              </a:extLst>
            </p:cNvPr>
            <p:cNvSpPr txBox="1"/>
            <p:nvPr/>
          </p:nvSpPr>
          <p:spPr>
            <a:xfrm>
              <a:off x="4514003" y="1302545"/>
              <a:ext cx="1405288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Payback Period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aphicFrame>
        <p:nvGraphicFramePr>
          <p:cNvPr id="154" name="Chart 153">
            <a:extLst>
              <a:ext uri="{FF2B5EF4-FFF2-40B4-BE49-F238E27FC236}">
                <a16:creationId xmlns:a16="http://schemas.microsoft.com/office/drawing/2014/main" id="{2508FA68-FDA1-21B8-037D-F9ABC4E65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0372784"/>
              </p:ext>
            </p:extLst>
          </p:nvPr>
        </p:nvGraphicFramePr>
        <p:xfrm>
          <a:off x="8123800" y="1219622"/>
          <a:ext cx="3796297" cy="253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4" name="Oval 163">
            <a:extLst>
              <a:ext uri="{FF2B5EF4-FFF2-40B4-BE49-F238E27FC236}">
                <a16:creationId xmlns:a16="http://schemas.microsoft.com/office/drawing/2014/main" id="{48C30A2B-FB24-9CEC-D295-2B5C039AC093}"/>
              </a:ext>
            </a:extLst>
          </p:cNvPr>
          <p:cNvSpPr/>
          <p:nvPr/>
        </p:nvSpPr>
        <p:spPr>
          <a:xfrm>
            <a:off x="8987895" y="1570518"/>
            <a:ext cx="1998068" cy="1998066"/>
          </a:xfrm>
          <a:prstGeom prst="ellipse">
            <a:avLst/>
          </a:prstGeom>
          <a:solidFill>
            <a:schemeClr val="tx1">
              <a:alpha val="29000"/>
            </a:schemeClr>
          </a:solidFill>
          <a:ln>
            <a:noFill/>
          </a:ln>
          <a:effectLst>
            <a:softEdge rad="292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854EDF82-5167-50F7-8664-2052A6C8A275}"/>
              </a:ext>
            </a:extLst>
          </p:cNvPr>
          <p:cNvSpPr/>
          <p:nvPr/>
        </p:nvSpPr>
        <p:spPr>
          <a:xfrm>
            <a:off x="9151716" y="1605680"/>
            <a:ext cx="1740462" cy="174046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3E4C4CDB-F6A9-C283-DF23-8B7610325A68}"/>
              </a:ext>
            </a:extLst>
          </p:cNvPr>
          <p:cNvGrpSpPr/>
          <p:nvPr/>
        </p:nvGrpSpPr>
        <p:grpSpPr>
          <a:xfrm>
            <a:off x="9360697" y="1930929"/>
            <a:ext cx="1322500" cy="1089965"/>
            <a:chOff x="9478788" y="2004508"/>
            <a:chExt cx="1322500" cy="1089965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36F1657-05AB-B0D9-1A49-B4A5EC68176A}"/>
                </a:ext>
              </a:extLst>
            </p:cNvPr>
            <p:cNvSpPr txBox="1"/>
            <p:nvPr/>
          </p:nvSpPr>
          <p:spPr>
            <a:xfrm>
              <a:off x="9478788" y="2905924"/>
              <a:ext cx="1322500" cy="18854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7124C00A-0FB9-7792-C613-20A0A93FE2A9}"/>
                </a:ext>
              </a:extLst>
            </p:cNvPr>
            <p:cNvSpPr txBox="1"/>
            <p:nvPr/>
          </p:nvSpPr>
          <p:spPr>
            <a:xfrm>
              <a:off x="9478788" y="2417037"/>
              <a:ext cx="1322500" cy="4302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3200" b="0" i="0" u="none" strike="noStrike" kern="1200" cap="none" spc="0" normalizeH="0" baseline="0" noProof="0">
                  <a:ln>
                    <a:noFill/>
                  </a:ln>
                  <a:solidFill>
                    <a:srgbClr val="FF9062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rPr>
                <a:t>2</a:t>
              </a:r>
              <a:r>
                <a:rPr lang="en-IN" sz="3200">
                  <a:solidFill>
                    <a:srgbClr val="FF9062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8</a:t>
              </a:r>
              <a:r>
                <a:rPr kumimoji="0" lang="en-IN" sz="3200" b="0" i="0" u="none" strike="noStrike" kern="1200" cap="none" spc="0" normalizeH="0" baseline="0" noProof="0">
                  <a:ln>
                    <a:noFill/>
                  </a:ln>
                  <a:solidFill>
                    <a:srgbClr val="FF9062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rPr>
                <a:t>%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F9062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1FB763E7-03B9-BF17-4FEF-389ADF38D418}"/>
                </a:ext>
              </a:extLst>
            </p:cNvPr>
            <p:cNvSpPr txBox="1"/>
            <p:nvPr/>
          </p:nvSpPr>
          <p:spPr>
            <a:xfrm>
              <a:off x="9677791" y="2004508"/>
              <a:ext cx="924494" cy="3214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121898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IRR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A3AB0E64-66A0-5F8A-64C4-07D87B51C235}"/>
              </a:ext>
            </a:extLst>
          </p:cNvPr>
          <p:cNvSpPr txBox="1"/>
          <p:nvPr/>
        </p:nvSpPr>
        <p:spPr>
          <a:xfrm>
            <a:off x="9944817" y="3770524"/>
            <a:ext cx="1322500" cy="29436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ROI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aphicFrame>
        <p:nvGraphicFramePr>
          <p:cNvPr id="225" name="Chart 224">
            <a:extLst>
              <a:ext uri="{FF2B5EF4-FFF2-40B4-BE49-F238E27FC236}">
                <a16:creationId xmlns:a16="http://schemas.microsoft.com/office/drawing/2014/main" id="{DA506E36-3985-CCDF-A458-0B1EA8B992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1411867"/>
              </p:ext>
            </p:extLst>
          </p:nvPr>
        </p:nvGraphicFramePr>
        <p:xfrm>
          <a:off x="9412887" y="4030093"/>
          <a:ext cx="1308196" cy="1112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3" name="TextBox 232">
            <a:extLst>
              <a:ext uri="{FF2B5EF4-FFF2-40B4-BE49-F238E27FC236}">
                <a16:creationId xmlns:a16="http://schemas.microsoft.com/office/drawing/2014/main" id="{B5FEFC3A-548F-0BBC-46A8-414B05435EB7}"/>
              </a:ext>
            </a:extLst>
          </p:cNvPr>
          <p:cNvSpPr txBox="1"/>
          <p:nvPr/>
        </p:nvSpPr>
        <p:spPr>
          <a:xfrm>
            <a:off x="9819357" y="4427893"/>
            <a:ext cx="513547" cy="3171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9062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rPr>
              <a:t>36%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9062"/>
              </a:solidFill>
              <a:effectLst/>
              <a:uLnTx/>
              <a:uFillTx/>
              <a:latin typeface="Segoe UI Black" panose="020B0A02040204020203" pitchFamily="34" charset="0"/>
              <a:ea typeface="Segoe UI Black" panose="020B0A02040204020203" pitchFamily="34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17037-8E3E-0212-ECD7-BF298DF53B63}"/>
              </a:ext>
            </a:extLst>
          </p:cNvPr>
          <p:cNvSpPr txBox="1"/>
          <p:nvPr/>
        </p:nvSpPr>
        <p:spPr>
          <a:xfrm>
            <a:off x="600932" y="2254164"/>
            <a:ext cx="1322500" cy="2872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 years cumulative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96F0F7-39EF-22FB-CCB5-966D60528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859821"/>
              </p:ext>
            </p:extLst>
          </p:nvPr>
        </p:nvGraphicFramePr>
        <p:xfrm>
          <a:off x="479377" y="5521301"/>
          <a:ext cx="11221840" cy="1150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730">
                  <a:extLst>
                    <a:ext uri="{9D8B030D-6E8A-4147-A177-3AD203B41FA5}">
                      <a16:colId xmlns:a16="http://schemas.microsoft.com/office/drawing/2014/main" val="2109533932"/>
                    </a:ext>
                  </a:extLst>
                </a:gridCol>
                <a:gridCol w="1402730">
                  <a:extLst>
                    <a:ext uri="{9D8B030D-6E8A-4147-A177-3AD203B41FA5}">
                      <a16:colId xmlns:a16="http://schemas.microsoft.com/office/drawing/2014/main" val="3216460140"/>
                    </a:ext>
                  </a:extLst>
                </a:gridCol>
                <a:gridCol w="1402730">
                  <a:extLst>
                    <a:ext uri="{9D8B030D-6E8A-4147-A177-3AD203B41FA5}">
                      <a16:colId xmlns:a16="http://schemas.microsoft.com/office/drawing/2014/main" val="536545654"/>
                    </a:ext>
                  </a:extLst>
                </a:gridCol>
                <a:gridCol w="1402730">
                  <a:extLst>
                    <a:ext uri="{9D8B030D-6E8A-4147-A177-3AD203B41FA5}">
                      <a16:colId xmlns:a16="http://schemas.microsoft.com/office/drawing/2014/main" val="2328919831"/>
                    </a:ext>
                  </a:extLst>
                </a:gridCol>
                <a:gridCol w="1402730">
                  <a:extLst>
                    <a:ext uri="{9D8B030D-6E8A-4147-A177-3AD203B41FA5}">
                      <a16:colId xmlns:a16="http://schemas.microsoft.com/office/drawing/2014/main" val="126921942"/>
                    </a:ext>
                  </a:extLst>
                </a:gridCol>
                <a:gridCol w="1402730">
                  <a:extLst>
                    <a:ext uri="{9D8B030D-6E8A-4147-A177-3AD203B41FA5}">
                      <a16:colId xmlns:a16="http://schemas.microsoft.com/office/drawing/2014/main" val="2575941311"/>
                    </a:ext>
                  </a:extLst>
                </a:gridCol>
                <a:gridCol w="1402730">
                  <a:extLst>
                    <a:ext uri="{9D8B030D-6E8A-4147-A177-3AD203B41FA5}">
                      <a16:colId xmlns:a16="http://schemas.microsoft.com/office/drawing/2014/main" val="1049085701"/>
                    </a:ext>
                  </a:extLst>
                </a:gridCol>
                <a:gridCol w="1402730">
                  <a:extLst>
                    <a:ext uri="{9D8B030D-6E8A-4147-A177-3AD203B41FA5}">
                      <a16:colId xmlns:a16="http://schemas.microsoft.com/office/drawing/2014/main" val="2914538175"/>
                    </a:ext>
                  </a:extLst>
                </a:gridCol>
              </a:tblGrid>
              <a:tr h="287578"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Year 1</a:t>
                      </a:r>
                    </a:p>
                  </a:txBody>
                  <a:tcP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Year 2</a:t>
                      </a:r>
                    </a:p>
                  </a:txBody>
                  <a:tcP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Year 3</a:t>
                      </a:r>
                    </a:p>
                  </a:txBody>
                  <a:tcP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Year 4 </a:t>
                      </a:r>
                    </a:p>
                  </a:txBody>
                  <a:tcP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Year 5</a:t>
                      </a:r>
                    </a:p>
                  </a:txBody>
                  <a:tcP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Year 6</a:t>
                      </a:r>
                    </a:p>
                  </a:txBody>
                  <a:tcPr>
                    <a:solidFill>
                      <a:srgbClr val="001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Year 7</a:t>
                      </a:r>
                    </a:p>
                  </a:txBody>
                  <a:tcPr>
                    <a:solidFill>
                      <a:srgbClr val="001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010130"/>
                  </a:ext>
                </a:extLst>
              </a:tr>
              <a:tr h="287578">
                <a:tc>
                  <a:txBody>
                    <a:bodyPr/>
                    <a:lstStyle/>
                    <a:p>
                      <a:r>
                        <a:rPr lang="en-IN" sz="1100">
                          <a:latin typeface="Aptos" panose="020B0004020202020204" pitchFamily="34" charset="0"/>
                        </a:rPr>
                        <a:t>Revenue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61,21,600.00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1,28,55,360.00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2,69,96,256.00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5,66,92,137.60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11,90,53,488.96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25,00,12,326.82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52,50,25,886.31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79656"/>
                  </a:ext>
                </a:extLst>
              </a:tr>
              <a:tr h="287578">
                <a:tc>
                  <a:txBody>
                    <a:bodyPr/>
                    <a:lstStyle/>
                    <a:p>
                      <a:r>
                        <a:rPr lang="en-IN" sz="1100">
                          <a:latin typeface="Aptos" panose="020B0004020202020204" pitchFamily="34" charset="0"/>
                        </a:rPr>
                        <a:t>Cost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1,70,96,000.00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2,24,61,600.00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3,49,83,360.00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5,56,54,056.00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9,11,34,417.60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15,98,84,130.96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₹ 30,43,76,772.82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65434"/>
                  </a:ext>
                </a:extLst>
              </a:tr>
              <a:tr h="287578">
                <a:tc>
                  <a:txBody>
                    <a:bodyPr/>
                    <a:lstStyle/>
                    <a:p>
                      <a:r>
                        <a:rPr lang="en-IN" sz="1100">
                          <a:latin typeface="Aptos" panose="020B0004020202020204" pitchFamily="34" charset="0"/>
                        </a:rPr>
                        <a:t>EBIDTA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-₹ 1,09,74,400.00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-₹ 96,06,240.00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-₹ 79,87,104.00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₹ 10,38,081.60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₹ 2,79,19,071.36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₹ 9,01,28,195.86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₹ 22,06,49,113.50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20441"/>
                  </a:ext>
                </a:extLst>
              </a:tr>
            </a:tbl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35C69585-A92E-1D73-550E-1B85AE744B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0183658"/>
              </p:ext>
            </p:extLst>
          </p:nvPr>
        </p:nvGraphicFramePr>
        <p:xfrm>
          <a:off x="600932" y="2840260"/>
          <a:ext cx="7741744" cy="2695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EB4549C-2C52-B30F-B7CA-D79F4FB85C4F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Expected to have 100k+ cards in circulation and reach an EBIDTA of 20 crore+ by year 7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B4237114-FBFC-7F3B-DD89-7D3211B859CA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9525FD6B-8007-09A6-E4BC-E2A364CC7EE2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08AAE4BC-DC90-ADA6-0F6A-4EDA0EC21333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F349A550-E113-97EF-12E2-D51C7DE4DD81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338647D6-F643-64BD-2030-7D1743BB6F65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4E6F9F2-D99F-AD4B-326D-6B4C9165889E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DF60F4C9-E849-8D87-8236-A93D21916C19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0E9E94AF-990D-ED40-433B-AB46C559D248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12C94318-8444-79E4-0B14-342CBA63DC2E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A1CAD86E-FD9A-92AC-35A7-FF444F977730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9EF4C163-5E9B-69EE-EE0B-794DDE08D630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6ED352BE-A92C-78AB-1E46-CAA8554E9661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0FD7FCF3-51D6-2546-75C3-CF9EE4FBCA3B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0E5CF0D8-DBE2-B5C6-E175-BD6465F36371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92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5DA3713-ABD2-4C6E-B481-DD834D26B8EB}"/>
              </a:ext>
            </a:extLst>
          </p:cNvPr>
          <p:cNvSpPr/>
          <p:nvPr/>
        </p:nvSpPr>
        <p:spPr>
          <a:xfrm>
            <a:off x="667101" y="5486076"/>
            <a:ext cx="11157879" cy="883429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Continuous Initiatives </a:t>
            </a:r>
            <a:r>
              <a:rPr kumimoji="0" lang="en-GB" sz="12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(i.e., not dependent on timelines)</a:t>
            </a:r>
          </a:p>
          <a:p>
            <a:pPr marL="171450" marR="0" lvl="0" indent="-17145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>
                <a:solidFill>
                  <a:prstClr val="white"/>
                </a:solidFill>
                <a:latin typeface="Calibri" panose="020F0502020204030204"/>
              </a:rPr>
              <a:t>Regulatory compliances from SEBI, RBI and other related administrative bodies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>
                <a:solidFill>
                  <a:prstClr val="white"/>
                </a:solidFill>
                <a:latin typeface="Calibri" panose="020F0502020204030204"/>
              </a:rPr>
              <a:t>Hiring and strategy roadmap for the next 10 years 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1450" marR="0" lvl="0" indent="-17145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>
                <a:solidFill>
                  <a:prstClr val="white"/>
                </a:solidFill>
                <a:latin typeface="Calibri" panose="020F0502020204030204"/>
              </a:rPr>
              <a:t>Partnerships with airports, reward partners, PSPs, card network etc. 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52625-5C7F-44B6-B5A6-EA919A12E7CF}"/>
              </a:ext>
            </a:extLst>
          </p:cNvPr>
          <p:cNvSpPr txBox="1"/>
          <p:nvPr/>
        </p:nvSpPr>
        <p:spPr>
          <a:xfrm>
            <a:off x="85105" y="1192784"/>
            <a:ext cx="2817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prstClr val="black"/>
                </a:solidFill>
                <a:latin typeface="Calibri" panose="020F0502020204030204"/>
              </a:rPr>
              <a:t>12-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Execution Plan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691E917E-968B-4CBC-B85A-FC81CAC3F43C}"/>
              </a:ext>
            </a:extLst>
          </p:cNvPr>
          <p:cNvSpPr txBox="1"/>
          <p:nvPr/>
        </p:nvSpPr>
        <p:spPr>
          <a:xfrm>
            <a:off x="11824981" y="6573307"/>
            <a:ext cx="3000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449C4F-31D8-4041-B278-C0E46EA08861}"/>
              </a:ext>
            </a:extLst>
          </p:cNvPr>
          <p:cNvSpPr/>
          <p:nvPr/>
        </p:nvSpPr>
        <p:spPr>
          <a:xfrm>
            <a:off x="227894" y="3542120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Integrating Partners 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3C497A1-BB8E-42CA-B7AD-6FDFD37738FC}"/>
              </a:ext>
            </a:extLst>
          </p:cNvPr>
          <p:cNvSpPr/>
          <p:nvPr/>
        </p:nvSpPr>
        <p:spPr>
          <a:xfrm>
            <a:off x="227894" y="3989476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Rewards Campaign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04DA9E4-3F7B-4ECB-9F3A-DA88691863F9}"/>
              </a:ext>
            </a:extLst>
          </p:cNvPr>
          <p:cNvSpPr/>
          <p:nvPr/>
        </p:nvSpPr>
        <p:spPr>
          <a:xfrm>
            <a:off x="227894" y="3094764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Personalized Support Setup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611F973-F640-4315-B6C9-7CB0F323A3D7}"/>
              </a:ext>
            </a:extLst>
          </p:cNvPr>
          <p:cNvSpPr/>
          <p:nvPr/>
        </p:nvSpPr>
        <p:spPr>
          <a:xfrm>
            <a:off x="227894" y="2200052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 &amp; Development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C0142F2-8C1C-4850-85E7-06E6F750A731}"/>
              </a:ext>
            </a:extLst>
          </p:cNvPr>
          <p:cNvSpPr/>
          <p:nvPr/>
        </p:nvSpPr>
        <p:spPr>
          <a:xfrm>
            <a:off x="227894" y="1752696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 Finalization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13DA4B8-5C32-4E13-817C-0DB53CE81382}"/>
              </a:ext>
            </a:extLst>
          </p:cNvPr>
          <p:cNvSpPr/>
          <p:nvPr/>
        </p:nvSpPr>
        <p:spPr>
          <a:xfrm>
            <a:off x="227894" y="4884191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Marketing Pre Launch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230C969-7358-4897-9935-946FC94A5F7F}"/>
              </a:ext>
            </a:extLst>
          </p:cNvPr>
          <p:cNvSpPr/>
          <p:nvPr/>
        </p:nvSpPr>
        <p:spPr>
          <a:xfrm>
            <a:off x="227894" y="2647408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Gamified Rewards MVP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9CC3658-6084-4387-9072-ACEB46A17FB0}"/>
              </a:ext>
            </a:extLst>
          </p:cNvPr>
          <p:cNvSpPr/>
          <p:nvPr/>
        </p:nvSpPr>
        <p:spPr>
          <a:xfrm>
            <a:off x="278695" y="5437074"/>
            <a:ext cx="981434" cy="981434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029C722-F177-4223-9E8E-3FFAB85FEC57}"/>
              </a:ext>
            </a:extLst>
          </p:cNvPr>
          <p:cNvSpPr/>
          <p:nvPr/>
        </p:nvSpPr>
        <p:spPr>
          <a:xfrm>
            <a:off x="2780778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0C9BD1-F198-4937-9744-7C2111D93562}"/>
              </a:ext>
            </a:extLst>
          </p:cNvPr>
          <p:cNvSpPr/>
          <p:nvPr/>
        </p:nvSpPr>
        <p:spPr>
          <a:xfrm>
            <a:off x="3541805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2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07466E5-5790-4083-A5A7-28B07ECE28B0}"/>
              </a:ext>
            </a:extLst>
          </p:cNvPr>
          <p:cNvSpPr/>
          <p:nvPr/>
        </p:nvSpPr>
        <p:spPr>
          <a:xfrm>
            <a:off x="4302832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3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A775B7D-EC63-4EE9-8CFF-208DB0BF48F2}"/>
              </a:ext>
            </a:extLst>
          </p:cNvPr>
          <p:cNvSpPr/>
          <p:nvPr/>
        </p:nvSpPr>
        <p:spPr>
          <a:xfrm>
            <a:off x="5063859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4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F99B2B-13B1-4287-969C-FE258A9CD0FA}"/>
              </a:ext>
            </a:extLst>
          </p:cNvPr>
          <p:cNvSpPr/>
          <p:nvPr/>
        </p:nvSpPr>
        <p:spPr>
          <a:xfrm>
            <a:off x="5824886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5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C16175E-476B-4751-A86F-6A836F850967}"/>
              </a:ext>
            </a:extLst>
          </p:cNvPr>
          <p:cNvSpPr/>
          <p:nvPr/>
        </p:nvSpPr>
        <p:spPr>
          <a:xfrm>
            <a:off x="6585913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78FC08D-5ABE-4A27-87B5-D43FD20B916E}"/>
              </a:ext>
            </a:extLst>
          </p:cNvPr>
          <p:cNvSpPr/>
          <p:nvPr/>
        </p:nvSpPr>
        <p:spPr>
          <a:xfrm>
            <a:off x="7346940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7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4630578-3014-491D-AF17-5D5D295DDB13}"/>
              </a:ext>
            </a:extLst>
          </p:cNvPr>
          <p:cNvSpPr/>
          <p:nvPr/>
        </p:nvSpPr>
        <p:spPr>
          <a:xfrm>
            <a:off x="8107967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8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B334687-53FA-4154-B4A5-AE4C37616B9F}"/>
              </a:ext>
            </a:extLst>
          </p:cNvPr>
          <p:cNvSpPr/>
          <p:nvPr/>
        </p:nvSpPr>
        <p:spPr>
          <a:xfrm>
            <a:off x="8868994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9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A3DE449-4FF0-417E-A037-B353CCE15058}"/>
              </a:ext>
            </a:extLst>
          </p:cNvPr>
          <p:cNvSpPr/>
          <p:nvPr/>
        </p:nvSpPr>
        <p:spPr>
          <a:xfrm>
            <a:off x="9630021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10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A3F536C-098F-41E7-AF5C-4550E734F089}"/>
              </a:ext>
            </a:extLst>
          </p:cNvPr>
          <p:cNvSpPr/>
          <p:nvPr/>
        </p:nvSpPr>
        <p:spPr>
          <a:xfrm>
            <a:off x="10391048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54F600B-3C0F-4DEF-B0B9-1027E9C1FE00}"/>
              </a:ext>
            </a:extLst>
          </p:cNvPr>
          <p:cNvSpPr/>
          <p:nvPr/>
        </p:nvSpPr>
        <p:spPr>
          <a:xfrm>
            <a:off x="11152080" y="1196578"/>
            <a:ext cx="691755" cy="379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Month 12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D086E65-A0A1-4BAA-AA49-AD5F462EF551}"/>
              </a:ext>
            </a:extLst>
          </p:cNvPr>
          <p:cNvSpPr/>
          <p:nvPr/>
        </p:nvSpPr>
        <p:spPr>
          <a:xfrm>
            <a:off x="2780777" y="1782292"/>
            <a:ext cx="1452783" cy="2304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DF95BE0-363B-43DC-8664-8F1F6EF94A3F}"/>
              </a:ext>
            </a:extLst>
          </p:cNvPr>
          <p:cNvSpPr/>
          <p:nvPr/>
        </p:nvSpPr>
        <p:spPr>
          <a:xfrm>
            <a:off x="3642425" y="2213545"/>
            <a:ext cx="2974838" cy="2304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74F26B5-832B-48E9-B766-2208085F0F36}"/>
              </a:ext>
            </a:extLst>
          </p:cNvPr>
          <p:cNvSpPr/>
          <p:nvPr/>
        </p:nvSpPr>
        <p:spPr>
          <a:xfrm>
            <a:off x="4783455" y="3513321"/>
            <a:ext cx="4496895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67612A4-E942-4A72-9D28-16EE80051A8F}"/>
              </a:ext>
            </a:extLst>
          </p:cNvPr>
          <p:cNvSpPr/>
          <p:nvPr/>
        </p:nvSpPr>
        <p:spPr>
          <a:xfrm>
            <a:off x="7346940" y="3953698"/>
            <a:ext cx="2213813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852FAEA-0DF0-4A7E-8E07-E9542FDDB114}"/>
              </a:ext>
            </a:extLst>
          </p:cNvPr>
          <p:cNvSpPr/>
          <p:nvPr/>
        </p:nvSpPr>
        <p:spPr>
          <a:xfrm>
            <a:off x="10391048" y="4901940"/>
            <a:ext cx="1100649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9417FD2-9F62-4567-A2DF-913EBD0B0924}"/>
              </a:ext>
            </a:extLst>
          </p:cNvPr>
          <p:cNvSpPr/>
          <p:nvPr/>
        </p:nvSpPr>
        <p:spPr>
          <a:xfrm>
            <a:off x="2780784" y="1782292"/>
            <a:ext cx="1452783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C66F78B8-065D-440A-B3A8-2BC26384C985}"/>
              </a:ext>
            </a:extLst>
          </p:cNvPr>
          <p:cNvSpPr/>
          <p:nvPr/>
        </p:nvSpPr>
        <p:spPr>
          <a:xfrm>
            <a:off x="3642432" y="2213545"/>
            <a:ext cx="2974838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24BEAD60-9B1F-402A-BA1D-3E0C8571AC49}"/>
              </a:ext>
            </a:extLst>
          </p:cNvPr>
          <p:cNvSpPr/>
          <p:nvPr/>
        </p:nvSpPr>
        <p:spPr>
          <a:xfrm>
            <a:off x="3642425" y="2632199"/>
            <a:ext cx="1800013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07C3803-A9B1-4110-AE6A-8D644EF2DFB2}"/>
              </a:ext>
            </a:extLst>
          </p:cNvPr>
          <p:cNvSpPr/>
          <p:nvPr/>
        </p:nvSpPr>
        <p:spPr>
          <a:xfrm>
            <a:off x="4783455" y="3093481"/>
            <a:ext cx="2241599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Star: 4 Points 204">
            <a:extLst>
              <a:ext uri="{FF2B5EF4-FFF2-40B4-BE49-F238E27FC236}">
                <a16:creationId xmlns:a16="http://schemas.microsoft.com/office/drawing/2014/main" id="{1B146C8D-418C-425F-B623-2B6BE7CB0042}"/>
              </a:ext>
            </a:extLst>
          </p:cNvPr>
          <p:cNvSpPr/>
          <p:nvPr/>
        </p:nvSpPr>
        <p:spPr>
          <a:xfrm>
            <a:off x="6513351" y="2210951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Star: 4 Points 205">
            <a:extLst>
              <a:ext uri="{FF2B5EF4-FFF2-40B4-BE49-F238E27FC236}">
                <a16:creationId xmlns:a16="http://schemas.microsoft.com/office/drawing/2014/main" id="{131338ED-EB36-4840-90EE-09B4DF266788}"/>
              </a:ext>
            </a:extLst>
          </p:cNvPr>
          <p:cNvSpPr/>
          <p:nvPr/>
        </p:nvSpPr>
        <p:spPr>
          <a:xfrm>
            <a:off x="5338526" y="2635850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Arrow: Chevron 206">
            <a:extLst>
              <a:ext uri="{FF2B5EF4-FFF2-40B4-BE49-F238E27FC236}">
                <a16:creationId xmlns:a16="http://schemas.microsoft.com/office/drawing/2014/main" id="{750B8E62-1B21-49F5-AC7A-E854429B1953}"/>
              </a:ext>
            </a:extLst>
          </p:cNvPr>
          <p:cNvSpPr/>
          <p:nvPr/>
        </p:nvSpPr>
        <p:spPr>
          <a:xfrm>
            <a:off x="6921142" y="3097132"/>
            <a:ext cx="207824" cy="226844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Arrow: Chevron 207">
            <a:extLst>
              <a:ext uri="{FF2B5EF4-FFF2-40B4-BE49-F238E27FC236}">
                <a16:creationId xmlns:a16="http://schemas.microsoft.com/office/drawing/2014/main" id="{F53455E1-606D-44DF-B70B-5659D75217F9}"/>
              </a:ext>
            </a:extLst>
          </p:cNvPr>
          <p:cNvSpPr/>
          <p:nvPr/>
        </p:nvSpPr>
        <p:spPr>
          <a:xfrm>
            <a:off x="9179030" y="3522481"/>
            <a:ext cx="207824" cy="226844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Arrow: Chevron 208">
            <a:extLst>
              <a:ext uri="{FF2B5EF4-FFF2-40B4-BE49-F238E27FC236}">
                <a16:creationId xmlns:a16="http://schemas.microsoft.com/office/drawing/2014/main" id="{4BF4DFC8-99BF-4B27-BC31-391BED868A2D}"/>
              </a:ext>
            </a:extLst>
          </p:cNvPr>
          <p:cNvSpPr/>
          <p:nvPr/>
        </p:nvSpPr>
        <p:spPr>
          <a:xfrm>
            <a:off x="11387785" y="4894135"/>
            <a:ext cx="207824" cy="226844"/>
          </a:xfrm>
          <a:prstGeom prst="chevr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Star: 4 Points 209">
            <a:extLst>
              <a:ext uri="{FF2B5EF4-FFF2-40B4-BE49-F238E27FC236}">
                <a16:creationId xmlns:a16="http://schemas.microsoft.com/office/drawing/2014/main" id="{0CEC7C3C-F78F-4FBC-9B38-2DE0125C533B}"/>
              </a:ext>
            </a:extLst>
          </p:cNvPr>
          <p:cNvSpPr/>
          <p:nvPr/>
        </p:nvSpPr>
        <p:spPr>
          <a:xfrm>
            <a:off x="9456694" y="3957153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58D99BA-3061-4B09-8A1E-D9889614D224}"/>
              </a:ext>
            </a:extLst>
          </p:cNvPr>
          <p:cNvGrpSpPr/>
          <p:nvPr/>
        </p:nvGrpSpPr>
        <p:grpSpPr>
          <a:xfrm>
            <a:off x="658486" y="6635260"/>
            <a:ext cx="1593162" cy="127873"/>
            <a:chOff x="11411" y="6538425"/>
            <a:chExt cx="2871733" cy="230495"/>
          </a:xfrm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F0426B1-58F7-4919-8A4C-0561556AA805}"/>
                </a:ext>
              </a:extLst>
            </p:cNvPr>
            <p:cNvSpPr/>
            <p:nvPr/>
          </p:nvSpPr>
          <p:spPr>
            <a:xfrm>
              <a:off x="11411" y="6538425"/>
              <a:ext cx="2769365" cy="23049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Periodic Process</a:t>
              </a:r>
            </a:p>
          </p:txBody>
        </p:sp>
        <p:sp>
          <p:nvSpPr>
            <p:cNvPr id="212" name="Arrow: Chevron 211">
              <a:extLst>
                <a:ext uri="{FF2B5EF4-FFF2-40B4-BE49-F238E27FC236}">
                  <a16:creationId xmlns:a16="http://schemas.microsoft.com/office/drawing/2014/main" id="{D37F1550-21DE-430E-8F8B-46F355CD7F4C}"/>
                </a:ext>
              </a:extLst>
            </p:cNvPr>
            <p:cNvSpPr/>
            <p:nvPr/>
          </p:nvSpPr>
          <p:spPr>
            <a:xfrm>
              <a:off x="2675320" y="6542076"/>
              <a:ext cx="207824" cy="226844"/>
            </a:xfrm>
            <a:prstGeom prst="chevr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5" name="Rectangle 214">
            <a:extLst>
              <a:ext uri="{FF2B5EF4-FFF2-40B4-BE49-F238E27FC236}">
                <a16:creationId xmlns:a16="http://schemas.microsoft.com/office/drawing/2014/main" id="{09AE9B5D-C996-4B0D-8F84-E64CAB6D38E6}"/>
              </a:ext>
            </a:extLst>
          </p:cNvPr>
          <p:cNvSpPr/>
          <p:nvPr/>
        </p:nvSpPr>
        <p:spPr>
          <a:xfrm>
            <a:off x="2282190" y="6635260"/>
            <a:ext cx="2444613" cy="12787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Permanent addition to service catalogue</a:t>
            </a:r>
          </a:p>
        </p:txBody>
      </p:sp>
      <p:sp>
        <p:nvSpPr>
          <p:cNvPr id="217" name="Star: 4 Points 216">
            <a:extLst>
              <a:ext uri="{FF2B5EF4-FFF2-40B4-BE49-F238E27FC236}">
                <a16:creationId xmlns:a16="http://schemas.microsoft.com/office/drawing/2014/main" id="{77C0513D-7546-4E99-A7B7-714B4370952F}"/>
              </a:ext>
            </a:extLst>
          </p:cNvPr>
          <p:cNvSpPr/>
          <p:nvPr/>
        </p:nvSpPr>
        <p:spPr>
          <a:xfrm>
            <a:off x="4662712" y="6635260"/>
            <a:ext cx="120743" cy="127873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D746E2D-221F-4748-B5B7-ACC300A200C8}"/>
              </a:ext>
            </a:extLst>
          </p:cNvPr>
          <p:cNvSpPr txBox="1"/>
          <p:nvPr/>
        </p:nvSpPr>
        <p:spPr>
          <a:xfrm>
            <a:off x="11012" y="6559997"/>
            <a:ext cx="5982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8BCA597-04EB-47BF-8F71-B7E36882DCC8}"/>
              </a:ext>
            </a:extLst>
          </p:cNvPr>
          <p:cNvCxnSpPr>
            <a:cxnSpLocks/>
          </p:cNvCxnSpPr>
          <p:nvPr/>
        </p:nvCxnSpPr>
        <p:spPr>
          <a:xfrm>
            <a:off x="256995" y="5309255"/>
            <a:ext cx="11615938" cy="0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Graphic 108">
            <a:extLst>
              <a:ext uri="{FF2B5EF4-FFF2-40B4-BE49-F238E27FC236}">
                <a16:creationId xmlns:a16="http://schemas.microsoft.com/office/drawing/2014/main" id="{AB1FD350-CA28-41F0-BA0F-48C333676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655" y="5614041"/>
            <a:ext cx="623972" cy="7799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67D02D-EC16-6024-F53B-86DF6AB10426}"/>
              </a:ext>
            </a:extLst>
          </p:cNvPr>
          <p:cNvSpPr/>
          <p:nvPr/>
        </p:nvSpPr>
        <p:spPr>
          <a:xfrm>
            <a:off x="227894" y="4436832"/>
            <a:ext cx="2454345" cy="288000"/>
          </a:xfrm>
          <a:prstGeom prst="rect">
            <a:avLst/>
          </a:prstGeom>
          <a:solidFill>
            <a:srgbClr val="00162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white"/>
                </a:solidFill>
                <a:latin typeface="Calibri" panose="020F0502020204030204"/>
              </a:rPr>
              <a:t>Travel Fast-Track Roll out 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tar: 4 Points 4">
            <a:extLst>
              <a:ext uri="{FF2B5EF4-FFF2-40B4-BE49-F238E27FC236}">
                <a16:creationId xmlns:a16="http://schemas.microsoft.com/office/drawing/2014/main" id="{B589E5D8-CA26-2404-BA9C-A86DC18F136F}"/>
              </a:ext>
            </a:extLst>
          </p:cNvPr>
          <p:cNvSpPr/>
          <p:nvPr/>
        </p:nvSpPr>
        <p:spPr>
          <a:xfrm>
            <a:off x="4129652" y="1766005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F70EC-92A8-38A0-9303-BFDF2AE5AB4A}"/>
              </a:ext>
            </a:extLst>
          </p:cNvPr>
          <p:cNvSpPr/>
          <p:nvPr/>
        </p:nvSpPr>
        <p:spPr>
          <a:xfrm>
            <a:off x="7346940" y="4361015"/>
            <a:ext cx="3044108" cy="2304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tar: 4 Points 6">
            <a:extLst>
              <a:ext uri="{FF2B5EF4-FFF2-40B4-BE49-F238E27FC236}">
                <a16:creationId xmlns:a16="http://schemas.microsoft.com/office/drawing/2014/main" id="{27976AC0-529A-661D-F6E6-0491864F029B}"/>
              </a:ext>
            </a:extLst>
          </p:cNvPr>
          <p:cNvSpPr/>
          <p:nvPr/>
        </p:nvSpPr>
        <p:spPr>
          <a:xfrm>
            <a:off x="10287136" y="4339654"/>
            <a:ext cx="207824" cy="226844"/>
          </a:xfrm>
          <a:prstGeom prst="star4">
            <a:avLst>
              <a:gd name="adj" fmla="val 2593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8AFBF-8345-C306-1161-10366722A3F9}"/>
              </a:ext>
            </a:extLst>
          </p:cNvPr>
          <p:cNvSpPr txBox="1"/>
          <p:nvPr/>
        </p:nvSpPr>
        <p:spPr>
          <a:xfrm>
            <a:off x="4345268" y="1764268"/>
            <a:ext cx="24021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Card design, Tech Architecture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4FEF6F-5084-B723-A19E-83587B5EC4C4}"/>
              </a:ext>
            </a:extLst>
          </p:cNvPr>
          <p:cNvSpPr txBox="1"/>
          <p:nvPr/>
        </p:nvSpPr>
        <p:spPr>
          <a:xfrm>
            <a:off x="6721175" y="2222337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Application, Analytics, Backend APIs, Beta App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D68C1-C96D-304B-2331-330AA41CECD6}"/>
              </a:ext>
            </a:extLst>
          </p:cNvPr>
          <p:cNvSpPr txBox="1"/>
          <p:nvPr/>
        </p:nvSpPr>
        <p:spPr>
          <a:xfrm>
            <a:off x="5546349" y="2628955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Badge System Setup, Levels and Reward Redemption Flows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665EE-4E38-29B5-8329-CDD54964C2F0}"/>
              </a:ext>
            </a:extLst>
          </p:cNvPr>
          <p:cNvSpPr txBox="1"/>
          <p:nvPr/>
        </p:nvSpPr>
        <p:spPr>
          <a:xfrm>
            <a:off x="7157735" y="3096964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Onboarding premium support team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8AB87-9ACB-F632-A108-CF0A969D4EDA}"/>
              </a:ext>
            </a:extLst>
          </p:cNvPr>
          <p:cNvSpPr txBox="1"/>
          <p:nvPr/>
        </p:nvSpPr>
        <p:spPr>
          <a:xfrm>
            <a:off x="3325974" y="3528121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Negotiation, defining SLAs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36A56-B9D1-9500-E1F4-125C6AEF77B6}"/>
              </a:ext>
            </a:extLst>
          </p:cNvPr>
          <p:cNvSpPr txBox="1"/>
          <p:nvPr/>
        </p:nvSpPr>
        <p:spPr>
          <a:xfrm>
            <a:off x="6134157" y="3925788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Features and offers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41CF6-7E80-6A82-1CC6-33DB18B8C946}"/>
              </a:ext>
            </a:extLst>
          </p:cNvPr>
          <p:cNvSpPr txBox="1"/>
          <p:nvPr/>
        </p:nvSpPr>
        <p:spPr>
          <a:xfrm>
            <a:off x="5173806" y="4360846"/>
            <a:ext cx="3337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Tie Up with Concierge &amp; Airport Services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934EF8-3389-5A9F-D249-0EFB7F7E55DB}"/>
              </a:ext>
            </a:extLst>
          </p:cNvPr>
          <p:cNvSpPr txBox="1"/>
          <p:nvPr/>
        </p:nvSpPr>
        <p:spPr>
          <a:xfrm>
            <a:off x="6663199" y="4888088"/>
            <a:ext cx="44082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latin typeface="Aptos" panose="020B0004020202020204" pitchFamily="34" charset="0"/>
              </a:rPr>
              <a:t>Communication channels, positioning, influencer tie-ups, launch events</a:t>
            </a:r>
            <a:endParaRPr lang="en-IN" sz="900" i="1"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71FB94-49BE-621C-9B03-D1E19355C2C8}"/>
              </a:ext>
            </a:extLst>
          </p:cNvPr>
          <p:cNvSpPr txBox="1"/>
          <p:nvPr/>
        </p:nvSpPr>
        <p:spPr>
          <a:xfrm>
            <a:off x="339638" y="316633"/>
            <a:ext cx="1162824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 12-month detailed plan has been laid out with a clear emphasis on the key tasks to ensure seamless operations till launch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39551654-2EC2-1D4F-43F2-CC16D3FEAF2A}"/>
              </a:ext>
            </a:extLst>
          </p:cNvPr>
          <p:cNvSpPr/>
          <p:nvPr/>
        </p:nvSpPr>
        <p:spPr>
          <a:xfrm rot="5400000">
            <a:off x="2430343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Persona</a:t>
            </a:r>
          </a:p>
        </p:txBody>
      </p: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989A2D4C-B474-7BB5-39CD-500F2D1ACF9E}"/>
              </a:ext>
            </a:extLst>
          </p:cNvPr>
          <p:cNvSpPr/>
          <p:nvPr/>
        </p:nvSpPr>
        <p:spPr>
          <a:xfrm rot="5400000">
            <a:off x="103615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CC473C4E-CA8C-9BF8-C2E9-886F4F7C916F}"/>
              </a:ext>
            </a:extLst>
          </p:cNvPr>
          <p:cNvSpPr/>
          <p:nvPr/>
        </p:nvSpPr>
        <p:spPr>
          <a:xfrm rot="5400000">
            <a:off x="9248411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162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Plan</a:t>
            </a: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955C57B1-CBCE-3DAD-96E9-EF82472A8213}"/>
              </a:ext>
            </a:extLst>
          </p:cNvPr>
          <p:cNvSpPr/>
          <p:nvPr/>
        </p:nvSpPr>
        <p:spPr>
          <a:xfrm>
            <a:off x="992616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B579917F-33FE-D245-351D-204F386DEA34}"/>
              </a:ext>
            </a:extLst>
          </p:cNvPr>
          <p:cNvSpPr/>
          <p:nvPr/>
        </p:nvSpPr>
        <p:spPr>
          <a:xfrm rot="5400000">
            <a:off x="6554286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4CC0E62A-3125-EE66-7418-423D6854C4F7}"/>
              </a:ext>
            </a:extLst>
          </p:cNvPr>
          <p:cNvSpPr/>
          <p:nvPr/>
        </p:nvSpPr>
        <p:spPr>
          <a:xfrm rot="5400000">
            <a:off x="5182686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Industry Insights</a:t>
            </a:r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B6DB3172-D5D8-9865-7DAD-23ED35247152}"/>
              </a:ext>
            </a:extLst>
          </p:cNvPr>
          <p:cNvSpPr/>
          <p:nvPr/>
        </p:nvSpPr>
        <p:spPr>
          <a:xfrm rot="5400000">
            <a:off x="3811087" y="-514510"/>
            <a:ext cx="180000" cy="1371600"/>
          </a:xfrm>
          <a:prstGeom prst="round2SameRect">
            <a:avLst>
              <a:gd name="adj1" fmla="val 0"/>
              <a:gd name="adj2" fmla="val 0"/>
            </a:avLst>
          </a:prstGeom>
          <a:solidFill>
            <a:sysClr val="window" lastClr="FFFFFF">
              <a:lumMod val="75000"/>
            </a:sys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Consumer Journey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6CAA8AD8-FBCC-A83B-790F-F45B3F50EEB4}"/>
              </a:ext>
            </a:extLst>
          </p:cNvPr>
          <p:cNvSpPr/>
          <p:nvPr/>
        </p:nvSpPr>
        <p:spPr>
          <a:xfrm>
            <a:off x="3146981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BB53B4E0-7D64-73C7-A68A-E7B9C19A28D7}"/>
              </a:ext>
            </a:extLst>
          </p:cNvPr>
          <p:cNvSpPr/>
          <p:nvPr/>
        </p:nvSpPr>
        <p:spPr>
          <a:xfrm>
            <a:off x="4532604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2C0742E9-BEF4-3EB5-A64E-ABC35D9FBB23}"/>
              </a:ext>
            </a:extLst>
          </p:cNvPr>
          <p:cNvSpPr/>
          <p:nvPr/>
        </p:nvSpPr>
        <p:spPr>
          <a:xfrm>
            <a:off x="5918227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64962832-9C98-067E-B8E6-CBFACDCA5681}"/>
              </a:ext>
            </a:extLst>
          </p:cNvPr>
          <p:cNvSpPr/>
          <p:nvPr/>
        </p:nvSpPr>
        <p:spPr>
          <a:xfrm rot="5400000">
            <a:off x="7899650" y="-514510"/>
            <a:ext cx="180000" cy="1371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FBFB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vert270" lIns="0" tIns="0" rIns="0" bIns="0"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 Projection</a:t>
            </a: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DDFE5FBB-48F3-85B5-99DD-7098552D9C54}"/>
              </a:ext>
            </a:extLst>
          </p:cNvPr>
          <p:cNvSpPr/>
          <p:nvPr/>
        </p:nvSpPr>
        <p:spPr>
          <a:xfrm>
            <a:off x="7263590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4D64E944-DD22-E8CB-B6D9-32F65A925CFA}"/>
              </a:ext>
            </a:extLst>
          </p:cNvPr>
          <p:cNvSpPr/>
          <p:nvPr/>
        </p:nvSpPr>
        <p:spPr>
          <a:xfrm>
            <a:off x="8559112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Arrow: Chevron 43">
            <a:extLst>
              <a:ext uri="{FF2B5EF4-FFF2-40B4-BE49-F238E27FC236}">
                <a16:creationId xmlns:a16="http://schemas.microsoft.com/office/drawing/2014/main" id="{507D4938-3041-1007-A25E-86BEAA5B6F88}"/>
              </a:ext>
            </a:extLst>
          </p:cNvPr>
          <p:cNvSpPr/>
          <p:nvPr/>
        </p:nvSpPr>
        <p:spPr>
          <a:xfrm>
            <a:off x="1707459" y="81290"/>
            <a:ext cx="180000" cy="191582"/>
          </a:xfrm>
          <a:prstGeom prst="chevron">
            <a:avLst>
              <a:gd name="adj" fmla="val 2840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31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7690E-F57C-EA82-A2AB-E92504DB2DA6}"/>
              </a:ext>
            </a:extLst>
          </p:cNvPr>
          <p:cNvSpPr txBox="1"/>
          <p:nvPr/>
        </p:nvSpPr>
        <p:spPr>
          <a:xfrm>
            <a:off x="3767328" y="2633472"/>
            <a:ext cx="65105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b="1"/>
              <a:t>TEAM DETAILS </a:t>
            </a:r>
          </a:p>
        </p:txBody>
      </p:sp>
    </p:spTree>
    <p:extLst>
      <p:ext uri="{BB962C8B-B14F-4D97-AF65-F5344CB8AC3E}">
        <p14:creationId xmlns:p14="http://schemas.microsoft.com/office/powerpoint/2010/main" val="279663508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22">
      <a:dk1>
        <a:sysClr val="windowText" lastClr="000000"/>
      </a:dk1>
      <a:lt1>
        <a:sysClr val="window" lastClr="FFFFFF"/>
      </a:lt1>
      <a:dk2>
        <a:srgbClr val="FFC000"/>
      </a:dk2>
      <a:lt2>
        <a:srgbClr val="FFFFFF"/>
      </a:lt2>
      <a:accent1>
        <a:srgbClr val="CD1305"/>
      </a:accent1>
      <a:accent2>
        <a:srgbClr val="ED0303"/>
      </a:accent2>
      <a:accent3>
        <a:srgbClr val="CD1305"/>
      </a:accent3>
      <a:accent4>
        <a:srgbClr val="ED0303"/>
      </a:accent4>
      <a:accent5>
        <a:srgbClr val="CD1305"/>
      </a:accent5>
      <a:accent6>
        <a:srgbClr val="ED030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SlideM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72C6"/>
      </a:accent1>
      <a:accent2>
        <a:srgbClr val="8BC53F"/>
      </a:accent2>
      <a:accent3>
        <a:srgbClr val="FFA900"/>
      </a:accent3>
      <a:accent4>
        <a:srgbClr val="AAAAAA"/>
      </a:accent4>
      <a:accent5>
        <a:srgbClr val="6C3483"/>
      </a:accent5>
      <a:accent6>
        <a:srgbClr val="0989B1"/>
      </a:accent6>
      <a:hlink>
        <a:srgbClr val="6B9F25"/>
      </a:hlink>
      <a:folHlink>
        <a:srgbClr val="BA6906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5_Office Theme">
  <a:themeElements>
    <a:clrScheme name="Custom 665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7C41F5"/>
      </a:accent1>
      <a:accent2>
        <a:srgbClr val="F5C525"/>
      </a:accent2>
      <a:accent3>
        <a:srgbClr val="FF9062"/>
      </a:accent3>
      <a:accent4>
        <a:srgbClr val="3ACBE8"/>
      </a:accent4>
      <a:accent5>
        <a:srgbClr val="F1E9FF"/>
      </a:accent5>
      <a:accent6>
        <a:srgbClr val="A5A5A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7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8_Office Theme">
  <a:themeElements>
    <a:clrScheme name="blue-purpl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47B5EF"/>
      </a:accent1>
      <a:accent2>
        <a:srgbClr val="6590F0"/>
      </a:accent2>
      <a:accent3>
        <a:srgbClr val="846CF1"/>
      </a:accent3>
      <a:accent4>
        <a:srgbClr val="A52EEA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9_Office Theme">
  <a:themeElements>
    <a:clrScheme name="Checklist Template">
      <a:dk1>
        <a:srgbClr val="000000"/>
      </a:dk1>
      <a:lt1>
        <a:srgbClr val="FFFFFF"/>
      </a:lt1>
      <a:dk2>
        <a:srgbClr val="44546A"/>
      </a:dk2>
      <a:lt2>
        <a:srgbClr val="F1F2F1"/>
      </a:lt2>
      <a:accent1>
        <a:srgbClr val="EF3F82"/>
      </a:accent1>
      <a:accent2>
        <a:srgbClr val="A22B94"/>
      </a:accent2>
      <a:accent3>
        <a:srgbClr val="6B5EB1"/>
      </a:accent3>
      <a:accent4>
        <a:srgbClr val="539BE7"/>
      </a:accent4>
      <a:accent5>
        <a:srgbClr val="61BCB3"/>
      </a:accent5>
      <a:accent6>
        <a:srgbClr val="99C72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0_Office Theme">
  <a:themeElements>
    <a:clrScheme name="5 ps of marketing">
      <a:dk1>
        <a:srgbClr val="000000"/>
      </a:dk1>
      <a:lt1>
        <a:srgbClr val="FFFFFF"/>
      </a:lt1>
      <a:dk2>
        <a:srgbClr val="44546A"/>
      </a:dk2>
      <a:lt2>
        <a:srgbClr val="ECEEF5"/>
      </a:lt2>
      <a:accent1>
        <a:srgbClr val="F1699D"/>
      </a:accent1>
      <a:accent2>
        <a:srgbClr val="B155EB"/>
      </a:accent2>
      <a:accent3>
        <a:srgbClr val="6B5EB1"/>
      </a:accent3>
      <a:accent4>
        <a:srgbClr val="47B5EF"/>
      </a:accent4>
      <a:accent5>
        <a:srgbClr val="47C0A0"/>
      </a:accent5>
      <a:accent6>
        <a:srgbClr val="F5A279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1_Office Theme">
  <a:themeElements>
    <a:clrScheme name="Balanced-Scorecard">
      <a:dk1>
        <a:srgbClr val="000000"/>
      </a:dk1>
      <a:lt1>
        <a:srgbClr val="FFFFFF"/>
      </a:lt1>
      <a:dk2>
        <a:srgbClr val="44546A"/>
      </a:dk2>
      <a:lt2>
        <a:srgbClr val="F6F9F8"/>
      </a:lt2>
      <a:accent1>
        <a:srgbClr val="4FC3FB"/>
      </a:accent1>
      <a:accent2>
        <a:srgbClr val="1DA696"/>
      </a:accent2>
      <a:accent3>
        <a:srgbClr val="ED496A"/>
      </a:accent3>
      <a:accent4>
        <a:srgbClr val="F4BA44"/>
      </a:accent4>
      <a:accent5>
        <a:srgbClr val="CB4A32"/>
      </a:accent5>
      <a:accent6>
        <a:srgbClr val="EAF1F2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019eb-d63b-4f37-bbfe-582f88cd1b5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C9160F72E5344297E78CEA9DF9E1D4" ma:contentTypeVersion="5" ma:contentTypeDescription="Create a new document." ma:contentTypeScope="" ma:versionID="fd5f5e67eb2db0ffc8a3658b425fe2e8">
  <xsd:schema xmlns:xsd="http://www.w3.org/2001/XMLSchema" xmlns:xs="http://www.w3.org/2001/XMLSchema" xmlns:p="http://schemas.microsoft.com/office/2006/metadata/properties" xmlns:ns3="e18019eb-d63b-4f37-bbfe-582f88cd1b5e" targetNamespace="http://schemas.microsoft.com/office/2006/metadata/properties" ma:root="true" ma:fieldsID="cdc674aab130861b278e6ae70b2fc22c" ns3:_="">
    <xsd:import namespace="e18019eb-d63b-4f37-bbfe-582f88cd1b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019eb-d63b-4f37-bbfe-582f88cd1b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8963AE-701B-4EB8-9C32-6E4ADF42DB9A}">
  <ds:schemaRefs>
    <ds:schemaRef ds:uri="http://schemas.microsoft.com/office/infopath/2007/PartnerControls"/>
    <ds:schemaRef ds:uri="e18019eb-d63b-4f37-bbfe-582f88cd1b5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06E0F2-29DF-49E8-89A0-08A89E1D01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A64D5F-763D-423B-B0F2-8A9DB3CD0DF2}">
  <ds:schemaRefs>
    <ds:schemaRef ds:uri="e18019eb-d63b-4f37-bbfe-582f88cd1b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2277</TotalTime>
  <Words>1798</Words>
  <Application>Microsoft Office PowerPoint</Application>
  <PresentationFormat>Widescreen</PresentationFormat>
  <Paragraphs>441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11</vt:i4>
      </vt:variant>
    </vt:vector>
  </HeadingPairs>
  <TitlesOfParts>
    <vt:vector size="30" baseType="lpstr">
      <vt:lpstr>Aptos</vt:lpstr>
      <vt:lpstr>Aptos Narrow</vt:lpstr>
      <vt:lpstr>Arial</vt:lpstr>
      <vt:lpstr>Book Antiqua</vt:lpstr>
      <vt:lpstr>Calibri</vt:lpstr>
      <vt:lpstr>Calibri Light</vt:lpstr>
      <vt:lpstr>Segoe UI</vt:lpstr>
      <vt:lpstr>Segoe UI Black</vt:lpstr>
      <vt:lpstr>Tw Cen MT</vt:lpstr>
      <vt:lpstr>Wingdings</vt:lpstr>
      <vt:lpstr>2_Office Theme</vt:lpstr>
      <vt:lpstr>Office Theme</vt:lpstr>
      <vt:lpstr>6_Office Theme</vt:lpstr>
      <vt:lpstr>15_Office Theme</vt:lpstr>
      <vt:lpstr>17_Office Theme</vt:lpstr>
      <vt:lpstr>18_Office Theme</vt:lpstr>
      <vt:lpstr>19_Office Theme</vt:lpstr>
      <vt:lpstr>20_Office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Ananta Chhajer</dc:creator>
  <cp:lastModifiedBy>Ananta Chhajer</cp:lastModifiedBy>
  <cp:revision>7</cp:revision>
  <dcterms:created xsi:type="dcterms:W3CDTF">2025-04-08T08:33:02Z</dcterms:created>
  <dcterms:modified xsi:type="dcterms:W3CDTF">2025-05-03T14:34:12Z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0x01010058C9160F72E5344297E78CEA9DF9E1D4</vt:lpwstr>
  </property>
</Properties>
</file>